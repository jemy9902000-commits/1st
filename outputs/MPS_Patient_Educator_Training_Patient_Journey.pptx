
<file path=[Content_Types].xml><?xml version="1.0" encoding="utf-8"?>
<Types xmlns="http://schemas.openxmlformats.org/package/2006/content-types">
  <Default Extension="jpg"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1.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93"/>
  </p:notesMasterIdLst>
  <p:sldIdLst>
    <p:sldId id="642" r:id="rId2"/>
    <p:sldId id="853" r:id="rId98"/>
    <p:sldId id="643" r:id="rId3"/>
    <p:sldId id="861" r:id="rId106"/>
    <p:sldId id="854" r:id="rId99"/>
    <p:sldId id="855" r:id="rId100"/>
    <p:sldId id="653" r:id="rId17"/>
    <p:sldId id="713" r:id="rId21"/>
    <p:sldId id="856" r:id="rId101"/>
    <p:sldId id="644" r:id="rId4"/>
    <p:sldId id="647" r:id="rId7"/>
    <p:sldId id="648" r:id="rId8"/>
    <p:sldId id="706" r:id="rId18"/>
    <p:sldId id="688" r:id="rId10"/>
    <p:sldId id="478" r:id="rId11"/>
    <p:sldId id="525" r:id="rId12"/>
    <p:sldId id="689" r:id="rId13"/>
    <p:sldId id="481" r:id="rId14"/>
    <p:sldId id="652" r:id="rId15"/>
    <p:sldId id="528" r:id="rId16"/>
    <p:sldId id="749" r:id="rId29"/>
    <p:sldId id="721" r:id="rId30"/>
    <p:sldId id="765" r:id="rId73"/>
    <p:sldId id="723" r:id="rId32"/>
    <p:sldId id="729" r:id="rId38"/>
    <p:sldId id="676" r:id="rId56"/>
    <p:sldId id="833" r:id="rId60"/>
    <p:sldId id="862" r:id="rId107"/>
    <p:sldId id="739" r:id="rId69"/>
    <p:sldId id="834" r:id="rId48"/>
    <p:sldId id="764" r:id="rId68"/>
    <p:sldId id="823" r:id="rId71"/>
    <p:sldId id="686" r:id="rId72"/>
    <p:sldId id="766" r:id="rId74"/>
    <p:sldId id="722" r:id="rId31"/>
    <p:sldId id="857" r:id="rId102"/>
    <p:sldId id="703" r:id="rId75"/>
    <p:sldId id="707" r:id="rId19"/>
    <p:sldId id="863" r:id="rId108"/>
    <p:sldId id="858" r:id="rId103"/>
    <p:sldId id="859" r:id="rId104"/>
    <p:sldId id="860" r:id="rId105"/>
    <p:sldId id="704" r:id="rId76"/>
    <p:sldId id="846" r:id="rId77"/>
    <p:sldId id="847" r:id="rId78"/>
    <p:sldId id="848" r:id="rId79"/>
    <p:sldId id="849" r:id="rId80"/>
    <p:sldId id="852" r:id="rId81"/>
    <p:sldId id="850" r:id="rId82"/>
    <p:sldId id="851" r:id="rId83"/>
    <p:sldId id="824" r:id="rId84"/>
    <p:sldId id="864" r:id="rId109"/>
    <p:sldId id="705" r:id="rId85"/>
    <p:sldId id="742" r:id="rId86"/>
    <p:sldId id="752" r:id="rId20"/>
    <p:sldId id="714" r:id="rId22"/>
    <p:sldId id="715" r:id="rId23"/>
    <p:sldId id="716" r:id="rId24"/>
    <p:sldId id="717" r:id="rId25"/>
    <p:sldId id="718" r:id="rId26"/>
    <p:sldId id="719" r:id="rId27"/>
    <p:sldId id="829" r:id="rId28"/>
    <p:sldId id="816" r:id="rId5"/>
    <p:sldId id="646" r:id="rId6"/>
    <p:sldId id="649" r:id="rId9"/>
    <p:sldId id="825" r:id="rId87"/>
    <p:sldId id="826" r:id="rId88"/>
    <p:sldId id="827" r:id="rId89"/>
    <p:sldId id="758" r:id="rId90"/>
    <p:sldId id="759" r:id="rId91"/>
    <p:sldId id="760" r:id="rId92"/>
    <p:sldId id="750" r:id="rId33"/>
    <p:sldId id="753" r:id="rId34"/>
    <p:sldId id="727" r:id="rId35"/>
    <p:sldId id="728" r:id="rId36"/>
    <p:sldId id="822" r:id="rId70"/>
    <p:sldId id="662" r:id="rId37"/>
    <p:sldId id="767" r:id="rId39"/>
    <p:sldId id="775" r:id="rId40"/>
    <p:sldId id="777" r:id="rId42"/>
    <p:sldId id="836" r:id="rId43"/>
    <p:sldId id="781" r:id="rId44"/>
    <p:sldId id="784" r:id="rId45"/>
    <p:sldId id="788" r:id="rId46"/>
    <p:sldId id="794" r:id="rId47"/>
    <p:sldId id="835" r:id="rId49"/>
    <p:sldId id="796" r:id="rId50"/>
    <p:sldId id="800" r:id="rId51"/>
    <p:sldId id="802" r:id="rId52"/>
    <p:sldId id="804" r:id="rId53"/>
    <p:sldId id="806" r:id="rId54"/>
    <p:sldId id="807" r:id="rId55"/>
    <p:sldId id="735" r:id="rId57"/>
    <p:sldId id="754" r:id="rId58"/>
    <p:sldId id="819" r:id="rId59"/>
    <p:sldId id="820" r:id="rId61"/>
    <p:sldId id="821" r:id="rId62"/>
    <p:sldId id="831" r:id="rId63"/>
    <p:sldId id="808" r:id="rId64"/>
    <p:sldId id="809" r:id="rId65"/>
    <p:sldId id="810" r:id="rId66"/>
    <p:sldId id="814" r:id="rId67"/>
  </p:sldIdLst>
  <p:sldSz cx="12192000" cy="6858000"/>
  <p:notesSz cx="6858000" cy="9144000"/>
  <p:defaultText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27"/>
    <p:restoredTop sz="94614"/>
  </p:normalViewPr>
  <p:slideViewPr>
    <p:cSldViewPr snapToGrid="0">
      <p:cViewPr varScale="1">
        <p:scale>
          <a:sx n="99" d="100"/>
          <a:sy n="99" d="100"/>
        </p:scale>
        <p:origin x="176" y="47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  <Relationship Id="rId98" Type="http://schemas.openxmlformats.org/officeDocument/2006/relationships/slide" Target="slides/slide92.xml"/>
  <Relationship Id="rId99" Type="http://schemas.openxmlformats.org/officeDocument/2006/relationships/slide" Target="slides/slide93.xml"/>
  <Relationship Id="rId100" Type="http://schemas.openxmlformats.org/officeDocument/2006/relationships/slide" Target="slides/slide94.xml"/>
  <Relationship Id="rId101" Type="http://schemas.openxmlformats.org/officeDocument/2006/relationships/slide" Target="slides/slide95.xml"/>
  <Relationship Id="rId102" Type="http://schemas.openxmlformats.org/officeDocument/2006/relationships/slide" Target="slides/slide96.xml"/>
  <Relationship Id="rId103" Type="http://schemas.openxmlformats.org/officeDocument/2006/relationships/slide" Target="slides/slide97.xml"/>
  <Relationship Id="rId104" Type="http://schemas.openxmlformats.org/officeDocument/2006/relationships/slide" Target="slides/slide98.xml"/>
  <Relationship Id="rId105" Type="http://schemas.openxmlformats.org/officeDocument/2006/relationships/slide" Target="slides/slide99.xml"/>
  <Relationship Id="rId106" Type="http://schemas.openxmlformats.org/officeDocument/2006/relationships/slide" Target="slides/slide100.xml"/>
  <Relationship Id="rId107" Type="http://schemas.openxmlformats.org/officeDocument/2006/relationships/slide" Target="slides/slide101.xml"/>
  <Relationship Id="rId108" Type="http://schemas.openxmlformats.org/officeDocument/2006/relationships/slide" Target="slides/slide102.xml"/>
  <Relationship Id="rId109" Type="http://schemas.openxmlformats.org/officeDocument/2006/relationships/slide" Target="slides/slide103.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0201379694794788"/>
          <c:y val="0.06"/>
          <c:w val="0.73698464683065057"/>
          <c:h val="0.7955226468251102"/>
        </c:manualLayout>
      </c:layout>
      <c:lineChart>
        <c:grouping val="standard"/>
        <c:varyColors val="0"/>
        <c:ser>
          <c:idx val="0"/>
          <c:order val="0"/>
          <c:tx>
            <c:v>Weekly</c:v>
          </c:tx>
          <c:spPr>
            <a:ln w="28575">
              <a:solidFill>
                <a:srgbClr val="28509C"/>
              </a:solidFill>
            </a:ln>
          </c:spPr>
          <c:marker>
            <c:symbol val="none"/>
          </c:marker>
          <c:dPt>
            <c:idx val="2"/>
            <c:marker>
              <c:symbol val="circle"/>
              <c:size val="7"/>
              <c:spPr>
                <a:solidFill>
                  <a:srgbClr val="28509C"/>
                </a:solidFill>
                <a:ln>
                  <a:noFill/>
                </a:ln>
              </c:spPr>
            </c:marker>
            <c:bubble3D val="0"/>
            <c:extLst>
              <c:ext xmlns:c16="http://schemas.microsoft.com/office/drawing/2014/chart" uri="{C3380CC4-5D6E-409C-BE32-E72D297353CC}">
                <c16:uniqueId val="{00000000-B168-2E4D-967B-E44135A45842}"/>
              </c:ext>
            </c:extLst>
          </c:dPt>
          <c:dLbls>
            <c:dLbl>
              <c:idx val="2"/>
              <c:tx>
                <c:rich>
                  <a:bodyPr/>
                  <a:lstStyle/>
                  <a:p>
                    <a:r>
                      <a:rPr lang="en-US" sz="1400" b="1">
                        <a:solidFill>
                          <a:srgbClr val="28509C"/>
                        </a:solidFill>
                        <a:latin typeface="Aptos"/>
                      </a:rPr>
                      <a:t>35.5 m Weekly</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168-2E4D-967B-E44135A4584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3"/>
              <c:pt idx="0">
                <c:v>Baseline</c:v>
              </c:pt>
              <c:pt idx="1">
                <c:v>Week 12</c:v>
              </c:pt>
              <c:pt idx="2">
                <c:v>Week 24</c:v>
              </c:pt>
            </c:strLit>
          </c:cat>
          <c:val>
            <c:numLit>
              <c:formatCode>General</c:formatCode>
              <c:ptCount val="3"/>
              <c:pt idx="0">
                <c:v>0.5</c:v>
              </c:pt>
              <c:pt idx="1">
                <c:v>23.3</c:v>
              </c:pt>
              <c:pt idx="2">
                <c:v>35.5</c:v>
              </c:pt>
            </c:numLit>
          </c:val>
          <c:smooth val="0"/>
          <c:extLst>
            <c:ext xmlns:c16="http://schemas.microsoft.com/office/drawing/2014/chart" uri="{C3380CC4-5D6E-409C-BE32-E72D297353CC}">
              <c16:uniqueId val="{00000001-B168-2E4D-967B-E44135A45842}"/>
            </c:ext>
          </c:extLst>
        </c:ser>
        <c:ser>
          <c:idx val="1"/>
          <c:order val="1"/>
          <c:tx>
            <c:v>Every other wk</c:v>
          </c:tx>
          <c:spPr>
            <a:ln w="19050">
              <a:solidFill>
                <a:srgbClr val="A9218E"/>
              </a:solidFill>
            </a:ln>
          </c:spPr>
          <c:marker>
            <c:symbol val="none"/>
          </c:marker>
          <c:dPt>
            <c:idx val="2"/>
            <c:marker>
              <c:symbol val="circle"/>
              <c:size val="6"/>
              <c:spPr>
                <a:solidFill>
                  <a:srgbClr val="A9218E"/>
                </a:solidFill>
                <a:ln>
                  <a:noFill/>
                </a:ln>
              </c:spPr>
            </c:marker>
            <c:bubble3D val="0"/>
            <c:extLst>
              <c:ext xmlns:c16="http://schemas.microsoft.com/office/drawing/2014/chart" uri="{C3380CC4-5D6E-409C-BE32-E72D297353CC}">
                <c16:uniqueId val="{00000002-B168-2E4D-967B-E44135A45842}"/>
              </c:ext>
            </c:extLst>
          </c:dPt>
          <c:cat>
            <c:strLit>
              <c:ptCount val="3"/>
              <c:pt idx="0">
                <c:v>Baseline</c:v>
              </c:pt>
              <c:pt idx="1">
                <c:v>Week 12</c:v>
              </c:pt>
              <c:pt idx="2">
                <c:v>Week 24</c:v>
              </c:pt>
            </c:strLit>
          </c:cat>
          <c:val>
            <c:numLit>
              <c:formatCode>General</c:formatCode>
              <c:ptCount val="3"/>
              <c:pt idx="0">
                <c:v>0.5</c:v>
              </c:pt>
              <c:pt idx="1">
                <c:v>13.5</c:v>
              </c:pt>
              <c:pt idx="2">
                <c:v>14.3</c:v>
              </c:pt>
            </c:numLit>
          </c:val>
          <c:smooth val="0"/>
          <c:extLst>
            <c:ext xmlns:c16="http://schemas.microsoft.com/office/drawing/2014/chart" uri="{C3380CC4-5D6E-409C-BE32-E72D297353CC}">
              <c16:uniqueId val="{00000003-B168-2E4D-967B-E44135A45842}"/>
            </c:ext>
          </c:extLst>
        </c:ser>
        <c:ser>
          <c:idx val="2"/>
          <c:order val="2"/>
          <c:tx>
            <c:v>Placebo</c:v>
          </c:tx>
          <c:spPr>
            <a:ln w="19050">
              <a:solidFill>
                <a:srgbClr val="646464"/>
              </a:solidFill>
              <a:prstDash val="dash"/>
            </a:ln>
          </c:spPr>
          <c:marker>
            <c:symbol val="none"/>
          </c:marker>
          <c:dPt>
            <c:idx val="2"/>
            <c:marker>
              <c:symbol val="circle"/>
              <c:size val="6"/>
              <c:spPr>
                <a:solidFill>
                  <a:srgbClr val="646464"/>
                </a:solidFill>
                <a:ln>
                  <a:noFill/>
                </a:ln>
              </c:spPr>
            </c:marker>
            <c:bubble3D val="0"/>
            <c:extLst>
              <c:ext xmlns:c16="http://schemas.microsoft.com/office/drawing/2014/chart" uri="{C3380CC4-5D6E-409C-BE32-E72D297353CC}">
                <c16:uniqueId val="{00000004-B168-2E4D-967B-E44135A45842}"/>
              </c:ext>
            </c:extLst>
          </c:dPt>
          <c:cat>
            <c:strLit>
              <c:ptCount val="3"/>
              <c:pt idx="0">
                <c:v>Baseline</c:v>
              </c:pt>
              <c:pt idx="1">
                <c:v>Week 12</c:v>
              </c:pt>
              <c:pt idx="2">
                <c:v>Week 24</c:v>
              </c:pt>
            </c:strLit>
          </c:cat>
          <c:val>
            <c:numLit>
              <c:formatCode>General</c:formatCode>
              <c:ptCount val="3"/>
              <c:pt idx="0">
                <c:v>0.8</c:v>
              </c:pt>
              <c:pt idx="1">
                <c:v>12.9</c:v>
              </c:pt>
              <c:pt idx="2">
                <c:v>13.5</c:v>
              </c:pt>
            </c:numLit>
          </c:val>
          <c:smooth val="0"/>
          <c:extLst>
            <c:ext xmlns:c16="http://schemas.microsoft.com/office/drawing/2014/chart" uri="{C3380CC4-5D6E-409C-BE32-E72D297353CC}">
              <c16:uniqueId val="{00000005-B168-2E4D-967B-E44135A45842}"/>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ACACA"/>
            </a:solidFill>
          </a:ln>
        </c:spPr>
        <c:txPr>
          <a:bodyPr rot="0" vert="horz"/>
          <a:lstStyle/>
          <a:p>
            <a:pPr>
              <a:defRPr sz="1400" b="0">
                <a:solidFill>
                  <a:srgbClr val="2B2B2B"/>
                </a:solidFill>
                <a:latin typeface="Aptos"/>
              </a:defRPr>
            </a:pPr>
            <a:endParaRPr lang="en-US"/>
          </a:p>
        </c:txPr>
        <c:crossAx val="2"/>
        <c:crosses val="autoZero"/>
        <c:auto val="1"/>
        <c:lblAlgn val="ctr"/>
        <c:lblOffset val="100"/>
        <c:noMultiLvlLbl val="1"/>
      </c:catAx>
      <c:valAx>
        <c:axId val="2"/>
        <c:scaling>
          <c:orientation val="minMax"/>
          <c:max val="40"/>
          <c:min val="0"/>
        </c:scaling>
        <c:delete val="0"/>
        <c:axPos val="l"/>
        <c:majorGridlines>
          <c:spPr>
            <a:ln w="9525">
              <a:solidFill>
                <a:srgbClr val="EAEAEA"/>
              </a:solidFill>
            </a:ln>
          </c:spPr>
        </c:majorGridlines>
        <c:numFmt formatCode="0" sourceLinked="0"/>
        <c:majorTickMark val="none"/>
        <c:minorTickMark val="none"/>
        <c:tickLblPos val="nextTo"/>
        <c:spPr>
          <a:ln>
            <a:noFill/>
          </a:ln>
        </c:spPr>
        <c:txPr>
          <a:bodyPr rot="0" vert="horz"/>
          <a:lstStyle/>
          <a:p>
            <a:pPr>
              <a:defRPr sz="1400" b="0">
                <a:solidFill>
                  <a:srgbClr val="646464"/>
                </a:solidFill>
                <a:latin typeface="Aptos"/>
              </a:defRPr>
            </a:pPr>
            <a:endParaRPr lang="en-US"/>
          </a:p>
        </c:txPr>
        <c:crossAx val="1"/>
        <c:crosses val="autoZero"/>
        <c:crossBetween val="between"/>
        <c:majorUnit val="10"/>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MOR-004 weekly</c:v>
          </c:tx>
          <c:spPr>
            <a:ln w="28575">
              <a:solidFill>
                <a:srgbClr val="28509C"/>
              </a:solidFill>
            </a:ln>
          </c:spPr>
          <c:marker>
            <c:symbol val="none"/>
          </c:marker>
          <c:cat>
            <c:strLit>
              <c:ptCount val="6"/>
              <c:pt idx="0">
                <c:v>0</c:v>
              </c:pt>
              <c:pt idx="1">
                <c:v>12</c:v>
              </c:pt>
              <c:pt idx="2">
                <c:v>24</c:v>
              </c:pt>
              <c:pt idx="3">
                <c:v>36</c:v>
              </c:pt>
              <c:pt idx="4">
                <c:v>72</c:v>
              </c:pt>
              <c:pt idx="5">
                <c:v>120</c:v>
              </c:pt>
            </c:strLit>
          </c:cat>
          <c:val>
            <c:numLit>
              <c:formatCode>General</c:formatCode>
              <c:ptCount val="6"/>
              <c:pt idx="0">
                <c:v>0</c:v>
              </c:pt>
              <c:pt idx="1">
                <c:v>23</c:v>
              </c:pt>
              <c:pt idx="2">
                <c:v>36</c:v>
              </c:pt>
            </c:numLit>
          </c:val>
          <c:smooth val="0"/>
          <c:extLst>
            <c:ext xmlns:c16="http://schemas.microsoft.com/office/drawing/2014/chart" uri="{C3380CC4-5D6E-409C-BE32-E72D297353CC}">
              <c16:uniqueId val="{00000000-4484-6841-944D-32AB90C17B39}"/>
            </c:ext>
          </c:extLst>
        </c:ser>
        <c:ser>
          <c:idx val="1"/>
          <c:order val="1"/>
          <c:tx>
            <c:v>MOR-004 every other wk</c:v>
          </c:tx>
          <c:spPr>
            <a:ln w="19050">
              <a:solidFill>
                <a:srgbClr val="A9218E"/>
              </a:solidFill>
            </a:ln>
          </c:spPr>
          <c:marker>
            <c:symbol val="none"/>
          </c:marker>
          <c:cat>
            <c:strLit>
              <c:ptCount val="6"/>
              <c:pt idx="0">
                <c:v>0</c:v>
              </c:pt>
              <c:pt idx="1">
                <c:v>12</c:v>
              </c:pt>
              <c:pt idx="2">
                <c:v>24</c:v>
              </c:pt>
              <c:pt idx="3">
                <c:v>36</c:v>
              </c:pt>
              <c:pt idx="4">
                <c:v>72</c:v>
              </c:pt>
              <c:pt idx="5">
                <c:v>120</c:v>
              </c:pt>
            </c:strLit>
          </c:cat>
          <c:val>
            <c:numLit>
              <c:formatCode>General</c:formatCode>
              <c:ptCount val="6"/>
              <c:pt idx="0">
                <c:v>0</c:v>
              </c:pt>
              <c:pt idx="1">
                <c:v>13</c:v>
              </c:pt>
              <c:pt idx="2">
                <c:v>14</c:v>
              </c:pt>
            </c:numLit>
          </c:val>
          <c:smooth val="0"/>
          <c:extLst>
            <c:ext xmlns:c16="http://schemas.microsoft.com/office/drawing/2014/chart" uri="{C3380CC4-5D6E-409C-BE32-E72D297353CC}">
              <c16:uniqueId val="{00000001-4484-6841-944D-32AB90C17B39}"/>
            </c:ext>
          </c:extLst>
        </c:ser>
        <c:ser>
          <c:idx val="2"/>
          <c:order val="2"/>
          <c:tx>
            <c:v>MOR-004 placebo</c:v>
          </c:tx>
          <c:spPr>
            <a:ln w="19050">
              <a:solidFill>
                <a:srgbClr val="646464"/>
              </a:solidFill>
              <a:prstDash val="dash"/>
            </a:ln>
          </c:spPr>
          <c:marker>
            <c:symbol val="none"/>
          </c:marker>
          <c:cat>
            <c:strLit>
              <c:ptCount val="6"/>
              <c:pt idx="0">
                <c:v>0</c:v>
              </c:pt>
              <c:pt idx="1">
                <c:v>12</c:v>
              </c:pt>
              <c:pt idx="2">
                <c:v>24</c:v>
              </c:pt>
              <c:pt idx="3">
                <c:v>36</c:v>
              </c:pt>
              <c:pt idx="4">
                <c:v>72</c:v>
              </c:pt>
              <c:pt idx="5">
                <c:v>120</c:v>
              </c:pt>
            </c:strLit>
          </c:cat>
          <c:val>
            <c:numLit>
              <c:formatCode>General</c:formatCode>
              <c:ptCount val="6"/>
              <c:pt idx="0">
                <c:v>0</c:v>
              </c:pt>
              <c:pt idx="1">
                <c:v>12</c:v>
              </c:pt>
              <c:pt idx="2">
                <c:v>13</c:v>
              </c:pt>
            </c:numLit>
          </c:val>
          <c:smooth val="0"/>
          <c:extLst>
            <c:ext xmlns:c16="http://schemas.microsoft.com/office/drawing/2014/chart" uri="{C3380CC4-5D6E-409C-BE32-E72D297353CC}">
              <c16:uniqueId val="{00000002-4484-6841-944D-32AB90C17B39}"/>
            </c:ext>
          </c:extLst>
        </c:ser>
        <c:ser>
          <c:idx val="3"/>
          <c:order val="3"/>
          <c:tx>
            <c:v>MPP pooled</c:v>
          </c:tx>
          <c:spPr>
            <a:ln w="19050">
              <a:solidFill>
                <a:srgbClr val="D25D5D"/>
              </a:solidFill>
            </a:ln>
          </c:spPr>
          <c:marker>
            <c:symbol val="none"/>
          </c:marker>
          <c:dPt>
            <c:idx val="5"/>
            <c:marker>
              <c:symbol val="circle"/>
              <c:size val="6"/>
              <c:spPr>
                <a:solidFill>
                  <a:srgbClr val="D25D5D"/>
                </a:solidFill>
                <a:ln>
                  <a:noFill/>
                </a:ln>
              </c:spPr>
            </c:marker>
            <c:bubble3D val="0"/>
            <c:extLst>
              <c:ext xmlns:c16="http://schemas.microsoft.com/office/drawing/2014/chart" uri="{C3380CC4-5D6E-409C-BE32-E72D297353CC}">
                <c16:uniqueId val="{00000003-4484-6841-944D-32AB90C17B39}"/>
              </c:ext>
            </c:extLst>
          </c:dPt>
          <c:dLbls>
            <c:dLbl>
              <c:idx val="5"/>
              <c:tx>
                <c:rich>
                  <a:bodyPr/>
                  <a:lstStyle/>
                  <a:p>
                    <a:r>
                      <a:rPr lang="en-US" sz="1400" b="0">
                        <a:solidFill>
                          <a:srgbClr val="D25D5D"/>
                        </a:solidFill>
                        <a:latin typeface="Aptos"/>
                      </a:rPr>
                      <a:t>31.7 m</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484-6841-944D-32AB90C17B3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0</c:v>
              </c:pt>
              <c:pt idx="1">
                <c:v>12</c:v>
              </c:pt>
              <c:pt idx="2">
                <c:v>24</c:v>
              </c:pt>
              <c:pt idx="3">
                <c:v>36</c:v>
              </c:pt>
              <c:pt idx="4">
                <c:v>72</c:v>
              </c:pt>
              <c:pt idx="5">
                <c:v>120</c:v>
              </c:pt>
            </c:strLit>
          </c:cat>
          <c:val>
            <c:numLit>
              <c:formatCode>General</c:formatCode>
              <c:ptCount val="6"/>
              <c:pt idx="2">
                <c:v>28</c:v>
              </c:pt>
              <c:pt idx="3">
                <c:v>33</c:v>
              </c:pt>
              <c:pt idx="4">
                <c:v>40</c:v>
              </c:pt>
              <c:pt idx="5">
                <c:v>31.7</c:v>
              </c:pt>
            </c:numLit>
          </c:val>
          <c:smooth val="0"/>
          <c:extLst>
            <c:ext xmlns:c16="http://schemas.microsoft.com/office/drawing/2014/chart" uri="{C3380CC4-5D6E-409C-BE32-E72D297353CC}">
              <c16:uniqueId val="{00000004-4484-6841-944D-32AB90C17B39}"/>
            </c:ext>
          </c:extLst>
        </c:ser>
        <c:ser>
          <c:idx val="4"/>
          <c:order val="4"/>
          <c:tx>
            <c:v>ITT pooled</c:v>
          </c:tx>
          <c:spPr>
            <a:ln w="19050">
              <a:solidFill>
                <a:srgbClr val="002E56"/>
              </a:solidFill>
            </a:ln>
          </c:spPr>
          <c:marker>
            <c:symbol val="none"/>
          </c:marker>
          <c:dPt>
            <c:idx val="5"/>
            <c:marker>
              <c:symbol val="circle"/>
              <c:size val="6"/>
              <c:spPr>
                <a:solidFill>
                  <a:srgbClr val="002E56"/>
                </a:solidFill>
                <a:ln>
                  <a:noFill/>
                </a:ln>
              </c:spPr>
            </c:marker>
            <c:bubble3D val="0"/>
            <c:extLst>
              <c:ext xmlns:c16="http://schemas.microsoft.com/office/drawing/2014/chart" uri="{C3380CC4-5D6E-409C-BE32-E72D297353CC}">
                <c16:uniqueId val="{00000005-4484-6841-944D-32AB90C17B39}"/>
              </c:ext>
            </c:extLst>
          </c:dPt>
          <c:dLbls>
            <c:dLbl>
              <c:idx val="5"/>
              <c:tx>
                <c:rich>
                  <a:bodyPr/>
                  <a:lstStyle/>
                  <a:p>
                    <a:r>
                      <a:rPr lang="en-US" sz="1400" b="0">
                        <a:solidFill>
                          <a:srgbClr val="002E56"/>
                        </a:solidFill>
                        <a:latin typeface="Aptos"/>
                      </a:rPr>
                      <a:t>15.1 m</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4484-6841-944D-32AB90C17B3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0</c:v>
              </c:pt>
              <c:pt idx="1">
                <c:v>12</c:v>
              </c:pt>
              <c:pt idx="2">
                <c:v>24</c:v>
              </c:pt>
              <c:pt idx="3">
                <c:v>36</c:v>
              </c:pt>
              <c:pt idx="4">
                <c:v>72</c:v>
              </c:pt>
              <c:pt idx="5">
                <c:v>120</c:v>
              </c:pt>
            </c:strLit>
          </c:cat>
          <c:val>
            <c:numLit>
              <c:formatCode>General</c:formatCode>
              <c:ptCount val="6"/>
              <c:pt idx="2">
                <c:v>22</c:v>
              </c:pt>
              <c:pt idx="3">
                <c:v>27</c:v>
              </c:pt>
              <c:pt idx="4">
                <c:v>25</c:v>
              </c:pt>
              <c:pt idx="5">
                <c:v>15.1</c:v>
              </c:pt>
            </c:numLit>
          </c:val>
          <c:smooth val="0"/>
          <c:extLst>
            <c:ext xmlns:c16="http://schemas.microsoft.com/office/drawing/2014/chart" uri="{C3380CC4-5D6E-409C-BE32-E72D297353CC}">
              <c16:uniqueId val="{00000006-4484-6841-944D-32AB90C17B39}"/>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ACACA"/>
            </a:solidFill>
          </a:ln>
        </c:spPr>
        <c:txPr>
          <a:bodyPr rot="0" vert="horz"/>
          <a:lstStyle/>
          <a:p>
            <a:pPr>
              <a:defRPr sz="1400" b="0">
                <a:solidFill>
                  <a:srgbClr val="2B2B2B"/>
                </a:solidFill>
                <a:latin typeface="Aptos"/>
              </a:defRPr>
            </a:pPr>
            <a:endParaRPr lang="en-US"/>
          </a:p>
        </c:txPr>
        <c:crossAx val="2"/>
        <c:crosses val="autoZero"/>
        <c:auto val="1"/>
        <c:lblAlgn val="ctr"/>
        <c:lblOffset val="100"/>
        <c:noMultiLvlLbl val="1"/>
      </c:catAx>
      <c:valAx>
        <c:axId val="2"/>
        <c:scaling>
          <c:orientation val="minMax"/>
          <c:max val="50"/>
          <c:min val="0"/>
        </c:scaling>
        <c:delete val="0"/>
        <c:axPos val="l"/>
        <c:majorGridlines>
          <c:spPr>
            <a:ln w="9525">
              <a:solidFill>
                <a:srgbClr val="EAEAEA"/>
              </a:solidFill>
            </a:ln>
          </c:spPr>
        </c:majorGridlines>
        <c:numFmt formatCode="0" sourceLinked="0"/>
        <c:majorTickMark val="none"/>
        <c:minorTickMark val="none"/>
        <c:tickLblPos val="nextTo"/>
        <c:spPr>
          <a:ln>
            <a:noFill/>
          </a:ln>
        </c:spPr>
        <c:txPr>
          <a:bodyPr rot="0" vert="horz"/>
          <a:lstStyle/>
          <a:p>
            <a:pPr>
              <a:defRPr sz="1400" b="0">
                <a:solidFill>
                  <a:srgbClr val="646464"/>
                </a:solidFill>
                <a:latin typeface="Aptos"/>
              </a:defRPr>
            </a:pPr>
            <a:endParaRPr lang="en-US"/>
          </a:p>
        </c:txPr>
        <c:crossAx val="1"/>
        <c:crosses val="autoZero"/>
        <c:crossBetween val="between"/>
        <c:majorUnit val="10"/>
      </c:valAx>
      <c:spPr>
        <a:noFill/>
        <a:ln>
          <a:noFill/>
        </a:ln>
      </c:spPr>
    </c:plotArea>
    <c:plotVisOnly val="1"/>
    <c:dispBlanksAs val="gap"/>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7.9500407276676621E-2"/>
          <c:y val="0.18"/>
          <c:w val="0.88049959272332334"/>
          <c:h val="0.6625196850393702"/>
        </c:manualLayout>
      </c:layout>
      <c:lineChart>
        <c:grouping val="standard"/>
        <c:varyColors val="0"/>
        <c:ser>
          <c:idx val="0"/>
          <c:order val="0"/>
          <c:tx>
            <c:v>MOR-004 weekly</c:v>
          </c:tx>
          <c:spPr>
            <a:ln w="28575">
              <a:solidFill>
                <a:srgbClr val="28509C"/>
              </a:solidFill>
            </a:ln>
          </c:spPr>
          <c:marker>
            <c:symbol val="none"/>
          </c:marker>
          <c:cat>
            <c:strLit>
              <c:ptCount val="6"/>
              <c:pt idx="0">
                <c:v>0</c:v>
              </c:pt>
              <c:pt idx="1">
                <c:v>12</c:v>
              </c:pt>
              <c:pt idx="2">
                <c:v>24</c:v>
              </c:pt>
              <c:pt idx="3">
                <c:v>36</c:v>
              </c:pt>
              <c:pt idx="4">
                <c:v>72</c:v>
              </c:pt>
              <c:pt idx="5">
                <c:v>120</c:v>
              </c:pt>
            </c:strLit>
          </c:cat>
          <c:val>
            <c:numLit>
              <c:formatCode>General</c:formatCode>
              <c:ptCount val="6"/>
              <c:pt idx="0">
                <c:v>-0.3</c:v>
              </c:pt>
              <c:pt idx="1">
                <c:v>3.5</c:v>
              </c:pt>
              <c:pt idx="2">
                <c:v>4.2</c:v>
              </c:pt>
            </c:numLit>
          </c:val>
          <c:smooth val="0"/>
          <c:extLst>
            <c:ext xmlns:c16="http://schemas.microsoft.com/office/drawing/2014/chart" uri="{C3380CC4-5D6E-409C-BE32-E72D297353CC}">
              <c16:uniqueId val="{00000000-E90C-8D47-9A5A-B3E25252FDB6}"/>
            </c:ext>
          </c:extLst>
        </c:ser>
        <c:ser>
          <c:idx val="1"/>
          <c:order val="1"/>
          <c:tx>
            <c:v>MOR-004 every other wk</c:v>
          </c:tx>
          <c:spPr>
            <a:ln w="19050">
              <a:solidFill>
                <a:srgbClr val="A9218E"/>
              </a:solidFill>
            </a:ln>
          </c:spPr>
          <c:marker>
            <c:symbol val="none"/>
          </c:marker>
          <c:cat>
            <c:strLit>
              <c:ptCount val="6"/>
              <c:pt idx="0">
                <c:v>0</c:v>
              </c:pt>
              <c:pt idx="1">
                <c:v>12</c:v>
              </c:pt>
              <c:pt idx="2">
                <c:v>24</c:v>
              </c:pt>
              <c:pt idx="3">
                <c:v>36</c:v>
              </c:pt>
              <c:pt idx="4">
                <c:v>72</c:v>
              </c:pt>
              <c:pt idx="5">
                <c:v>120</c:v>
              </c:pt>
            </c:strLit>
          </c:cat>
          <c:val>
            <c:numLit>
              <c:formatCode>General</c:formatCode>
              <c:ptCount val="6"/>
              <c:pt idx="0">
                <c:v>-0.3</c:v>
              </c:pt>
              <c:pt idx="1">
                <c:v>3</c:v>
              </c:pt>
              <c:pt idx="2">
                <c:v>3.6</c:v>
              </c:pt>
            </c:numLit>
          </c:val>
          <c:smooth val="0"/>
          <c:extLst>
            <c:ext xmlns:c16="http://schemas.microsoft.com/office/drawing/2014/chart" uri="{C3380CC4-5D6E-409C-BE32-E72D297353CC}">
              <c16:uniqueId val="{00000001-E90C-8D47-9A5A-B3E25252FDB6}"/>
            </c:ext>
          </c:extLst>
        </c:ser>
        <c:ser>
          <c:idx val="2"/>
          <c:order val="2"/>
          <c:tx>
            <c:v>MOR-004 placebo</c:v>
          </c:tx>
          <c:spPr>
            <a:ln w="19050">
              <a:solidFill>
                <a:srgbClr val="646464"/>
              </a:solidFill>
              <a:prstDash val="dash"/>
            </a:ln>
          </c:spPr>
          <c:marker>
            <c:symbol val="none"/>
          </c:marker>
          <c:cat>
            <c:strLit>
              <c:ptCount val="6"/>
              <c:pt idx="0">
                <c:v>0</c:v>
              </c:pt>
              <c:pt idx="1">
                <c:v>12</c:v>
              </c:pt>
              <c:pt idx="2">
                <c:v>24</c:v>
              </c:pt>
              <c:pt idx="3">
                <c:v>36</c:v>
              </c:pt>
              <c:pt idx="4">
                <c:v>72</c:v>
              </c:pt>
              <c:pt idx="5">
                <c:v>120</c:v>
              </c:pt>
            </c:strLit>
          </c:cat>
          <c:val>
            <c:numLit>
              <c:formatCode>General</c:formatCode>
              <c:ptCount val="6"/>
              <c:pt idx="0">
                <c:v>-0.3</c:v>
              </c:pt>
              <c:pt idx="1">
                <c:v>2.5</c:v>
              </c:pt>
              <c:pt idx="2">
                <c:v>3</c:v>
              </c:pt>
            </c:numLit>
          </c:val>
          <c:smooth val="0"/>
          <c:extLst>
            <c:ext xmlns:c16="http://schemas.microsoft.com/office/drawing/2014/chart" uri="{C3380CC4-5D6E-409C-BE32-E72D297353CC}">
              <c16:uniqueId val="{00000002-E90C-8D47-9A5A-B3E25252FDB6}"/>
            </c:ext>
          </c:extLst>
        </c:ser>
        <c:ser>
          <c:idx val="3"/>
          <c:order val="3"/>
          <c:tx>
            <c:v>MPP pooled</c:v>
          </c:tx>
          <c:spPr>
            <a:ln w="19050">
              <a:solidFill>
                <a:srgbClr val="D25D5D"/>
              </a:solidFill>
            </a:ln>
          </c:spPr>
          <c:marker>
            <c:symbol val="none"/>
          </c:marker>
          <c:dPt>
            <c:idx val="5"/>
            <c:marker>
              <c:symbol val="circle"/>
              <c:size val="6"/>
              <c:spPr>
                <a:solidFill>
                  <a:srgbClr val="D25D5D"/>
                </a:solidFill>
                <a:ln>
                  <a:noFill/>
                </a:ln>
              </c:spPr>
            </c:marker>
            <c:bubble3D val="0"/>
            <c:extLst>
              <c:ext xmlns:c16="http://schemas.microsoft.com/office/drawing/2014/chart" uri="{C3380CC4-5D6E-409C-BE32-E72D297353CC}">
                <c16:uniqueId val="{00000003-E90C-8D47-9A5A-B3E25252FDB6}"/>
              </c:ext>
            </c:extLst>
          </c:dPt>
          <c:dLbls>
            <c:dLbl>
              <c:idx val="5"/>
              <c:tx>
                <c:rich>
                  <a:bodyPr/>
                  <a:lstStyle/>
                  <a:p>
                    <a:r>
                      <a:rPr lang="en-US" sz="1400" b="0">
                        <a:solidFill>
                          <a:srgbClr val="D25D5D"/>
                        </a:solidFill>
                        <a:latin typeface="Aptos"/>
                      </a:rPr>
                      <a:t>6.8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90C-8D47-9A5A-B3E25252FDB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0</c:v>
              </c:pt>
              <c:pt idx="1">
                <c:v>12</c:v>
              </c:pt>
              <c:pt idx="2">
                <c:v>24</c:v>
              </c:pt>
              <c:pt idx="3">
                <c:v>36</c:v>
              </c:pt>
              <c:pt idx="4">
                <c:v>72</c:v>
              </c:pt>
              <c:pt idx="5">
                <c:v>120</c:v>
              </c:pt>
            </c:strLit>
          </c:cat>
          <c:val>
            <c:numLit>
              <c:formatCode>General</c:formatCode>
              <c:ptCount val="6"/>
              <c:pt idx="2">
                <c:v>4.4000000000000004</c:v>
              </c:pt>
              <c:pt idx="3">
                <c:v>5.4</c:v>
              </c:pt>
              <c:pt idx="4">
                <c:v>6.9</c:v>
              </c:pt>
              <c:pt idx="5">
                <c:v>6.8</c:v>
              </c:pt>
            </c:numLit>
          </c:val>
          <c:smooth val="0"/>
          <c:extLst>
            <c:ext xmlns:c16="http://schemas.microsoft.com/office/drawing/2014/chart" uri="{C3380CC4-5D6E-409C-BE32-E72D297353CC}">
              <c16:uniqueId val="{00000004-E90C-8D47-9A5A-B3E25252FDB6}"/>
            </c:ext>
          </c:extLst>
        </c:ser>
        <c:ser>
          <c:idx val="4"/>
          <c:order val="4"/>
          <c:tx>
            <c:v>ITT pooled</c:v>
          </c:tx>
          <c:spPr>
            <a:ln w="19050">
              <a:solidFill>
                <a:srgbClr val="002E56"/>
              </a:solidFill>
            </a:ln>
          </c:spPr>
          <c:marker>
            <c:symbol val="none"/>
          </c:marker>
          <c:dPt>
            <c:idx val="5"/>
            <c:marker>
              <c:symbol val="circle"/>
              <c:size val="6"/>
              <c:spPr>
                <a:solidFill>
                  <a:srgbClr val="002E56"/>
                </a:solidFill>
                <a:ln>
                  <a:noFill/>
                </a:ln>
              </c:spPr>
            </c:marker>
            <c:bubble3D val="0"/>
            <c:extLst>
              <c:ext xmlns:c16="http://schemas.microsoft.com/office/drawing/2014/chart" uri="{C3380CC4-5D6E-409C-BE32-E72D297353CC}">
                <c16:uniqueId val="{00000005-E90C-8D47-9A5A-B3E25252FDB6}"/>
              </c:ext>
            </c:extLst>
          </c:dPt>
          <c:dLbls>
            <c:dLbl>
              <c:idx val="5"/>
              <c:tx>
                <c:rich>
                  <a:bodyPr/>
                  <a:lstStyle/>
                  <a:p>
                    <a:r>
                      <a:rPr lang="en-US" sz="1400" b="0">
                        <a:solidFill>
                          <a:srgbClr val="002E56"/>
                        </a:solidFill>
                        <a:latin typeface="Aptos"/>
                      </a:rPr>
                      <a:t>4.3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E90C-8D47-9A5A-B3E25252FDB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6"/>
              <c:pt idx="0">
                <c:v>0</c:v>
              </c:pt>
              <c:pt idx="1">
                <c:v>12</c:v>
              </c:pt>
              <c:pt idx="2">
                <c:v>24</c:v>
              </c:pt>
              <c:pt idx="3">
                <c:v>36</c:v>
              </c:pt>
              <c:pt idx="4">
                <c:v>72</c:v>
              </c:pt>
              <c:pt idx="5">
                <c:v>120</c:v>
              </c:pt>
            </c:strLit>
          </c:cat>
          <c:val>
            <c:numLit>
              <c:formatCode>General</c:formatCode>
              <c:ptCount val="6"/>
              <c:pt idx="2">
                <c:v>3.9</c:v>
              </c:pt>
              <c:pt idx="3">
                <c:v>4.8</c:v>
              </c:pt>
              <c:pt idx="4">
                <c:v>5</c:v>
              </c:pt>
              <c:pt idx="5">
                <c:v>4.3</c:v>
              </c:pt>
            </c:numLit>
          </c:val>
          <c:smooth val="0"/>
          <c:extLst>
            <c:ext xmlns:c16="http://schemas.microsoft.com/office/drawing/2014/chart" uri="{C3380CC4-5D6E-409C-BE32-E72D297353CC}">
              <c16:uniqueId val="{00000006-E90C-8D47-9A5A-B3E25252FDB6}"/>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ACACA"/>
            </a:solidFill>
          </a:ln>
        </c:spPr>
        <c:txPr>
          <a:bodyPr rot="0" vert="horz"/>
          <a:lstStyle/>
          <a:p>
            <a:pPr>
              <a:defRPr sz="1400" b="0">
                <a:solidFill>
                  <a:srgbClr val="2B2B2B"/>
                </a:solidFill>
                <a:latin typeface="Aptos"/>
              </a:defRPr>
            </a:pPr>
            <a:endParaRPr lang="en-US"/>
          </a:p>
        </c:txPr>
        <c:crossAx val="2"/>
        <c:crosses val="autoZero"/>
        <c:auto val="1"/>
        <c:lblAlgn val="ctr"/>
        <c:lblOffset val="100"/>
        <c:noMultiLvlLbl val="1"/>
      </c:catAx>
      <c:valAx>
        <c:axId val="2"/>
        <c:scaling>
          <c:orientation val="minMax"/>
          <c:max val="8"/>
          <c:min val="-2"/>
        </c:scaling>
        <c:delete val="0"/>
        <c:axPos val="l"/>
        <c:majorGridlines>
          <c:spPr>
            <a:ln w="9525">
              <a:solidFill>
                <a:srgbClr val="EAEAEA"/>
              </a:solidFill>
            </a:ln>
          </c:spPr>
        </c:majorGridlines>
        <c:numFmt formatCode="0" sourceLinked="0"/>
        <c:majorTickMark val="none"/>
        <c:minorTickMark val="none"/>
        <c:tickLblPos val="nextTo"/>
        <c:spPr>
          <a:ln>
            <a:noFill/>
          </a:ln>
        </c:spPr>
        <c:txPr>
          <a:bodyPr rot="0" vert="horz"/>
          <a:lstStyle/>
          <a:p>
            <a:pPr>
              <a:defRPr sz="1400" b="0">
                <a:solidFill>
                  <a:srgbClr val="646464"/>
                </a:solidFill>
                <a:latin typeface="Aptos"/>
              </a:defRPr>
            </a:pPr>
            <a:endParaRPr lang="en-US"/>
          </a:p>
        </c:txPr>
        <c:crossAx val="1"/>
        <c:crosses val="autoZero"/>
        <c:crossBetween val="between"/>
        <c:majorUnit val="2"/>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7.9500407276676621E-2"/>
          <c:y val="0.18"/>
          <c:w val="0.88049959272332334"/>
          <c:h val="0.65066632799932278"/>
        </c:manualLayout>
      </c:layout>
      <c:lineChart>
        <c:grouping val="standard"/>
        <c:varyColors val="0"/>
        <c:ser>
          <c:idx val="0"/>
          <c:order val="0"/>
          <c:tx>
            <c:v>MOR-004 weekly</c:v>
          </c:tx>
          <c:spPr>
            <a:ln w="28575">
              <a:solidFill>
                <a:srgbClr val="28509C"/>
              </a:solidFill>
            </a:ln>
          </c:spPr>
          <c:marker>
            <c:symbol val="none"/>
          </c:marker>
          <c:cat>
            <c:strLit>
              <c:ptCount val="7"/>
              <c:pt idx="0">
                <c:v>0</c:v>
              </c:pt>
              <c:pt idx="1">
                <c:v>12</c:v>
              </c:pt>
              <c:pt idx="2">
                <c:v>24</c:v>
              </c:pt>
              <c:pt idx="3">
                <c:v>36</c:v>
              </c:pt>
              <c:pt idx="4">
                <c:v>48</c:v>
              </c:pt>
              <c:pt idx="5">
                <c:v>72</c:v>
              </c:pt>
              <c:pt idx="6">
                <c:v>120</c:v>
              </c:pt>
            </c:strLit>
          </c:cat>
          <c:val>
            <c:numLit>
              <c:formatCode>General</c:formatCode>
              <c:ptCount val="7"/>
              <c:pt idx="0">
                <c:v>0</c:v>
              </c:pt>
              <c:pt idx="1">
                <c:v>-42</c:v>
              </c:pt>
              <c:pt idx="2">
                <c:v>-45</c:v>
              </c:pt>
            </c:numLit>
          </c:val>
          <c:smooth val="0"/>
          <c:extLst>
            <c:ext xmlns:c16="http://schemas.microsoft.com/office/drawing/2014/chart" uri="{C3380CC4-5D6E-409C-BE32-E72D297353CC}">
              <c16:uniqueId val="{00000000-7415-9247-AAE2-BEC985807F2D}"/>
            </c:ext>
          </c:extLst>
        </c:ser>
        <c:ser>
          <c:idx val="1"/>
          <c:order val="1"/>
          <c:tx>
            <c:v>MOR-004 QOW</c:v>
          </c:tx>
          <c:spPr>
            <a:ln w="19050">
              <a:solidFill>
                <a:srgbClr val="A9218E"/>
              </a:solidFill>
            </a:ln>
          </c:spPr>
          <c:marker>
            <c:symbol val="none"/>
          </c:marker>
          <c:cat>
            <c:strLit>
              <c:ptCount val="7"/>
              <c:pt idx="0">
                <c:v>0</c:v>
              </c:pt>
              <c:pt idx="1">
                <c:v>12</c:v>
              </c:pt>
              <c:pt idx="2">
                <c:v>24</c:v>
              </c:pt>
              <c:pt idx="3">
                <c:v>36</c:v>
              </c:pt>
              <c:pt idx="4">
                <c:v>48</c:v>
              </c:pt>
              <c:pt idx="5">
                <c:v>72</c:v>
              </c:pt>
              <c:pt idx="6">
                <c:v>120</c:v>
              </c:pt>
            </c:strLit>
          </c:cat>
          <c:val>
            <c:numLit>
              <c:formatCode>General</c:formatCode>
              <c:ptCount val="7"/>
              <c:pt idx="0">
                <c:v>0</c:v>
              </c:pt>
              <c:pt idx="1">
                <c:v>-20</c:v>
              </c:pt>
              <c:pt idx="2">
                <c:v>-35</c:v>
              </c:pt>
            </c:numLit>
          </c:val>
          <c:smooth val="0"/>
          <c:extLst>
            <c:ext xmlns:c16="http://schemas.microsoft.com/office/drawing/2014/chart" uri="{C3380CC4-5D6E-409C-BE32-E72D297353CC}">
              <c16:uniqueId val="{00000001-7415-9247-AAE2-BEC985807F2D}"/>
            </c:ext>
          </c:extLst>
        </c:ser>
        <c:ser>
          <c:idx val="2"/>
          <c:order val="2"/>
          <c:tx>
            <c:v>MOR-004 placebo</c:v>
          </c:tx>
          <c:spPr>
            <a:ln w="19050">
              <a:solidFill>
                <a:srgbClr val="646464"/>
              </a:solidFill>
              <a:prstDash val="dash"/>
            </a:ln>
          </c:spPr>
          <c:marker>
            <c:symbol val="none"/>
          </c:marker>
          <c:cat>
            <c:strLit>
              <c:ptCount val="7"/>
              <c:pt idx="0">
                <c:v>0</c:v>
              </c:pt>
              <c:pt idx="1">
                <c:v>12</c:v>
              </c:pt>
              <c:pt idx="2">
                <c:v>24</c:v>
              </c:pt>
              <c:pt idx="3">
                <c:v>36</c:v>
              </c:pt>
              <c:pt idx="4">
                <c:v>48</c:v>
              </c:pt>
              <c:pt idx="5">
                <c:v>72</c:v>
              </c:pt>
              <c:pt idx="6">
                <c:v>120</c:v>
              </c:pt>
            </c:strLit>
          </c:cat>
          <c:val>
            <c:numLit>
              <c:formatCode>General</c:formatCode>
              <c:ptCount val="7"/>
              <c:pt idx="0">
                <c:v>0</c:v>
              </c:pt>
              <c:pt idx="1">
                <c:v>-2</c:v>
              </c:pt>
              <c:pt idx="2">
                <c:v>-4</c:v>
              </c:pt>
            </c:numLit>
          </c:val>
          <c:smooth val="0"/>
          <c:extLst>
            <c:ext xmlns:c16="http://schemas.microsoft.com/office/drawing/2014/chart" uri="{C3380CC4-5D6E-409C-BE32-E72D297353CC}">
              <c16:uniqueId val="{00000002-7415-9247-AAE2-BEC985807F2D}"/>
            </c:ext>
          </c:extLst>
        </c:ser>
        <c:ser>
          <c:idx val="3"/>
          <c:order val="3"/>
          <c:tx>
            <c:v>QW-QW</c:v>
          </c:tx>
          <c:spPr>
            <a:ln w="19050">
              <a:solidFill>
                <a:srgbClr val="002E56"/>
              </a:solidFill>
            </a:ln>
          </c:spPr>
          <c:marker>
            <c:symbol val="none"/>
          </c:marker>
          <c:cat>
            <c:strLit>
              <c:ptCount val="7"/>
              <c:pt idx="0">
                <c:v>0</c:v>
              </c:pt>
              <c:pt idx="1">
                <c:v>12</c:v>
              </c:pt>
              <c:pt idx="2">
                <c:v>24</c:v>
              </c:pt>
              <c:pt idx="3">
                <c:v>36</c:v>
              </c:pt>
              <c:pt idx="4">
                <c:v>48</c:v>
              </c:pt>
              <c:pt idx="5">
                <c:v>72</c:v>
              </c:pt>
              <c:pt idx="6">
                <c:v>120</c:v>
              </c:pt>
            </c:strLit>
          </c:cat>
          <c:val>
            <c:numLit>
              <c:formatCode>General</c:formatCode>
              <c:ptCount val="7"/>
              <c:pt idx="2">
                <c:v>-45</c:v>
              </c:pt>
              <c:pt idx="3">
                <c:v>-48</c:v>
              </c:pt>
              <c:pt idx="4">
                <c:v>-50</c:v>
              </c:pt>
              <c:pt idx="5">
                <c:v>-55</c:v>
              </c:pt>
              <c:pt idx="6">
                <c:v>-59</c:v>
              </c:pt>
            </c:numLit>
          </c:val>
          <c:smooth val="0"/>
          <c:extLst>
            <c:ext xmlns:c16="http://schemas.microsoft.com/office/drawing/2014/chart" uri="{C3380CC4-5D6E-409C-BE32-E72D297353CC}">
              <c16:uniqueId val="{00000003-7415-9247-AAE2-BEC985807F2D}"/>
            </c:ext>
          </c:extLst>
        </c:ser>
        <c:ser>
          <c:idx val="4"/>
          <c:order val="4"/>
          <c:tx>
            <c:v>QOW-QOW</c:v>
          </c:tx>
          <c:spPr>
            <a:ln w="19050">
              <a:solidFill>
                <a:srgbClr val="C266B2"/>
              </a:solidFill>
            </a:ln>
          </c:spPr>
          <c:marker>
            <c:symbol val="none"/>
          </c:marker>
          <c:cat>
            <c:strLit>
              <c:ptCount val="7"/>
              <c:pt idx="0">
                <c:v>0</c:v>
              </c:pt>
              <c:pt idx="1">
                <c:v>12</c:v>
              </c:pt>
              <c:pt idx="2">
                <c:v>24</c:v>
              </c:pt>
              <c:pt idx="3">
                <c:v>36</c:v>
              </c:pt>
              <c:pt idx="4">
                <c:v>48</c:v>
              </c:pt>
              <c:pt idx="5">
                <c:v>72</c:v>
              </c:pt>
              <c:pt idx="6">
                <c:v>120</c:v>
              </c:pt>
            </c:strLit>
          </c:cat>
          <c:val>
            <c:numLit>
              <c:formatCode>General</c:formatCode>
              <c:ptCount val="7"/>
              <c:pt idx="2">
                <c:v>-35</c:v>
              </c:pt>
              <c:pt idx="3">
                <c:v>-38</c:v>
              </c:pt>
              <c:pt idx="4">
                <c:v>-47</c:v>
              </c:pt>
              <c:pt idx="5">
                <c:v>-54</c:v>
              </c:pt>
              <c:pt idx="6">
                <c:v>-57</c:v>
              </c:pt>
            </c:numLit>
          </c:val>
          <c:smooth val="0"/>
          <c:extLst>
            <c:ext xmlns:c16="http://schemas.microsoft.com/office/drawing/2014/chart" uri="{C3380CC4-5D6E-409C-BE32-E72D297353CC}">
              <c16:uniqueId val="{00000004-7415-9247-AAE2-BEC985807F2D}"/>
            </c:ext>
          </c:extLst>
        </c:ser>
        <c:ser>
          <c:idx val="5"/>
          <c:order val="5"/>
          <c:tx>
            <c:v>Placebo-QW</c:v>
          </c:tx>
          <c:spPr>
            <a:ln w="19050">
              <a:solidFill>
                <a:srgbClr val="D25D5D"/>
              </a:solidFill>
            </a:ln>
          </c:spPr>
          <c:marker>
            <c:symbol val="none"/>
          </c:marker>
          <c:cat>
            <c:strLit>
              <c:ptCount val="7"/>
              <c:pt idx="0">
                <c:v>0</c:v>
              </c:pt>
              <c:pt idx="1">
                <c:v>12</c:v>
              </c:pt>
              <c:pt idx="2">
                <c:v>24</c:v>
              </c:pt>
              <c:pt idx="3">
                <c:v>36</c:v>
              </c:pt>
              <c:pt idx="4">
                <c:v>48</c:v>
              </c:pt>
              <c:pt idx="5">
                <c:v>72</c:v>
              </c:pt>
              <c:pt idx="6">
                <c:v>120</c:v>
              </c:pt>
            </c:strLit>
          </c:cat>
          <c:val>
            <c:numLit>
              <c:formatCode>General</c:formatCode>
              <c:ptCount val="7"/>
              <c:pt idx="2">
                <c:v>-12</c:v>
              </c:pt>
              <c:pt idx="3">
                <c:v>-47</c:v>
              </c:pt>
              <c:pt idx="4">
                <c:v>-52</c:v>
              </c:pt>
              <c:pt idx="5">
                <c:v>-55</c:v>
              </c:pt>
              <c:pt idx="6">
                <c:v>-60</c:v>
              </c:pt>
            </c:numLit>
          </c:val>
          <c:smooth val="0"/>
          <c:extLst>
            <c:ext xmlns:c16="http://schemas.microsoft.com/office/drawing/2014/chart" uri="{C3380CC4-5D6E-409C-BE32-E72D297353CC}">
              <c16:uniqueId val="{00000005-7415-9247-AAE2-BEC985807F2D}"/>
            </c:ext>
          </c:extLst>
        </c:ser>
        <c:ser>
          <c:idx val="6"/>
          <c:order val="6"/>
          <c:tx>
            <c:v>Placebo-QOW</c:v>
          </c:tx>
          <c:spPr>
            <a:ln w="19050">
              <a:solidFill>
                <a:srgbClr val="E8A33D"/>
              </a:solidFill>
            </a:ln>
          </c:spPr>
          <c:marker>
            <c:symbol val="none"/>
          </c:marker>
          <c:cat>
            <c:strLit>
              <c:ptCount val="7"/>
              <c:pt idx="0">
                <c:v>0</c:v>
              </c:pt>
              <c:pt idx="1">
                <c:v>12</c:v>
              </c:pt>
              <c:pt idx="2">
                <c:v>24</c:v>
              </c:pt>
              <c:pt idx="3">
                <c:v>36</c:v>
              </c:pt>
              <c:pt idx="4">
                <c:v>48</c:v>
              </c:pt>
              <c:pt idx="5">
                <c:v>72</c:v>
              </c:pt>
              <c:pt idx="6">
                <c:v>120</c:v>
              </c:pt>
            </c:strLit>
          </c:cat>
          <c:val>
            <c:numLit>
              <c:formatCode>General</c:formatCode>
              <c:ptCount val="7"/>
              <c:pt idx="2">
                <c:v>4</c:v>
              </c:pt>
              <c:pt idx="3">
                <c:v>-32</c:v>
              </c:pt>
              <c:pt idx="4">
                <c:v>-40</c:v>
              </c:pt>
              <c:pt idx="5">
                <c:v>-53</c:v>
              </c:pt>
              <c:pt idx="6">
                <c:v>-57</c:v>
              </c:pt>
            </c:numLit>
          </c:val>
          <c:smooth val="0"/>
          <c:extLst>
            <c:ext xmlns:c16="http://schemas.microsoft.com/office/drawing/2014/chart" uri="{C3380CC4-5D6E-409C-BE32-E72D297353CC}">
              <c16:uniqueId val="{00000006-7415-9247-AAE2-BEC985807F2D}"/>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low"/>
        <c:spPr>
          <a:ln w="9525">
            <a:solidFill>
              <a:srgbClr val="CACACA"/>
            </a:solidFill>
          </a:ln>
        </c:spPr>
        <c:txPr>
          <a:bodyPr rot="0" vert="horz"/>
          <a:lstStyle/>
          <a:p>
            <a:pPr>
              <a:defRPr sz="1400" b="0">
                <a:solidFill>
                  <a:srgbClr val="2B2B2B"/>
                </a:solidFill>
                <a:latin typeface="Aptos"/>
              </a:defRPr>
            </a:pPr>
            <a:endParaRPr lang="en-US"/>
          </a:p>
        </c:txPr>
        <c:crossAx val="2"/>
        <c:crosses val="autoZero"/>
        <c:auto val="1"/>
        <c:lblAlgn val="ctr"/>
        <c:lblOffset val="100"/>
        <c:noMultiLvlLbl val="1"/>
      </c:catAx>
      <c:valAx>
        <c:axId val="2"/>
        <c:scaling>
          <c:orientation val="minMax"/>
          <c:max val="10"/>
          <c:min val="-70"/>
        </c:scaling>
        <c:delete val="0"/>
        <c:axPos val="l"/>
        <c:majorGridlines>
          <c:spPr>
            <a:ln w="9525">
              <a:solidFill>
                <a:srgbClr val="EAEAEA"/>
              </a:solidFill>
            </a:ln>
          </c:spPr>
        </c:majorGridlines>
        <c:numFmt formatCode="0" sourceLinked="0"/>
        <c:majorTickMark val="none"/>
        <c:minorTickMark val="none"/>
        <c:tickLblPos val="nextTo"/>
        <c:spPr>
          <a:ln>
            <a:noFill/>
          </a:ln>
        </c:spPr>
        <c:txPr>
          <a:bodyPr rot="0" vert="horz"/>
          <a:lstStyle/>
          <a:p>
            <a:pPr>
              <a:defRPr sz="1400" b="0">
                <a:solidFill>
                  <a:srgbClr val="646464"/>
                </a:solidFill>
                <a:latin typeface="Aptos"/>
              </a:defRPr>
            </a:pPr>
            <a:endParaRPr lang="en-US"/>
          </a:p>
        </c:txPr>
        <c:crossAx val="1"/>
        <c:crosses val="autoZero"/>
        <c:crossBetween val="between"/>
        <c:majorUnit val="10"/>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6952292728114868"/>
          <c:y val="0.06"/>
          <c:w val="0.62616952292728112"/>
          <c:h val="0.79683607730851813"/>
        </c:manualLayout>
      </c:layout>
      <c:lineChart>
        <c:grouping val="standard"/>
        <c:varyColors val="0"/>
        <c:ser>
          <c:idx val="0"/>
          <c:order val="0"/>
          <c:tx>
            <c:v>ITT</c:v>
          </c:tx>
          <c:spPr>
            <a:ln w="28575">
              <a:solidFill>
                <a:srgbClr val="002E56"/>
              </a:solidFill>
            </a:ln>
          </c:spPr>
          <c:marker>
            <c:symbol val="none"/>
          </c:marker>
          <c:dPt>
            <c:idx val="3"/>
            <c:marker>
              <c:symbol val="circle"/>
              <c:size val="7"/>
              <c:spPr>
                <a:solidFill>
                  <a:srgbClr val="002E56"/>
                </a:solidFill>
                <a:ln>
                  <a:noFill/>
                </a:ln>
              </c:spPr>
            </c:marker>
            <c:bubble3D val="0"/>
            <c:extLst>
              <c:ext xmlns:c16="http://schemas.microsoft.com/office/drawing/2014/chart" uri="{C3380CC4-5D6E-409C-BE32-E72D297353CC}">
                <c16:uniqueId val="{00000000-E918-AC45-B273-8E4C73C78E14}"/>
              </c:ext>
            </c:extLst>
          </c:dPt>
          <c:dLbls>
            <c:dLbl>
              <c:idx val="3"/>
              <c:tx>
                <c:rich>
                  <a:bodyPr/>
                  <a:lstStyle/>
                  <a:p>
                    <a:r>
                      <a:rPr lang="en-US" sz="1400" b="1">
                        <a:solidFill>
                          <a:srgbClr val="002E56"/>
                        </a:solidFill>
                        <a:latin typeface="Aptos"/>
                      </a:rPr>
                      <a:t>8.2%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918-AC45-B273-8E4C73C78E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4"/>
              <c:pt idx="0">
                <c:v>0</c:v>
              </c:pt>
              <c:pt idx="1">
                <c:v>24</c:v>
              </c:pt>
              <c:pt idx="2">
                <c:v>72</c:v>
              </c:pt>
              <c:pt idx="3">
                <c:v>120</c:v>
              </c:pt>
            </c:strLit>
          </c:cat>
          <c:val>
            <c:numLit>
              <c:formatCode>General</c:formatCode>
              <c:ptCount val="4"/>
              <c:pt idx="0">
                <c:v>0</c:v>
              </c:pt>
              <c:pt idx="1">
                <c:v>3.3</c:v>
              </c:pt>
              <c:pt idx="2">
                <c:v>7</c:v>
              </c:pt>
              <c:pt idx="3">
                <c:v>8.1999999999999993</c:v>
              </c:pt>
            </c:numLit>
          </c:val>
          <c:smooth val="0"/>
          <c:extLst>
            <c:ext xmlns:c16="http://schemas.microsoft.com/office/drawing/2014/chart" uri="{C3380CC4-5D6E-409C-BE32-E72D297353CC}">
              <c16:uniqueId val="{00000001-E918-AC45-B273-8E4C73C78E14}"/>
            </c:ext>
          </c:extLst>
        </c:ser>
        <c:ser>
          <c:idx val="1"/>
          <c:order val="1"/>
          <c:tx>
            <c:v>MPP</c:v>
          </c:tx>
          <c:spPr>
            <a:ln w="19050">
              <a:solidFill>
                <a:srgbClr val="D25D5D"/>
              </a:solidFill>
            </a:ln>
          </c:spPr>
          <c:marker>
            <c:symbol val="none"/>
          </c:marker>
          <c:dPt>
            <c:idx val="3"/>
            <c:marker>
              <c:symbol val="circle"/>
              <c:size val="6"/>
              <c:spPr>
                <a:solidFill>
                  <a:srgbClr val="D25D5D"/>
                </a:solidFill>
                <a:ln>
                  <a:noFill/>
                </a:ln>
              </c:spPr>
            </c:marker>
            <c:bubble3D val="0"/>
            <c:extLst>
              <c:ext xmlns:c16="http://schemas.microsoft.com/office/drawing/2014/chart" uri="{C3380CC4-5D6E-409C-BE32-E72D297353CC}">
                <c16:uniqueId val="{00000002-E918-AC45-B273-8E4C73C78E14}"/>
              </c:ext>
            </c:extLst>
          </c:dPt>
          <c:dLbls>
            <c:dLbl>
              <c:idx val="3"/>
              <c:tx>
                <c:rich>
                  <a:bodyPr/>
                  <a:lstStyle/>
                  <a:p>
                    <a:r>
                      <a:rPr lang="en-US" sz="1400" b="0">
                        <a:solidFill>
                          <a:srgbClr val="D25D5D"/>
                        </a:solidFill>
                        <a:latin typeface="Aptos"/>
                      </a:rPr>
                      <a:t>8.8%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918-AC45-B273-8E4C73C78E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4"/>
              <c:pt idx="0">
                <c:v>0</c:v>
              </c:pt>
              <c:pt idx="1">
                <c:v>24</c:v>
              </c:pt>
              <c:pt idx="2">
                <c:v>72</c:v>
              </c:pt>
              <c:pt idx="3">
                <c:v>120</c:v>
              </c:pt>
            </c:strLit>
          </c:cat>
          <c:val>
            <c:numLit>
              <c:formatCode>General</c:formatCode>
              <c:ptCount val="4"/>
              <c:pt idx="0">
                <c:v>0</c:v>
              </c:pt>
              <c:pt idx="1">
                <c:v>3.5</c:v>
              </c:pt>
              <c:pt idx="2">
                <c:v>7.5</c:v>
              </c:pt>
              <c:pt idx="3">
                <c:v>8.8000000000000007</c:v>
              </c:pt>
            </c:numLit>
          </c:val>
          <c:smooth val="0"/>
          <c:extLst>
            <c:ext xmlns:c16="http://schemas.microsoft.com/office/drawing/2014/chart" uri="{C3380CC4-5D6E-409C-BE32-E72D297353CC}">
              <c16:uniqueId val="{00000003-E918-AC45-B273-8E4C73C78E14}"/>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ACACA"/>
            </a:solidFill>
          </a:ln>
        </c:spPr>
        <c:txPr>
          <a:bodyPr rot="0" vert="horz"/>
          <a:lstStyle/>
          <a:p>
            <a:pPr>
              <a:defRPr sz="1400" b="0">
                <a:solidFill>
                  <a:srgbClr val="2B2B2B"/>
                </a:solidFill>
                <a:latin typeface="Aptos"/>
              </a:defRPr>
            </a:pPr>
            <a:endParaRPr lang="en-US"/>
          </a:p>
        </c:txPr>
        <c:crossAx val="2"/>
        <c:crosses val="autoZero"/>
        <c:auto val="1"/>
        <c:lblAlgn val="ctr"/>
        <c:lblOffset val="100"/>
        <c:noMultiLvlLbl val="1"/>
      </c:catAx>
      <c:valAx>
        <c:axId val="2"/>
        <c:scaling>
          <c:orientation val="minMax"/>
          <c:max val="12"/>
          <c:min val="0"/>
        </c:scaling>
        <c:delete val="0"/>
        <c:axPos val="l"/>
        <c:majorGridlines>
          <c:spPr>
            <a:ln w="9525">
              <a:solidFill>
                <a:srgbClr val="EAEAEA"/>
              </a:solidFill>
            </a:ln>
          </c:spPr>
        </c:majorGridlines>
        <c:numFmt formatCode="0" sourceLinked="0"/>
        <c:majorTickMark val="none"/>
        <c:minorTickMark val="none"/>
        <c:tickLblPos val="nextTo"/>
        <c:spPr>
          <a:ln>
            <a:noFill/>
          </a:ln>
        </c:spPr>
        <c:txPr>
          <a:bodyPr rot="0" vert="horz"/>
          <a:lstStyle/>
          <a:p>
            <a:pPr>
              <a:defRPr sz="1400" b="0">
                <a:solidFill>
                  <a:srgbClr val="646464"/>
                </a:solidFill>
                <a:latin typeface="Aptos"/>
              </a:defRPr>
            </a:pPr>
            <a:endParaRPr lang="en-US"/>
          </a:p>
        </c:txPr>
        <c:crossAx val="1"/>
        <c:crosses val="autoZero"/>
        <c:crossBetween val="between"/>
        <c:majorUnit val="4"/>
      </c:valAx>
      <c:spPr>
        <a:noFill/>
        <a:ln>
          <a:noFill/>
        </a:ln>
      </c:spPr>
    </c:plotArea>
    <c:plotVisOnly val="1"/>
    <c:dispBlanksAs val="gap"/>
    <c:showDLblsOverMax val="1"/>
  </c:chart>
  <c:spPr>
    <a:no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6952292728114868"/>
          <c:y val="0.06"/>
          <c:w val="0.62616952292728112"/>
          <c:h val="0.79683607730851813"/>
        </c:manualLayout>
      </c:layout>
      <c:lineChart>
        <c:grouping val="standard"/>
        <c:varyColors val="0"/>
        <c:ser>
          <c:idx val="0"/>
          <c:order val="0"/>
          <c:tx>
            <c:v>ITT</c:v>
          </c:tx>
          <c:spPr>
            <a:ln w="28575">
              <a:solidFill>
                <a:srgbClr val="002E56"/>
              </a:solidFill>
            </a:ln>
          </c:spPr>
          <c:marker>
            <c:symbol val="none"/>
          </c:marker>
          <c:dPt>
            <c:idx val="3"/>
            <c:marker>
              <c:symbol val="circle"/>
              <c:size val="7"/>
              <c:spPr>
                <a:solidFill>
                  <a:srgbClr val="002E56"/>
                </a:solidFill>
                <a:ln>
                  <a:noFill/>
                </a:ln>
              </c:spPr>
            </c:marker>
            <c:bubble3D val="0"/>
            <c:extLst>
              <c:ext xmlns:c16="http://schemas.microsoft.com/office/drawing/2014/chart" uri="{C3380CC4-5D6E-409C-BE32-E72D297353CC}">
                <c16:uniqueId val="{00000000-967A-9945-8BC6-70EE239F9553}"/>
              </c:ext>
            </c:extLst>
          </c:dPt>
          <c:dLbls>
            <c:dLbl>
              <c:idx val="3"/>
              <c:tx>
                <c:rich>
                  <a:bodyPr/>
                  <a:lstStyle/>
                  <a:p>
                    <a:r>
                      <a:rPr lang="en-US" sz="1400" b="1">
                        <a:solidFill>
                          <a:srgbClr val="002E56"/>
                        </a:solidFill>
                        <a:latin typeface="Aptos"/>
                      </a:rPr>
                      <a:t>7.4%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67A-9945-8BC6-70EE239F955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4"/>
              <c:pt idx="0">
                <c:v>0</c:v>
              </c:pt>
              <c:pt idx="1">
                <c:v>24</c:v>
              </c:pt>
              <c:pt idx="2">
                <c:v>72</c:v>
              </c:pt>
              <c:pt idx="3">
                <c:v>120</c:v>
              </c:pt>
            </c:strLit>
          </c:cat>
          <c:val>
            <c:numLit>
              <c:formatCode>General</c:formatCode>
              <c:ptCount val="4"/>
              <c:pt idx="0">
                <c:v>0</c:v>
              </c:pt>
              <c:pt idx="1">
                <c:v>3.3</c:v>
              </c:pt>
              <c:pt idx="2">
                <c:v>6.1</c:v>
              </c:pt>
              <c:pt idx="3">
                <c:v>7.4</c:v>
              </c:pt>
            </c:numLit>
          </c:val>
          <c:smooth val="0"/>
          <c:extLst>
            <c:ext xmlns:c16="http://schemas.microsoft.com/office/drawing/2014/chart" uri="{C3380CC4-5D6E-409C-BE32-E72D297353CC}">
              <c16:uniqueId val="{00000001-967A-9945-8BC6-70EE239F9553}"/>
            </c:ext>
          </c:extLst>
        </c:ser>
        <c:ser>
          <c:idx val="1"/>
          <c:order val="1"/>
          <c:tx>
            <c:v>MPP</c:v>
          </c:tx>
          <c:spPr>
            <a:ln w="19050">
              <a:solidFill>
                <a:srgbClr val="D25D5D"/>
              </a:solidFill>
            </a:ln>
          </c:spPr>
          <c:marker>
            <c:symbol val="none"/>
          </c:marker>
          <c:dPt>
            <c:idx val="3"/>
            <c:marker>
              <c:symbol val="circle"/>
              <c:size val="6"/>
              <c:spPr>
                <a:solidFill>
                  <a:srgbClr val="D25D5D"/>
                </a:solidFill>
                <a:ln>
                  <a:noFill/>
                </a:ln>
              </c:spPr>
            </c:marker>
            <c:bubble3D val="0"/>
            <c:extLst>
              <c:ext xmlns:c16="http://schemas.microsoft.com/office/drawing/2014/chart" uri="{C3380CC4-5D6E-409C-BE32-E72D297353CC}">
                <c16:uniqueId val="{00000002-967A-9945-8BC6-70EE239F9553}"/>
              </c:ext>
            </c:extLst>
          </c:dPt>
          <c:dLbls>
            <c:dLbl>
              <c:idx val="3"/>
              <c:tx>
                <c:rich>
                  <a:bodyPr/>
                  <a:lstStyle/>
                  <a:p>
                    <a:r>
                      <a:rPr lang="en-US" sz="1400" b="0">
                        <a:solidFill>
                          <a:srgbClr val="D25D5D"/>
                        </a:solidFill>
                        <a:latin typeface="Aptos"/>
                      </a:rPr>
                      <a:t>8.6%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67A-9945-8BC6-70EE239F955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4"/>
              <c:pt idx="0">
                <c:v>0</c:v>
              </c:pt>
              <c:pt idx="1">
                <c:v>24</c:v>
              </c:pt>
              <c:pt idx="2">
                <c:v>72</c:v>
              </c:pt>
              <c:pt idx="3">
                <c:v>120</c:v>
              </c:pt>
            </c:strLit>
          </c:cat>
          <c:val>
            <c:numLit>
              <c:formatCode>General</c:formatCode>
              <c:ptCount val="4"/>
              <c:pt idx="0">
                <c:v>0</c:v>
              </c:pt>
              <c:pt idx="1">
                <c:v>3.5</c:v>
              </c:pt>
              <c:pt idx="2">
                <c:v>6.6</c:v>
              </c:pt>
              <c:pt idx="3">
                <c:v>8.6</c:v>
              </c:pt>
            </c:numLit>
          </c:val>
          <c:smooth val="0"/>
          <c:extLst>
            <c:ext xmlns:c16="http://schemas.microsoft.com/office/drawing/2014/chart" uri="{C3380CC4-5D6E-409C-BE32-E72D297353CC}">
              <c16:uniqueId val="{00000003-967A-9945-8BC6-70EE239F9553}"/>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ACACA"/>
            </a:solidFill>
          </a:ln>
        </c:spPr>
        <c:txPr>
          <a:bodyPr rot="0" vert="horz"/>
          <a:lstStyle/>
          <a:p>
            <a:pPr>
              <a:defRPr sz="1400" b="0">
                <a:solidFill>
                  <a:srgbClr val="2B2B2B"/>
                </a:solidFill>
                <a:latin typeface="Aptos"/>
              </a:defRPr>
            </a:pPr>
            <a:endParaRPr lang="en-US"/>
          </a:p>
        </c:txPr>
        <c:crossAx val="2"/>
        <c:crosses val="autoZero"/>
        <c:auto val="1"/>
        <c:lblAlgn val="ctr"/>
        <c:lblOffset val="100"/>
        <c:noMultiLvlLbl val="1"/>
      </c:catAx>
      <c:valAx>
        <c:axId val="2"/>
        <c:scaling>
          <c:orientation val="minMax"/>
          <c:max val="12"/>
          <c:min val="0"/>
        </c:scaling>
        <c:delete val="0"/>
        <c:axPos val="l"/>
        <c:majorGridlines>
          <c:spPr>
            <a:ln w="9525">
              <a:solidFill>
                <a:srgbClr val="EAEAEA"/>
              </a:solidFill>
            </a:ln>
          </c:spPr>
        </c:majorGridlines>
        <c:numFmt formatCode="0" sourceLinked="0"/>
        <c:majorTickMark val="none"/>
        <c:minorTickMark val="none"/>
        <c:tickLblPos val="nextTo"/>
        <c:spPr>
          <a:ln>
            <a:noFill/>
          </a:ln>
        </c:spPr>
        <c:txPr>
          <a:bodyPr rot="0" vert="horz"/>
          <a:lstStyle/>
          <a:p>
            <a:pPr>
              <a:defRPr sz="1400" b="0">
                <a:solidFill>
                  <a:srgbClr val="646464"/>
                </a:solidFill>
                <a:latin typeface="Aptos"/>
              </a:defRPr>
            </a:pPr>
            <a:endParaRPr lang="en-US"/>
          </a:p>
        </c:txPr>
        <c:crossAx val="1"/>
        <c:crosses val="autoZero"/>
        <c:crossBetween val="between"/>
        <c:majorUnit val="4"/>
      </c:valAx>
      <c:spPr>
        <a:noFill/>
        <a:ln>
          <a:noFill/>
        </a:ln>
      </c:spPr>
    </c:plotArea>
    <c:plotVisOnly val="1"/>
    <c:dispBlanksAs val="gap"/>
    <c:showDLblsOverMax val="1"/>
  </c:chart>
  <c:spPr>
    <a:noFill/>
    <a:ln>
      <a:noFill/>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6952292728114868"/>
          <c:y val="0.06"/>
          <c:w val="0.59536822603056971"/>
          <c:h val="0.79683607730851813"/>
        </c:manualLayout>
      </c:layout>
      <c:lineChart>
        <c:grouping val="standard"/>
        <c:varyColors val="0"/>
        <c:ser>
          <c:idx val="0"/>
          <c:order val="0"/>
          <c:tx>
            <c:v>ITT</c:v>
          </c:tx>
          <c:spPr>
            <a:ln w="28575">
              <a:solidFill>
                <a:srgbClr val="002E56"/>
              </a:solidFill>
            </a:ln>
          </c:spPr>
          <c:marker>
            <c:symbol val="none"/>
          </c:marker>
          <c:dPt>
            <c:idx val="3"/>
            <c:marker>
              <c:symbol val="circle"/>
              <c:size val="7"/>
              <c:spPr>
                <a:solidFill>
                  <a:srgbClr val="002E56"/>
                </a:solidFill>
                <a:ln>
                  <a:noFill/>
                </a:ln>
              </c:spPr>
            </c:marker>
            <c:bubble3D val="0"/>
            <c:extLst>
              <c:ext xmlns:c16="http://schemas.microsoft.com/office/drawing/2014/chart" uri="{C3380CC4-5D6E-409C-BE32-E72D297353CC}">
                <c16:uniqueId val="{00000000-660E-0341-A961-AB09483427AB}"/>
              </c:ext>
            </c:extLst>
          </c:dPt>
          <c:dLbls>
            <c:dLbl>
              <c:idx val="3"/>
              <c:tx>
                <c:rich>
                  <a:bodyPr/>
                  <a:lstStyle/>
                  <a:p>
                    <a:r>
                      <a:rPr lang="en-US" sz="1400" b="1">
                        <a:solidFill>
                          <a:srgbClr val="002E56"/>
                        </a:solidFill>
                        <a:latin typeface="Aptos"/>
                      </a:rPr>
                      <a:t>10.8%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60E-0341-A961-AB09483427A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4"/>
              <c:pt idx="0">
                <c:v>0</c:v>
              </c:pt>
              <c:pt idx="1">
                <c:v>24</c:v>
              </c:pt>
              <c:pt idx="2">
                <c:v>72</c:v>
              </c:pt>
              <c:pt idx="3">
                <c:v>120</c:v>
              </c:pt>
            </c:strLit>
          </c:cat>
          <c:val>
            <c:numLit>
              <c:formatCode>General</c:formatCode>
              <c:ptCount val="4"/>
              <c:pt idx="0">
                <c:v>0</c:v>
              </c:pt>
              <c:pt idx="1">
                <c:v>6.5</c:v>
              </c:pt>
              <c:pt idx="2">
                <c:v>10.5</c:v>
              </c:pt>
              <c:pt idx="3">
                <c:v>10.8</c:v>
              </c:pt>
            </c:numLit>
          </c:val>
          <c:smooth val="0"/>
          <c:extLst>
            <c:ext xmlns:c16="http://schemas.microsoft.com/office/drawing/2014/chart" uri="{C3380CC4-5D6E-409C-BE32-E72D297353CC}">
              <c16:uniqueId val="{00000001-660E-0341-A961-AB09483427AB}"/>
            </c:ext>
          </c:extLst>
        </c:ser>
        <c:ser>
          <c:idx val="1"/>
          <c:order val="1"/>
          <c:tx>
            <c:v>MPP</c:v>
          </c:tx>
          <c:spPr>
            <a:ln w="19050">
              <a:solidFill>
                <a:srgbClr val="D25D5D"/>
              </a:solidFill>
            </a:ln>
          </c:spPr>
          <c:marker>
            <c:symbol val="none"/>
          </c:marker>
          <c:dPt>
            <c:idx val="3"/>
            <c:marker>
              <c:symbol val="circle"/>
              <c:size val="6"/>
              <c:spPr>
                <a:solidFill>
                  <a:srgbClr val="D25D5D"/>
                </a:solidFill>
                <a:ln>
                  <a:noFill/>
                </a:ln>
              </c:spPr>
            </c:marker>
            <c:bubble3D val="0"/>
            <c:extLst>
              <c:ext xmlns:c16="http://schemas.microsoft.com/office/drawing/2014/chart" uri="{C3380CC4-5D6E-409C-BE32-E72D297353CC}">
                <c16:uniqueId val="{00000002-660E-0341-A961-AB09483427AB}"/>
              </c:ext>
            </c:extLst>
          </c:dPt>
          <c:dLbls>
            <c:dLbl>
              <c:idx val="3"/>
              <c:tx>
                <c:rich>
                  <a:bodyPr/>
                  <a:lstStyle/>
                  <a:p>
                    <a:r>
                      <a:rPr lang="en-US" sz="1400" b="0">
                        <a:solidFill>
                          <a:srgbClr val="D25D5D"/>
                        </a:solidFill>
                        <a:latin typeface="Aptos"/>
                      </a:rPr>
                      <a:t>5.9%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60E-0341-A961-AB09483427A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4"/>
              <c:pt idx="0">
                <c:v>0</c:v>
              </c:pt>
              <c:pt idx="1">
                <c:v>24</c:v>
              </c:pt>
              <c:pt idx="2">
                <c:v>72</c:v>
              </c:pt>
              <c:pt idx="3">
                <c:v>120</c:v>
              </c:pt>
            </c:strLit>
          </c:cat>
          <c:val>
            <c:numLit>
              <c:formatCode>General</c:formatCode>
              <c:ptCount val="4"/>
              <c:pt idx="0">
                <c:v>0</c:v>
              </c:pt>
              <c:pt idx="1">
                <c:v>7.3</c:v>
              </c:pt>
              <c:pt idx="2">
                <c:v>9.3000000000000007</c:v>
              </c:pt>
              <c:pt idx="3">
                <c:v>5.9</c:v>
              </c:pt>
            </c:numLit>
          </c:val>
          <c:smooth val="0"/>
          <c:extLst>
            <c:ext xmlns:c16="http://schemas.microsoft.com/office/drawing/2014/chart" uri="{C3380CC4-5D6E-409C-BE32-E72D297353CC}">
              <c16:uniqueId val="{00000003-660E-0341-A961-AB09483427AB}"/>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ACACA"/>
            </a:solidFill>
          </a:ln>
        </c:spPr>
        <c:txPr>
          <a:bodyPr rot="0" vert="horz"/>
          <a:lstStyle/>
          <a:p>
            <a:pPr>
              <a:defRPr sz="1400" b="0">
                <a:solidFill>
                  <a:srgbClr val="2B2B2B"/>
                </a:solidFill>
                <a:latin typeface="Aptos"/>
              </a:defRPr>
            </a:pPr>
            <a:endParaRPr lang="en-US"/>
          </a:p>
        </c:txPr>
        <c:crossAx val="2"/>
        <c:crosses val="autoZero"/>
        <c:auto val="1"/>
        <c:lblAlgn val="ctr"/>
        <c:lblOffset val="100"/>
        <c:noMultiLvlLbl val="1"/>
      </c:catAx>
      <c:valAx>
        <c:axId val="2"/>
        <c:scaling>
          <c:orientation val="minMax"/>
          <c:max val="18"/>
          <c:min val="0"/>
        </c:scaling>
        <c:delete val="0"/>
        <c:axPos val="l"/>
        <c:majorGridlines>
          <c:spPr>
            <a:ln w="9525">
              <a:solidFill>
                <a:srgbClr val="EAEAEA"/>
              </a:solidFill>
            </a:ln>
          </c:spPr>
        </c:majorGridlines>
        <c:numFmt formatCode="0" sourceLinked="0"/>
        <c:majorTickMark val="none"/>
        <c:minorTickMark val="none"/>
        <c:tickLblPos val="nextTo"/>
        <c:spPr>
          <a:ln>
            <a:noFill/>
          </a:ln>
        </c:spPr>
        <c:txPr>
          <a:bodyPr rot="0" vert="horz"/>
          <a:lstStyle/>
          <a:p>
            <a:pPr>
              <a:defRPr sz="1400" b="0">
                <a:solidFill>
                  <a:srgbClr val="646464"/>
                </a:solidFill>
                <a:latin typeface="Aptos"/>
              </a:defRPr>
            </a:pPr>
            <a:endParaRPr lang="en-US"/>
          </a:p>
        </c:txPr>
        <c:crossAx val="1"/>
        <c:crosses val="autoZero"/>
        <c:crossBetween val="between"/>
        <c:majorUnit val="6"/>
      </c:valAx>
      <c:spPr>
        <a:noFill/>
        <a:ln>
          <a:noFill/>
        </a:ln>
      </c:spPr>
    </c:plotArea>
    <c:plotVisOnly val="1"/>
    <c:dispBlanksAs val="gap"/>
    <c:showDLblsOverMax val="1"/>
  </c:chart>
  <c:spPr>
    <a:noFill/>
    <a:ln>
      <a:noFill/>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DB3D9"/>
            </a:solidFill>
            <a:ln>
              <a:noFill/>
            </a:ln>
          </c:spPr>
          <c:invertIfNegative val="1"/>
          <c:dPt>
            <c:idx val="2"/>
            <c:invertIfNegative val="1"/>
            <c:bubble3D val="0"/>
            <c:spPr>
              <a:solidFill>
                <a:srgbClr val="28509C"/>
              </a:solidFill>
              <a:ln>
                <a:noFill/>
              </a:ln>
            </c:spPr>
            <c:extLst>
              <c:ext xmlns:c16="http://schemas.microsoft.com/office/drawing/2014/chart" uri="{C3380CC4-5D6E-409C-BE32-E72D297353CC}">
                <c16:uniqueId val="{00000001-1361-B74E-B412-D7288B4EF4B4}"/>
              </c:ext>
            </c:extLst>
          </c:dPt>
          <c:dLbls>
            <c:numFmt formatCode="0.0&quot; m&quot;" sourceLinked="0"/>
            <c:spPr>
              <a:noFill/>
              <a:ln>
                <a:noFill/>
              </a:ln>
              <a:effectLst/>
            </c:spPr>
            <c:txPr>
              <a:bodyPr wrap="none"/>
              <a:lstStyle/>
              <a:p>
                <a:pPr>
                  <a:defRPr sz="1400" b="1">
                    <a:solidFill>
                      <a:srgbClr val="2B2B2B"/>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4"/>
              <c:pt idx="0">
                <c:v>0–4 years</c:v>
              </c:pt>
              <c:pt idx="1">
                <c:v>5–11 years</c:v>
              </c:pt>
              <c:pt idx="2">
                <c:v>12–18 years</c:v>
              </c:pt>
              <c:pt idx="3">
                <c:v>&gt;18 years</c:v>
              </c:pt>
            </c:strLit>
          </c:cat>
          <c:val>
            <c:numLit>
              <c:formatCode>General</c:formatCode>
              <c:ptCount val="4"/>
              <c:pt idx="0">
                <c:v>251.6</c:v>
              </c:pt>
              <c:pt idx="1">
                <c:v>232.5</c:v>
              </c:pt>
              <c:pt idx="2">
                <c:v>181.2</c:v>
              </c:pt>
              <c:pt idx="3">
                <c:v>193.1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361-B74E-B412-D7288B4EF4B4}"/>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ACACA"/>
            </a:solidFill>
          </a:ln>
        </c:spPr>
        <c:txPr>
          <a:bodyPr rot="0" vert="horz"/>
          <a:lstStyle/>
          <a:p>
            <a:pPr>
              <a:defRPr sz="1400" b="0">
                <a:solidFill>
                  <a:srgbClr val="2B2B2B"/>
                </a:solidFill>
                <a:latin typeface="Aptos"/>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MorCAP 1</c:v>
          </c:tx>
          <c:spPr>
            <a:solidFill>
              <a:srgbClr val="404040"/>
            </a:solidFill>
          </c:spPr>
          <c:invertIfNegative val="0"/>
          <c:dLbls>
            <c:numFmt formatCode="\+0;\-0;0" sourceLinked="0"/>
            <c:spPr>
              <a:noFill/>
              <a:ln>
                <a:noFill/>
              </a:ln>
            </c:spPr>
            <c:txPr>
              <a:bodyPr/>
              <a:lstStyle/>
              <a:p>
                <a:pPr>
                  <a:defRPr sz="1100" b="1">
                    <a:solidFill>
                      <a:srgbClr val="404040"/>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c:formatCode>
              <c:ptCount val="2"/>
              <c:pt idx="0">
                <c:v>-8</c:v>
              </c:pt>
              <c:pt idx="1">
                <c:v>-16</c:v>
              </c:pt>
            </c:numLit>
          </c:val>
          <c:extLst>
            <c:ext xmlns:c16="http://schemas.microsoft.com/office/drawing/2014/chart" uri="{C3380CC4-5D6E-409C-BE32-E72D297353CC}">
              <c16:uniqueId val="{00000002-EBFA-DE48-B369-F0D29F632411}"/>
            </c:ext>
          </c:extLst>
        </c:ser>
        <c:ser>
          <c:idx val="1"/>
          <c:order val="1"/>
          <c:tx>
            <c:v>MorCAP 2</c:v>
          </c:tx>
          <c:spPr>
            <a:solidFill>
              <a:srgbClr val="A0A0A0"/>
            </a:solidFill>
          </c:spPr>
          <c:invertIfNegative val="0"/>
          <c:dLbls>
            <c:numFmt formatCode="\+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c:formatCode>
              <c:ptCount val="2"/>
              <c:pt idx="0">
                <c:v>-6</c:v>
              </c:pt>
              <c:pt idx="1">
                <c:v>-22</c:v>
              </c:pt>
            </c:numLit>
          </c:val>
          <c:extLst>
            <c:ext xmlns:c16="http://schemas.microsoft.com/office/drawing/2014/chart" uri="{C3380CC4-5D6E-409C-BE32-E72D297353CC}">
              <c16:uniqueId val="{00000005-EBFA-DE48-B369-F0D29F632411}"/>
            </c:ext>
          </c:extLst>
        </c:ser>
        <c:ser>
          <c:idx val="2"/>
          <c:order val="2"/>
          <c:tx>
            <c:v>ITT pooled</c:v>
          </c:tx>
          <c:spPr>
            <a:solidFill>
              <a:srgbClr val="28509C"/>
            </a:solidFill>
          </c:spPr>
          <c:invertIfNegative val="0"/>
          <c:dLbls>
            <c:numFmt formatCode="\+0;\−0" sourceLinked="0"/>
            <c:spPr>
              <a:noFill/>
              <a:ln>
                <a:noFill/>
              </a:ln>
            </c:spPr>
            <c:txPr>
              <a:bodyPr/>
              <a:lstStyle/>
              <a:p>
                <a:pPr>
                  <a:defRPr sz="1100" b="1">
                    <a:solidFill>
                      <a:srgbClr val="28509C"/>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c:formatCode>
              <c:ptCount val="2"/>
              <c:pt idx="0">
                <c:v>25</c:v>
              </c:pt>
              <c:pt idx="1">
                <c:v>16</c:v>
              </c:pt>
            </c:numLit>
          </c:val>
          <c:extLst>
            <c:ext xmlns:c16="http://schemas.microsoft.com/office/drawing/2014/chart" uri="{C3380CC4-5D6E-409C-BE32-E72D297353CC}">
              <c16:uniqueId val="{00000008-EBFA-DE48-B369-F0D29F632411}"/>
            </c:ext>
          </c:extLst>
        </c:ser>
        <c:ser>
          <c:idx val="3"/>
          <c:order val="3"/>
          <c:tx>
            <c:v>MPP pooled</c:v>
          </c:tx>
          <c:spPr>
            <a:solidFill>
              <a:srgbClr val="A9218E"/>
            </a:solidFill>
          </c:spPr>
          <c:invertIfNegative val="0"/>
          <c:dLbls>
            <c:numFmt formatCode="\+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c:formatCode>
              <c:ptCount val="2"/>
              <c:pt idx="0">
                <c:v>38</c:v>
              </c:pt>
              <c:pt idx="1">
                <c:v>32</c:v>
              </c:pt>
            </c:numLit>
          </c:val>
          <c:extLst>
            <c:ext xmlns:c16="http://schemas.microsoft.com/office/drawing/2014/chart" uri="{C3380CC4-5D6E-409C-BE32-E72D297353CC}">
              <c16:uniqueId val="{0000000B-EBFA-DE48-B369-F0D29F632411}"/>
            </c:ext>
          </c:extLst>
        </c:ser>
        <c:ser>
          <c:idx val="4"/>
          <c:order val="4"/>
          <c:tx>
            <c:v>MPP weekly</c:v>
          </c:tx>
          <c:spPr>
            <a:solidFill>
              <a:srgbClr val="D9A0CC"/>
            </a:solidFill>
          </c:spPr>
          <c:invertIfNegative val="0"/>
          <c:dLbls>
            <c:numFmt formatCode="\+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c:formatCode>
              <c:ptCount val="2"/>
              <c:pt idx="0">
                <c:v>38</c:v>
              </c:pt>
              <c:pt idx="1">
                <c:v>39</c:v>
              </c:pt>
            </c:numLit>
          </c:val>
          <c:extLst>
            <c:ext xmlns:c16="http://schemas.microsoft.com/office/drawing/2014/chart" uri="{C3380CC4-5D6E-409C-BE32-E72D297353CC}">
              <c16:uniqueId val="{0000000E-EBFA-DE48-B369-F0D29F632411}"/>
            </c:ext>
          </c:extLst>
        </c:ser>
        <c:dLbls>
          <c:showLegendKey val="0"/>
          <c:showVal val="0"/>
          <c:showCatName val="0"/>
          <c:showSerName val="0"/>
          <c:showPercent val="0"/>
          <c:showBubbleSize val="0"/>
        </c:dLbls>
        <c:gapWidth val="6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50"/>
          <c:min val="-40"/>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10"/>
      </c:valAx>
      <c:spPr>
        <a:noFill/>
      </c:spPr>
    </c:plotArea>
    <c:plotVisOnly val="1"/>
    <c:dispBlanksAs val="gap"/>
    <c:showDLblsOverMax val="1"/>
  </c:chart>
  <c:spPr>
    <a:noFill/>
    <a:ln>
      <a:noFill/>
    </a:ln>
  </c:sp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MorCAP 1</c:v>
          </c:tx>
          <c:spPr>
            <a:solidFill>
              <a:srgbClr val="404040"/>
            </a:solidFill>
          </c:spPr>
          <c:invertIfNegative val="0"/>
          <c:dLbls>
            <c:numFmt formatCode="\+0.0;\-0.0;0.0" sourceLinked="0"/>
            <c:spPr>
              <a:noFill/>
              <a:ln>
                <a:noFill/>
              </a:ln>
            </c:spPr>
            <c:txPr>
              <a:bodyPr/>
              <a:lstStyle/>
              <a:p>
                <a:pPr>
                  <a:defRPr sz="1100" b="1">
                    <a:solidFill>
                      <a:srgbClr val="404040"/>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0.0</c:formatCode>
              <c:ptCount val="2"/>
              <c:pt idx="0">
                <c:v>-0.7</c:v>
              </c:pt>
              <c:pt idx="1">
                <c:v>-1.2</c:v>
              </c:pt>
            </c:numLit>
          </c:val>
          <c:extLst>
            <c:ext xmlns:c16="http://schemas.microsoft.com/office/drawing/2014/chart" uri="{C3380CC4-5D6E-409C-BE32-E72D297353CC}">
              <c16:uniqueId val="{00000002-EBFA-DE48-B369-F0D29F632411}"/>
            </c:ext>
          </c:extLst>
        </c:ser>
        <c:ser>
          <c:idx val="1"/>
          <c:order val="1"/>
          <c:tx>
            <c:v>MorCAP 2</c:v>
          </c:tx>
          <c:spPr>
            <a:solidFill>
              <a:srgbClr val="A0A0A0"/>
            </a:solidFill>
          </c:spPr>
          <c:invertIfNegative val="0"/>
          <c:dLbls>
            <c:numFmt formatCode="\+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0.0</c:formatCode>
              <c:ptCount val="2"/>
              <c:pt idx="0">
                <c:v>0.2</c:v>
              </c:pt>
              <c:pt idx="1">
                <c:v>-1.3</c:v>
              </c:pt>
            </c:numLit>
          </c:val>
          <c:extLst>
            <c:ext xmlns:c16="http://schemas.microsoft.com/office/drawing/2014/chart" uri="{C3380CC4-5D6E-409C-BE32-E72D297353CC}">
              <c16:uniqueId val="{00000005-EBFA-DE48-B369-F0D29F632411}"/>
            </c:ext>
          </c:extLst>
        </c:ser>
        <c:ser>
          <c:idx val="2"/>
          <c:order val="2"/>
          <c:tx>
            <c:v>ITT pooled</c:v>
          </c:tx>
          <c:spPr>
            <a:solidFill>
              <a:srgbClr val="28509C"/>
            </a:solidFill>
          </c:spPr>
          <c:invertIfNegative val="0"/>
          <c:dLbls>
            <c:numFmt formatCode="\+0.0;\-0.0;0.0" sourceLinked="0"/>
            <c:spPr>
              <a:noFill/>
              <a:ln>
                <a:noFill/>
              </a:ln>
            </c:spPr>
            <c:txPr>
              <a:bodyPr/>
              <a:lstStyle/>
              <a:p>
                <a:pPr>
                  <a:defRPr sz="1100" b="1">
                    <a:solidFill>
                      <a:srgbClr val="28509C"/>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0.0</c:formatCode>
              <c:ptCount val="2"/>
              <c:pt idx="0">
                <c:v>4.9000000000000004</c:v>
              </c:pt>
              <c:pt idx="1">
                <c:v>4.2</c:v>
              </c:pt>
            </c:numLit>
          </c:val>
          <c:extLst>
            <c:ext xmlns:c16="http://schemas.microsoft.com/office/drawing/2014/chart" uri="{C3380CC4-5D6E-409C-BE32-E72D297353CC}">
              <c16:uniqueId val="{00000008-EBFA-DE48-B369-F0D29F632411}"/>
            </c:ext>
          </c:extLst>
        </c:ser>
        <c:ser>
          <c:idx val="3"/>
          <c:order val="3"/>
          <c:tx>
            <c:v>MPP pooled</c:v>
          </c:tx>
          <c:spPr>
            <a:solidFill>
              <a:srgbClr val="A9218E"/>
            </a:solidFill>
          </c:spPr>
          <c:invertIfNegative val="0"/>
          <c:dLbls>
            <c:numFmt formatCode="\+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0.0</c:formatCode>
              <c:ptCount val="2"/>
              <c:pt idx="0">
                <c:v>6.7</c:v>
              </c:pt>
              <c:pt idx="1">
                <c:v>6.7</c:v>
              </c:pt>
            </c:numLit>
          </c:val>
          <c:extLst>
            <c:ext xmlns:c16="http://schemas.microsoft.com/office/drawing/2014/chart" uri="{C3380CC4-5D6E-409C-BE32-E72D297353CC}">
              <c16:uniqueId val="{0000000B-EBFA-DE48-B369-F0D29F632411}"/>
            </c:ext>
          </c:extLst>
        </c:ser>
        <c:ser>
          <c:idx val="4"/>
          <c:order val="4"/>
          <c:tx>
            <c:v>MPP weekly</c:v>
          </c:tx>
          <c:spPr>
            <a:solidFill>
              <a:srgbClr val="D9A0CC"/>
            </a:solidFill>
          </c:spPr>
          <c:invertIfNegative val="0"/>
          <c:dLbls>
            <c:numFmt formatCode="\+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0.0</c:formatCode>
              <c:ptCount val="2"/>
              <c:pt idx="0">
                <c:v>5.3</c:v>
              </c:pt>
              <c:pt idx="1">
                <c:v>6.1</c:v>
              </c:pt>
            </c:numLit>
          </c:val>
          <c:extLst>
            <c:ext xmlns:c16="http://schemas.microsoft.com/office/drawing/2014/chart" uri="{C3380CC4-5D6E-409C-BE32-E72D297353CC}">
              <c16:uniqueId val="{0000000E-EBFA-DE48-B369-F0D29F632411}"/>
            </c:ext>
          </c:extLst>
        </c:ser>
        <c:dLbls>
          <c:showLegendKey val="0"/>
          <c:showVal val="0"/>
          <c:showCatName val="0"/>
          <c:showSerName val="0"/>
          <c:showPercent val="0"/>
          <c:showBubbleSize val="0"/>
        </c:dLbls>
        <c:gapWidth val="6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10"/>
          <c:min val="-6"/>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2"/>
      </c:valAx>
      <c:spPr>
        <a:noFill/>
      </c:spPr>
    </c:plotArea>
    <c:plotVisOnly val="1"/>
    <c:dispBlanksAs val="gap"/>
    <c:showDLblsOverMax val="1"/>
  </c:chart>
  <c:spPr>
    <a:noFill/>
    <a:ln>
      <a:noFill/>
    </a:ln>
  </c:spPr>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Untreated (MorCAP)</c:v>
          </c:tx>
          <c:spPr>
            <a:solidFill>
              <a:srgbClr val="A0A0A0"/>
            </a:solidFill>
          </c:spPr>
          <c:invertIfNegative val="0"/>
          <c:dLbls>
            <c:numFmt formatCode="\+0.0000;\-0.000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8.0000000000000004E-4</c:v>
              </c:pt>
              <c:pt idx="1">
                <c:v>-2.9899999999999999E-2</c:v>
              </c:pt>
            </c:numLit>
          </c:val>
          <c:extLst>
            <c:ext xmlns:c16="http://schemas.microsoft.com/office/drawing/2014/chart" uri="{C3380CC4-5D6E-409C-BE32-E72D297353CC}">
              <c16:uniqueId val="{00000005-EBFA-DE48-B369-F0D29F632411}"/>
            </c:ext>
          </c:extLst>
        </c:ser>
        <c:ser>
          <c:idx val="1"/>
          <c:order val="1"/>
          <c:tx>
            <c:v>Elosulfase alfa (MPP)</c:v>
          </c:tx>
          <c:spPr>
            <a:solidFill>
              <a:srgbClr val="A9218E"/>
            </a:solidFill>
          </c:spPr>
          <c:invertIfNegative val="0"/>
          <c:dLbls>
            <c:numFmt formatCode="\+0.0000;\-0.000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5.8900000000000001E-2</c:v>
              </c:pt>
              <c:pt idx="1">
                <c:v>8.2699999999999996E-2</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8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0.1"/>
          <c:min val="-0.04"/>
        </c:scaling>
        <c:delete val="0"/>
        <c:axPos val="l"/>
        <c:majorGridlines>
          <c:spPr>
            <a:ln w="6350">
              <a:solidFill>
                <a:srgbClr val="E8E8E8"/>
              </a:solidFill>
            </a:ln>
          </c:spPr>
        </c:majorGridlines>
        <c:numFmt formatCode="0.0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0.02"/>
      </c:valAx>
      <c:spPr>
        <a:noFill/>
      </c:spPr>
    </c:plotArea>
    <c:plotVisOnly val="1"/>
    <c:dispBlanksAs val="gap"/>
    <c:showDLblsOverMax val="1"/>
  </c:chart>
  <c:spPr>
    <a:noFill/>
    <a:ln>
      <a:noFill/>
    </a:ln>
  </c:sp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Untreated (MorCAP)</c:v>
          </c:tx>
          <c:spPr>
            <a:solidFill>
              <a:srgbClr val="A0A0A0"/>
            </a:solidFill>
          </c:spPr>
          <c:invertIfNegative val="0"/>
          <c:dLbls>
            <c:numFmt formatCode="\+0.0000;\-0.000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-3.9899999999999998E-2</c:v>
              </c:pt>
              <c:pt idx="1">
                <c:v>-5.1999999999999998E-2</c:v>
              </c:pt>
            </c:numLit>
          </c:val>
          <c:extLst>
            <c:ext xmlns:c16="http://schemas.microsoft.com/office/drawing/2014/chart" uri="{C3380CC4-5D6E-409C-BE32-E72D297353CC}">
              <c16:uniqueId val="{00000005-EBFA-DE48-B369-F0D29F632411}"/>
            </c:ext>
          </c:extLst>
        </c:ser>
        <c:ser>
          <c:idx val="1"/>
          <c:order val="1"/>
          <c:tx>
            <c:v>Elosulfase alfa (MPP)</c:v>
          </c:tx>
          <c:spPr>
            <a:solidFill>
              <a:srgbClr val="A9218E"/>
            </a:solidFill>
          </c:spPr>
          <c:invertIfNegative val="0"/>
          <c:dLbls>
            <c:numFmt formatCode="\+0.0000;\-0.000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3.85E-2</c:v>
              </c:pt>
              <c:pt idx="1">
                <c:v>0.06</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8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0.08"/>
          <c:min val="-0.06"/>
        </c:scaling>
        <c:delete val="0"/>
        <c:axPos val="l"/>
        <c:majorGridlines>
          <c:spPr>
            <a:ln w="6350">
              <a:solidFill>
                <a:srgbClr val="E8E8E8"/>
              </a:solidFill>
            </a:ln>
          </c:spPr>
        </c:majorGridlines>
        <c:numFmt formatCode="0.0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0.02"/>
      </c:valAx>
      <c:spPr>
        <a:noFill/>
      </c:spPr>
    </c:plotArea>
    <c:plotVisOnly val="1"/>
    <c:dispBlanksAs val="gap"/>
    <c:showDLblsOverMax val="1"/>
  </c:chart>
  <c:spPr>
    <a:noFill/>
    <a:ln>
      <a:noFill/>
    </a:ln>
  </c:spPr>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Untreated (MorCAP)</c:v>
          </c:tx>
          <c:spPr>
            <a:solidFill>
              <a:srgbClr val="A0A0A0"/>
            </a:solidFill>
          </c:spPr>
          <c:invertIfNegative val="0"/>
          <c:dLbls>
            <c:numFmt formatCode="\+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-2.4</c:v>
              </c:pt>
              <c:pt idx="1">
                <c:v>-5.2</c:v>
              </c:pt>
            </c:numLit>
          </c:val>
          <c:extLst>
            <c:ext xmlns:c16="http://schemas.microsoft.com/office/drawing/2014/chart" uri="{C3380CC4-5D6E-409C-BE32-E72D297353CC}">
              <c16:uniqueId val="{00000005-EBFA-DE48-B369-F0D29F632411}"/>
            </c:ext>
          </c:extLst>
        </c:ser>
        <c:ser>
          <c:idx val="1"/>
          <c:order val="1"/>
          <c:tx>
            <c:v>Elosulfase alfa (MPP)</c:v>
          </c:tx>
          <c:spPr>
            <a:solidFill>
              <a:srgbClr val="A9218E"/>
            </a:solidFill>
          </c:spPr>
          <c:invertIfNegative val="0"/>
          <c:dLbls>
            <c:numFmt formatCode="\+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1.7</c:v>
              </c:pt>
              <c:pt idx="1">
                <c:v>2.1</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8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3"/>
          <c:min val="-6"/>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1"/>
      </c:valAx>
      <c:spPr>
        <a:noFill/>
      </c:spPr>
    </c:plotArea>
    <c:plotVisOnly val="1"/>
    <c:dispBlanksAs val="gap"/>
    <c:showDLblsOverMax val="1"/>
  </c:chart>
  <c:spPr>
    <a:noFill/>
    <a:ln>
      <a:noFill/>
    </a:ln>
  </c:spPr>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Untreated (MorCAP)</c:v>
          </c:tx>
          <c:spPr>
            <a:solidFill>
              <a:srgbClr val="A0A0A0"/>
            </a:solidFill>
          </c:spPr>
          <c:invertIfNegative val="0"/>
          <c:dLbls>
            <c:numFmt formatCode="\+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2.5</c:v>
              </c:pt>
              <c:pt idx="1">
                <c:v>2.9</c:v>
              </c:pt>
            </c:numLit>
          </c:val>
          <c:extLst>
            <c:ext xmlns:c16="http://schemas.microsoft.com/office/drawing/2014/chart" uri="{C3380CC4-5D6E-409C-BE32-E72D297353CC}">
              <c16:uniqueId val="{00000005-EBFA-DE48-B369-F0D29F632411}"/>
            </c:ext>
          </c:extLst>
        </c:ser>
        <c:ser>
          <c:idx val="1"/>
          <c:order val="1"/>
          <c:tx>
            <c:v>Elosulfase alfa (MPP)</c:v>
          </c:tx>
          <c:spPr>
            <a:solidFill>
              <a:srgbClr val="A9218E"/>
            </a:solidFill>
          </c:spPr>
          <c:invertIfNegative val="0"/>
          <c:dLbls>
            <c:numFmt formatCode="\+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7.7</c:v>
              </c:pt>
              <c:pt idx="1">
                <c:v>8.8000000000000007</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8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12"/>
          <c:min val="-2"/>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2"/>
      </c:valAx>
      <c:spPr>
        <a:noFill/>
      </c:spPr>
    </c:plotArea>
    <c:plotVisOnly val="1"/>
    <c:dispBlanksAs val="gap"/>
    <c:showDLblsOverMax val="1"/>
  </c:chart>
  <c:spPr>
    <a:noFill/>
    <a:ln>
      <a:noFill/>
    </a:ln>
  </c:spPr>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Untreated (MorCAP)</c:v>
          </c:tx>
          <c:spPr>
            <a:solidFill>
              <a:srgbClr val="A0A0A0"/>
            </a:solidFill>
          </c:spPr>
          <c:invertIfNegative val="0"/>
          <c:dLbls>
            <c:numFmt formatCode="\+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1.1000000000000001</c:v>
              </c:pt>
              <c:pt idx="1">
                <c:v>-0.5</c:v>
              </c:pt>
            </c:numLit>
          </c:val>
          <c:extLst>
            <c:ext xmlns:c16="http://schemas.microsoft.com/office/drawing/2014/chart" uri="{C3380CC4-5D6E-409C-BE32-E72D297353CC}">
              <c16:uniqueId val="{00000005-EBFA-DE48-B369-F0D29F632411}"/>
            </c:ext>
          </c:extLst>
        </c:ser>
        <c:ser>
          <c:idx val="1"/>
          <c:order val="1"/>
          <c:tx>
            <c:v>Elosulfase alfa (MPP)</c:v>
          </c:tx>
          <c:spPr>
            <a:solidFill>
              <a:srgbClr val="A9218E"/>
            </a:solidFill>
          </c:spPr>
          <c:invertIfNegative val="0"/>
          <c:dLbls>
            <c:numFmt formatCode="\+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6.3</c:v>
              </c:pt>
              <c:pt idx="1">
                <c:v>8.4</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8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12"/>
          <c:min val="-6"/>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2"/>
      </c:valAx>
      <c:spPr>
        <a:noFill/>
      </c:spPr>
    </c:plotArea>
    <c:plotVisOnly val="1"/>
    <c:dispBlanksAs val="gap"/>
    <c:showDLblsOverMax val="1"/>
  </c:chart>
  <c:spPr>
    <a:noFill/>
    <a:ln>
      <a:noFill/>
    </a:ln>
  </c:spPr>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Untreated (MorCAP)</c:v>
          </c:tx>
          <c:spPr>
            <a:solidFill>
              <a:srgbClr val="A0A0A0"/>
            </a:solidFill>
          </c:spPr>
          <c:invertIfNegative val="0"/>
          <c:dLbls>
            <c:numFmt formatCode="\+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0.8</c:v>
              </c:pt>
              <c:pt idx="1">
                <c:v>-7.4</c:v>
              </c:pt>
            </c:numLit>
          </c:val>
          <c:extLst>
            <c:ext xmlns:c16="http://schemas.microsoft.com/office/drawing/2014/chart" uri="{C3380CC4-5D6E-409C-BE32-E72D297353CC}">
              <c16:uniqueId val="{00000005-EBFA-DE48-B369-F0D29F632411}"/>
            </c:ext>
          </c:extLst>
        </c:ser>
        <c:ser>
          <c:idx val="1"/>
          <c:order val="1"/>
          <c:tx>
            <c:v>Elosulfase alfa (MPP)</c:v>
          </c:tx>
          <c:spPr>
            <a:solidFill>
              <a:srgbClr val="A9218E"/>
            </a:solidFill>
          </c:spPr>
          <c:invertIfNegative val="0"/>
          <c:dLbls>
            <c:numFmt formatCode="\+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Year 1</c:v>
              </c:pt>
              <c:pt idx="1">
                <c:v>Year 2</c:v>
              </c:pt>
            </c:strLit>
          </c:cat>
          <c:val>
            <c:numLit>
              <c:formatCode>General</c:formatCode>
              <c:ptCount val="2"/>
              <c:pt idx="0">
                <c:v>9.1999999999999993</c:v>
              </c:pt>
              <c:pt idx="1">
                <c:v>7.2</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8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15"/>
          <c:min val="-15"/>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5"/>
      </c:valAx>
      <c:spPr>
        <a:noFill/>
      </c:spPr>
    </c:plotArea>
    <c:plotVisOnly val="1"/>
    <c:dispBlanksAs val="gap"/>
    <c:showDLblsOverMax val="1"/>
  </c:chart>
  <c:spPr>
    <a:noFill/>
    <a:ln>
      <a:noFill/>
    </a:ln>
  </c:spPr>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Untreated (MorCAP)</c:v>
          </c:tx>
          <c:spPr>
            <a:solidFill>
              <a:srgbClr val="A0A0A0"/>
            </a:solidFill>
          </c:spPr>
          <c:invertIfNegative val="0"/>
          <c:dLbls>
            <c:numFmt formatCode="\+0.00;\-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≤14 y · Year 1</c:v>
              </c:pt>
              <c:pt idx="1">
                <c:v>≤14 y · Year 2</c:v>
              </c:pt>
              <c:pt idx="2">
                <c:v>&gt;14 y · Year 1</c:v>
              </c:pt>
              <c:pt idx="3">
                <c:v>&gt;14 y · Year 2</c:v>
              </c:pt>
            </c:strLit>
          </c:cat>
          <c:val>
            <c:numLit>
              <c:formatCode>General</c:formatCode>
              <c:ptCount val="4"/>
              <c:pt idx="0">
                <c:v>0</c:v>
              </c:pt>
              <c:pt idx="1">
                <c:v>0.05</c:v>
              </c:pt>
              <c:pt idx="2">
                <c:v>-0.01</c:v>
              </c:pt>
              <c:pt idx="3">
                <c:v>-0.16500000000000001</c:v>
              </c:pt>
            </c:numLit>
          </c:val>
          <c:extLst>
            <c:ext xmlns:c16="http://schemas.microsoft.com/office/drawing/2014/chart" uri="{C3380CC4-5D6E-409C-BE32-E72D297353CC}">
              <c16:uniqueId val="{00000005-EBFA-DE48-B369-F0D29F632411}"/>
            </c:ext>
          </c:extLst>
        </c:ser>
        <c:ser>
          <c:idx val="1"/>
          <c:order val="1"/>
          <c:tx>
            <c:v>Elosulfase alfa</c:v>
          </c:tx>
          <c:spPr>
            <a:solidFill>
              <a:srgbClr val="A9218E"/>
            </a:solidFill>
          </c:spPr>
          <c:invertIfNegative val="0"/>
          <c:dLbls>
            <c:numFmt formatCode="\+0.00;\-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≤14 y · Year 1</c:v>
              </c:pt>
              <c:pt idx="1">
                <c:v>≤14 y · Year 2</c:v>
              </c:pt>
              <c:pt idx="2">
                <c:v>&gt;14 y · Year 1</c:v>
              </c:pt>
              <c:pt idx="3">
                <c:v>&gt;14 y · Year 2</c:v>
              </c:pt>
            </c:strLit>
          </c:cat>
          <c:val>
            <c:numLit>
              <c:formatCode>General</c:formatCode>
              <c:ptCount val="4"/>
              <c:pt idx="0">
                <c:v>0.1</c:v>
              </c:pt>
              <c:pt idx="1">
                <c:v>0.115</c:v>
              </c:pt>
              <c:pt idx="2">
                <c:v>0.01</c:v>
              </c:pt>
              <c:pt idx="3">
                <c:v>4.4999999999999998E-2</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7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000" b="1">
                <a:solidFill>
                  <a:srgbClr val="2B2B2B"/>
                </a:solidFill>
                <a:latin typeface="Aptos"/>
              </a:defRPr>
            </a:pPr>
            <a:endParaRPr lang="en-GB"/>
          </a:p>
        </c:txPr>
        <c:crossAx val="2"/>
        <c:crosses val="autoZero"/>
        <c:auto val="1"/>
        <c:lblAlgn val="ctr"/>
        <c:lblOffset val="100"/>
        <c:noMultiLvlLbl val="0"/>
      </c:catAx>
      <c:valAx>
        <c:axId val="2"/>
        <c:scaling>
          <c:orientation val="minMax"/>
          <c:max val="0.15"/>
          <c:min val="-0.2"/>
        </c:scaling>
        <c:delete val="0"/>
        <c:axPos val="l"/>
        <c:majorGridlines>
          <c:spPr>
            <a:ln w="6350">
              <a:solidFill>
                <a:srgbClr val="E8E8E8"/>
              </a:solidFill>
            </a:ln>
          </c:spPr>
        </c:majorGridlines>
        <c:numFmt formatCode="0.0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0.05"/>
      </c:valAx>
      <c:spPr>
        <a:noFill/>
      </c:spPr>
    </c:plotArea>
    <c:plotVisOnly val="1"/>
    <c:dispBlanksAs val="gap"/>
    <c:showDLblsOverMax val="1"/>
  </c:chart>
  <c:spPr>
    <a:noFill/>
    <a:ln>
      <a:noFill/>
    </a:ln>
  </c:spPr>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Untreated (MorCAP)</c:v>
          </c:tx>
          <c:spPr>
            <a:solidFill>
              <a:srgbClr val="A0A0A0"/>
            </a:solidFill>
          </c:spPr>
          <c:invertIfNegative val="0"/>
          <c:dLbls>
            <c:numFmt formatCode="\+0.00;\-0.00;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≤14 y · Year 1</c:v>
              </c:pt>
              <c:pt idx="1">
                <c:v>≤14 y · Year 2</c:v>
              </c:pt>
              <c:pt idx="2">
                <c:v>&gt;14 y · Year 1</c:v>
              </c:pt>
              <c:pt idx="3">
                <c:v>&gt;14 y · Year 2</c:v>
              </c:pt>
            </c:strLit>
          </c:cat>
          <c:val>
            <c:numLit>
              <c:formatCode>General</c:formatCode>
              <c:ptCount val="4"/>
              <c:pt idx="0">
                <c:v>-4.4999999999999998E-2</c:v>
              </c:pt>
              <c:pt idx="1">
                <c:v>0.02</c:v>
              </c:pt>
              <c:pt idx="2">
                <c:v>-4.8000000000000001E-2</c:v>
              </c:pt>
              <c:pt idx="3">
                <c:v>-0.16800000000000001</c:v>
              </c:pt>
            </c:numLit>
          </c:val>
          <c:extLst>
            <c:ext xmlns:c16="http://schemas.microsoft.com/office/drawing/2014/chart" uri="{C3380CC4-5D6E-409C-BE32-E72D297353CC}">
              <c16:uniqueId val="{00000005-EBFA-DE48-B369-F0D29F632411}"/>
            </c:ext>
          </c:extLst>
        </c:ser>
        <c:ser>
          <c:idx val="1"/>
          <c:order val="1"/>
          <c:tx>
            <c:v>Elosulfase alfa</c:v>
          </c:tx>
          <c:spPr>
            <a:solidFill>
              <a:srgbClr val="A9218E"/>
            </a:solidFill>
          </c:spPr>
          <c:invertIfNegative val="0"/>
          <c:dLbls>
            <c:numFmt formatCode="\+0.00;\-0.00;0.00" sourceLinked="0"/>
            <c:spPr>
              <a:noFill/>
              <a:ln>
                <a:noFill/>
              </a:ln>
            </c:spPr>
            <c:txPr>
              <a:bodyPr/>
              <a:lstStyle/>
              <a:p>
                <a:pPr>
                  <a:defRPr sz="1100" b="1">
                    <a:solidFill>
                      <a:srgbClr val="A9218E"/>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≤14 y · Year 1</c:v>
              </c:pt>
              <c:pt idx="1">
                <c:v>≤14 y · Year 2</c:v>
              </c:pt>
              <c:pt idx="2">
                <c:v>&gt;14 y · Year 1</c:v>
              </c:pt>
              <c:pt idx="3">
                <c:v>&gt;14 y · Year 2</c:v>
              </c:pt>
            </c:strLit>
          </c:cat>
          <c:val>
            <c:numLit>
              <c:formatCode>General</c:formatCode>
              <c:ptCount val="4"/>
              <c:pt idx="0">
                <c:v>7.0000000000000007E-2</c:v>
              </c:pt>
              <c:pt idx="1">
                <c:v>8.5000000000000006E-2</c:v>
              </c:pt>
              <c:pt idx="2">
                <c:v>2E-3</c:v>
              </c:pt>
              <c:pt idx="3">
                <c:v>2.8000000000000001E-2</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7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000" b="1">
                <a:solidFill>
                  <a:srgbClr val="2B2B2B"/>
                </a:solidFill>
                <a:latin typeface="Aptos"/>
              </a:defRPr>
            </a:pPr>
            <a:endParaRPr lang="en-GB"/>
          </a:p>
        </c:txPr>
        <c:crossAx val="2"/>
        <c:crosses val="autoZero"/>
        <c:auto val="1"/>
        <c:lblAlgn val="ctr"/>
        <c:lblOffset val="100"/>
        <c:noMultiLvlLbl val="0"/>
      </c:catAx>
      <c:valAx>
        <c:axId val="2"/>
        <c:scaling>
          <c:orientation val="minMax"/>
          <c:max val="0.15"/>
          <c:min val="-0.2"/>
        </c:scaling>
        <c:delete val="0"/>
        <c:axPos val="l"/>
        <c:majorGridlines>
          <c:spPr>
            <a:ln w="6350">
              <a:solidFill>
                <a:srgbClr val="E8E8E8"/>
              </a:solidFill>
            </a:ln>
          </c:spPr>
        </c:majorGridlines>
        <c:numFmt formatCode="0.0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0.05"/>
      </c:valAx>
      <c:spPr>
        <a:noFill/>
      </c:spPr>
    </c:plotArea>
    <c:plotVisOnly val="1"/>
    <c:dispBlanksAs val="gap"/>
    <c:showDLblsOverMax val="1"/>
  </c:chart>
  <c:spPr>
    <a:noFill/>
    <a:ln>
      <a:noFill/>
    </a:ln>
  </c:spPr>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Galsulfase</c:v>
          </c:tx>
          <c:spPr>
            <a:solidFill>
              <a:srgbClr val="28509C"/>
            </a:solidFill>
          </c:spPr>
          <c:invertIfNegative val="0"/>
          <c:dLbls>
            <c:dLbl>
              <c:idx val="0"/>
              <c:tx>
                <c:rich>
                  <a:bodyPr/>
                  <a:lstStyle/>
                  <a:p>
                    <a:r>
                      <a:rPr lang="en-US" sz="1200" b="1">
                        <a:solidFill>
                          <a:srgbClr val="28509C"/>
                        </a:solidFill>
                      </a:rPr>
                      <a:t>16.5% (17/103)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972-AC45-80D6-CED0203908C2}"/>
                </c:ext>
              </c:extLst>
            </c:dLbl>
            <c:dLbl>
              <c:idx val="1"/>
              <c:tx>
                <c:rich>
                  <a:bodyPr/>
                  <a:lstStyle/>
                  <a:p>
                    <a:r>
                      <a:rPr lang="en-US" sz="1200" b="1">
                        <a:solidFill>
                          <a:srgbClr val="28509C"/>
                        </a:solidFill>
                      </a:rPr>
                      <a:t>24% (25/104)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972-AC45-80D6-CED0203908C2}"/>
                </c:ext>
              </c:extLst>
            </c:dLbl>
            <c:numFmt formatCode="\+0;\−0" sourceLinked="0"/>
            <c:spPr>
              <a:noFill/>
              <a:ln>
                <a:noFill/>
              </a:ln>
            </c:spPr>
            <c:txPr>
              <a:bodyPr/>
              <a:lstStyle/>
              <a:p>
                <a:pPr>
                  <a:defRPr sz="1100" b="1">
                    <a:solidFill>
                      <a:srgbClr val="28509C"/>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10 years (2013)</c:v>
              </c:pt>
              <c:pt idx="1">
                <c:v>15 years (2016)</c:v>
              </c:pt>
            </c:strLit>
          </c:cat>
          <c:val>
            <c:numLit>
              <c:formatCode>General</c:formatCode>
              <c:ptCount val="2"/>
              <c:pt idx="0">
                <c:v>16.5</c:v>
              </c:pt>
              <c:pt idx="1">
                <c:v>24</c:v>
              </c:pt>
            </c:numLit>
          </c:val>
          <c:extLst>
            <c:ext xmlns:c16="http://schemas.microsoft.com/office/drawing/2014/chart" uri="{C3380CC4-5D6E-409C-BE32-E72D297353CC}">
              <c16:uniqueId val="{00000008-EBFA-DE48-B369-F0D29F632411}"/>
            </c:ext>
          </c:extLst>
        </c:ser>
        <c:ser>
          <c:idx val="1"/>
          <c:order val="1"/>
          <c:tx>
            <c:v>Treatment-naïve</c:v>
          </c:tx>
          <c:spPr>
            <a:solidFill>
              <a:srgbClr val="A0A0A0"/>
            </a:solidFill>
          </c:spPr>
          <c:invertIfNegative val="0"/>
          <c:dLbls>
            <c:dLbl>
              <c:idx val="0"/>
              <c:tx>
                <c:rich>
                  <a:bodyPr/>
                  <a:lstStyle/>
                  <a:p>
                    <a:r>
                      <a:rPr lang="en-US" sz="1200" b="1">
                        <a:solidFill>
                          <a:srgbClr val="646464"/>
                        </a:solidFill>
                      </a:rPr>
                      <a:t>50% (7/14)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972-AC45-80D6-CED0203908C2}"/>
                </c:ext>
              </c:extLst>
            </c:dLbl>
            <c:dLbl>
              <c:idx val="1"/>
              <c:tx>
                <c:rich>
                  <a:bodyPr/>
                  <a:lstStyle/>
                  <a:p>
                    <a:r>
                      <a:rPr lang="en-US" sz="1200" b="1">
                        <a:solidFill>
                          <a:srgbClr val="646464"/>
                        </a:solidFill>
                      </a:rPr>
                      <a:t>57% (8/14)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972-AC45-80D6-CED0203908C2}"/>
                </c:ext>
              </c:extLst>
            </c:dLbl>
            <c:numFmt formatCode="\+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10 years (2013)</c:v>
              </c:pt>
              <c:pt idx="1">
                <c:v>15 years (2016)</c:v>
              </c:pt>
            </c:strLit>
          </c:cat>
          <c:val>
            <c:numLit>
              <c:formatCode>General</c:formatCode>
              <c:ptCount val="2"/>
              <c:pt idx="0">
                <c:v>50</c:v>
              </c:pt>
              <c:pt idx="1">
                <c:v>57</c:v>
              </c:pt>
            </c:numLit>
          </c:val>
          <c:extLst>
            <c:ext xmlns:c16="http://schemas.microsoft.com/office/drawing/2014/chart" uri="{C3380CC4-5D6E-409C-BE32-E72D297353CC}">
              <c16:uniqueId val="{00000005-EBFA-DE48-B369-F0D29F632411}"/>
            </c:ext>
          </c:extLst>
        </c:ser>
        <c:dLbls>
          <c:showLegendKey val="0"/>
          <c:showVal val="0"/>
          <c:showCatName val="0"/>
          <c:showSerName val="0"/>
          <c:showPercent val="0"/>
          <c:showBubbleSize val="0"/>
        </c:dLbls>
        <c:gapWidth val="8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200" b="1">
                <a:solidFill>
                  <a:srgbClr val="2B2B2B"/>
                </a:solidFill>
                <a:latin typeface="Aptos"/>
              </a:defRPr>
            </a:pPr>
            <a:endParaRPr lang="en-GB"/>
          </a:p>
        </c:txPr>
        <c:crossAx val="2"/>
        <c:crosses val="autoZero"/>
        <c:auto val="1"/>
        <c:lblAlgn val="ctr"/>
        <c:lblOffset val="100"/>
        <c:noMultiLvlLbl val="0"/>
      </c:catAx>
      <c:valAx>
        <c:axId val="2"/>
        <c:scaling>
          <c:orientation val="minMax"/>
          <c:max val="70"/>
          <c:min val="0"/>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10"/>
      </c:valAx>
      <c:spPr>
        <a:noFill/>
      </c:spPr>
    </c:plotArea>
    <c:plotVisOnly val="1"/>
    <c:dispBlanksAs val="gap"/>
    <c:showDLblsOverMax val="1"/>
  </c:chart>
  <c:spPr>
    <a:noFill/>
    <a:ln>
      <a:noFill/>
    </a:ln>
  </c:spPr>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Baseline</c:v>
          </c:tx>
          <c:spPr>
            <a:solidFill>
              <a:srgbClr val="5B2C83"/>
            </a:solidFill>
          </c:spPr>
          <c:invertIfNegative val="0"/>
          <c:dLbls>
            <c:numFmt formatCode="0" sourceLinked="0"/>
            <c:spPr>
              <a:noFill/>
              <a:ln>
                <a:noFill/>
              </a:ln>
            </c:spPr>
            <c:txPr>
              <a:bodyPr/>
              <a:lstStyle/>
              <a:p>
                <a:pPr>
                  <a:defRPr sz="1100" b="1">
                    <a:solidFill>
                      <a:srgbClr val="5B2C83"/>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All (n=46)</c:v>
              </c:pt>
              <c:pt idx="1">
                <c:v>Age 4–12 (n=28)</c:v>
              </c:pt>
              <c:pt idx="2">
                <c:v>Age ≥13 (n=18)</c:v>
              </c:pt>
              <c:pt idx="3">
                <c:v>Age ≥18 (n=11)</c:v>
              </c:pt>
            </c:strLit>
          </c:cat>
          <c:val>
            <c:numLit>
              <c:formatCode>General</c:formatCode>
              <c:ptCount val="4"/>
              <c:pt idx="0">
                <c:v>307</c:v>
              </c:pt>
              <c:pt idx="1">
                <c:v>282</c:v>
              </c:pt>
              <c:pt idx="2">
                <c:v>352</c:v>
              </c:pt>
              <c:pt idx="3">
                <c:v>368</c:v>
              </c:pt>
            </c:numLit>
          </c:val>
          <c:extLst>
            <c:ext xmlns:c16="http://schemas.microsoft.com/office/drawing/2014/chart" uri="{C3380CC4-5D6E-409C-BE32-E72D297353CC}">
              <c16:uniqueId val="{00000005-EBFA-DE48-B369-F0D29F632411}"/>
            </c:ext>
          </c:extLst>
        </c:ser>
        <c:ser>
          <c:idx val="1"/>
          <c:order val="1"/>
          <c:tx>
            <c:v>Follow-up</c:v>
          </c:tx>
          <c:spPr>
            <a:solidFill>
              <a:srgbClr val="0A9BD8"/>
            </a:solidFill>
          </c:spPr>
          <c:invertIfNegative val="0"/>
          <c:dLbls>
            <c:numFmt formatCode="0" sourceLinked="0"/>
            <c:spPr>
              <a:noFill/>
              <a:ln>
                <a:noFill/>
              </a:ln>
            </c:spPr>
            <c:txPr>
              <a:bodyPr/>
              <a:lstStyle/>
              <a:p>
                <a:pPr>
                  <a:defRPr sz="1100" b="1">
                    <a:solidFill>
                      <a:srgbClr val="0A7FB3"/>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All (n=46)</c:v>
              </c:pt>
              <c:pt idx="1">
                <c:v>Age 4–12 (n=28)</c:v>
              </c:pt>
              <c:pt idx="2">
                <c:v>Age ≥13 (n=18)</c:v>
              </c:pt>
              <c:pt idx="3">
                <c:v>Age ≥18 (n=11)</c:v>
              </c:pt>
            </c:strLit>
          </c:cat>
          <c:val>
            <c:numLit>
              <c:formatCode>General</c:formatCode>
              <c:ptCount val="4"/>
              <c:pt idx="0">
                <c:v>375</c:v>
              </c:pt>
              <c:pt idx="1">
                <c:v>352</c:v>
              </c:pt>
              <c:pt idx="2">
                <c:v>410</c:v>
              </c:pt>
              <c:pt idx="3">
                <c:v>440</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6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100" b="1">
                <a:solidFill>
                  <a:srgbClr val="2B2B2B"/>
                </a:solidFill>
                <a:latin typeface="Aptos"/>
              </a:defRPr>
            </a:pPr>
            <a:endParaRPr lang="en-GB"/>
          </a:p>
        </c:txPr>
        <c:crossAx val="2"/>
        <c:crosses val="autoZero"/>
        <c:auto val="1"/>
        <c:lblAlgn val="ctr"/>
        <c:lblOffset val="100"/>
        <c:noMultiLvlLbl val="0"/>
      </c:catAx>
      <c:valAx>
        <c:axId val="2"/>
        <c:scaling>
          <c:orientation val="minMax"/>
          <c:max val="500"/>
          <c:min val="0"/>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100"/>
      </c:valAx>
      <c:spPr>
        <a:noFill/>
      </c:spPr>
    </c:plotArea>
    <c:plotVisOnly val="1"/>
    <c:dispBlanksAs val="gap"/>
    <c:showDLblsOverMax val="1"/>
  </c:chart>
  <c:spPr>
    <a:noFill/>
    <a:ln>
      <a:noFill/>
    </a:ln>
  </c:spPr>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Baseline</c:v>
          </c:tx>
          <c:spPr>
            <a:solidFill>
              <a:srgbClr val="5B2C83"/>
            </a:solidFill>
          </c:spPr>
          <c:invertIfNegative val="0"/>
          <c:dLbls>
            <c:numFmt formatCode="0.00" sourceLinked="0"/>
            <c:spPr>
              <a:noFill/>
              <a:ln>
                <a:noFill/>
              </a:ln>
            </c:spPr>
            <c:txPr>
              <a:bodyPr/>
              <a:lstStyle/>
              <a:p>
                <a:pPr>
                  <a:defRPr sz="1100" b="1">
                    <a:solidFill>
                      <a:srgbClr val="5B2C83"/>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FVC, &lt;13 y (n=26)</c:v>
              </c:pt>
              <c:pt idx="1">
                <c:v>FVC, ≥13 y (n=22)</c:v>
              </c:pt>
              <c:pt idx="2">
                <c:v>FEV1, &lt;13 y (n=25)</c:v>
              </c:pt>
              <c:pt idx="3">
                <c:v>FEV1, ≥13 y (n=22)</c:v>
              </c:pt>
            </c:strLit>
          </c:cat>
          <c:val>
            <c:numLit>
              <c:formatCode>General</c:formatCode>
              <c:ptCount val="4"/>
              <c:pt idx="0">
                <c:v>0.66</c:v>
              </c:pt>
              <c:pt idx="1">
                <c:v>1.98</c:v>
              </c:pt>
              <c:pt idx="2">
                <c:v>0.6</c:v>
              </c:pt>
              <c:pt idx="3">
                <c:v>1.85</c:v>
              </c:pt>
            </c:numLit>
          </c:val>
          <c:extLst>
            <c:ext xmlns:c16="http://schemas.microsoft.com/office/drawing/2014/chart" uri="{C3380CC4-5D6E-409C-BE32-E72D297353CC}">
              <c16:uniqueId val="{00000005-EBFA-DE48-B369-F0D29F632411}"/>
            </c:ext>
          </c:extLst>
        </c:ser>
        <c:ser>
          <c:idx val="1"/>
          <c:order val="1"/>
          <c:tx>
            <c:v>Follow-up</c:v>
          </c:tx>
          <c:spPr>
            <a:solidFill>
              <a:srgbClr val="0A9BD8"/>
            </a:solidFill>
          </c:spPr>
          <c:invertIfNegative val="0"/>
          <c:dLbls>
            <c:numFmt formatCode="0.00" sourceLinked="0"/>
            <c:spPr>
              <a:noFill/>
              <a:ln>
                <a:noFill/>
              </a:ln>
            </c:spPr>
            <c:txPr>
              <a:bodyPr/>
              <a:lstStyle/>
              <a:p>
                <a:pPr>
                  <a:defRPr sz="1100" b="1">
                    <a:solidFill>
                      <a:srgbClr val="0A7FB3"/>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FVC, &lt;13 y (n=26)</c:v>
              </c:pt>
              <c:pt idx="1">
                <c:v>FVC, ≥13 y (n=22)</c:v>
              </c:pt>
              <c:pt idx="2">
                <c:v>FEV1, &lt;13 y (n=25)</c:v>
              </c:pt>
              <c:pt idx="3">
                <c:v>FEV1, ≥13 y (n=22)</c:v>
              </c:pt>
            </c:strLit>
          </c:cat>
          <c:val>
            <c:numLit>
              <c:formatCode>General</c:formatCode>
              <c:ptCount val="4"/>
              <c:pt idx="0">
                <c:v>1.1200000000000001</c:v>
              </c:pt>
              <c:pt idx="1">
                <c:v>2.15</c:v>
              </c:pt>
              <c:pt idx="2">
                <c:v>1.03</c:v>
              </c:pt>
              <c:pt idx="3">
                <c:v>1.9</c:v>
              </c:pt>
            </c:numLit>
          </c:val>
          <c:extLst>
            <c:ext xmlns:c16="http://schemas.microsoft.com/office/drawing/2014/chart" uri="{C3380CC4-5D6E-409C-BE32-E72D297353CC}">
              <c16:uniqueId val="{0000000B-EBFA-DE48-B369-F0D29F632411}"/>
            </c:ext>
          </c:extLst>
        </c:ser>
        <c:dLbls>
          <c:showLegendKey val="0"/>
          <c:showVal val="0"/>
          <c:showCatName val="0"/>
          <c:showSerName val="0"/>
          <c:showPercent val="0"/>
          <c:showBubbleSize val="0"/>
        </c:dLbls>
        <c:gapWidth val="6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000" b="1">
                <a:solidFill>
                  <a:srgbClr val="2B2B2B"/>
                </a:solidFill>
                <a:latin typeface="Aptos"/>
              </a:defRPr>
            </a:pPr>
            <a:endParaRPr lang="en-GB"/>
          </a:p>
        </c:txPr>
        <c:crossAx val="2"/>
        <c:crosses val="autoZero"/>
        <c:auto val="1"/>
        <c:lblAlgn val="ctr"/>
        <c:lblOffset val="100"/>
        <c:noMultiLvlLbl val="0"/>
      </c:catAx>
      <c:valAx>
        <c:axId val="2"/>
        <c:scaling>
          <c:orientation val="minMax"/>
          <c:max val="2.5"/>
          <c:min val="0"/>
        </c:scaling>
        <c:delete val="0"/>
        <c:axPos val="l"/>
        <c:majorGridlines>
          <c:spPr>
            <a:ln w="6350">
              <a:solidFill>
                <a:srgbClr val="E8E8E8"/>
              </a:solidFill>
            </a:ln>
          </c:spPr>
        </c:majorGridlines>
        <c:numFmt formatCode="0.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0.5"/>
      </c:valAx>
      <c:spPr>
        <a:noFill/>
      </c:spPr>
    </c:plotArea>
    <c:plotVisOnly val="1"/>
    <c:dispBlanksAs val="gap"/>
    <c:showDLblsOverMax val="1"/>
  </c:chart>
  <c:spPr>
    <a:noFill/>
    <a:ln>
      <a:noFill/>
    </a:ln>
  </c:spPr>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ERT-treated</c:v>
          </c:tx>
          <c:spPr>
            <a:solidFill>
              <a:srgbClr val="28509C"/>
            </a:solidFill>
          </c:spPr>
          <c:invertIfNegative val="0"/>
          <c:dLbls>
            <c:dLbl>
              <c:idx val="0"/>
              <c:tx>
                <c:rich>
                  <a:bodyPr/>
                  <a:lstStyle/>
                  <a:p>
                    <a:r>
                      <a:rPr lang="en-US" sz="1100" b="1">
                        <a:solidFill>
                          <a:srgbClr val="28509C"/>
                        </a:solidFill>
                      </a:rPr>
                      <a:t>+74.0 m (n=14)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703-D446-8C04-730AEEAA517C}"/>
                </c:ext>
              </c:extLst>
            </c:dLbl>
            <c:dLbl>
              <c:idx val="1"/>
              <c:tx>
                <c:rich>
                  <a:bodyPr/>
                  <a:lstStyle/>
                  <a:p>
                    <a:r>
                      <a:rPr lang="en-US" sz="1100" b="1">
                        <a:solidFill>
                          <a:srgbClr val="28509C"/>
                        </a:solidFill>
                      </a:rPr>
                      <a:t>+40.3 m (n=8)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703-D446-8C04-730AEEAA517C}"/>
                </c:ext>
              </c:extLst>
            </c:dLbl>
            <c:dLbl>
              <c:idx val="2"/>
              <c:tx>
                <c:rich>
                  <a:bodyPr/>
                  <a:lstStyle/>
                  <a:p>
                    <a:r>
                      <a:rPr lang="en-US" sz="1100" b="1">
                        <a:solidFill>
                          <a:srgbClr val="28509C"/>
                        </a:solidFill>
                      </a:rPr>
                      <a:t>−14.8 m (n=32)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703-D446-8C04-730AEEAA517C}"/>
                </c:ext>
              </c:extLst>
            </c:dLbl>
            <c:numFmt formatCode="\+0;\−0" sourceLinked="0"/>
            <c:spPr>
              <a:noFill/>
              <a:ln>
                <a:noFill/>
              </a:ln>
            </c:spPr>
            <c:txPr>
              <a:bodyPr/>
              <a:lstStyle/>
              <a:p>
                <a:pPr>
                  <a:defRPr sz="1100" b="1">
                    <a:solidFill>
                      <a:srgbClr val="28509C"/>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uGAG &lt;100 µg/mg</c:v>
              </c:pt>
              <c:pt idx="1">
                <c:v>uGAG 100–200 µg/mg</c:v>
              </c:pt>
              <c:pt idx="2">
                <c:v>uGAG &gt;200 µg/mg</c:v>
              </c:pt>
            </c:strLit>
          </c:cat>
          <c:val>
            <c:numLit>
              <c:formatCode>General</c:formatCode>
              <c:ptCount val="3"/>
              <c:pt idx="0">
                <c:v>74</c:v>
              </c:pt>
              <c:pt idx="1">
                <c:v>40.299999999999997</c:v>
              </c:pt>
              <c:pt idx="2">
                <c:v>-14.8</c:v>
              </c:pt>
            </c:numLit>
          </c:val>
          <c:extLst>
            <c:ext xmlns:c16="http://schemas.microsoft.com/office/drawing/2014/chart" uri="{C3380CC4-5D6E-409C-BE32-E72D297353CC}">
              <c16:uniqueId val="{00000008-EBFA-DE48-B369-F0D29F632411}"/>
            </c:ext>
          </c:extLst>
        </c:ser>
        <c:ser>
          <c:idx val="1"/>
          <c:order val="1"/>
          <c:tx>
            <c:v>ERT-naïve</c:v>
          </c:tx>
          <c:spPr>
            <a:solidFill>
              <a:srgbClr val="A0A0A0"/>
            </a:solidFill>
          </c:spPr>
          <c:invertIfNegative val="0"/>
          <c:dLbls>
            <c:dLbl>
              <c:idx val="0"/>
              <c:tx>
                <c:rich>
                  <a:bodyPr/>
                  <a:lstStyle/>
                  <a:p>
                    <a:r>
                      <a:rPr lang="en-US" sz="1100" b="1">
                        <a:solidFill>
                          <a:srgbClr val="646464"/>
                        </a:solidFill>
                      </a:rPr>
                      <a:t>+11.2 m (n=3)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703-D446-8C04-730AEEAA517C}"/>
                </c:ext>
              </c:extLst>
            </c:dLbl>
            <c:dLbl>
              <c:idx val="1"/>
              <c:tx>
                <c:rich>
                  <a:bodyPr/>
                  <a:lstStyle/>
                  <a:p>
                    <a:r>
                      <a:rPr lang="en-US" sz="1100" b="1">
                        <a:solidFill>
                          <a:srgbClr val="646464"/>
                        </a:solidFill>
                      </a:rPr>
                      <a:t>n=0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703-D446-8C04-730AEEAA517C}"/>
                </c:ext>
              </c:extLst>
            </c:dLbl>
            <c:dLbl>
              <c:idx val="2"/>
              <c:tx>
                <c:rich>
                  <a:bodyPr/>
                  <a:lstStyle/>
                  <a:p>
                    <a:r>
                      <a:rPr lang="en-US" sz="1100" b="1">
                        <a:solidFill>
                          <a:srgbClr val="646464"/>
                        </a:solidFill>
                      </a:rPr>
                      <a:t>n=0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703-D446-8C04-730AEEAA517C}"/>
                </c:ext>
              </c:extLst>
            </c:dLbl>
            <c:numFmt formatCode="\+0;\-0;0" sourceLinked="0"/>
            <c:spPr>
              <a:noFill/>
              <a:ln>
                <a:noFill/>
              </a:ln>
            </c:spPr>
            <c:txPr>
              <a:bodyPr/>
              <a:lstStyle/>
              <a:p>
                <a:pPr>
                  <a:defRPr sz="1100" b="1">
                    <a:solidFill>
                      <a:srgbClr val="646464"/>
                    </a:solidFill>
                    <a:latin typeface="Aptos"/>
                  </a:defRPr>
                </a:pPr>
                <a:endParaRPr lang="en-GB"/>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uGAG &lt;100 µg/mg</c:v>
              </c:pt>
              <c:pt idx="1">
                <c:v>uGAG 100–200 µg/mg</c:v>
              </c:pt>
              <c:pt idx="2">
                <c:v>uGAG &gt;200 µg/mg</c:v>
              </c:pt>
            </c:strLit>
          </c:cat>
          <c:val>
            <c:numLit>
              <c:formatCode>General</c:formatCode>
              <c:ptCount val="3"/>
              <c:pt idx="0">
                <c:v>11.2</c:v>
              </c:pt>
              <c:pt idx="1">
                <c:v>0</c:v>
              </c:pt>
              <c:pt idx="2">
                <c:v>0</c:v>
              </c:pt>
            </c:numLit>
          </c:val>
          <c:extLst>
            <c:ext xmlns:c16="http://schemas.microsoft.com/office/drawing/2014/chart" uri="{C3380CC4-5D6E-409C-BE32-E72D297353CC}">
              <c16:uniqueId val="{00000005-EBFA-DE48-B369-F0D29F632411}"/>
            </c:ext>
          </c:extLst>
        </c:ser>
        <c:dLbls>
          <c:showLegendKey val="0"/>
          <c:showVal val="0"/>
          <c:showCatName val="0"/>
          <c:showSerName val="0"/>
          <c:showPercent val="0"/>
          <c:showBubbleSize val="0"/>
        </c:dLbls>
        <c:gapWidth val="60"/>
        <c:overlap val="-5"/>
        <c:axId val="1"/>
        <c:axId val="2"/>
      </c:barChart>
      <c:catAx>
        <c:axId val="1"/>
        <c:scaling>
          <c:orientation val="minMax"/>
        </c:scaling>
        <c:delete val="0"/>
        <c:axPos val="b"/>
        <c:numFmt formatCode="General" sourceLinked="0"/>
        <c:majorTickMark val="none"/>
        <c:minorTickMark val="none"/>
        <c:tickLblPos val="low"/>
        <c:spPr>
          <a:ln w="9525">
            <a:solidFill>
              <a:srgbClr val="646464"/>
            </a:solidFill>
          </a:ln>
        </c:spPr>
        <c:txPr>
          <a:bodyPr/>
          <a:lstStyle/>
          <a:p>
            <a:pPr>
              <a:defRPr sz="1100" b="1">
                <a:solidFill>
                  <a:srgbClr val="2B2B2B"/>
                </a:solidFill>
                <a:latin typeface="Aptos"/>
              </a:defRPr>
            </a:pPr>
            <a:endParaRPr lang="en-GB"/>
          </a:p>
        </c:txPr>
        <c:crossAx val="2"/>
        <c:crosses val="autoZero"/>
        <c:auto val="1"/>
        <c:lblAlgn val="ctr"/>
        <c:lblOffset val="100"/>
        <c:noMultiLvlLbl val="0"/>
      </c:catAx>
      <c:valAx>
        <c:axId val="2"/>
        <c:scaling>
          <c:orientation val="minMax"/>
          <c:max val="90"/>
          <c:min val="-30"/>
        </c:scaling>
        <c:delete val="0"/>
        <c:axPos val="l"/>
        <c:majorGridlines>
          <c:spPr>
            <a:ln w="6350">
              <a:solidFill>
                <a:srgbClr val="E8E8E8"/>
              </a:solidFill>
            </a:ln>
          </c:spPr>
        </c:majorGridlines>
        <c:numFmt formatCode="0" sourceLinked="0"/>
        <c:majorTickMark val="none"/>
        <c:minorTickMark val="none"/>
        <c:tickLblPos val="nextTo"/>
        <c:spPr>
          <a:ln>
            <a:noFill/>
          </a:ln>
        </c:spPr>
        <c:txPr>
          <a:bodyPr/>
          <a:lstStyle/>
          <a:p>
            <a:pPr>
              <a:defRPr sz="1000">
                <a:solidFill>
                  <a:srgbClr val="646464"/>
                </a:solidFill>
                <a:latin typeface="Aptos"/>
              </a:defRPr>
            </a:pPr>
            <a:endParaRPr lang="en-GB"/>
          </a:p>
        </c:txPr>
        <c:crossAx val="1"/>
        <c:crosses val="autoZero"/>
        <c:crossBetween val="between"/>
        <c:majorUnit val="15"/>
      </c:valAx>
      <c:spPr>
        <a:noFill/>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FC649-45F2-434A-9A98-0004F8E2F8C0}" type="datetimeFigureOut">
              <a:rPr lang="en-SA" smtClean="0"/>
              <a:t>24/10/2026 R</a:t>
            </a:fld>
            <a:endParaRPr lang="en-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A0082E-B8F9-8041-8CE5-66F885C2FF3F}" type="slidenum">
              <a:rPr lang="en-SA" smtClean="0"/>
              <a:t>‹#›</a:t>
            </a:fld>
            <a:endParaRPr lang="en-SA"/>
          </a:p>
        </p:txBody>
      </p:sp>
    </p:spTree>
    <p:extLst>
      <p:ext uri="{BB962C8B-B14F-4D97-AF65-F5344CB8AC3E}">
        <p14:creationId xmlns:p14="http://schemas.microsoft.com/office/powerpoint/2010/main" val="837561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2013 and 2016, 8 more treated patients and 1 more naïve patient died. At 15 years, 24% of galsulfase-treated patients had died versus 57% of untreated patients. The unadjusted hazard ratio was 0.348, a 65% reduction in the risk of death. The HR is less extreme than the 0.24 seen at 10 years, which is expected as the cohort ages, but the confidence interval still sits fully below 1. The naïve group is only 14 patients, which the authors acknowledge limits how far this can be generalised.</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3F828-5CD6-417C-4D0B-CBA940DC35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A"/>
          </a:p>
        </p:txBody>
      </p:sp>
      <p:sp>
        <p:nvSpPr>
          <p:cNvPr id="3" name="Subtitle 2">
            <a:extLst>
              <a:ext uri="{FF2B5EF4-FFF2-40B4-BE49-F238E27FC236}">
                <a16:creationId xmlns:a16="http://schemas.microsoft.com/office/drawing/2014/main" id="{21D25CD0-6B78-30C1-7082-E4167F6625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A"/>
          </a:p>
        </p:txBody>
      </p:sp>
      <p:sp>
        <p:nvSpPr>
          <p:cNvPr id="4" name="Date Placeholder 3">
            <a:extLst>
              <a:ext uri="{FF2B5EF4-FFF2-40B4-BE49-F238E27FC236}">
                <a16:creationId xmlns:a16="http://schemas.microsoft.com/office/drawing/2014/main" id="{073A8255-F327-3DD8-9F7D-1769E52E09CD}"/>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5" name="Footer Placeholder 4">
            <a:extLst>
              <a:ext uri="{FF2B5EF4-FFF2-40B4-BE49-F238E27FC236}">
                <a16:creationId xmlns:a16="http://schemas.microsoft.com/office/drawing/2014/main" id="{84CBDE62-4F90-383F-4606-182F12B75D1C}"/>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1141C8BC-4A14-34FE-35E0-CAAC0CC3BE65}"/>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92708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34F9-2334-9D76-5699-FB1C0FFE5CFD}"/>
              </a:ext>
            </a:extLst>
          </p:cNvPr>
          <p:cNvSpPr>
            <a:spLocks noGrp="1"/>
          </p:cNvSpPr>
          <p:nvPr>
            <p:ph type="title"/>
          </p:nvPr>
        </p:nvSpPr>
        <p:spPr/>
        <p:txBody>
          <a:bodyPr/>
          <a:lstStyle/>
          <a:p>
            <a:r>
              <a:rPr lang="en-US"/>
              <a:t>Click to edit Master title style</a:t>
            </a:r>
            <a:endParaRPr lang="en-SA"/>
          </a:p>
        </p:txBody>
      </p:sp>
      <p:sp>
        <p:nvSpPr>
          <p:cNvPr id="3" name="Content Placeholder 2">
            <a:extLst>
              <a:ext uri="{FF2B5EF4-FFF2-40B4-BE49-F238E27FC236}">
                <a16:creationId xmlns:a16="http://schemas.microsoft.com/office/drawing/2014/main" id="{10DE0851-846E-7802-091D-4B09494405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7732A4B1-25EA-FDE7-F460-0067EC2B64C0}"/>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5" name="Footer Placeholder 4">
            <a:extLst>
              <a:ext uri="{FF2B5EF4-FFF2-40B4-BE49-F238E27FC236}">
                <a16:creationId xmlns:a16="http://schemas.microsoft.com/office/drawing/2014/main" id="{A2572DFD-7AC3-329B-EC11-6BED960F75E7}"/>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C2A52DA3-6BDA-5BA5-7245-CF85E97F8E7C}"/>
              </a:ext>
            </a:extLst>
          </p:cNvPr>
          <p:cNvSpPr>
            <a:spLocks noGrp="1"/>
          </p:cNvSpPr>
          <p:nvPr>
            <p:ph type="sldNum" sz="quarter" idx="12"/>
          </p:nvPr>
        </p:nvSpPr>
        <p:spPr/>
        <p:txBody>
          <a:bodyPr/>
          <a:lstStyle/>
          <a:p>
            <a:fld id="{09F595D5-E846-0343-8028-B5BD3909C399}" type="slidenum">
              <a:rPr lang="en-SA" smtClean="0"/>
              <a:t>‹#›</a:t>
            </a:fld>
            <a:endParaRPr lang="en-SA"/>
          </a:p>
        </p:txBody>
      </p:sp>
      <p:sp>
        <p:nvSpPr>
          <p:cNvPr id="90" name="Footer label"/>
          <p:cNvSpPr txBox="1"/>
          <p:nvPr userDrawn="1"/>
        </p:nvSpPr>
        <p:spPr>
          <a:xfrm>
            <a:off x="7366000" y="6540500"/>
            <a:ext cx="4165600" cy="228600"/>
          </a:xfrm>
          <a:prstGeom prst="rect">
            <a:avLst/>
          </a:prstGeom>
          <a:noFill/>
        </p:spPr>
        <p:txBody>
          <a:bodyPr wrap="none" lIns="0" tIns="0" rIns="0" bIns="0" anchor="ctr">
            <a:noAutofit/>
          </a:bodyPr>
          <a:lstStyle/>
          <a:p>
            <a:pPr algn="r"/>
            <a:r>
              <a:rPr lang="en-US" sz="900" dirty="0">
                <a:solidFill>
                  <a:srgbClr val="6B7B83"/>
                </a:solidFill>
              </a:rPr>
              <a:t>MPS patient education program  |  Internal training  |  </a:t>
            </a:r>
            <a:fld id="{B6F15528-21DE-4FAA-801E-634DDDAF4B2B}" type="slidenum">
              <a:rPr lang="en-US" sz="900" b="1" dirty="0">
                <a:solidFill>
                  <a:srgbClr val="0E7C86"/>
                </a:solidFill>
              </a:rPr>
              <a:t>‹#›</a:t>
            </a:fld>
            <a:endParaRPr lang="en-US" sz="900" b="1" dirty="0">
              <a:solidFill>
                <a:srgbClr val="0E7C86"/>
              </a:solidFill>
            </a:endParaRPr>
          </a:p>
        </p:txBody>
      </p:sp>
    </p:spTree>
    <p:extLst>
      <p:ext uri="{BB962C8B-B14F-4D97-AF65-F5344CB8AC3E}">
        <p14:creationId xmlns:p14="http://schemas.microsoft.com/office/powerpoint/2010/main" val="4139707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342B8-FAA8-8EC7-FA3E-C71874CE56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A"/>
          </a:p>
        </p:txBody>
      </p:sp>
      <p:sp>
        <p:nvSpPr>
          <p:cNvPr id="3" name="Text Placeholder 2">
            <a:extLst>
              <a:ext uri="{FF2B5EF4-FFF2-40B4-BE49-F238E27FC236}">
                <a16:creationId xmlns:a16="http://schemas.microsoft.com/office/drawing/2014/main" id="{94617CA9-CC88-53FB-B3DF-F145BFF737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0B08A5-B445-D7DF-E773-A7211F77E5CF}"/>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5" name="Footer Placeholder 4">
            <a:extLst>
              <a:ext uri="{FF2B5EF4-FFF2-40B4-BE49-F238E27FC236}">
                <a16:creationId xmlns:a16="http://schemas.microsoft.com/office/drawing/2014/main" id="{B457CB15-4B9D-6A7F-E051-B7B2F6E3BDB8}"/>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4942D98B-1225-C76F-4802-464F600D5224}"/>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3962795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06F3D-B1E0-43A5-D2E7-D60E65D39BFD}"/>
              </a:ext>
            </a:extLst>
          </p:cNvPr>
          <p:cNvSpPr>
            <a:spLocks noGrp="1"/>
          </p:cNvSpPr>
          <p:nvPr>
            <p:ph type="title"/>
          </p:nvPr>
        </p:nvSpPr>
        <p:spPr/>
        <p:txBody>
          <a:bodyPr/>
          <a:lstStyle/>
          <a:p>
            <a:r>
              <a:rPr lang="en-US"/>
              <a:t>Click to edit Master title style</a:t>
            </a:r>
            <a:endParaRPr lang="en-SA"/>
          </a:p>
        </p:txBody>
      </p:sp>
      <p:sp>
        <p:nvSpPr>
          <p:cNvPr id="3" name="Content Placeholder 2">
            <a:extLst>
              <a:ext uri="{FF2B5EF4-FFF2-40B4-BE49-F238E27FC236}">
                <a16:creationId xmlns:a16="http://schemas.microsoft.com/office/drawing/2014/main" id="{78C29FE8-F870-F023-1CBB-031D64152A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Content Placeholder 3">
            <a:extLst>
              <a:ext uri="{FF2B5EF4-FFF2-40B4-BE49-F238E27FC236}">
                <a16:creationId xmlns:a16="http://schemas.microsoft.com/office/drawing/2014/main" id="{AC0B1C8C-3D94-0FFC-8033-79F65835DC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5" name="Date Placeholder 4">
            <a:extLst>
              <a:ext uri="{FF2B5EF4-FFF2-40B4-BE49-F238E27FC236}">
                <a16:creationId xmlns:a16="http://schemas.microsoft.com/office/drawing/2014/main" id="{A4DD0673-0CE9-DF8E-DC86-5DBA2D8E3E07}"/>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6" name="Footer Placeholder 5">
            <a:extLst>
              <a:ext uri="{FF2B5EF4-FFF2-40B4-BE49-F238E27FC236}">
                <a16:creationId xmlns:a16="http://schemas.microsoft.com/office/drawing/2014/main" id="{61A26A59-960F-AD60-2D2C-A5BEAEB653B3}"/>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4430C34C-0425-9C52-E414-6E5B6EE2C1F3}"/>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750375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8E54-76B6-6262-15B5-0EE2172A80C0}"/>
              </a:ext>
            </a:extLst>
          </p:cNvPr>
          <p:cNvSpPr>
            <a:spLocks noGrp="1"/>
          </p:cNvSpPr>
          <p:nvPr>
            <p:ph type="title"/>
          </p:nvPr>
        </p:nvSpPr>
        <p:spPr>
          <a:xfrm>
            <a:off x="839788" y="365125"/>
            <a:ext cx="10515600" cy="1325563"/>
          </a:xfrm>
        </p:spPr>
        <p:txBody>
          <a:bodyPr/>
          <a:lstStyle/>
          <a:p>
            <a:r>
              <a:rPr lang="en-US"/>
              <a:t>Click to edit Master title style</a:t>
            </a:r>
            <a:endParaRPr lang="en-SA"/>
          </a:p>
        </p:txBody>
      </p:sp>
      <p:sp>
        <p:nvSpPr>
          <p:cNvPr id="3" name="Text Placeholder 2">
            <a:extLst>
              <a:ext uri="{FF2B5EF4-FFF2-40B4-BE49-F238E27FC236}">
                <a16:creationId xmlns:a16="http://schemas.microsoft.com/office/drawing/2014/main" id="{324B855A-7699-B369-3C6F-C425B65B6A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3B045C-5C99-A862-4F46-3BE86140C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5" name="Text Placeholder 4">
            <a:extLst>
              <a:ext uri="{FF2B5EF4-FFF2-40B4-BE49-F238E27FC236}">
                <a16:creationId xmlns:a16="http://schemas.microsoft.com/office/drawing/2014/main" id="{A94ECFC1-B564-BC42-CA71-B700AFF023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EAE0B-C650-1A58-6308-8C7FBB5F9A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7" name="Date Placeholder 6">
            <a:extLst>
              <a:ext uri="{FF2B5EF4-FFF2-40B4-BE49-F238E27FC236}">
                <a16:creationId xmlns:a16="http://schemas.microsoft.com/office/drawing/2014/main" id="{A47CBFEA-241F-E118-C870-26485DDB19AE}"/>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8" name="Footer Placeholder 7">
            <a:extLst>
              <a:ext uri="{FF2B5EF4-FFF2-40B4-BE49-F238E27FC236}">
                <a16:creationId xmlns:a16="http://schemas.microsoft.com/office/drawing/2014/main" id="{243EB777-BBB7-EAC0-ED51-6532E62B2549}"/>
              </a:ext>
            </a:extLst>
          </p:cNvPr>
          <p:cNvSpPr>
            <a:spLocks noGrp="1"/>
          </p:cNvSpPr>
          <p:nvPr>
            <p:ph type="ftr" sz="quarter" idx="11"/>
          </p:nvPr>
        </p:nvSpPr>
        <p:spPr/>
        <p:txBody>
          <a:bodyPr/>
          <a:lstStyle/>
          <a:p>
            <a:endParaRPr lang="en-SA"/>
          </a:p>
        </p:txBody>
      </p:sp>
      <p:sp>
        <p:nvSpPr>
          <p:cNvPr id="9" name="Slide Number Placeholder 8">
            <a:extLst>
              <a:ext uri="{FF2B5EF4-FFF2-40B4-BE49-F238E27FC236}">
                <a16:creationId xmlns:a16="http://schemas.microsoft.com/office/drawing/2014/main" id="{1F8FB4A5-F103-6A05-D711-F466B1BF0392}"/>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1148858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B4724-A0F9-FF53-DCF6-20487BD59EF5}"/>
              </a:ext>
            </a:extLst>
          </p:cNvPr>
          <p:cNvSpPr>
            <a:spLocks noGrp="1"/>
          </p:cNvSpPr>
          <p:nvPr>
            <p:ph type="title"/>
          </p:nvPr>
        </p:nvSpPr>
        <p:spPr/>
        <p:txBody>
          <a:bodyPr/>
          <a:lstStyle/>
          <a:p>
            <a:r>
              <a:rPr lang="en-US"/>
              <a:t>Click to edit Master title style</a:t>
            </a:r>
            <a:endParaRPr lang="en-SA"/>
          </a:p>
        </p:txBody>
      </p:sp>
      <p:sp>
        <p:nvSpPr>
          <p:cNvPr id="3" name="Date Placeholder 2">
            <a:extLst>
              <a:ext uri="{FF2B5EF4-FFF2-40B4-BE49-F238E27FC236}">
                <a16:creationId xmlns:a16="http://schemas.microsoft.com/office/drawing/2014/main" id="{75BB8402-42A8-C1EA-CD29-393D46DC6FD1}"/>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4" name="Footer Placeholder 3">
            <a:extLst>
              <a:ext uri="{FF2B5EF4-FFF2-40B4-BE49-F238E27FC236}">
                <a16:creationId xmlns:a16="http://schemas.microsoft.com/office/drawing/2014/main" id="{6EBBC872-1B97-0206-A5EA-055C0137ABE6}"/>
              </a:ext>
            </a:extLst>
          </p:cNvPr>
          <p:cNvSpPr>
            <a:spLocks noGrp="1"/>
          </p:cNvSpPr>
          <p:nvPr>
            <p:ph type="ftr" sz="quarter" idx="11"/>
          </p:nvPr>
        </p:nvSpPr>
        <p:spPr/>
        <p:txBody>
          <a:bodyPr/>
          <a:lstStyle/>
          <a:p>
            <a:endParaRPr lang="en-SA"/>
          </a:p>
        </p:txBody>
      </p:sp>
      <p:sp>
        <p:nvSpPr>
          <p:cNvPr id="5" name="Slide Number Placeholder 4">
            <a:extLst>
              <a:ext uri="{FF2B5EF4-FFF2-40B4-BE49-F238E27FC236}">
                <a16:creationId xmlns:a16="http://schemas.microsoft.com/office/drawing/2014/main" id="{9D4773F7-EB82-C46A-DE79-B4A4B20D2C09}"/>
              </a:ext>
            </a:extLst>
          </p:cNvPr>
          <p:cNvSpPr>
            <a:spLocks noGrp="1"/>
          </p:cNvSpPr>
          <p:nvPr>
            <p:ph type="sldNum" sz="quarter" idx="12"/>
          </p:nvPr>
        </p:nvSpPr>
        <p:spPr/>
        <p:txBody>
          <a:bodyPr/>
          <a:lstStyle/>
          <a:p>
            <a:fld id="{09F595D5-E846-0343-8028-B5BD3909C399}" type="slidenum">
              <a:rPr lang="en-SA" smtClean="0"/>
              <a:t>‹#›</a:t>
            </a:fld>
            <a:endParaRPr lang="en-SA"/>
          </a:p>
        </p:txBody>
      </p:sp>
      <p:sp>
        <p:nvSpPr>
          <p:cNvPr id="90" name="Footer label"/>
          <p:cNvSpPr txBox="1"/>
          <p:nvPr userDrawn="1"/>
        </p:nvSpPr>
        <p:spPr>
          <a:xfrm>
            <a:off x="7366000" y="6540500"/>
            <a:ext cx="4165600" cy="228600"/>
          </a:xfrm>
          <a:prstGeom prst="rect">
            <a:avLst/>
          </a:prstGeom>
          <a:noFill/>
        </p:spPr>
        <p:txBody>
          <a:bodyPr wrap="none" lIns="0" tIns="0" rIns="0" bIns="0" anchor="ctr">
            <a:noAutofit/>
          </a:bodyPr>
          <a:lstStyle/>
          <a:p>
            <a:pPr algn="r"/>
            <a:r>
              <a:rPr lang="en-US" sz="900" dirty="0">
                <a:solidFill>
                  <a:srgbClr val="6B7B83"/>
                </a:solidFill>
              </a:rPr>
              <a:t>MPS patient education program  |  Internal training  |  </a:t>
            </a:r>
            <a:fld id="{B6F15528-21DE-4FAA-801E-634DDDAF4B2B}" type="slidenum">
              <a:rPr lang="en-US" sz="900" b="1" dirty="0">
                <a:solidFill>
                  <a:srgbClr val="0E7C86"/>
                </a:solidFill>
              </a:rPr>
              <a:t>‹#›</a:t>
            </a:fld>
            <a:endParaRPr lang="en-US" sz="900" b="1" dirty="0">
              <a:solidFill>
                <a:srgbClr val="0E7C86"/>
              </a:solidFill>
            </a:endParaRPr>
          </a:p>
        </p:txBody>
      </p:sp>
    </p:spTree>
    <p:extLst>
      <p:ext uri="{BB962C8B-B14F-4D97-AF65-F5344CB8AC3E}">
        <p14:creationId xmlns:p14="http://schemas.microsoft.com/office/powerpoint/2010/main" val="4020671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05E6DC-6FA7-583F-60C1-4FD117B86038}"/>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3" name="Footer Placeholder 2">
            <a:extLst>
              <a:ext uri="{FF2B5EF4-FFF2-40B4-BE49-F238E27FC236}">
                <a16:creationId xmlns:a16="http://schemas.microsoft.com/office/drawing/2014/main" id="{2DA2DEE2-1A81-C9F7-C9D8-2644147E2F44}"/>
              </a:ext>
            </a:extLst>
          </p:cNvPr>
          <p:cNvSpPr>
            <a:spLocks noGrp="1"/>
          </p:cNvSpPr>
          <p:nvPr>
            <p:ph type="ftr" sz="quarter" idx="11"/>
          </p:nvPr>
        </p:nvSpPr>
        <p:spPr/>
        <p:txBody>
          <a:bodyPr/>
          <a:lstStyle/>
          <a:p>
            <a:endParaRPr lang="en-SA"/>
          </a:p>
        </p:txBody>
      </p:sp>
      <p:sp>
        <p:nvSpPr>
          <p:cNvPr id="4" name="Slide Number Placeholder 3">
            <a:extLst>
              <a:ext uri="{FF2B5EF4-FFF2-40B4-BE49-F238E27FC236}">
                <a16:creationId xmlns:a16="http://schemas.microsoft.com/office/drawing/2014/main" id="{56F2A693-A67F-6DC5-7C7E-71DE74959181}"/>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931484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00A2-5808-B386-CDC2-84FA0E162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A"/>
          </a:p>
        </p:txBody>
      </p:sp>
      <p:sp>
        <p:nvSpPr>
          <p:cNvPr id="3" name="Content Placeholder 2">
            <a:extLst>
              <a:ext uri="{FF2B5EF4-FFF2-40B4-BE49-F238E27FC236}">
                <a16:creationId xmlns:a16="http://schemas.microsoft.com/office/drawing/2014/main" id="{EF49A07E-A595-F155-01CC-33FBA0C720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Text Placeholder 3">
            <a:extLst>
              <a:ext uri="{FF2B5EF4-FFF2-40B4-BE49-F238E27FC236}">
                <a16:creationId xmlns:a16="http://schemas.microsoft.com/office/drawing/2014/main" id="{BEEAB7F4-460E-B97B-59D4-BDB5691DF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512EB1-396D-5678-6A2E-CA974984690C}"/>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6" name="Footer Placeholder 5">
            <a:extLst>
              <a:ext uri="{FF2B5EF4-FFF2-40B4-BE49-F238E27FC236}">
                <a16:creationId xmlns:a16="http://schemas.microsoft.com/office/drawing/2014/main" id="{87D16D00-3861-3692-5195-BB773485300E}"/>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78C6476E-2FA6-4A4C-1939-F8A927204D0E}"/>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3700988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0E330-20BB-90DB-4C44-7AE8284F5C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A"/>
          </a:p>
        </p:txBody>
      </p:sp>
      <p:sp>
        <p:nvSpPr>
          <p:cNvPr id="3" name="Picture Placeholder 2">
            <a:extLst>
              <a:ext uri="{FF2B5EF4-FFF2-40B4-BE49-F238E27FC236}">
                <a16:creationId xmlns:a16="http://schemas.microsoft.com/office/drawing/2014/main" id="{CDAE35CD-05A3-8615-6A55-44C3184BE84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A"/>
          </a:p>
        </p:txBody>
      </p:sp>
      <p:sp>
        <p:nvSpPr>
          <p:cNvPr id="4" name="Text Placeholder 3">
            <a:extLst>
              <a:ext uri="{FF2B5EF4-FFF2-40B4-BE49-F238E27FC236}">
                <a16:creationId xmlns:a16="http://schemas.microsoft.com/office/drawing/2014/main" id="{4F8B6841-C88D-B9FE-6526-766E07CA3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BDCF9B-52AA-EFBE-8437-86477061CA19}"/>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6" name="Footer Placeholder 5">
            <a:extLst>
              <a:ext uri="{FF2B5EF4-FFF2-40B4-BE49-F238E27FC236}">
                <a16:creationId xmlns:a16="http://schemas.microsoft.com/office/drawing/2014/main" id="{2841E3BD-32FF-8FBE-78B3-7B947B855389}"/>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D3ACB54A-AC4E-B953-F7F5-F00154D85261}"/>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308222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0D9F-4A11-804E-424F-192F9F2F2EE2}"/>
              </a:ext>
            </a:extLst>
          </p:cNvPr>
          <p:cNvSpPr>
            <a:spLocks noGrp="1"/>
          </p:cNvSpPr>
          <p:nvPr>
            <p:ph type="title"/>
          </p:nvPr>
        </p:nvSpPr>
        <p:spPr/>
        <p:txBody>
          <a:bodyPr/>
          <a:lstStyle/>
          <a:p>
            <a:r>
              <a:rPr lang="en-US"/>
              <a:t>Click to edit Master title style</a:t>
            </a:r>
            <a:endParaRPr lang="en-SA"/>
          </a:p>
        </p:txBody>
      </p:sp>
      <p:sp>
        <p:nvSpPr>
          <p:cNvPr id="3" name="Vertical Text Placeholder 2">
            <a:extLst>
              <a:ext uri="{FF2B5EF4-FFF2-40B4-BE49-F238E27FC236}">
                <a16:creationId xmlns:a16="http://schemas.microsoft.com/office/drawing/2014/main" id="{38A6249F-59B5-CDFA-4E90-AF7A41FEE6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77BF34B6-6466-BDB8-055F-AD2374D8F1CE}"/>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5" name="Footer Placeholder 4">
            <a:extLst>
              <a:ext uri="{FF2B5EF4-FFF2-40B4-BE49-F238E27FC236}">
                <a16:creationId xmlns:a16="http://schemas.microsoft.com/office/drawing/2014/main" id="{4BB6A260-0F3F-35B9-0377-795AE58890C0}"/>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D6A4DF43-6FE9-8126-2CD9-9E7F46E7CCF7}"/>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278402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DCF3C-9F81-B580-7A5D-A4029AC07E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A"/>
          </a:p>
        </p:txBody>
      </p:sp>
      <p:sp>
        <p:nvSpPr>
          <p:cNvPr id="3" name="Vertical Text Placeholder 2">
            <a:extLst>
              <a:ext uri="{FF2B5EF4-FFF2-40B4-BE49-F238E27FC236}">
                <a16:creationId xmlns:a16="http://schemas.microsoft.com/office/drawing/2014/main" id="{EE8DC1F6-7A61-D875-D992-2D6E1CB7C8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E3F0A5A7-402A-6DBB-20BB-9A6116D0B421}"/>
              </a:ext>
            </a:extLst>
          </p:cNvPr>
          <p:cNvSpPr>
            <a:spLocks noGrp="1"/>
          </p:cNvSpPr>
          <p:nvPr>
            <p:ph type="dt" sz="half" idx="10"/>
          </p:nvPr>
        </p:nvSpPr>
        <p:spPr/>
        <p:txBody>
          <a:bodyPr/>
          <a:lstStyle/>
          <a:p>
            <a:fld id="{42B21750-4274-4C4D-BD75-BAEF50163DA0}" type="datetimeFigureOut">
              <a:rPr lang="en-SA" smtClean="0"/>
              <a:t>24/10/2026 R</a:t>
            </a:fld>
            <a:endParaRPr lang="en-SA"/>
          </a:p>
        </p:txBody>
      </p:sp>
      <p:sp>
        <p:nvSpPr>
          <p:cNvPr id="5" name="Footer Placeholder 4">
            <a:extLst>
              <a:ext uri="{FF2B5EF4-FFF2-40B4-BE49-F238E27FC236}">
                <a16:creationId xmlns:a16="http://schemas.microsoft.com/office/drawing/2014/main" id="{4FA97C7B-E0A3-77C2-9DC0-0983AED1176C}"/>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EE66E151-3D35-F3D2-62E8-EC984EC33B25}"/>
              </a:ext>
            </a:extLst>
          </p:cNvPr>
          <p:cNvSpPr>
            <a:spLocks noGrp="1"/>
          </p:cNvSpPr>
          <p:nvPr>
            <p:ph type="sldNum" sz="quarter" idx="12"/>
          </p:nvPr>
        </p:nvSpPr>
        <p:spPr/>
        <p:txBody>
          <a:bodyPr/>
          <a:lstStyle/>
          <a:p>
            <a:fld id="{09F595D5-E846-0343-8028-B5BD3909C399}" type="slidenum">
              <a:rPr lang="en-SA" smtClean="0"/>
              <a:t>‹#›</a:t>
            </a:fld>
            <a:endParaRPr lang="en-SA"/>
          </a:p>
        </p:txBody>
      </p:sp>
    </p:spTree>
    <p:extLst>
      <p:ext uri="{BB962C8B-B14F-4D97-AF65-F5344CB8AC3E}">
        <p14:creationId xmlns:p14="http://schemas.microsoft.com/office/powerpoint/2010/main" val="2286023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90813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0" name="Spectrum 1"/>
          <p:cNvSpPr/>
          <p:nvPr userDrawn="1"/>
        </p:nvSpPr>
        <p:spPr>
          <a:xfrm>
            <a:off x="0" y="6781800"/>
            <a:ext cx="1905000" cy="76200"/>
          </a:xfrm>
          <a:prstGeom prst="rect">
            <a:avLst/>
          </a:prstGeom>
          <a:solidFill>
            <a:srgbClr val="353D98">
              <a:alpha val="80000"/>
            </a:srgbClr>
          </a:solidFill>
          <a:ln>
            <a:noFill/>
          </a:ln>
        </p:spPr>
        <p:txBody>
          <a:bodyPr/>
          <a:lstStyle/>
          <a:p>
            <a:endParaRPr lang="en-SA"/>
          </a:p>
        </p:txBody>
      </p:sp>
      <p:sp>
        <p:nvSpPr>
          <p:cNvPr id="901" name="Spectrum 2"/>
          <p:cNvSpPr/>
          <p:nvPr userDrawn="1"/>
        </p:nvSpPr>
        <p:spPr>
          <a:xfrm>
            <a:off x="1714500" y="6781800"/>
            <a:ext cx="1905000" cy="76200"/>
          </a:xfrm>
          <a:prstGeom prst="rect">
            <a:avLst/>
          </a:prstGeom>
          <a:solidFill>
            <a:srgbClr val="28509C">
              <a:alpha val="60000"/>
            </a:srgbClr>
          </a:solidFill>
          <a:ln>
            <a:noFill/>
          </a:ln>
        </p:spPr>
        <p:txBody>
          <a:bodyPr/>
          <a:lstStyle/>
          <a:p>
            <a:endParaRPr lang="en-SA"/>
          </a:p>
        </p:txBody>
      </p:sp>
      <p:sp>
        <p:nvSpPr>
          <p:cNvPr id="902" name="Spectrum 3"/>
          <p:cNvSpPr/>
          <p:nvPr userDrawn="1"/>
        </p:nvSpPr>
        <p:spPr>
          <a:xfrm>
            <a:off x="3429000" y="6781800"/>
            <a:ext cx="1905000" cy="76200"/>
          </a:xfrm>
          <a:prstGeom prst="rect">
            <a:avLst/>
          </a:prstGeom>
          <a:solidFill>
            <a:srgbClr val="28509C">
              <a:alpha val="80000"/>
            </a:srgbClr>
          </a:solidFill>
          <a:ln>
            <a:noFill/>
          </a:ln>
        </p:spPr>
        <p:txBody>
          <a:bodyPr/>
          <a:lstStyle/>
          <a:p>
            <a:endParaRPr lang="en-SA"/>
          </a:p>
        </p:txBody>
      </p:sp>
      <p:sp>
        <p:nvSpPr>
          <p:cNvPr id="903" name="Spectrum 4"/>
          <p:cNvSpPr/>
          <p:nvPr userDrawn="1"/>
        </p:nvSpPr>
        <p:spPr>
          <a:xfrm>
            <a:off x="5143500" y="6781800"/>
            <a:ext cx="1905000" cy="76200"/>
          </a:xfrm>
          <a:prstGeom prst="rect">
            <a:avLst/>
          </a:prstGeom>
          <a:solidFill>
            <a:srgbClr val="A9218E">
              <a:alpha val="60000"/>
            </a:srgbClr>
          </a:solidFill>
          <a:ln>
            <a:noFill/>
          </a:ln>
        </p:spPr>
        <p:txBody>
          <a:bodyPr/>
          <a:lstStyle/>
          <a:p>
            <a:endParaRPr lang="en-SA"/>
          </a:p>
        </p:txBody>
      </p:sp>
      <p:sp>
        <p:nvSpPr>
          <p:cNvPr id="904" name="Spectrum 5"/>
          <p:cNvSpPr/>
          <p:nvPr userDrawn="1"/>
        </p:nvSpPr>
        <p:spPr>
          <a:xfrm>
            <a:off x="6858000" y="6781800"/>
            <a:ext cx="1905000" cy="76200"/>
          </a:xfrm>
          <a:prstGeom prst="rect">
            <a:avLst/>
          </a:prstGeom>
          <a:solidFill>
            <a:srgbClr val="ED037C">
              <a:alpha val="80000"/>
            </a:srgbClr>
          </a:solidFill>
          <a:ln>
            <a:noFill/>
          </a:ln>
        </p:spPr>
        <p:txBody>
          <a:bodyPr/>
          <a:lstStyle/>
          <a:p>
            <a:endParaRPr lang="en-SA"/>
          </a:p>
        </p:txBody>
      </p:sp>
      <p:sp>
        <p:nvSpPr>
          <p:cNvPr id="905" name="Spectrum 6"/>
          <p:cNvSpPr/>
          <p:nvPr userDrawn="1"/>
        </p:nvSpPr>
        <p:spPr>
          <a:xfrm>
            <a:off x="8572500" y="6781800"/>
            <a:ext cx="1905000" cy="76200"/>
          </a:xfrm>
          <a:prstGeom prst="rect">
            <a:avLst/>
          </a:prstGeom>
          <a:solidFill>
            <a:srgbClr val="D25D5D">
              <a:alpha val="60000"/>
            </a:srgbClr>
          </a:solidFill>
          <a:ln>
            <a:noFill/>
          </a:ln>
        </p:spPr>
        <p:txBody>
          <a:bodyPr/>
          <a:lstStyle/>
          <a:p>
            <a:endParaRPr lang="en-SA"/>
          </a:p>
        </p:txBody>
      </p:sp>
      <p:sp>
        <p:nvSpPr>
          <p:cNvPr id="906" name="Spectrum 7"/>
          <p:cNvSpPr/>
          <p:nvPr userDrawn="1"/>
        </p:nvSpPr>
        <p:spPr>
          <a:xfrm>
            <a:off x="10287000" y="6781800"/>
            <a:ext cx="1905000" cy="76200"/>
          </a:xfrm>
          <a:prstGeom prst="rect">
            <a:avLst/>
          </a:prstGeom>
          <a:solidFill>
            <a:srgbClr val="D25D5D">
              <a:alpha val="80000"/>
            </a:srgbClr>
          </a:solidFill>
          <a:ln>
            <a:noFill/>
          </a:ln>
        </p:spPr>
        <p:txBody>
          <a:bodyPr/>
          <a:lstStyle/>
          <a:p>
            <a:endParaRPr lang="en-SA"/>
          </a:p>
        </p:txBody>
      </p:sp>
      <p:sp>
        <p:nvSpPr>
          <p:cNvPr id="2" name="Title Placeholder 1">
            <a:extLst>
              <a:ext uri="{FF2B5EF4-FFF2-40B4-BE49-F238E27FC236}">
                <a16:creationId xmlns:a16="http://schemas.microsoft.com/office/drawing/2014/main" id="{37FFC861-9293-215E-F120-450B1C2541A5}"/>
              </a:ext>
            </a:extLst>
          </p:cNvPr>
          <p:cNvSpPr>
            <a:spLocks noGrp="1"/>
          </p:cNvSpPr>
          <p:nvPr>
            <p:ph type="title"/>
          </p:nvPr>
        </p:nvSpPr>
        <p:spPr>
          <a:xfrm>
            <a:off x="660400" y="444500"/>
            <a:ext cx="10871200" cy="889000"/>
          </a:xfrm>
          <a:prstGeom prst="rect">
            <a:avLst/>
          </a:prstGeom>
        </p:spPr>
        <p:txBody>
          <a:bodyPr vert="horz" lIns="0" tIns="0" rIns="0" bIns="0" rtlCol="0" anchor="t">
            <a:noAutofit/>
          </a:bodyPr>
          <a:lstStyle/>
          <a:p>
            <a:r>
              <a:rPr lang="en-US"/>
              <a:t>Click to edit Master title style</a:t>
            </a:r>
            <a:endParaRPr lang="en-SA"/>
          </a:p>
        </p:txBody>
      </p:sp>
      <p:sp>
        <p:nvSpPr>
          <p:cNvPr id="3" name="Text Placeholder 2">
            <a:extLst>
              <a:ext uri="{FF2B5EF4-FFF2-40B4-BE49-F238E27FC236}">
                <a16:creationId xmlns:a16="http://schemas.microsoft.com/office/drawing/2014/main" id="{A8C159BB-420D-55AD-F404-B22C754D0452}"/>
              </a:ext>
            </a:extLst>
          </p:cNvPr>
          <p:cNvSpPr>
            <a:spLocks noGrp="1"/>
          </p:cNvSpPr>
          <p:nvPr>
            <p:ph type="body" idx="1"/>
          </p:nvPr>
        </p:nvSpPr>
        <p:spPr>
          <a:xfrm>
            <a:off x="660400" y="1498600"/>
            <a:ext cx="10871200" cy="4191000"/>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23670427-E71E-0010-44DF-6B3C1CF021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B21750-4274-4C4D-BD75-BAEF50163DA0}" type="datetimeFigureOut">
              <a:rPr lang="en-SA" smtClean="0"/>
              <a:t>24/10/2026 R</a:t>
            </a:fld>
            <a:endParaRPr lang="en-SA"/>
          </a:p>
        </p:txBody>
      </p:sp>
      <p:sp>
        <p:nvSpPr>
          <p:cNvPr id="5" name="Footer Placeholder 4">
            <a:extLst>
              <a:ext uri="{FF2B5EF4-FFF2-40B4-BE49-F238E27FC236}">
                <a16:creationId xmlns:a16="http://schemas.microsoft.com/office/drawing/2014/main" id="{990DB447-E79F-D6D5-29B6-65F2273A2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A"/>
          </a:p>
        </p:txBody>
      </p:sp>
      <p:sp>
        <p:nvSpPr>
          <p:cNvPr id="6" name="Slide Number Placeholder 5">
            <a:extLst>
              <a:ext uri="{FF2B5EF4-FFF2-40B4-BE49-F238E27FC236}">
                <a16:creationId xmlns:a16="http://schemas.microsoft.com/office/drawing/2014/main" id="{E1691E58-4559-294A-2675-690E6E8F68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F595D5-E846-0343-8028-B5BD3909C399}" type="slidenum">
              <a:rPr lang="en-SA" smtClean="0"/>
              <a:t>‹#›</a:t>
            </a:fld>
            <a:endParaRPr lang="en-SA"/>
          </a:p>
        </p:txBody>
      </p:sp>
    </p:spTree>
    <p:extLst>
      <p:ext uri="{BB962C8B-B14F-4D97-AF65-F5344CB8AC3E}">
        <p14:creationId xmlns:p14="http://schemas.microsoft.com/office/powerpoint/2010/main" val="273411466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xStyles>
    <p:titleStyle>
      <a:lvl1pPr algn="l" defTabSz="914400" rtl="0" eaLnBrk="1" latinLnBrk="0" hangingPunct="1">
        <a:lnSpc>
          <a:spcPct val="95000"/>
        </a:lnSpc>
        <a:spcBef>
          <a:spcPct val="0"/>
        </a:spcBef>
        <a:buNone/>
        <a:defRPr sz="2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slideLayout" Target="../slideLayouts/slideLayout6.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 Id="rId9" Type="http://schemas.openxmlformats.org/officeDocument/2006/relationships/image" Target="../media/image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Layout" Target="../slideLayouts/slideLayout6.xml"/><Relationship Id="rId5" Type="http://schemas.openxmlformats.org/officeDocument/2006/relationships/image" Target="../media/image20.svg"/><Relationship Id="rId4" Type="http://schemas.openxmlformats.org/officeDocument/2006/relationships/image" Target="../media/image19.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6.xml"/><Relationship Id="rId4" Type="http://schemas.openxmlformats.org/officeDocument/2006/relationships/chart" Target="../charts/char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6.xml"/><Relationship Id="rId4" Type="http://schemas.openxmlformats.org/officeDocument/2006/relationships/chart" Target="../charts/chart13.xml"/></Relationships>
</file>

<file path=ppt/slides/_rels/slide53.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6.xml"/><Relationship Id="rId4" Type="http://schemas.openxmlformats.org/officeDocument/2006/relationships/chart" Target="../charts/chart16.xml"/></Relationships>
</file>

<file path=ppt/slides/_rels/slide5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9.jp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31.jpg"/><Relationship Id="rId7" Type="http://schemas.openxmlformats.org/officeDocument/2006/relationships/image" Target="../media/image35.png"/><Relationship Id="rId2" Type="http://schemas.openxmlformats.org/officeDocument/2006/relationships/image" Target="../media/image30.jpg"/><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28.svg"/><Relationship Id="rId4" Type="http://schemas.openxmlformats.org/officeDocument/2006/relationships/image" Target="../media/image32.jpg"/><Relationship Id="rId9" Type="http://schemas.openxmlformats.org/officeDocument/2006/relationships/image" Target="../media/image37.png"/></Relationships>
</file>

<file path=ppt/slides/_rels/slide89.xml.rels><?xml version="1.0" encoding="UTF-8" standalone="yes"?>
<Relationships xmlns="http://schemas.openxmlformats.org/package/2006/relationships"><Relationship Id="rId8" Type="http://schemas.openxmlformats.org/officeDocument/2006/relationships/image" Target="../media/image44.jpg"/><Relationship Id="rId3" Type="http://schemas.openxmlformats.org/officeDocument/2006/relationships/image" Target="../media/image39.jpg"/><Relationship Id="rId7" Type="http://schemas.openxmlformats.org/officeDocument/2006/relationships/image" Target="../media/image43.png"/><Relationship Id="rId2" Type="http://schemas.openxmlformats.org/officeDocument/2006/relationships/image" Target="../media/image38.jpg"/><Relationship Id="rId1" Type="http://schemas.openxmlformats.org/officeDocument/2006/relationships/slideLayout" Target="../slideLayouts/slideLayout6.xml"/><Relationship Id="rId6" Type="http://schemas.openxmlformats.org/officeDocument/2006/relationships/image" Target="../media/image42.png"/><Relationship Id="rId11" Type="http://schemas.openxmlformats.org/officeDocument/2006/relationships/image" Target="../media/image28.svg"/><Relationship Id="rId5" Type="http://schemas.openxmlformats.org/officeDocument/2006/relationships/image" Target="../media/image41.jpg"/><Relationship Id="rId10" Type="http://schemas.openxmlformats.org/officeDocument/2006/relationships/image" Target="../media/image46.png"/><Relationship Id="rId4" Type="http://schemas.openxmlformats.org/officeDocument/2006/relationships/image" Target="../media/image40.jpg"/><Relationship Id="rId9" Type="http://schemas.openxmlformats.org/officeDocument/2006/relationships/image" Target="../media/image45.png"/></Relationships>
</file>

<file path=ppt/slides/_rels/slide90.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401" name=""/>
        <p:cNvGrpSpPr/>
        <p:nvPr/>
      </p:nvGrpSpPr>
      <p:grpSpPr>
        <a:xfrm>
          <a:off x="0" y="0"/>
          <a:ext cx="0" cy="0"/>
          <a:chOff x="0" y="0"/>
          <a:chExt cx="0" cy="0"/>
        </a:xfrm>
      </p:grpSpPr>
      <p:sp>
        <p:nvSpPr>
          <p:cNvPr id="402" name="Side panel"/>
          <p:cNvSpPr/>
          <p:nvPr/>
        </p:nvSpPr>
        <p:spPr>
          <a:xfrm>
            <a:off x="8636000" y="0"/>
            <a:ext cx="3556000" cy="6858000"/>
          </a:xfrm>
          <a:prstGeom prst="roundRect">
            <a:avLst>
              <a:gd name="adj" fmla="val 3214"/>
            </a:avLst>
          </a:prstGeom>
          <a:solidFill>
            <a:srgbClr val="002E56"/>
          </a:solidFill>
          <a:ln>
            <a:noFill/>
          </a:ln>
        </p:spPr>
        <p:txBody>
          <a:bodyPr wrap="square" lIns="0" tIns="0" rIns="0" bIns="0" rtlCol="0" anchor="t">
            <a:noAutofit/>
          </a:bodyPr>
          <a:lstStyle/>
          <a:p>
            <a:endParaRPr lang="en-US" dirty="0"/>
          </a:p>
        </p:txBody>
      </p:sp>
      <p:sp>
        <p:nvSpPr>
          <p:cNvPr id="403" name="Shape 19"/>
          <p:cNvSpPr txBox="1"/>
          <p:nvPr/>
        </p:nvSpPr>
        <p:spPr>
          <a:xfrm>
            <a:off x="965200" y="1320800"/>
            <a:ext cx="7112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200" b="1" spc="150" dirty="0">
                <a:solidFill>
                  <a:srgbClr val="28509C"/>
                </a:solidFill>
              </a:rPr>
              <a:t>Patient educator training</a:t>
            </a:r>
          </a:p>
        </p:txBody>
      </p:sp>
      <p:sp>
        <p:nvSpPr>
          <p:cNvPr id="404" name="Title"/>
          <p:cNvSpPr>
            <a:spLocks noGrp="1"/>
          </p:cNvSpPr>
          <p:nvPr>
            <p:ph type="ctrTitle"/>
          </p:nvPr>
        </p:nvSpPr>
        <p:spPr>
          <a:xfrm>
            <a:off x="965200" y="1651000"/>
            <a:ext cx="7366000" cy="1651000"/>
          </a:xfrm>
          <a:prstGeom prst="rect">
            <a:avLst/>
          </a:prstGeom>
          <a:noFill/>
          <a:ln>
            <a:noFill/>
          </a:ln>
        </p:spPr>
        <p:txBody>
          <a:bodyPr wrap="square" lIns="0" tIns="0" rIns="0" bIns="0" rtlCol="0" anchor="t">
            <a:noAutofit/>
          </a:bodyPr>
          <a:lstStyle/>
          <a:p>
            <a:pPr algn="l">
              <a:lnSpc>
                <a:spcPct val="92000"/>
              </a:lnSpc>
              <a:spcBef>
                <a:spcPts val="0"/>
              </a:spcBef>
              <a:spcAft>
                <a:spcPts val="0"/>
              </a:spcAft>
              <a:buNone/>
            </a:pPr>
            <a:r>
              <a:rPr lang="en-US" sz="3600" b="1" dirty="0">
                <a:solidFill>
                  <a:srgbClr val="002E56"/>
                </a:solidFill>
              </a:rPr>
              <a:t>Supporting families with MPS IVA and MPS VI: from diagnosis to adult care</a:t>
            </a:r>
          </a:p>
        </p:txBody>
      </p:sp>
      <p:sp>
        <p:nvSpPr>
          <p:cNvPr id="405" name="Subtitle"/>
          <p:cNvSpPr>
            <a:spLocks noGrp="1"/>
          </p:cNvSpPr>
          <p:nvPr>
            <p:ph type="subTitle"/>
          </p:nvPr>
        </p:nvSpPr>
        <p:spPr>
          <a:xfrm>
            <a:off x="965200" y="3403600"/>
            <a:ext cx="7112000" cy="711200"/>
          </a:xfrm>
          <a:prstGeom prst="rect">
            <a:avLst/>
          </a:prstGeom>
          <a:noFill/>
          <a:ln>
            <a:noFill/>
          </a:ln>
        </p:spPr>
        <p:txBody>
          <a:bodyPr wrap="square" lIns="0" tIns="0" rIns="0" bIns="0" rtlCol="0" anchor="t">
            <a:noAutofit/>
          </a:bodyPr>
          <a:lstStyle/>
          <a:p>
            <a:pPr algn="l">
              <a:spcBef>
                <a:spcPts val="0"/>
              </a:spcBef>
              <a:spcAft>
                <a:spcPts val="0"/>
              </a:spcAft>
              <a:buNone/>
            </a:pPr>
            <a:r>
              <a:rPr lang="en-US" sz="1600" b="0" dirty="0">
                <a:solidFill>
                  <a:srgbClr val="646464"/>
                </a:solidFill>
              </a:rPr>
              <a:t>Focus on MPS IVA (Morquio A) and MPS VI (Maroteaux-Lamy) for staff following patients in the support program</a:t>
            </a:r>
          </a:p>
        </p:txBody>
      </p:sp>
      <p:sp>
        <p:nvSpPr>
          <p:cNvPr id="406" name="Shape 22"/>
          <p:cNvSpPr txBox="1"/>
          <p:nvPr/>
        </p:nvSpPr>
        <p:spPr>
          <a:xfrm>
            <a:off x="965200" y="5080000"/>
            <a:ext cx="7366000" cy="25400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2B2B2B"/>
                </a:solidFill>
              </a:rPr>
              <a:t>Medical Affairs  |  October 2026</a:t>
            </a:r>
          </a:p>
        </p:txBody>
      </p:sp>
      <p:sp>
        <p:nvSpPr>
          <p:cNvPr id="407" name="Shape 23"/>
          <p:cNvSpPr txBox="1"/>
          <p:nvPr/>
        </p:nvSpPr>
        <p:spPr>
          <a:xfrm>
            <a:off x="965200" y="5384800"/>
            <a:ext cx="7366000" cy="635000"/>
          </a:xfrm>
          <a:prstGeom prst="rect">
            <a:avLst/>
          </a:prstGeom>
          <a:noFill/>
          <a:ln>
            <a:noFill/>
          </a:ln>
        </p:spPr>
        <p:txBody>
          <a:bodyPr wrap="square" lIns="0" tIns="0" rIns="0" bIns="0" rtlCol="0" anchor="t">
            <a:noAutofit/>
          </a:bodyPr>
          <a:lstStyle/>
          <a:p>
            <a:pPr>
              <a:spcBef>
                <a:spcPts val="0"/>
              </a:spcBef>
              <a:spcAft>
                <a:spcPts val="0"/>
              </a:spcAft>
              <a:buNone/>
            </a:pPr>
            <a:r>
              <a:rPr lang="en-US" sz="1000" dirty="0">
                <a:solidFill>
                  <a:srgbClr val="646464"/>
                </a:solidFill>
              </a:rPr>
              <a:t>For internal training of patient support program staff only. Not for distribution to patients. Product information may vary by country; always refer to the local prescribing information.</a:t>
            </a:r>
          </a:p>
        </p:txBody>
      </p:sp>
      <p:sp>
        <p:nvSpPr>
          <p:cNvPr id="408" name="Section 1"/>
          <p:cNvSpPr txBox="1"/>
          <p:nvPr/>
        </p:nvSpPr>
        <p:spPr>
          <a:xfrm>
            <a:off x="9042400" y="1270000"/>
            <a:ext cx="2794000" cy="457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9DB3D9"/>
                </a:solidFill>
              </a:rPr>
              <a:t xml:space="preserve">01  </a:t>
            </a:r>
            <a:r>
              <a:rPr lang="en-US" sz="1600" dirty="0">
                <a:solidFill>
                  <a:srgbClr val="FFFFFF"/>
                </a:solidFill>
              </a:rPr>
              <a:t>Your role</a:t>
            </a:r>
          </a:p>
        </p:txBody>
      </p:sp>
      <p:cxnSp>
        <p:nvCxnSpPr>
          <p:cNvPr id="409" name="Line 1"/>
          <p:cNvCxnSpPr/>
          <p:nvPr/>
        </p:nvCxnSpPr>
        <p:spPr>
          <a:xfrm>
            <a:off x="9042400" y="1765300"/>
            <a:ext cx="2641600" cy="0"/>
          </a:xfrm>
          <a:prstGeom prst="line">
            <a:avLst/>
          </a:prstGeom>
          <a:ln w="9525">
            <a:solidFill>
              <a:srgbClr val="646464"/>
            </a:solidFill>
          </a:ln>
        </p:spPr>
      </p:cxnSp>
      <p:sp>
        <p:nvSpPr>
          <p:cNvPr id="410" name="Section 2"/>
          <p:cNvSpPr txBox="1"/>
          <p:nvPr/>
        </p:nvSpPr>
        <p:spPr>
          <a:xfrm>
            <a:off x="9042400" y="1803400"/>
            <a:ext cx="2794000" cy="457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9DB3D9"/>
                </a:solidFill>
              </a:rPr>
              <a:t xml:space="preserve">02  </a:t>
            </a:r>
            <a:r>
              <a:rPr lang="en-US" sz="1600" dirty="0">
                <a:solidFill>
                  <a:srgbClr val="FFFFFF"/>
                </a:solidFill>
              </a:rPr>
              <a:t>Diagnosis</a:t>
            </a:r>
          </a:p>
        </p:txBody>
      </p:sp>
      <p:cxnSp>
        <p:nvCxnSpPr>
          <p:cNvPr id="411" name="Line 2"/>
          <p:cNvCxnSpPr/>
          <p:nvPr/>
        </p:nvCxnSpPr>
        <p:spPr>
          <a:xfrm>
            <a:off x="9042400" y="2298700"/>
            <a:ext cx="2641600" cy="0"/>
          </a:xfrm>
          <a:prstGeom prst="line">
            <a:avLst/>
          </a:prstGeom>
          <a:ln w="9525">
            <a:solidFill>
              <a:srgbClr val="646464"/>
            </a:solidFill>
          </a:ln>
        </p:spPr>
      </p:cxnSp>
      <p:sp>
        <p:nvSpPr>
          <p:cNvPr id="412" name="Section 3"/>
          <p:cNvSpPr txBox="1"/>
          <p:nvPr/>
        </p:nvSpPr>
        <p:spPr>
          <a:xfrm>
            <a:off x="9042400" y="2336800"/>
            <a:ext cx="2794000" cy="457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9DB3D9"/>
                </a:solidFill>
              </a:rPr>
              <a:t xml:space="preserve">03  </a:t>
            </a:r>
            <a:r>
              <a:rPr lang="en-US" sz="1600" dirty="0">
                <a:solidFill>
                  <a:srgbClr val="FFFFFF"/>
                </a:solidFill>
              </a:rPr>
              <a:t>Understanding MPS</a:t>
            </a:r>
          </a:p>
        </p:txBody>
      </p:sp>
      <p:cxnSp>
        <p:nvCxnSpPr>
          <p:cNvPr id="413" name="Line 3"/>
          <p:cNvCxnSpPr/>
          <p:nvPr/>
        </p:nvCxnSpPr>
        <p:spPr>
          <a:xfrm>
            <a:off x="9042400" y="2832100"/>
            <a:ext cx="2641600" cy="0"/>
          </a:xfrm>
          <a:prstGeom prst="line">
            <a:avLst/>
          </a:prstGeom>
          <a:ln w="9525">
            <a:solidFill>
              <a:srgbClr val="646464"/>
            </a:solidFill>
          </a:ln>
        </p:spPr>
      </p:cxnSp>
      <p:sp>
        <p:nvSpPr>
          <p:cNvPr id="414" name="Section 4"/>
          <p:cNvSpPr txBox="1"/>
          <p:nvPr/>
        </p:nvSpPr>
        <p:spPr>
          <a:xfrm>
            <a:off x="9042400" y="2870200"/>
            <a:ext cx="2794000" cy="457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9DB3D9"/>
                </a:solidFill>
              </a:rPr>
              <a:t xml:space="preserve">04  </a:t>
            </a:r>
            <a:r>
              <a:rPr lang="en-US" sz="1600" dirty="0">
                <a:solidFill>
                  <a:srgbClr val="FFFFFF"/>
                </a:solidFill>
              </a:rPr>
              <a:t>Starting treatment</a:t>
            </a:r>
          </a:p>
        </p:txBody>
      </p:sp>
      <p:cxnSp>
        <p:nvCxnSpPr>
          <p:cNvPr id="415" name="Line 4"/>
          <p:cNvCxnSpPr/>
          <p:nvPr/>
        </p:nvCxnSpPr>
        <p:spPr>
          <a:xfrm>
            <a:off x="9042400" y="3365500"/>
            <a:ext cx="2641600" cy="0"/>
          </a:xfrm>
          <a:prstGeom prst="line">
            <a:avLst/>
          </a:prstGeom>
          <a:ln w="9525">
            <a:solidFill>
              <a:srgbClr val="646464"/>
            </a:solidFill>
          </a:ln>
        </p:spPr>
      </p:cxnSp>
      <p:sp>
        <p:nvSpPr>
          <p:cNvPr id="416" name="Section 5"/>
          <p:cNvSpPr txBox="1"/>
          <p:nvPr/>
        </p:nvSpPr>
        <p:spPr>
          <a:xfrm>
            <a:off x="9042400" y="3403600"/>
            <a:ext cx="2794000" cy="457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9DB3D9"/>
                </a:solidFill>
              </a:rPr>
              <a:t xml:space="preserve">05  </a:t>
            </a:r>
            <a:r>
              <a:rPr lang="en-US" sz="1600" dirty="0">
                <a:solidFill>
                  <a:srgbClr val="FFFFFF"/>
                </a:solidFill>
              </a:rPr>
              <a:t>Infusion day</a:t>
            </a:r>
          </a:p>
        </p:txBody>
      </p:sp>
      <p:cxnSp>
        <p:nvCxnSpPr>
          <p:cNvPr id="417" name="Line 5"/>
          <p:cNvCxnSpPr/>
          <p:nvPr/>
        </p:nvCxnSpPr>
        <p:spPr>
          <a:xfrm>
            <a:off x="9042400" y="3898900"/>
            <a:ext cx="2641600" cy="0"/>
          </a:xfrm>
          <a:prstGeom prst="line">
            <a:avLst/>
          </a:prstGeom>
          <a:ln w="9525">
            <a:solidFill>
              <a:srgbClr val="646464"/>
            </a:solidFill>
          </a:ln>
        </p:spPr>
      </p:cxnSp>
      <p:sp>
        <p:nvSpPr>
          <p:cNvPr id="418" name="Section 6"/>
          <p:cNvSpPr txBox="1"/>
          <p:nvPr/>
        </p:nvSpPr>
        <p:spPr>
          <a:xfrm>
            <a:off x="9042400" y="3937000"/>
            <a:ext cx="2794000" cy="457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9DB3D9"/>
                </a:solidFill>
              </a:rPr>
              <a:t xml:space="preserve">06  </a:t>
            </a:r>
            <a:r>
              <a:rPr lang="en-US" sz="1600" dirty="0">
                <a:solidFill>
                  <a:srgbClr val="FFFFFF"/>
                </a:solidFill>
              </a:rPr>
              <a:t>Follow-up</a:t>
            </a:r>
          </a:p>
        </p:txBody>
      </p:sp>
      <p:cxnSp>
        <p:nvCxnSpPr>
          <p:cNvPr id="419" name="Line 6"/>
          <p:cNvCxnSpPr/>
          <p:nvPr/>
        </p:nvCxnSpPr>
        <p:spPr>
          <a:xfrm>
            <a:off x="9042400" y="4432300"/>
            <a:ext cx="2641600" cy="0"/>
          </a:xfrm>
          <a:prstGeom prst="line">
            <a:avLst/>
          </a:prstGeom>
          <a:ln w="9525">
            <a:solidFill>
              <a:srgbClr val="646464"/>
            </a:solidFill>
          </a:ln>
        </p:spPr>
      </p:cxnSp>
      <p:sp>
        <p:nvSpPr>
          <p:cNvPr id="420" name="Section 7"/>
          <p:cNvSpPr txBox="1"/>
          <p:nvPr/>
        </p:nvSpPr>
        <p:spPr>
          <a:xfrm>
            <a:off x="9042400" y="4470400"/>
            <a:ext cx="2794000" cy="457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9DB3D9"/>
                </a:solidFill>
              </a:rPr>
              <a:t xml:space="preserve">07  </a:t>
            </a:r>
            <a:r>
              <a:rPr lang="en-US" sz="1600" dirty="0">
                <a:solidFill>
                  <a:srgbClr val="FFFFFF"/>
                </a:solidFill>
              </a:rPr>
              <a:t>Living with MPS</a:t>
            </a:r>
          </a:p>
        </p:txBody>
      </p:sp>
      <p:cxnSp>
        <p:nvCxnSpPr>
          <p:cNvPr id="421" name="Line 7"/>
          <p:cNvCxnSpPr/>
          <p:nvPr/>
        </p:nvCxnSpPr>
        <p:spPr>
          <a:xfrm>
            <a:off x="9042400" y="4965700"/>
            <a:ext cx="2641600" cy="0"/>
          </a:xfrm>
          <a:prstGeom prst="line">
            <a:avLst/>
          </a:prstGeom>
          <a:ln w="9525">
            <a:solidFill>
              <a:srgbClr val="646464"/>
            </a:solidFill>
          </a:ln>
        </p:spPr>
      </p:cxnSp>
      <p:sp>
        <p:nvSpPr>
          <p:cNvPr id="422" name="Section 8"/>
          <p:cNvSpPr txBox="1"/>
          <p:nvPr/>
        </p:nvSpPr>
        <p:spPr>
          <a:xfrm>
            <a:off x="9042400" y="5003800"/>
            <a:ext cx="2794000" cy="457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9DB3D9"/>
                </a:solidFill>
              </a:rPr>
              <a:t xml:space="preserve">08  </a:t>
            </a:r>
            <a:r>
              <a:rPr lang="en-US" sz="1600" dirty="0">
                <a:solidFill>
                  <a:srgbClr val="FFFFFF"/>
                </a:solidFill>
              </a:rPr>
              <a:t>Pharmacovigilance</a:t>
            </a:r>
          </a:p>
        </p:txBody>
      </p:sp>
    </p:spTree>
    <p:extLst>
      <p:ext uri="{BB962C8B-B14F-4D97-AF65-F5344CB8AC3E}">
        <p14:creationId xmlns:p14="http://schemas.microsoft.com/office/powerpoint/2010/main" val="2366469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01" name=""/>
        <p:cNvGrpSpPr/>
        <p:nvPr/>
      </p:nvGrpSpPr>
      <p:grpSpPr>
        <a:xfrm>
          <a:off x="0" y="0"/>
          <a:ext cx="0" cy="0"/>
          <a:chOff x="0" y="0"/>
          <a:chExt cx="0" cy="0"/>
        </a:xfrm>
      </p:grpSpPr>
      <p:sp>
        <p:nvSpPr>
          <p:cNvPr id="402" name="Title"/>
          <p:cNvSpPr>
            <a:spLocks noGrp="1"/>
          </p:cNvSpPr>
          <p:nvPr>
            <p:ph type="title"/>
          </p:nvPr>
        </p:nvSpPr>
        <p:spPr/>
        <p:txBody>
          <a:bodyPr wrap="square" lIns="0" tIns="0" rIns="0" bIns="0" rtlCol="0" anchor="t">
            <a:noAutofit/>
          </a:bodyPr>
          <a:lstStyle/>
          <a:p>
            <a:pPr>
              <a:spcBef>
                <a:spcPts val="0"/>
              </a:spcBef>
              <a:spcAft>
                <a:spcPts val="0"/>
              </a:spcAft>
              <a:buNone/>
            </a:pPr>
            <a:r>
              <a:rPr lang="en-US" dirty="0"/>
              <a:t>Agenda</a:t>
            </a:r>
          </a:p>
        </p:txBody>
      </p:sp>
      <p:sp>
        <p:nvSpPr>
          <p:cNvPr id="403" name="Objectives card"/>
          <p:cNvSpPr/>
          <p:nvPr/>
        </p:nvSpPr>
        <p:spPr>
          <a:xfrm>
            <a:off x="7188200" y="1574800"/>
            <a:ext cx="4343400" cy="4013200"/>
          </a:xfrm>
          <a:prstGeom prst="roundRect">
            <a:avLst>
              <a:gd name="adj" fmla="val 2848"/>
            </a:avLst>
          </a:prstGeom>
          <a:solidFill>
            <a:srgbClr val="E8EEF7"/>
          </a:solidFill>
          <a:ln>
            <a:noFill/>
          </a:ln>
        </p:spPr>
        <p:txBody>
          <a:bodyPr wrap="square" lIns="0" tIns="0" rIns="0" bIns="0" rtlCol="0" anchor="t">
            <a:noAutofit/>
          </a:bodyPr>
          <a:lstStyle/>
          <a:p>
            <a:endParaRPr lang="en-US" dirty="0"/>
          </a:p>
        </p:txBody>
      </p:sp>
      <p:sp>
        <p:nvSpPr>
          <p:cNvPr id="404" name="Shape 27"/>
          <p:cNvSpPr/>
          <p:nvPr/>
        </p:nvSpPr>
        <p:spPr>
          <a:xfrm>
            <a:off x="7188200" y="1574800"/>
            <a:ext cx="4343400" cy="457200"/>
          </a:xfrm>
          <a:prstGeom prst="roundRect">
            <a:avLst>
              <a:gd name="adj" fmla="val 16667"/>
            </a:avLst>
          </a:prstGeom>
          <a:solidFill>
            <a:srgbClr val="28509C"/>
          </a:solidFill>
          <a:ln>
            <a:noFill/>
          </a:ln>
        </p:spPr>
        <p:txBody>
          <a:bodyPr wrap="square" lIns="203200" tIns="0" rIns="203200" bIns="0" rtlCol="0" anchor="ctr">
            <a:noAutofit/>
          </a:bodyPr>
          <a:lstStyle/>
          <a:p>
            <a:pPr>
              <a:spcBef>
                <a:spcPts val="0"/>
              </a:spcBef>
              <a:spcAft>
                <a:spcPts val="0"/>
              </a:spcAft>
              <a:buNone/>
            </a:pPr>
            <a:r>
              <a:rPr lang="en-US" sz="1200" b="1" spc="100" dirty="0">
                <a:solidFill>
                  <a:srgbClr val="FFFFFF"/>
                </a:solidFill>
              </a:rPr>
              <a:t>Learning objectives</a:t>
            </a:r>
          </a:p>
        </p:txBody>
      </p:sp>
      <p:sp>
        <p:nvSpPr>
          <p:cNvPr id="405" name="Shape 28"/>
          <p:cNvSpPr txBox="1"/>
          <p:nvPr/>
        </p:nvSpPr>
        <p:spPr>
          <a:xfrm>
            <a:off x="7188200" y="2133600"/>
            <a:ext cx="4343400" cy="3403600"/>
          </a:xfrm>
          <a:prstGeom prst="rect">
            <a:avLst/>
          </a:prstGeom>
          <a:noFill/>
          <a:ln>
            <a:noFill/>
          </a:ln>
        </p:spPr>
        <p:txBody>
          <a:bodyPr wrap="square" lIns="203200" tIns="76200" rIns="203200" bIns="76200" rtlCol="0" anchor="t">
            <a:noAutofit/>
          </a:bodyPr>
          <a:lstStyle/>
          <a:p>
            <a:pPr marL="177800" indent="-177800">
              <a:spcBef>
                <a:spcPts val="0"/>
              </a:spcBef>
              <a:spcAft>
                <a:spcPts val="800"/>
              </a:spcAft>
              <a:buClr>
                <a:srgbClr val="28509C"/>
              </a:buClr>
              <a:buFont typeface="Arial"/>
              <a:buChar char="•"/>
            </a:pPr>
            <a:r>
              <a:rPr lang="en-US" sz="1400" dirty="0">
                <a:solidFill>
                  <a:srgbClr val="2B2B2B"/>
                </a:solidFill>
              </a:rPr>
              <a:t>Explain MPS IVA and MPS VI and their inheritance in plain words</a:t>
            </a:r>
          </a:p>
          <a:p>
            <a:pPr marL="177800" indent="-177800">
              <a:spcBef>
                <a:spcPts val="0"/>
              </a:spcBef>
              <a:spcAft>
                <a:spcPts val="800"/>
              </a:spcAft>
              <a:buClr>
                <a:srgbClr val="28509C"/>
              </a:buClr>
              <a:buFont typeface="Arial"/>
              <a:buChar char="•"/>
            </a:pPr>
            <a:r>
              <a:rPr lang="en-US" sz="1400" dirty="0">
                <a:solidFill>
                  <a:srgbClr val="2B2B2B"/>
                </a:solidFill>
              </a:rPr>
              <a:t>Stay within the program’s role, compliance and privacy rules</a:t>
            </a:r>
          </a:p>
          <a:p>
            <a:pPr marL="177800" indent="-177800">
              <a:spcBef>
                <a:spcPts val="0"/>
              </a:spcBef>
              <a:spcAft>
                <a:spcPts val="800"/>
              </a:spcAft>
              <a:buClr>
                <a:srgbClr val="28509C"/>
              </a:buClr>
              <a:buFont typeface="Arial"/>
              <a:buChar char="•"/>
            </a:pPr>
            <a:r>
              <a:rPr lang="en-US" sz="1400" dirty="0">
                <a:solidFill>
                  <a:srgbClr val="2B2B2B"/>
                </a:solidFill>
              </a:rPr>
              <a:t>Guide families through each step, from diagnosis to adult care</a:t>
            </a:r>
          </a:p>
          <a:p>
            <a:pPr marL="177800" indent="-177800">
              <a:spcBef>
                <a:spcPts val="0"/>
              </a:spcBef>
              <a:spcAft>
                <a:spcPts val="800"/>
              </a:spcAft>
              <a:buClr>
                <a:srgbClr val="28509C"/>
              </a:buClr>
              <a:buFont typeface="Arial"/>
              <a:buChar char="•"/>
            </a:pPr>
            <a:r>
              <a:rPr lang="en-US" sz="1400" dirty="0">
                <a:solidFill>
                  <a:srgbClr val="2B2B2B"/>
                </a:solidFill>
              </a:rPr>
              <a:t>Recognise warning signs and infusion reactions, and escalate the same day</a:t>
            </a:r>
          </a:p>
          <a:p>
            <a:pPr marL="177800" indent="-177800">
              <a:spcBef>
                <a:spcPts val="0"/>
              </a:spcBef>
              <a:spcAft>
                <a:spcPts val="800"/>
              </a:spcAft>
              <a:buClr>
                <a:srgbClr val="28509C"/>
              </a:buClr>
              <a:buFont typeface="Arial"/>
              <a:buChar char="•"/>
            </a:pPr>
            <a:r>
              <a:rPr lang="en-US" sz="1400" dirty="0">
                <a:solidFill>
                  <a:srgbClr val="2B2B2B"/>
                </a:solidFill>
              </a:rPr>
              <a:t>Support adherence, follow-up tests and MDT visits at every contact</a:t>
            </a:r>
          </a:p>
          <a:p>
            <a:pPr marL="177800" indent="-177800">
              <a:spcBef>
                <a:spcPts val="0"/>
              </a:spcBef>
              <a:spcAft>
                <a:spcPts val="800"/>
              </a:spcAft>
              <a:buClr>
                <a:srgbClr val="28509C"/>
              </a:buClr>
              <a:buFont typeface="Arial"/>
              <a:buChar char="•"/>
            </a:pPr>
            <a:r>
              <a:rPr lang="en-US" sz="1400" dirty="0">
                <a:solidFill>
                  <a:srgbClr val="2B2B2B"/>
                </a:solidFill>
              </a:rPr>
              <a:t>Report adverse events, special situations and complaints on time</a:t>
            </a:r>
          </a:p>
        </p:txBody>
      </p:sp>
      <p:sp>
        <p:nvSpPr>
          <p:cNvPr id="406" name="Shape 29"/>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AE, adverse event; ERT, enzyme replacement therapy; MDT, multidisciplinary team; MPS, mucopolysaccharidosis</a:t>
            </a:r>
          </a:p>
        </p:txBody>
      </p:sp>
      <p:sp>
        <p:nvSpPr>
          <p:cNvPr id="407" name="Shape 11"/>
          <p:cNvSpPr txBox="1"/>
          <p:nvPr/>
        </p:nvSpPr>
        <p:spPr>
          <a:xfrm>
            <a:off x="660400" y="1549400"/>
            <a:ext cx="558800" cy="558800"/>
          </a:xfrm>
          <a:prstGeom prst="rect">
            <a:avLst/>
          </a:prstGeom>
          <a:noFill/>
          <a:ln>
            <a:noFill/>
          </a:ln>
        </p:spPr>
        <p:txBody>
          <a:bodyPr wrap="square" lIns="0" tIns="0" rIns="0" bIns="0" rtlCol="0" anchor="t">
            <a:noAutofit/>
          </a:bodyPr>
          <a:lstStyle/>
          <a:p>
            <a:pPr>
              <a:spcBef>
                <a:spcPts val="0"/>
              </a:spcBef>
              <a:spcAft>
                <a:spcPts val="0"/>
              </a:spcAft>
              <a:buNone/>
            </a:pPr>
            <a:r>
              <a:rPr lang="en-US" sz="2400" b="1" dirty="0">
                <a:solidFill>
                  <a:srgbClr val="28509C"/>
                </a:solidFill>
              </a:rPr>
              <a:t>01</a:t>
            </a:r>
          </a:p>
        </p:txBody>
      </p:sp>
      <p:sp>
        <p:nvSpPr>
          <p:cNvPr id="408" name="Shape 12"/>
          <p:cNvSpPr txBox="1"/>
          <p:nvPr/>
        </p:nvSpPr>
        <p:spPr>
          <a:xfrm>
            <a:off x="1270000" y="1574800"/>
            <a:ext cx="233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Your role</a:t>
            </a:r>
          </a:p>
        </p:txBody>
      </p:sp>
      <p:sp>
        <p:nvSpPr>
          <p:cNvPr id="409" name="Shape 13"/>
          <p:cNvSpPr txBox="1"/>
          <p:nvPr/>
        </p:nvSpPr>
        <p:spPr>
          <a:xfrm>
            <a:off x="1270000" y="1892300"/>
            <a:ext cx="2336800" cy="533400"/>
          </a:xfrm>
          <a:prstGeom prst="rect">
            <a:avLst/>
          </a:prstGeom>
          <a:noFill/>
          <a:ln>
            <a:noFill/>
          </a:ln>
        </p:spPr>
        <p:txBody>
          <a:bodyPr wrap="square" lIns="0" tIns="0" rIns="0" bIns="0" rtlCol="0" anchor="t">
            <a:noAutofit/>
          </a:bodyPr>
          <a:lstStyle/>
          <a:p>
            <a:pPr>
              <a:spcBef>
                <a:spcPts val="0"/>
              </a:spcBef>
              <a:spcAft>
                <a:spcPts val="0"/>
              </a:spcAft>
              <a:buNone/>
            </a:pPr>
            <a:r>
              <a:rPr lang="en-US" sz="1200" dirty="0">
                <a:solidFill>
                  <a:srgbClr val="646464"/>
                </a:solidFill>
              </a:rPr>
              <a:t>Boundaries, compliance and each family contact</a:t>
            </a:r>
          </a:p>
        </p:txBody>
      </p:sp>
      <p:cxnSp>
        <p:nvCxnSpPr>
          <p:cNvPr id="410" name="Line 14"/>
          <p:cNvCxnSpPr/>
          <p:nvPr/>
        </p:nvCxnSpPr>
        <p:spPr>
          <a:xfrm>
            <a:off x="660400" y="2489200"/>
            <a:ext cx="2946400" cy="0"/>
          </a:xfrm>
          <a:prstGeom prst="line">
            <a:avLst/>
          </a:prstGeom>
          <a:ln w="9525">
            <a:solidFill>
              <a:srgbClr val="D9DEE6"/>
            </a:solidFill>
          </a:ln>
        </p:spPr>
      </p:cxnSp>
      <p:sp>
        <p:nvSpPr>
          <p:cNvPr id="411" name="Shape 11"/>
          <p:cNvSpPr txBox="1"/>
          <p:nvPr/>
        </p:nvSpPr>
        <p:spPr>
          <a:xfrm>
            <a:off x="660400" y="2540000"/>
            <a:ext cx="558800" cy="558800"/>
          </a:xfrm>
          <a:prstGeom prst="rect">
            <a:avLst/>
          </a:prstGeom>
          <a:noFill/>
          <a:ln>
            <a:noFill/>
          </a:ln>
        </p:spPr>
        <p:txBody>
          <a:bodyPr wrap="square" lIns="0" tIns="0" rIns="0" bIns="0" rtlCol="0" anchor="t">
            <a:noAutofit/>
          </a:bodyPr>
          <a:lstStyle/>
          <a:p>
            <a:pPr>
              <a:spcBef>
                <a:spcPts val="0"/>
              </a:spcBef>
              <a:spcAft>
                <a:spcPts val="0"/>
              </a:spcAft>
              <a:buNone/>
            </a:pPr>
            <a:r>
              <a:rPr lang="en-US" sz="2400" b="1" dirty="0">
                <a:solidFill>
                  <a:srgbClr val="28509C"/>
                </a:solidFill>
              </a:rPr>
              <a:t>02</a:t>
            </a:r>
          </a:p>
        </p:txBody>
      </p:sp>
      <p:sp>
        <p:nvSpPr>
          <p:cNvPr id="412" name="Shape 12"/>
          <p:cNvSpPr txBox="1"/>
          <p:nvPr/>
        </p:nvSpPr>
        <p:spPr>
          <a:xfrm>
            <a:off x="1270000" y="2565400"/>
            <a:ext cx="233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Diagnosis</a:t>
            </a:r>
          </a:p>
        </p:txBody>
      </p:sp>
      <p:sp>
        <p:nvSpPr>
          <p:cNvPr id="413" name="Shape 13"/>
          <p:cNvSpPr txBox="1"/>
          <p:nvPr/>
        </p:nvSpPr>
        <p:spPr>
          <a:xfrm>
            <a:off x="1270000" y="2882900"/>
            <a:ext cx="2336800" cy="533400"/>
          </a:xfrm>
          <a:prstGeom prst="rect">
            <a:avLst/>
          </a:prstGeom>
          <a:noFill/>
          <a:ln>
            <a:noFill/>
          </a:ln>
        </p:spPr>
        <p:txBody>
          <a:bodyPr wrap="square" lIns="0" tIns="0" rIns="0" bIns="0" rtlCol="0" anchor="t">
            <a:noAutofit/>
          </a:bodyPr>
          <a:lstStyle/>
          <a:p>
            <a:pPr>
              <a:spcBef>
                <a:spcPts val="0"/>
              </a:spcBef>
              <a:spcAft>
                <a:spcPts val="0"/>
              </a:spcAft>
              <a:buNone/>
            </a:pPr>
            <a:r>
              <a:rPr lang="en-US" sz="1200" dirty="0">
                <a:solidFill>
                  <a:srgbClr val="646464"/>
                </a:solidFill>
              </a:rPr>
              <a:t>First signs, how it is confirmed, family testing</a:t>
            </a:r>
          </a:p>
        </p:txBody>
      </p:sp>
      <p:cxnSp>
        <p:nvCxnSpPr>
          <p:cNvPr id="414" name="Line 14"/>
          <p:cNvCxnSpPr/>
          <p:nvPr/>
        </p:nvCxnSpPr>
        <p:spPr>
          <a:xfrm>
            <a:off x="660400" y="3479800"/>
            <a:ext cx="2946400" cy="0"/>
          </a:xfrm>
          <a:prstGeom prst="line">
            <a:avLst/>
          </a:prstGeom>
          <a:ln w="9525">
            <a:solidFill>
              <a:srgbClr val="D9DEE6"/>
            </a:solidFill>
          </a:ln>
        </p:spPr>
      </p:cxnSp>
      <p:sp>
        <p:nvSpPr>
          <p:cNvPr id="415" name="Shape 11"/>
          <p:cNvSpPr txBox="1"/>
          <p:nvPr/>
        </p:nvSpPr>
        <p:spPr>
          <a:xfrm>
            <a:off x="660400" y="3530600"/>
            <a:ext cx="558800" cy="558800"/>
          </a:xfrm>
          <a:prstGeom prst="rect">
            <a:avLst/>
          </a:prstGeom>
          <a:noFill/>
          <a:ln>
            <a:noFill/>
          </a:ln>
        </p:spPr>
        <p:txBody>
          <a:bodyPr wrap="square" lIns="0" tIns="0" rIns="0" bIns="0" rtlCol="0" anchor="t">
            <a:noAutofit/>
          </a:bodyPr>
          <a:lstStyle/>
          <a:p>
            <a:pPr>
              <a:spcBef>
                <a:spcPts val="0"/>
              </a:spcBef>
              <a:spcAft>
                <a:spcPts val="0"/>
              </a:spcAft>
              <a:buNone/>
            </a:pPr>
            <a:r>
              <a:rPr lang="en-US" sz="2400" b="1" dirty="0">
                <a:solidFill>
                  <a:srgbClr val="28509C"/>
                </a:solidFill>
              </a:rPr>
              <a:t>03</a:t>
            </a:r>
          </a:p>
        </p:txBody>
      </p:sp>
      <p:sp>
        <p:nvSpPr>
          <p:cNvPr id="416" name="Shape 12"/>
          <p:cNvSpPr txBox="1"/>
          <p:nvPr/>
        </p:nvSpPr>
        <p:spPr>
          <a:xfrm>
            <a:off x="1270000" y="3556000"/>
            <a:ext cx="233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Understanding MPS</a:t>
            </a:r>
          </a:p>
        </p:txBody>
      </p:sp>
      <p:sp>
        <p:nvSpPr>
          <p:cNvPr id="417" name="Shape 13"/>
          <p:cNvSpPr txBox="1"/>
          <p:nvPr/>
        </p:nvSpPr>
        <p:spPr>
          <a:xfrm>
            <a:off x="1270000" y="3873500"/>
            <a:ext cx="2336800" cy="533400"/>
          </a:xfrm>
          <a:prstGeom prst="rect">
            <a:avLst/>
          </a:prstGeom>
          <a:noFill/>
          <a:ln>
            <a:noFill/>
          </a:ln>
        </p:spPr>
        <p:txBody>
          <a:bodyPr wrap="square" lIns="0" tIns="0" rIns="0" bIns="0" rtlCol="0" anchor="t">
            <a:noAutofit/>
          </a:bodyPr>
          <a:lstStyle/>
          <a:p>
            <a:pPr>
              <a:spcBef>
                <a:spcPts val="0"/>
              </a:spcBef>
              <a:spcAft>
                <a:spcPts val="0"/>
              </a:spcAft>
              <a:buNone/>
            </a:pPr>
            <a:r>
              <a:rPr lang="en-US" sz="1200" dirty="0">
                <a:solidFill>
                  <a:srgbClr val="646464"/>
                </a:solidFill>
              </a:rPr>
              <a:t>Inheritance, organs affected, MPS IVA and VI</a:t>
            </a:r>
          </a:p>
        </p:txBody>
      </p:sp>
      <p:cxnSp>
        <p:nvCxnSpPr>
          <p:cNvPr id="418" name="Line 14"/>
          <p:cNvCxnSpPr/>
          <p:nvPr/>
        </p:nvCxnSpPr>
        <p:spPr>
          <a:xfrm>
            <a:off x="660400" y="4470400"/>
            <a:ext cx="2946400" cy="0"/>
          </a:xfrm>
          <a:prstGeom prst="line">
            <a:avLst/>
          </a:prstGeom>
          <a:ln w="9525">
            <a:solidFill>
              <a:srgbClr val="D9DEE6"/>
            </a:solidFill>
          </a:ln>
        </p:spPr>
      </p:cxnSp>
      <p:sp>
        <p:nvSpPr>
          <p:cNvPr id="419" name="Shape 11"/>
          <p:cNvSpPr txBox="1"/>
          <p:nvPr/>
        </p:nvSpPr>
        <p:spPr>
          <a:xfrm>
            <a:off x="660400" y="4521200"/>
            <a:ext cx="558800" cy="558800"/>
          </a:xfrm>
          <a:prstGeom prst="rect">
            <a:avLst/>
          </a:prstGeom>
          <a:noFill/>
          <a:ln>
            <a:noFill/>
          </a:ln>
        </p:spPr>
        <p:txBody>
          <a:bodyPr wrap="square" lIns="0" tIns="0" rIns="0" bIns="0" rtlCol="0" anchor="t">
            <a:noAutofit/>
          </a:bodyPr>
          <a:lstStyle/>
          <a:p>
            <a:pPr>
              <a:spcBef>
                <a:spcPts val="0"/>
              </a:spcBef>
              <a:spcAft>
                <a:spcPts val="0"/>
              </a:spcAft>
              <a:buNone/>
            </a:pPr>
            <a:r>
              <a:rPr lang="en-US" sz="2400" b="1" dirty="0">
                <a:solidFill>
                  <a:srgbClr val="28509C"/>
                </a:solidFill>
              </a:rPr>
              <a:t>04</a:t>
            </a:r>
          </a:p>
        </p:txBody>
      </p:sp>
      <p:sp>
        <p:nvSpPr>
          <p:cNvPr id="420" name="Shape 12"/>
          <p:cNvSpPr txBox="1"/>
          <p:nvPr/>
        </p:nvSpPr>
        <p:spPr>
          <a:xfrm>
            <a:off x="1270000" y="4546600"/>
            <a:ext cx="233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Starting treatment</a:t>
            </a:r>
          </a:p>
        </p:txBody>
      </p:sp>
      <p:sp>
        <p:nvSpPr>
          <p:cNvPr id="421" name="Shape 13"/>
          <p:cNvSpPr txBox="1"/>
          <p:nvPr/>
        </p:nvSpPr>
        <p:spPr>
          <a:xfrm>
            <a:off x="1270000" y="4864100"/>
            <a:ext cx="2336800" cy="533400"/>
          </a:xfrm>
          <a:prstGeom prst="rect">
            <a:avLst/>
          </a:prstGeom>
          <a:noFill/>
          <a:ln>
            <a:noFill/>
          </a:ln>
        </p:spPr>
        <p:txBody>
          <a:bodyPr wrap="square" lIns="0" tIns="0" rIns="0" bIns="0" rtlCol="0" anchor="t">
            <a:noAutofit/>
          </a:bodyPr>
          <a:lstStyle/>
          <a:p>
            <a:pPr>
              <a:spcBef>
                <a:spcPts val="0"/>
              </a:spcBef>
              <a:spcAft>
                <a:spcPts val="0"/>
              </a:spcAft>
              <a:buNone/>
            </a:pPr>
            <a:r>
              <a:rPr lang="en-US" sz="1200" dirty="0">
                <a:solidFill>
                  <a:srgbClr val="646464"/>
                </a:solidFill>
              </a:rPr>
              <a:t>Care options, baseline tests, what ERT achieves</a:t>
            </a:r>
          </a:p>
        </p:txBody>
      </p:sp>
      <p:sp>
        <p:nvSpPr>
          <p:cNvPr id="422" name="Shape 11"/>
          <p:cNvSpPr txBox="1"/>
          <p:nvPr/>
        </p:nvSpPr>
        <p:spPr>
          <a:xfrm>
            <a:off x="3759200" y="1549400"/>
            <a:ext cx="558800" cy="558800"/>
          </a:xfrm>
          <a:prstGeom prst="rect">
            <a:avLst/>
          </a:prstGeom>
          <a:noFill/>
          <a:ln>
            <a:noFill/>
          </a:ln>
        </p:spPr>
        <p:txBody>
          <a:bodyPr wrap="square" lIns="0" tIns="0" rIns="0" bIns="0" rtlCol="0" anchor="t">
            <a:noAutofit/>
          </a:bodyPr>
          <a:lstStyle/>
          <a:p>
            <a:pPr>
              <a:spcBef>
                <a:spcPts val="0"/>
              </a:spcBef>
              <a:spcAft>
                <a:spcPts val="0"/>
              </a:spcAft>
              <a:buNone/>
            </a:pPr>
            <a:r>
              <a:rPr lang="en-US" sz="2400" b="1" dirty="0">
                <a:solidFill>
                  <a:srgbClr val="28509C"/>
                </a:solidFill>
              </a:rPr>
              <a:t>05</a:t>
            </a:r>
          </a:p>
        </p:txBody>
      </p:sp>
      <p:sp>
        <p:nvSpPr>
          <p:cNvPr id="423" name="Shape 12"/>
          <p:cNvSpPr txBox="1"/>
          <p:nvPr/>
        </p:nvSpPr>
        <p:spPr>
          <a:xfrm>
            <a:off x="4368800" y="1574800"/>
            <a:ext cx="233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Infusion day</a:t>
            </a:r>
          </a:p>
        </p:txBody>
      </p:sp>
      <p:sp>
        <p:nvSpPr>
          <p:cNvPr id="424" name="Shape 13"/>
          <p:cNvSpPr txBox="1"/>
          <p:nvPr/>
        </p:nvSpPr>
        <p:spPr>
          <a:xfrm>
            <a:off x="4368800" y="1892300"/>
            <a:ext cx="2336800" cy="533400"/>
          </a:xfrm>
          <a:prstGeom prst="rect">
            <a:avLst/>
          </a:prstGeom>
          <a:noFill/>
          <a:ln>
            <a:noFill/>
          </a:ln>
        </p:spPr>
        <p:txBody>
          <a:bodyPr wrap="square" lIns="0" tIns="0" rIns="0" bIns="0" rtlCol="0" anchor="t">
            <a:noAutofit/>
          </a:bodyPr>
          <a:lstStyle/>
          <a:p>
            <a:pPr>
              <a:spcBef>
                <a:spcPts val="0"/>
              </a:spcBef>
              <a:spcAft>
                <a:spcPts val="0"/>
              </a:spcAft>
              <a:buNone/>
            </a:pPr>
            <a:r>
              <a:rPr lang="en-US" sz="1200" dirty="0">
                <a:solidFill>
                  <a:srgbClr val="646464"/>
                </a:solidFill>
              </a:rPr>
              <a:t>Each infusion, side effects, managing reactions</a:t>
            </a:r>
          </a:p>
        </p:txBody>
      </p:sp>
      <p:cxnSp>
        <p:nvCxnSpPr>
          <p:cNvPr id="425" name="Line 14"/>
          <p:cNvCxnSpPr/>
          <p:nvPr/>
        </p:nvCxnSpPr>
        <p:spPr>
          <a:xfrm>
            <a:off x="3759200" y="2489200"/>
            <a:ext cx="2946400" cy="0"/>
          </a:xfrm>
          <a:prstGeom prst="line">
            <a:avLst/>
          </a:prstGeom>
          <a:ln w="9525">
            <a:solidFill>
              <a:srgbClr val="D9DEE6"/>
            </a:solidFill>
          </a:ln>
        </p:spPr>
      </p:cxnSp>
      <p:sp>
        <p:nvSpPr>
          <p:cNvPr id="426" name="Shape 11"/>
          <p:cNvSpPr txBox="1"/>
          <p:nvPr/>
        </p:nvSpPr>
        <p:spPr>
          <a:xfrm>
            <a:off x="3759200" y="2540000"/>
            <a:ext cx="558800" cy="558800"/>
          </a:xfrm>
          <a:prstGeom prst="rect">
            <a:avLst/>
          </a:prstGeom>
          <a:noFill/>
          <a:ln>
            <a:noFill/>
          </a:ln>
        </p:spPr>
        <p:txBody>
          <a:bodyPr wrap="square" lIns="0" tIns="0" rIns="0" bIns="0" rtlCol="0" anchor="t">
            <a:noAutofit/>
          </a:bodyPr>
          <a:lstStyle/>
          <a:p>
            <a:pPr>
              <a:spcBef>
                <a:spcPts val="0"/>
              </a:spcBef>
              <a:spcAft>
                <a:spcPts val="0"/>
              </a:spcAft>
              <a:buNone/>
            </a:pPr>
            <a:r>
              <a:rPr lang="en-US" sz="2400" b="1" dirty="0">
                <a:solidFill>
                  <a:srgbClr val="28509C"/>
                </a:solidFill>
              </a:rPr>
              <a:t>06</a:t>
            </a:r>
          </a:p>
        </p:txBody>
      </p:sp>
      <p:sp>
        <p:nvSpPr>
          <p:cNvPr id="427" name="Shape 12"/>
          <p:cNvSpPr txBox="1"/>
          <p:nvPr/>
        </p:nvSpPr>
        <p:spPr>
          <a:xfrm>
            <a:off x="4368800" y="2565400"/>
            <a:ext cx="233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Ongoing follow-up</a:t>
            </a:r>
          </a:p>
        </p:txBody>
      </p:sp>
      <p:sp>
        <p:nvSpPr>
          <p:cNvPr id="428" name="Shape 13"/>
          <p:cNvSpPr txBox="1"/>
          <p:nvPr/>
        </p:nvSpPr>
        <p:spPr>
          <a:xfrm>
            <a:off x="4368800" y="2882900"/>
            <a:ext cx="2336800" cy="533400"/>
          </a:xfrm>
          <a:prstGeom prst="rect">
            <a:avLst/>
          </a:prstGeom>
          <a:noFill/>
          <a:ln>
            <a:noFill/>
          </a:ln>
        </p:spPr>
        <p:txBody>
          <a:bodyPr wrap="square" lIns="0" tIns="0" rIns="0" bIns="0" rtlCol="0" anchor="t">
            <a:noAutofit/>
          </a:bodyPr>
          <a:lstStyle/>
          <a:p>
            <a:pPr>
              <a:spcBef>
                <a:spcPts val="0"/>
              </a:spcBef>
              <a:spcAft>
                <a:spcPts val="0"/>
              </a:spcAft>
              <a:buNone/>
            </a:pPr>
            <a:r>
              <a:rPr lang="en-US" sz="1200" dirty="0">
                <a:solidFill>
                  <a:srgbClr val="646464"/>
                </a:solidFill>
              </a:rPr>
              <a:t>Tests, MDT visits, adherence, warning signs</a:t>
            </a:r>
          </a:p>
        </p:txBody>
      </p:sp>
      <p:cxnSp>
        <p:nvCxnSpPr>
          <p:cNvPr id="429" name="Line 14"/>
          <p:cNvCxnSpPr/>
          <p:nvPr/>
        </p:nvCxnSpPr>
        <p:spPr>
          <a:xfrm>
            <a:off x="3759200" y="3479800"/>
            <a:ext cx="2946400" cy="0"/>
          </a:xfrm>
          <a:prstGeom prst="line">
            <a:avLst/>
          </a:prstGeom>
          <a:ln w="9525">
            <a:solidFill>
              <a:srgbClr val="D9DEE6"/>
            </a:solidFill>
          </a:ln>
        </p:spPr>
      </p:cxnSp>
      <p:sp>
        <p:nvSpPr>
          <p:cNvPr id="430" name="Shape 11"/>
          <p:cNvSpPr txBox="1"/>
          <p:nvPr/>
        </p:nvSpPr>
        <p:spPr>
          <a:xfrm>
            <a:off x="3759200" y="3530600"/>
            <a:ext cx="558800" cy="558800"/>
          </a:xfrm>
          <a:prstGeom prst="rect">
            <a:avLst/>
          </a:prstGeom>
          <a:noFill/>
          <a:ln>
            <a:noFill/>
          </a:ln>
        </p:spPr>
        <p:txBody>
          <a:bodyPr wrap="square" lIns="0" tIns="0" rIns="0" bIns="0" rtlCol="0" anchor="t">
            <a:noAutofit/>
          </a:bodyPr>
          <a:lstStyle/>
          <a:p>
            <a:pPr>
              <a:spcBef>
                <a:spcPts val="0"/>
              </a:spcBef>
              <a:spcAft>
                <a:spcPts val="0"/>
              </a:spcAft>
              <a:buNone/>
            </a:pPr>
            <a:r>
              <a:rPr lang="en-US" sz="2400" b="1" dirty="0">
                <a:solidFill>
                  <a:srgbClr val="28509C"/>
                </a:solidFill>
              </a:rPr>
              <a:t>07</a:t>
            </a:r>
          </a:p>
        </p:txBody>
      </p:sp>
      <p:sp>
        <p:nvSpPr>
          <p:cNvPr id="431" name="Shape 12"/>
          <p:cNvSpPr txBox="1"/>
          <p:nvPr/>
        </p:nvSpPr>
        <p:spPr>
          <a:xfrm>
            <a:off x="4368800" y="3556000"/>
            <a:ext cx="233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Living with MPS</a:t>
            </a:r>
          </a:p>
        </p:txBody>
      </p:sp>
      <p:sp>
        <p:nvSpPr>
          <p:cNvPr id="432" name="Shape 13"/>
          <p:cNvSpPr txBox="1"/>
          <p:nvPr/>
        </p:nvSpPr>
        <p:spPr>
          <a:xfrm>
            <a:off x="4368800" y="3873500"/>
            <a:ext cx="2336800" cy="533400"/>
          </a:xfrm>
          <a:prstGeom prst="rect">
            <a:avLst/>
          </a:prstGeom>
          <a:noFill/>
          <a:ln>
            <a:noFill/>
          </a:ln>
        </p:spPr>
        <p:txBody>
          <a:bodyPr wrap="square" lIns="0" tIns="0" rIns="0" bIns="0" rtlCol="0" anchor="t">
            <a:noAutofit/>
          </a:bodyPr>
          <a:lstStyle/>
          <a:p>
            <a:pPr>
              <a:spcBef>
                <a:spcPts val="0"/>
              </a:spcBef>
              <a:spcAft>
                <a:spcPts val="0"/>
              </a:spcAft>
              <a:buNone/>
            </a:pPr>
            <a:r>
              <a:rPr lang="en-US" sz="1200" dirty="0">
                <a:solidFill>
                  <a:srgbClr val="646464"/>
                </a:solidFill>
              </a:rPr>
              <a:t>Surgery safety, daily life, move to adult care</a:t>
            </a:r>
          </a:p>
        </p:txBody>
      </p:sp>
      <p:cxnSp>
        <p:nvCxnSpPr>
          <p:cNvPr id="433" name="Line 14"/>
          <p:cNvCxnSpPr/>
          <p:nvPr/>
        </p:nvCxnSpPr>
        <p:spPr>
          <a:xfrm>
            <a:off x="3759200" y="4470400"/>
            <a:ext cx="2946400" cy="0"/>
          </a:xfrm>
          <a:prstGeom prst="line">
            <a:avLst/>
          </a:prstGeom>
          <a:ln w="9525">
            <a:solidFill>
              <a:srgbClr val="D9DEE6"/>
            </a:solidFill>
          </a:ln>
        </p:spPr>
      </p:cxnSp>
      <p:sp>
        <p:nvSpPr>
          <p:cNvPr id="434" name="Shape 11"/>
          <p:cNvSpPr txBox="1"/>
          <p:nvPr/>
        </p:nvSpPr>
        <p:spPr>
          <a:xfrm>
            <a:off x="3759200" y="4521200"/>
            <a:ext cx="558800" cy="558800"/>
          </a:xfrm>
          <a:prstGeom prst="rect">
            <a:avLst/>
          </a:prstGeom>
          <a:noFill/>
          <a:ln>
            <a:noFill/>
          </a:ln>
        </p:spPr>
        <p:txBody>
          <a:bodyPr wrap="square" lIns="0" tIns="0" rIns="0" bIns="0" rtlCol="0" anchor="t">
            <a:noAutofit/>
          </a:bodyPr>
          <a:lstStyle/>
          <a:p>
            <a:pPr>
              <a:spcBef>
                <a:spcPts val="0"/>
              </a:spcBef>
              <a:spcAft>
                <a:spcPts val="0"/>
              </a:spcAft>
              <a:buNone/>
            </a:pPr>
            <a:r>
              <a:rPr lang="en-US" sz="2400" b="1" dirty="0">
                <a:solidFill>
                  <a:srgbClr val="28509C"/>
                </a:solidFill>
              </a:rPr>
              <a:t>08</a:t>
            </a:r>
          </a:p>
        </p:txBody>
      </p:sp>
      <p:sp>
        <p:nvSpPr>
          <p:cNvPr id="435" name="Shape 12"/>
          <p:cNvSpPr txBox="1"/>
          <p:nvPr/>
        </p:nvSpPr>
        <p:spPr>
          <a:xfrm>
            <a:off x="4368800" y="4546600"/>
            <a:ext cx="233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Pharmacovigilance</a:t>
            </a:r>
          </a:p>
        </p:txBody>
      </p:sp>
      <p:sp>
        <p:nvSpPr>
          <p:cNvPr id="436" name="Shape 13"/>
          <p:cNvSpPr txBox="1"/>
          <p:nvPr/>
        </p:nvSpPr>
        <p:spPr>
          <a:xfrm>
            <a:off x="4368800" y="4864100"/>
            <a:ext cx="2336800" cy="533400"/>
          </a:xfrm>
          <a:prstGeom prst="rect">
            <a:avLst/>
          </a:prstGeom>
          <a:noFill/>
          <a:ln>
            <a:noFill/>
          </a:ln>
        </p:spPr>
        <p:txBody>
          <a:bodyPr wrap="square" lIns="0" tIns="0" rIns="0" bIns="0" rtlCol="0" anchor="t">
            <a:noAutofit/>
          </a:bodyPr>
          <a:lstStyle/>
          <a:p>
            <a:pPr>
              <a:spcBef>
                <a:spcPts val="0"/>
              </a:spcBef>
              <a:spcAft>
                <a:spcPts val="0"/>
              </a:spcAft>
              <a:buNone/>
            </a:pPr>
            <a:r>
              <a:rPr lang="en-US" sz="1200" dirty="0">
                <a:solidFill>
                  <a:srgbClr val="646464"/>
                </a:solidFill>
              </a:rPr>
              <a:t>Reporting AEs, special situations, complaints</a:t>
            </a:r>
          </a:p>
        </p:txBody>
      </p:sp>
    </p:spTree>
    <p:extLst>
      <p:ext uri="{BB962C8B-B14F-4D97-AF65-F5344CB8AC3E}">
        <p14:creationId xmlns:p14="http://schemas.microsoft.com/office/powerpoint/2010/main" val="309303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Section number"/>
          <p:cNvSpPr txBox="1"/>
          <p:nvPr/>
        </p:nvSpPr>
        <p:spPr>
          <a:xfrm>
            <a:off x="914400" y="1625600"/>
            <a:ext cx="5334000" cy="1219200"/>
          </a:xfrm>
          <a:prstGeom prst="rect">
            <a:avLst/>
          </a:prstGeom>
          <a:noFill/>
          <a:ln>
            <a:noFill/>
          </a:ln>
        </p:spPr>
        <p:txBody>
          <a:bodyPr wrap="square" lIns="0" tIns="0" rIns="0" bIns="0" anchor="b">
            <a:noAutofit/>
          </a:bodyPr>
          <a:lstStyle/>
          <a:p>
            <a:pPr>
              <a:lnSpc>
                <a:spcPct val="100000"/>
              </a:lnSpc>
              <a:spcBef>
                <a:spcPts val="0"/>
              </a:spcBef>
              <a:buNone/>
            </a:pPr>
            <a:r>
              <a:rPr lang="en-GB" sz="8000" b="1" dirty="0">
                <a:solidFill>
                  <a:srgbClr val="9DB3D9"/>
                </a:solidFill>
              </a:rPr>
              <a:t>03</a:t>
            </a:r>
          </a:p>
        </p:txBody>
      </p:sp>
      <p:sp>
        <p:nvSpPr>
          <p:cNvPr id="403" name="Title"/>
          <p:cNvSpPr>
            <a:spLocks noGrp="1"/>
          </p:cNvSpPr>
          <p:nvPr>
            <p:ph type="title"/>
          </p:nvPr>
        </p:nvSpPr>
        <p:spPr>
          <a:xfrm>
            <a:off x="914400" y="3327400"/>
            <a:ext cx="5588000" cy="812800"/>
          </a:xfrm>
        </p:spPr>
        <p:txBody>
          <a:bodyPr wrap="square" lIns="0" tIns="0" rIns="0" bIns="0" anchor="t">
            <a:normAutofit/>
          </a:bodyPr>
          <a:lstStyle/>
          <a:p>
            <a:pPr algn="l"/>
            <a:r>
              <a:rPr lang="en-GB" sz="4400" b="1" dirty="0">
                <a:solidFill>
                  <a:srgbClr val="FFFFFF"/>
                </a:solidFill>
              </a:rPr>
              <a:t>Understanding MPS</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lnSpc>
                <a:spcPct val="100000"/>
              </a:lnSpc>
              <a:spcBef>
                <a:spcPts val="0"/>
              </a:spcBef>
              <a:buNone/>
            </a:pPr>
            <a:r>
              <a:rPr lang="en-GB" sz="1800" dirty="0">
                <a:solidFill>
                  <a:srgbClr val="C9D5EA"/>
                </a:solidFill>
              </a:rPr>
              <a:t>What families need to understand after the diagnosis</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lnSpc>
                <a:spcPct val="100000"/>
              </a:lnSpc>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What MPS is</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How MPS is inherited</a:t>
            </a:r>
          </a:p>
        </p:txBody>
      </p:sp>
      <p:cxnSp>
        <p:nvCxnSpPr>
          <p:cNvPr id="410" name="Divider"/>
          <p:cNvCxnSpPr/>
          <p:nvPr/>
        </p:nvCxnSpPr>
        <p:spPr>
          <a:xfrm>
            <a:off x="7620000" y="3302000"/>
            <a:ext cx="4064000" cy="0"/>
          </a:xfrm>
          <a:prstGeom prst="line">
            <a:avLst/>
          </a:prstGeom>
          <a:ln w="9525">
            <a:solidFill>
              <a:srgbClr val="3E5C80"/>
            </a:solidFill>
          </a:ln>
        </p:spPr>
      </p:cxnSp>
      <p:sp>
        <p:nvSpPr>
          <p:cNvPr id="411" name="Item 3"/>
          <p:cNvSpPr txBox="1"/>
          <p:nvPr/>
        </p:nvSpPr>
        <p:spPr>
          <a:xfrm>
            <a:off x="7620000" y="3302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Organ systems affected</a:t>
            </a:r>
          </a:p>
        </p:txBody>
      </p:sp>
      <p:cxnSp>
        <p:nvCxnSpPr>
          <p:cNvPr id="412" name="Divider"/>
          <p:cNvCxnSpPr/>
          <p:nvPr/>
        </p:nvCxnSpPr>
        <p:spPr>
          <a:xfrm>
            <a:off x="7620000" y="3937000"/>
            <a:ext cx="4064000" cy="0"/>
          </a:xfrm>
          <a:prstGeom prst="line">
            <a:avLst/>
          </a:prstGeom>
          <a:ln w="9525">
            <a:solidFill>
              <a:srgbClr val="3E5C80"/>
            </a:solidFill>
          </a:ln>
        </p:spPr>
      </p:cxnSp>
      <p:sp>
        <p:nvSpPr>
          <p:cNvPr id="413" name="Item 4"/>
          <p:cNvSpPr txBox="1"/>
          <p:nvPr/>
        </p:nvSpPr>
        <p:spPr>
          <a:xfrm>
            <a:off x="7620000" y="3937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MPS IVA (Morquio A)</a:t>
            </a:r>
          </a:p>
        </p:txBody>
      </p:sp>
      <p:cxnSp>
        <p:nvCxnSpPr>
          <p:cNvPr id="414" name="Divider"/>
          <p:cNvCxnSpPr/>
          <p:nvPr/>
        </p:nvCxnSpPr>
        <p:spPr>
          <a:xfrm>
            <a:off x="7620000" y="4572000"/>
            <a:ext cx="4064000" cy="0"/>
          </a:xfrm>
          <a:prstGeom prst="line">
            <a:avLst/>
          </a:prstGeom>
          <a:ln w="9525">
            <a:solidFill>
              <a:srgbClr val="3E5C80"/>
            </a:solidFill>
          </a:ln>
        </p:spPr>
      </p:cxnSp>
      <p:sp>
        <p:nvSpPr>
          <p:cNvPr id="415" name="Item 5"/>
          <p:cNvSpPr txBox="1"/>
          <p:nvPr/>
        </p:nvSpPr>
        <p:spPr>
          <a:xfrm>
            <a:off x="7620000" y="4572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MPS VI (Maroteaux-Lamy)</a:t>
            </a:r>
          </a:p>
        </p:txBody>
      </p:sp>
    </p:spTree>
    <p:extLst>
      <p:ext uri="{BB962C8B-B14F-4D97-AF65-F5344CB8AC3E}">
        <p14:creationId xmlns:p14="http://schemas.microsoft.com/office/powerpoint/2010/main" val="341251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Image frame"/>
          <p:cNvSpPr/>
          <p:nvPr/>
        </p:nvSpPr>
        <p:spPr>
          <a:xfrm>
            <a:off x="660400" y="1524000"/>
            <a:ext cx="5689600" cy="2235200"/>
          </a:xfrm>
          <a:prstGeom prst="roundRect">
            <a:avLst>
              <a:gd name="adj" fmla="val 5114"/>
            </a:avLst>
          </a:prstGeom>
          <a:solidFill>
            <a:srgbClr val="FFFFFF"/>
          </a:solidFill>
          <a:ln w="9525">
            <a:noFill/>
          </a:ln>
        </p:spPr>
        <p:txBody>
          <a:bodyPr wrap="square" lIns="0" tIns="0" rIns="0" bIns="0" rtlCol="0" anchor="t">
            <a:noAutofit/>
          </a:bodyPr>
          <a:lstStyle/>
          <a:p>
            <a:endParaRPr lang="en-US" dirty="0"/>
          </a:p>
        </p:txBody>
      </p:sp>
      <p:pic>
        <p:nvPicPr>
          <p:cNvPr id="4099" name="Picture 3" descr="page11image29204192">
            <a:extLst>
              <a:ext uri="{FF2B5EF4-FFF2-40B4-BE49-F238E27FC236}">
                <a16:creationId xmlns:a16="http://schemas.microsoft.com/office/drawing/2014/main" id="{C2B0877B-3801-8940-9323-6DDE9C76D7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800" y="1701800"/>
            <a:ext cx="2844800" cy="18732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age11image29203568">
            <a:extLst>
              <a:ext uri="{FF2B5EF4-FFF2-40B4-BE49-F238E27FC236}">
                <a16:creationId xmlns:a16="http://schemas.microsoft.com/office/drawing/2014/main" id="{44A4C5AA-A8D9-EA49-B7B3-37B55ACA30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625600"/>
            <a:ext cx="1981200" cy="1809750"/>
          </a:xfrm>
          <a:prstGeom prst="rect">
            <a:avLst/>
          </a:prstGeom>
          <a:noFill/>
          <a:extLst>
            <a:ext uri="{909E8E84-426E-40DD-AFC4-6F175D3DCCD1}">
              <a14:hiddenFill xmlns:a14="http://schemas.microsoft.com/office/drawing/2010/main">
                <a:solidFill>
                  <a:srgbClr val="FFFFFF"/>
                </a:solidFill>
              </a14:hiddenFill>
            </a:ext>
          </a:extLst>
        </p:spPr>
      </p:pic>
      <p:sp>
        <p:nvSpPr>
          <p:cNvPr id="201"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Understanding MPS</a:t>
            </a:r>
          </a:p>
        </p:txBody>
      </p:sp>
      <p:sp>
        <p:nvSpPr>
          <p:cNvPr id="202" name="Title"/>
          <p:cNvSpPr>
            <a:spLocks noGrp="1"/>
          </p:cNvSpPr>
          <p:nvPr>
            <p:ph type="title"/>
          </p:nvPr>
        </p:nvSpPr>
        <p:spPr>
          <a:xfrm>
            <a:off x="660400" y="444500"/>
            <a:ext cx="10871200" cy="889000"/>
          </a:xfrm>
        </p:spPr>
        <p:txBody>
          <a:bodyPr wrap="square" lIns="0" tIns="0" rIns="0" bIns="0" rtlCol="0" anchor="t">
            <a:noAutofit/>
          </a:bodyPr>
          <a:lstStyle/>
          <a:p>
            <a:pPr>
              <a:spcBef>
                <a:spcPts val="0"/>
              </a:spcBef>
              <a:spcAft>
                <a:spcPts val="0"/>
              </a:spcAft>
              <a:buNone/>
            </a:pPr>
            <a:r>
              <a:rPr lang="en-US"/>
              <a:t>Lysosomal storage disorders (LSDs)</a:t>
            </a:r>
            <a:endParaRPr lang="en-US" dirty="0"/>
          </a:p>
        </p:txBody>
      </p:sp>
      <p:sp>
        <p:nvSpPr>
          <p:cNvPr id="203" name="Box 203"/>
          <p:cNvSpPr/>
          <p:nvPr/>
        </p:nvSpPr>
        <p:spPr>
          <a:xfrm>
            <a:off x="660400" y="3886200"/>
            <a:ext cx="5689600" cy="711200"/>
          </a:xfrm>
          <a:prstGeom prst="roundRect">
            <a:avLst>
              <a:gd name="adj" fmla="val 16071"/>
            </a:avLst>
          </a:prstGeom>
          <a:solidFill>
            <a:srgbClr val="F1F4F9"/>
          </a:solidFill>
          <a:ln>
            <a:noFill/>
          </a:ln>
        </p:spPr>
        <p:txBody>
          <a:bodyPr wrap="square" lIns="0" tIns="0" rIns="0" bIns="0" rtlCol="0" anchor="t">
            <a:noAutofit/>
          </a:bodyPr>
          <a:lstStyle/>
          <a:p>
            <a:endParaRPr lang="en-US" dirty="0"/>
          </a:p>
        </p:txBody>
      </p:sp>
      <p:sp>
        <p:nvSpPr>
          <p:cNvPr id="205" name="Box 205"/>
          <p:cNvSpPr txBox="1"/>
          <p:nvPr/>
        </p:nvSpPr>
        <p:spPr>
          <a:xfrm>
            <a:off x="838200" y="3962400"/>
            <a:ext cx="5384800" cy="5588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What a lysosome does: </a:t>
            </a:r>
            <a:r>
              <a:rPr lang="en-US" sz="1400" dirty="0">
                <a:solidFill>
                  <a:srgbClr val="2B2B2B"/>
                </a:solidFill>
              </a:rPr>
              <a:t>an organelle whose digestive enzymes break down worn-out cell parts and destroy invading microbes</a:t>
            </a:r>
          </a:p>
        </p:txBody>
      </p:sp>
      <p:sp>
        <p:nvSpPr>
          <p:cNvPr id="206" name="Box 206"/>
          <p:cNvSpPr/>
          <p:nvPr/>
        </p:nvSpPr>
        <p:spPr>
          <a:xfrm>
            <a:off x="660400" y="4699000"/>
            <a:ext cx="5689600" cy="660400"/>
          </a:xfrm>
          <a:prstGeom prst="roundRect">
            <a:avLst>
              <a:gd name="adj" fmla="val 17308"/>
            </a:avLst>
          </a:prstGeom>
          <a:solidFill>
            <a:srgbClr val="F1F4F9"/>
          </a:solidFill>
          <a:ln>
            <a:noFill/>
          </a:ln>
        </p:spPr>
        <p:txBody>
          <a:bodyPr wrap="square" lIns="0" tIns="0" rIns="0" bIns="0" rtlCol="0" anchor="t">
            <a:noAutofit/>
          </a:bodyPr>
          <a:lstStyle/>
          <a:p>
            <a:endParaRPr lang="en-US" dirty="0"/>
          </a:p>
        </p:txBody>
      </p:sp>
      <p:sp>
        <p:nvSpPr>
          <p:cNvPr id="208" name="Box 208"/>
          <p:cNvSpPr txBox="1"/>
          <p:nvPr/>
        </p:nvSpPr>
        <p:spPr>
          <a:xfrm>
            <a:off x="838200" y="4775200"/>
            <a:ext cx="5384800" cy="508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When lysosomes fail: </a:t>
            </a:r>
            <a:r>
              <a:rPr lang="en-US" sz="1400" dirty="0">
                <a:solidFill>
                  <a:srgbClr val="2B2B2B"/>
                </a:solidFill>
              </a:rPr>
              <a:t>in most LSDs, undegraded waste cannot be removed from cells</a:t>
            </a:r>
            <a:r>
              <a:rPr lang="en-US" sz="1400" baseline="30000" dirty="0">
                <a:solidFill>
                  <a:srgbClr val="2B2B2B"/>
                </a:solidFill>
              </a:rPr>
              <a:t>1,2</a:t>
            </a:r>
          </a:p>
        </p:txBody>
      </p:sp>
      <p:sp>
        <p:nvSpPr>
          <p:cNvPr id="209" name="Box 209"/>
          <p:cNvSpPr txBox="1"/>
          <p:nvPr/>
        </p:nvSpPr>
        <p:spPr>
          <a:xfrm>
            <a:off x="6604000" y="1524000"/>
            <a:ext cx="4927600" cy="48260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002E56"/>
                </a:solidFill>
              </a:rPr>
              <a:t>~50 LSDs affect the skeleton, brain, skin, heart and nervous system</a:t>
            </a:r>
            <a:r>
              <a:rPr lang="en-US" sz="1400" baseline="30000" dirty="0">
                <a:solidFill>
                  <a:srgbClr val="2B2B2B"/>
                </a:solidFill>
              </a:rPr>
              <a:t>4</a:t>
            </a:r>
          </a:p>
        </p:txBody>
      </p:sp>
      <p:sp>
        <p:nvSpPr>
          <p:cNvPr id="210" name="Box 210"/>
          <p:cNvSpPr/>
          <p:nvPr/>
        </p:nvSpPr>
        <p:spPr>
          <a:xfrm>
            <a:off x="6604000" y="2082800"/>
            <a:ext cx="4927600" cy="736600"/>
          </a:xfrm>
          <a:prstGeom prst="roundRect">
            <a:avLst>
              <a:gd name="adj" fmla="val 15517"/>
            </a:avLst>
          </a:prstGeom>
          <a:solidFill>
            <a:srgbClr val="F1F4F9"/>
          </a:solidFill>
          <a:ln>
            <a:noFill/>
          </a:ln>
        </p:spPr>
        <p:txBody>
          <a:bodyPr wrap="square" lIns="0" tIns="0" rIns="0" bIns="0" rtlCol="0" anchor="t">
            <a:noAutofit/>
          </a:bodyPr>
          <a:lstStyle/>
          <a:p>
            <a:endParaRPr lang="en-US" dirty="0"/>
          </a:p>
        </p:txBody>
      </p:sp>
      <p:sp>
        <p:nvSpPr>
          <p:cNvPr id="212" name="Box 212"/>
          <p:cNvSpPr txBox="1"/>
          <p:nvPr/>
        </p:nvSpPr>
        <p:spPr>
          <a:xfrm>
            <a:off x="6781800" y="2159000"/>
            <a:ext cx="4622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Batten disease</a:t>
            </a:r>
          </a:p>
          <a:p>
            <a:pPr>
              <a:spcBef>
                <a:spcPts val="0"/>
              </a:spcBef>
              <a:spcAft>
                <a:spcPts val="0"/>
              </a:spcAft>
              <a:buNone/>
            </a:pPr>
            <a:r>
              <a:rPr lang="en-US" sz="1400" dirty="0">
                <a:solidFill>
                  <a:srgbClr val="2B2B2B"/>
                </a:solidFill>
              </a:rPr>
              <a:t>progressive neurological disorder; a form of NCL</a:t>
            </a:r>
            <a:r>
              <a:rPr lang="en-US" sz="1400" baseline="30000" dirty="0">
                <a:solidFill>
                  <a:srgbClr val="2B2B2B"/>
                </a:solidFill>
              </a:rPr>
              <a:t>4</a:t>
            </a:r>
          </a:p>
        </p:txBody>
      </p:sp>
      <p:sp>
        <p:nvSpPr>
          <p:cNvPr id="213" name="Box 213"/>
          <p:cNvSpPr/>
          <p:nvPr/>
        </p:nvSpPr>
        <p:spPr>
          <a:xfrm>
            <a:off x="6604000" y="2908300"/>
            <a:ext cx="4927600" cy="736600"/>
          </a:xfrm>
          <a:prstGeom prst="roundRect">
            <a:avLst>
              <a:gd name="adj" fmla="val 15517"/>
            </a:avLst>
          </a:prstGeom>
          <a:solidFill>
            <a:srgbClr val="F1F4F9"/>
          </a:solidFill>
          <a:ln>
            <a:noFill/>
          </a:ln>
        </p:spPr>
        <p:txBody>
          <a:bodyPr wrap="square" lIns="0" tIns="0" rIns="0" bIns="0" rtlCol="0" anchor="t">
            <a:noAutofit/>
          </a:bodyPr>
          <a:lstStyle/>
          <a:p>
            <a:endParaRPr lang="en-US" dirty="0"/>
          </a:p>
        </p:txBody>
      </p:sp>
      <p:sp>
        <p:nvSpPr>
          <p:cNvPr id="215" name="Box 215"/>
          <p:cNvSpPr txBox="1"/>
          <p:nvPr/>
        </p:nvSpPr>
        <p:spPr>
          <a:xfrm>
            <a:off x="6781800" y="2984500"/>
            <a:ext cx="4622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Fabry disease</a:t>
            </a:r>
          </a:p>
          <a:p>
            <a:pPr>
              <a:spcBef>
                <a:spcPts val="0"/>
              </a:spcBef>
              <a:spcAft>
                <a:spcPts val="0"/>
              </a:spcAft>
              <a:buNone/>
            </a:pPr>
            <a:r>
              <a:rPr lang="en-US" sz="1400" dirty="0">
                <a:solidFill>
                  <a:srgbClr val="2B2B2B"/>
                </a:solidFill>
              </a:rPr>
              <a:t>GLA gene mutations; alpha-galactosidase A is deficient</a:t>
            </a:r>
            <a:r>
              <a:rPr lang="en-US" sz="1400" baseline="30000" dirty="0">
                <a:solidFill>
                  <a:srgbClr val="2B2B2B"/>
                </a:solidFill>
              </a:rPr>
              <a:t>5</a:t>
            </a:r>
          </a:p>
        </p:txBody>
      </p:sp>
      <p:sp>
        <p:nvSpPr>
          <p:cNvPr id="216" name="Box 216"/>
          <p:cNvSpPr/>
          <p:nvPr/>
        </p:nvSpPr>
        <p:spPr>
          <a:xfrm>
            <a:off x="6604000" y="3733800"/>
            <a:ext cx="4927600" cy="736600"/>
          </a:xfrm>
          <a:prstGeom prst="roundRect">
            <a:avLst>
              <a:gd name="adj" fmla="val 15517"/>
            </a:avLst>
          </a:prstGeom>
          <a:solidFill>
            <a:srgbClr val="F1F4F9"/>
          </a:solidFill>
          <a:ln>
            <a:noFill/>
          </a:ln>
        </p:spPr>
        <p:txBody>
          <a:bodyPr wrap="square" lIns="0" tIns="0" rIns="0" bIns="0" rtlCol="0" anchor="t">
            <a:noAutofit/>
          </a:bodyPr>
          <a:lstStyle/>
          <a:p>
            <a:endParaRPr lang="en-US" dirty="0"/>
          </a:p>
        </p:txBody>
      </p:sp>
      <p:sp>
        <p:nvSpPr>
          <p:cNvPr id="218" name="Box 218"/>
          <p:cNvSpPr txBox="1"/>
          <p:nvPr/>
        </p:nvSpPr>
        <p:spPr>
          <a:xfrm>
            <a:off x="6781800" y="3810000"/>
            <a:ext cx="4622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Gaucher disease (types I–III)</a:t>
            </a:r>
          </a:p>
          <a:p>
            <a:pPr>
              <a:spcBef>
                <a:spcPts val="0"/>
              </a:spcBef>
              <a:spcAft>
                <a:spcPts val="0"/>
              </a:spcAft>
              <a:buNone/>
            </a:pPr>
            <a:r>
              <a:rPr lang="en-US" sz="1400" dirty="0">
                <a:solidFill>
                  <a:srgbClr val="2B2B2B"/>
                </a:solidFill>
              </a:rPr>
              <a:t>GBA gene mutations; beta-glucocerebrosidase is deficient</a:t>
            </a:r>
            <a:r>
              <a:rPr lang="en-US" sz="1400" baseline="30000" dirty="0">
                <a:solidFill>
                  <a:srgbClr val="2B2B2B"/>
                </a:solidFill>
              </a:rPr>
              <a:t>6</a:t>
            </a:r>
          </a:p>
        </p:txBody>
      </p:sp>
      <p:sp>
        <p:nvSpPr>
          <p:cNvPr id="219" name="Box 219"/>
          <p:cNvSpPr/>
          <p:nvPr/>
        </p:nvSpPr>
        <p:spPr>
          <a:xfrm>
            <a:off x="6604000" y="4559300"/>
            <a:ext cx="4927600" cy="736600"/>
          </a:xfrm>
          <a:prstGeom prst="roundRect">
            <a:avLst>
              <a:gd name="adj" fmla="val 15517"/>
            </a:avLst>
          </a:prstGeom>
          <a:solidFill>
            <a:srgbClr val="E3EAF5"/>
          </a:solidFill>
          <a:ln>
            <a:noFill/>
          </a:ln>
        </p:spPr>
        <p:txBody>
          <a:bodyPr wrap="square" lIns="0" tIns="0" rIns="0" bIns="0" rtlCol="0" anchor="t">
            <a:noAutofit/>
          </a:bodyPr>
          <a:lstStyle/>
          <a:p>
            <a:endParaRPr lang="en-US" dirty="0"/>
          </a:p>
        </p:txBody>
      </p:sp>
      <p:sp>
        <p:nvSpPr>
          <p:cNvPr id="221" name="Box 221"/>
          <p:cNvSpPr txBox="1"/>
          <p:nvPr/>
        </p:nvSpPr>
        <p:spPr>
          <a:xfrm>
            <a:off x="6781800" y="4635500"/>
            <a:ext cx="4622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28509C"/>
                </a:solidFill>
              </a:rPr>
              <a:t>Mucopolysaccharidosis (MPS)</a:t>
            </a:r>
          </a:p>
          <a:p>
            <a:pPr>
              <a:spcBef>
                <a:spcPts val="0"/>
              </a:spcBef>
              <a:spcAft>
                <a:spcPts val="0"/>
              </a:spcAft>
              <a:buNone/>
            </a:pPr>
            <a:r>
              <a:rPr lang="en-US" sz="1400" dirty="0">
                <a:solidFill>
                  <a:srgbClr val="2B2B2B"/>
                </a:solidFill>
              </a:rPr>
              <a:t>one of the enzymes that degrade GAGs is deficient</a:t>
            </a:r>
            <a:r>
              <a:rPr lang="en-US" sz="1400" baseline="30000" dirty="0">
                <a:solidFill>
                  <a:srgbClr val="2B2B2B"/>
                </a:solidFill>
              </a:rPr>
              <a:t>3</a:t>
            </a:r>
          </a:p>
        </p:txBody>
      </p:sp>
      <p:sp>
        <p:nvSpPr>
          <p:cNvPr id="222"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GAG, glycosaminoglycan; GBA, glucosylceramidase beta; GLA, galactosidase alpha; LSD, lysosomal storage disorder; MPS, mucopolysaccharidosis; NCL, neuronal ceroid lipofuscinosis</a:t>
            </a:r>
          </a:p>
        </p:txBody>
      </p:sp>
      <p:sp>
        <p:nvSpPr>
          <p:cNvPr id="223" name="References"/>
          <p:cNvSpPr txBox="1"/>
          <p:nvPr/>
        </p:nvSpPr>
        <p:spPr>
          <a:xfrm>
            <a:off x="660400" y="60452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Staretz-Chacham O et al. Pediatrics 2009;123:1191–207. 2. Heese BA. Semin Pediatr Neurol 2008;15:119–26. 3. Muenzer J. Rheumatology (Oxford) 2011;50(Suppl 5):v4–12. 4. Platt FM et al. Nat Rev Dis Primers 2018;4:27. 5. Germain DP. Orphanet J Rare Dis 2010;5:30. 6. Stirnemann J et al. Int J Mol Sci 2017;18:441.</a:t>
            </a:r>
          </a:p>
        </p:txBody>
      </p:sp>
    </p:spTree>
    <p:extLst>
      <p:ext uri="{BB962C8B-B14F-4D97-AF65-F5344CB8AC3E}">
        <p14:creationId xmlns:p14="http://schemas.microsoft.com/office/powerpoint/2010/main" val="91531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Understanding MPS</a:t>
            </a:r>
          </a:p>
        </p:txBody>
      </p:sp>
      <p:sp>
        <p:nvSpPr>
          <p:cNvPr id="201" name="Title"/>
          <p:cNvSpPr>
            <a:spLocks noGrp="1"/>
          </p:cNvSpPr>
          <p:nvPr>
            <p:ph type="title"/>
          </p:nvPr>
        </p:nvSpPr>
        <p:spPr>
          <a:xfrm>
            <a:off x="660400" y="444500"/>
            <a:ext cx="10871200" cy="889000"/>
          </a:xfrm>
        </p:spPr>
        <p:txBody>
          <a:bodyPr wrap="square" lIns="0" tIns="0" rIns="0" bIns="0" rtlCol="0" anchor="t">
            <a:noAutofit/>
          </a:bodyPr>
          <a:lstStyle/>
          <a:p>
            <a:pPr>
              <a:spcBef>
                <a:spcPts val="0"/>
              </a:spcBef>
              <a:spcAft>
                <a:spcPts val="0"/>
              </a:spcAft>
              <a:buNone/>
            </a:pPr>
            <a:r>
              <a:rPr lang="en-US"/>
              <a:t>MPS and glycosaminoglycans (GAGs)</a:t>
            </a:r>
            <a:endParaRPr lang="en-US" dirty="0"/>
          </a:p>
        </p:txBody>
      </p:sp>
      <p:sp>
        <p:nvSpPr>
          <p:cNvPr id="202" name="Box"/>
          <p:cNvSpPr/>
          <p:nvPr/>
        </p:nvSpPr>
        <p:spPr>
          <a:xfrm>
            <a:off x="660400" y="1549400"/>
            <a:ext cx="5334000" cy="1168400"/>
          </a:xfrm>
          <a:prstGeom prst="roundRect">
            <a:avLst>
              <a:gd name="adj" fmla="val 9783"/>
            </a:avLst>
          </a:prstGeom>
          <a:solidFill>
            <a:srgbClr val="E3EAF5"/>
          </a:solidFill>
          <a:ln>
            <a:noFill/>
          </a:ln>
        </p:spPr>
        <p:txBody>
          <a:bodyPr wrap="square" lIns="0" tIns="0" rIns="0" bIns="0" rtlCol="0" anchor="t">
            <a:noAutofit/>
          </a:bodyPr>
          <a:lstStyle/>
          <a:p>
            <a:endParaRPr lang="en-US" dirty="0"/>
          </a:p>
        </p:txBody>
      </p:sp>
      <p:sp>
        <p:nvSpPr>
          <p:cNvPr id="204" name="Box"/>
          <p:cNvSpPr txBox="1"/>
          <p:nvPr/>
        </p:nvSpPr>
        <p:spPr>
          <a:xfrm>
            <a:off x="838200" y="1676400"/>
            <a:ext cx="5003800" cy="9144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28509C"/>
                </a:solidFill>
              </a:rPr>
              <a:t>Mucopolysaccharidoses (MPS)</a:t>
            </a:r>
          </a:p>
          <a:p>
            <a:pPr>
              <a:spcBef>
                <a:spcPts val="300"/>
              </a:spcBef>
              <a:spcAft>
                <a:spcPts val="0"/>
              </a:spcAft>
              <a:buNone/>
            </a:pPr>
            <a:r>
              <a:rPr lang="en-US" sz="1400" dirty="0">
                <a:solidFill>
                  <a:srgbClr val="2B2B2B"/>
                </a:solidFill>
              </a:rPr>
              <a:t>A group of metabolic disorders in which GAGs accumulate because an enzyme that degrades them is deficient</a:t>
            </a:r>
          </a:p>
        </p:txBody>
      </p:sp>
      <p:sp>
        <p:nvSpPr>
          <p:cNvPr id="205" name="Box"/>
          <p:cNvSpPr/>
          <p:nvPr/>
        </p:nvSpPr>
        <p:spPr>
          <a:xfrm>
            <a:off x="660400" y="2844800"/>
            <a:ext cx="5334000" cy="2616200"/>
          </a:xfrm>
          <a:prstGeom prst="roundRect">
            <a:avLst>
              <a:gd name="adj" fmla="val 4369"/>
            </a:avLst>
          </a:prstGeom>
          <a:solidFill>
            <a:srgbClr val="F1F4F9"/>
          </a:solidFill>
          <a:ln>
            <a:noFill/>
          </a:ln>
        </p:spPr>
        <p:txBody>
          <a:bodyPr wrap="square" lIns="0" tIns="0" rIns="0" bIns="0" rtlCol="0" anchor="t">
            <a:noAutofit/>
          </a:bodyPr>
          <a:lstStyle/>
          <a:p>
            <a:endParaRPr lang="en-US" dirty="0"/>
          </a:p>
        </p:txBody>
      </p:sp>
      <p:sp>
        <p:nvSpPr>
          <p:cNvPr id="207" name="Box"/>
          <p:cNvSpPr txBox="1"/>
          <p:nvPr/>
        </p:nvSpPr>
        <p:spPr>
          <a:xfrm>
            <a:off x="838200" y="2971800"/>
            <a:ext cx="5003800" cy="236220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002E56"/>
                </a:solidFill>
              </a:rPr>
              <a:t>What GAGs are</a:t>
            </a:r>
          </a:p>
          <a:p>
            <a:pPr>
              <a:spcBef>
                <a:spcPts val="400"/>
              </a:spcBef>
              <a:spcAft>
                <a:spcPts val="0"/>
              </a:spcAft>
              <a:buNone/>
            </a:pPr>
            <a:r>
              <a:rPr lang="en-US" sz="1400" dirty="0">
                <a:solidFill>
                  <a:srgbClr val="2B2B2B"/>
                </a:solidFill>
              </a:rPr>
              <a:t>Long, unbranched polysaccharide chains of repeating disaccharide units, found throughout the body</a:t>
            </a:r>
          </a:p>
          <a:p>
            <a:pPr>
              <a:spcBef>
                <a:spcPts val="400"/>
              </a:spcBef>
              <a:spcAft>
                <a:spcPts val="0"/>
              </a:spcAft>
              <a:buNone/>
            </a:pPr>
            <a:r>
              <a:rPr lang="en-US" sz="1400" dirty="0">
                <a:solidFill>
                  <a:srgbClr val="2B2B2B"/>
                </a:solidFill>
              </a:rPr>
              <a:t>Components of proteoglycans that regulate many cell processes</a:t>
            </a:r>
            <a:r>
              <a:rPr lang="en-US" sz="1400" baseline="30000" dirty="0">
                <a:solidFill>
                  <a:srgbClr val="2B2B2B"/>
                </a:solidFill>
              </a:rPr>
              <a:t>1</a:t>
            </a:r>
          </a:p>
          <a:p>
            <a:pPr>
              <a:spcBef>
                <a:spcPts val="400"/>
              </a:spcBef>
              <a:spcAft>
                <a:spcPts val="0"/>
              </a:spcAft>
              <a:buNone/>
            </a:pPr>
            <a:r>
              <a:rPr lang="en-US" sz="1400" dirty="0">
                <a:solidFill>
                  <a:srgbClr val="2B2B2B"/>
                </a:solidFill>
              </a:rPr>
              <a:t>Highly polar and water-attracting, so they act as lubricants and shock absorbers</a:t>
            </a:r>
          </a:p>
        </p:txBody>
      </p:sp>
      <p:sp>
        <p:nvSpPr>
          <p:cNvPr id="208" name="Box"/>
          <p:cNvSpPr txBox="1"/>
          <p:nvPr/>
        </p:nvSpPr>
        <p:spPr>
          <a:xfrm>
            <a:off x="6299200" y="1549400"/>
            <a:ext cx="52324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002E56"/>
                </a:solidFill>
              </a:rPr>
              <a:t>Four GAG chains build up in MPS, each in different tissues</a:t>
            </a:r>
            <a:r>
              <a:rPr lang="en-US" sz="1400" baseline="30000" dirty="0">
                <a:solidFill>
                  <a:srgbClr val="2B2B2B"/>
                </a:solidFill>
              </a:rPr>
              <a:t>1</a:t>
            </a:r>
          </a:p>
        </p:txBody>
      </p:sp>
      <p:sp>
        <p:nvSpPr>
          <p:cNvPr id="209" name="Box"/>
          <p:cNvSpPr/>
          <p:nvPr/>
        </p:nvSpPr>
        <p:spPr>
          <a:xfrm>
            <a:off x="6299200" y="1955800"/>
            <a:ext cx="5232400" cy="787400"/>
          </a:xfrm>
          <a:prstGeom prst="roundRect">
            <a:avLst>
              <a:gd name="adj" fmla="val 14516"/>
            </a:avLst>
          </a:prstGeom>
          <a:solidFill>
            <a:srgbClr val="F1F4F9"/>
          </a:solidFill>
          <a:ln>
            <a:noFill/>
          </a:ln>
        </p:spPr>
        <p:txBody>
          <a:bodyPr wrap="square" lIns="0" tIns="0" rIns="0" bIns="0" rtlCol="0" anchor="t">
            <a:noAutofit/>
          </a:bodyPr>
          <a:lstStyle/>
          <a:p>
            <a:endParaRPr lang="en-US" dirty="0"/>
          </a:p>
        </p:txBody>
      </p:sp>
      <p:sp>
        <p:nvSpPr>
          <p:cNvPr id="210" name="Box"/>
          <p:cNvSpPr/>
          <p:nvPr/>
        </p:nvSpPr>
        <p:spPr>
          <a:xfrm>
            <a:off x="6299200" y="1955800"/>
            <a:ext cx="787400" cy="787400"/>
          </a:xfrm>
          <a:prstGeom prst="roundRect">
            <a:avLst>
              <a:gd name="adj" fmla="val 14516"/>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800" b="1" dirty="0">
                <a:solidFill>
                  <a:srgbClr val="FFFFFF"/>
                </a:solidFill>
              </a:rPr>
              <a:t>HS</a:t>
            </a:r>
          </a:p>
        </p:txBody>
      </p:sp>
      <p:sp>
        <p:nvSpPr>
          <p:cNvPr id="211" name="Box"/>
          <p:cNvSpPr txBox="1"/>
          <p:nvPr/>
        </p:nvSpPr>
        <p:spPr>
          <a:xfrm>
            <a:off x="7264400" y="2057400"/>
            <a:ext cx="4140200" cy="609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Heparan sulfate</a:t>
            </a:r>
          </a:p>
          <a:p>
            <a:pPr>
              <a:spcBef>
                <a:spcPts val="0"/>
              </a:spcBef>
              <a:spcAft>
                <a:spcPts val="0"/>
              </a:spcAft>
              <a:buNone/>
            </a:pPr>
            <a:r>
              <a:rPr lang="en-US" sz="1400" dirty="0">
                <a:solidFill>
                  <a:srgbClr val="2B2B2B"/>
                </a:solidFill>
              </a:rPr>
              <a:t>Connective tissue; buildup affects the brain</a:t>
            </a:r>
          </a:p>
        </p:txBody>
      </p:sp>
      <p:sp>
        <p:nvSpPr>
          <p:cNvPr id="212" name="Box"/>
          <p:cNvSpPr/>
          <p:nvPr/>
        </p:nvSpPr>
        <p:spPr>
          <a:xfrm>
            <a:off x="6299200" y="2844800"/>
            <a:ext cx="5232400" cy="787400"/>
          </a:xfrm>
          <a:prstGeom prst="roundRect">
            <a:avLst>
              <a:gd name="adj" fmla="val 14516"/>
            </a:avLst>
          </a:prstGeom>
          <a:solidFill>
            <a:srgbClr val="F1F4F9"/>
          </a:solidFill>
          <a:ln>
            <a:noFill/>
          </a:ln>
        </p:spPr>
        <p:txBody>
          <a:bodyPr wrap="square" lIns="0" tIns="0" rIns="0" bIns="0" rtlCol="0" anchor="t">
            <a:noAutofit/>
          </a:bodyPr>
          <a:lstStyle/>
          <a:p>
            <a:endParaRPr lang="en-US" dirty="0"/>
          </a:p>
        </p:txBody>
      </p:sp>
      <p:sp>
        <p:nvSpPr>
          <p:cNvPr id="213" name="Box"/>
          <p:cNvSpPr/>
          <p:nvPr/>
        </p:nvSpPr>
        <p:spPr>
          <a:xfrm>
            <a:off x="6299200" y="2844800"/>
            <a:ext cx="787400" cy="787400"/>
          </a:xfrm>
          <a:prstGeom prst="roundRect">
            <a:avLst>
              <a:gd name="adj" fmla="val 14516"/>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800" b="1" dirty="0">
                <a:solidFill>
                  <a:srgbClr val="FFFFFF"/>
                </a:solidFill>
              </a:rPr>
              <a:t>DS</a:t>
            </a:r>
          </a:p>
        </p:txBody>
      </p:sp>
      <p:sp>
        <p:nvSpPr>
          <p:cNvPr id="214" name="Box"/>
          <p:cNvSpPr txBox="1"/>
          <p:nvPr/>
        </p:nvSpPr>
        <p:spPr>
          <a:xfrm>
            <a:off x="7264400" y="2946400"/>
            <a:ext cx="4140200" cy="609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Dermatan sulfate</a:t>
            </a:r>
          </a:p>
          <a:p>
            <a:pPr>
              <a:spcBef>
                <a:spcPts val="0"/>
              </a:spcBef>
              <a:spcAft>
                <a:spcPts val="0"/>
              </a:spcAft>
              <a:buNone/>
            </a:pPr>
            <a:r>
              <a:rPr lang="en-US" sz="1400" dirty="0">
                <a:solidFill>
                  <a:srgbClr val="2B2B2B"/>
                </a:solidFill>
              </a:rPr>
              <a:t>Mucosa and skin</a:t>
            </a:r>
          </a:p>
        </p:txBody>
      </p:sp>
      <p:sp>
        <p:nvSpPr>
          <p:cNvPr id="215" name="Box"/>
          <p:cNvSpPr/>
          <p:nvPr/>
        </p:nvSpPr>
        <p:spPr>
          <a:xfrm>
            <a:off x="6299200" y="3733800"/>
            <a:ext cx="5232400" cy="787400"/>
          </a:xfrm>
          <a:prstGeom prst="roundRect">
            <a:avLst>
              <a:gd name="adj" fmla="val 14516"/>
            </a:avLst>
          </a:prstGeom>
          <a:solidFill>
            <a:srgbClr val="F1F4F9"/>
          </a:solidFill>
          <a:ln>
            <a:noFill/>
          </a:ln>
        </p:spPr>
        <p:txBody>
          <a:bodyPr wrap="square" lIns="0" tIns="0" rIns="0" bIns="0" rtlCol="0" anchor="t">
            <a:noAutofit/>
          </a:bodyPr>
          <a:lstStyle/>
          <a:p>
            <a:endParaRPr lang="en-US" dirty="0"/>
          </a:p>
        </p:txBody>
      </p:sp>
      <p:sp>
        <p:nvSpPr>
          <p:cNvPr id="216" name="Box"/>
          <p:cNvSpPr/>
          <p:nvPr/>
        </p:nvSpPr>
        <p:spPr>
          <a:xfrm>
            <a:off x="6299200" y="3733800"/>
            <a:ext cx="787400" cy="787400"/>
          </a:xfrm>
          <a:prstGeom prst="roundRect">
            <a:avLst>
              <a:gd name="adj" fmla="val 14516"/>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800" b="1" dirty="0">
                <a:solidFill>
                  <a:srgbClr val="FFFFFF"/>
                </a:solidFill>
              </a:rPr>
              <a:t>CS</a:t>
            </a:r>
          </a:p>
        </p:txBody>
      </p:sp>
      <p:sp>
        <p:nvSpPr>
          <p:cNvPr id="217" name="Box"/>
          <p:cNvSpPr txBox="1"/>
          <p:nvPr/>
        </p:nvSpPr>
        <p:spPr>
          <a:xfrm>
            <a:off x="7264400" y="3835400"/>
            <a:ext cx="4140200" cy="609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Chondroitin sulfate</a:t>
            </a:r>
          </a:p>
          <a:p>
            <a:pPr>
              <a:spcBef>
                <a:spcPts val="0"/>
              </a:spcBef>
              <a:spcAft>
                <a:spcPts val="0"/>
              </a:spcAft>
              <a:buNone/>
            </a:pPr>
            <a:r>
              <a:rPr lang="en-US" sz="1400" dirty="0">
                <a:solidFill>
                  <a:srgbClr val="2B2B2B"/>
                </a:solidFill>
              </a:rPr>
              <a:t>Skeletal and soft tissues</a:t>
            </a:r>
          </a:p>
        </p:txBody>
      </p:sp>
      <p:sp>
        <p:nvSpPr>
          <p:cNvPr id="218" name="Box"/>
          <p:cNvSpPr/>
          <p:nvPr/>
        </p:nvSpPr>
        <p:spPr>
          <a:xfrm>
            <a:off x="6299200" y="4622800"/>
            <a:ext cx="5232400" cy="787400"/>
          </a:xfrm>
          <a:prstGeom prst="roundRect">
            <a:avLst>
              <a:gd name="adj" fmla="val 14516"/>
            </a:avLst>
          </a:prstGeom>
          <a:solidFill>
            <a:srgbClr val="F1F4F9"/>
          </a:solidFill>
          <a:ln>
            <a:noFill/>
          </a:ln>
        </p:spPr>
        <p:txBody>
          <a:bodyPr wrap="square" lIns="0" tIns="0" rIns="0" bIns="0" rtlCol="0" anchor="t">
            <a:noAutofit/>
          </a:bodyPr>
          <a:lstStyle/>
          <a:p>
            <a:endParaRPr lang="en-US" dirty="0"/>
          </a:p>
        </p:txBody>
      </p:sp>
      <p:sp>
        <p:nvSpPr>
          <p:cNvPr id="219" name="Box"/>
          <p:cNvSpPr/>
          <p:nvPr/>
        </p:nvSpPr>
        <p:spPr>
          <a:xfrm>
            <a:off x="6299200" y="4622800"/>
            <a:ext cx="787400" cy="787400"/>
          </a:xfrm>
          <a:prstGeom prst="roundRect">
            <a:avLst>
              <a:gd name="adj" fmla="val 14516"/>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800" b="1" dirty="0">
                <a:solidFill>
                  <a:srgbClr val="FFFFFF"/>
                </a:solidFill>
              </a:rPr>
              <a:t>KS</a:t>
            </a:r>
          </a:p>
        </p:txBody>
      </p:sp>
      <p:sp>
        <p:nvSpPr>
          <p:cNvPr id="220" name="Box"/>
          <p:cNvSpPr txBox="1"/>
          <p:nvPr/>
        </p:nvSpPr>
        <p:spPr>
          <a:xfrm>
            <a:off x="7264400" y="4724400"/>
            <a:ext cx="4140200" cy="609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Keratan sulfate</a:t>
            </a:r>
          </a:p>
          <a:p>
            <a:pPr>
              <a:spcBef>
                <a:spcPts val="0"/>
              </a:spcBef>
              <a:spcAft>
                <a:spcPts val="0"/>
              </a:spcAft>
              <a:buNone/>
            </a:pPr>
            <a:r>
              <a:rPr lang="en-US" sz="1400" dirty="0">
                <a:solidFill>
                  <a:srgbClr val="2B2B2B"/>
                </a:solidFill>
              </a:rPr>
              <a:t>Cornea, cartilage, brain and bone</a:t>
            </a:r>
          </a:p>
        </p:txBody>
      </p:sp>
      <p:sp>
        <p:nvSpPr>
          <p:cNvPr id="221"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CS, chondroitin sulfate; DS, dermatan sulfate; GAG, glycosaminoglycan; HS, heparan sulfate; KS, keratan sulfate; MPS, mucopolysaccharidosis</a:t>
            </a:r>
          </a:p>
        </p:txBody>
      </p:sp>
      <p:sp>
        <p:nvSpPr>
          <p:cNvPr id="222" name="References"/>
          <p:cNvSpPr txBox="1"/>
          <p:nvPr/>
        </p:nvSpPr>
        <p:spPr>
          <a:xfrm>
            <a:off x="660400" y="60452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Islam T et al. Chemistry, biochemistry, and pharmaceutical potentials of glycosaminoglycans and related saccharides. In: Wong C-H (ed). Carbohydrate-based Drug Discovery. Weinheim: Wiley-VCH; 2003.</a:t>
            </a:r>
          </a:p>
        </p:txBody>
      </p:sp>
    </p:spTree>
    <p:extLst>
      <p:ext uri="{BB962C8B-B14F-4D97-AF65-F5344CB8AC3E}">
        <p14:creationId xmlns:p14="http://schemas.microsoft.com/office/powerpoint/2010/main" val="2527627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Understanding MPS</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What is MPS?</a:t>
            </a:r>
            <a:endParaRPr lang="en-US" dirty="0"/>
          </a:p>
        </p:txBody>
      </p:sp>
      <p:sp>
        <p:nvSpPr>
          <p:cNvPr id="12" name="Shape 12"/>
          <p:cNvSpPr/>
          <p:nvPr/>
        </p:nvSpPr>
        <p:spPr>
          <a:xfrm>
            <a:off x="660400" y="1574800"/>
            <a:ext cx="2235200" cy="660400"/>
          </a:xfrm>
          <a:prstGeom prst="homePlate">
            <a:avLst>
              <a:gd name="adj" fmla="val 28000"/>
            </a:avLst>
          </a:prstGeom>
          <a:solidFill>
            <a:srgbClr val="28509C"/>
          </a:solidFill>
          <a:ln>
            <a:noFill/>
          </a:ln>
        </p:spPr>
        <p:txBody>
          <a:bodyPr wrap="square" lIns="76200" tIns="0" rIns="177800" bIns="0" rtlCol="0" anchor="ctr">
            <a:noAutofit/>
          </a:bodyPr>
          <a:lstStyle/>
          <a:p>
            <a:pPr algn="ctr">
              <a:spcBef>
                <a:spcPts val="0"/>
              </a:spcBef>
              <a:spcAft>
                <a:spcPts val="0"/>
              </a:spcAft>
              <a:buNone/>
            </a:pPr>
            <a:r>
              <a:rPr lang="en-US" sz="1400" b="1" dirty="0">
                <a:solidFill>
                  <a:srgbClr val="FFFFFF"/>
                </a:solidFill>
              </a:rPr>
              <a:t>Gene variant</a:t>
            </a:r>
          </a:p>
        </p:txBody>
      </p:sp>
      <p:sp>
        <p:nvSpPr>
          <p:cNvPr id="13" name="Shape 13"/>
          <p:cNvSpPr txBox="1"/>
          <p:nvPr/>
        </p:nvSpPr>
        <p:spPr>
          <a:xfrm>
            <a:off x="660400" y="2362200"/>
            <a:ext cx="1905000" cy="1143000"/>
          </a:xfrm>
          <a:prstGeom prst="rect">
            <a:avLst/>
          </a:prstGeom>
          <a:noFill/>
          <a:ln>
            <a:noFill/>
          </a:ln>
        </p:spPr>
        <p:txBody>
          <a:bodyPr wrap="square" lIns="0" tIns="0" rIns="0" bIns="0" rtlCol="0" anchor="t">
            <a:noAutofit/>
          </a:bodyPr>
          <a:lstStyle/>
          <a:p>
            <a:pPr>
              <a:spcBef>
                <a:spcPts val="0"/>
              </a:spcBef>
              <a:spcAft>
                <a:spcPts val="0"/>
              </a:spcAft>
              <a:buNone/>
            </a:pPr>
            <a:r>
              <a:rPr lang="en-US" sz="1300" dirty="0">
                <a:solidFill>
                  <a:srgbClr val="2B2B2B"/>
                </a:solidFill>
              </a:rPr>
              <a:t>Both copies of an MPS gene carry a variant (one copy in males with X-linked MPS II)</a:t>
            </a:r>
          </a:p>
        </p:txBody>
      </p:sp>
      <p:sp>
        <p:nvSpPr>
          <p:cNvPr id="14" name="Shape 14"/>
          <p:cNvSpPr/>
          <p:nvPr/>
        </p:nvSpPr>
        <p:spPr>
          <a:xfrm>
            <a:off x="2819400" y="1574800"/>
            <a:ext cx="2235200" cy="660400"/>
          </a:xfrm>
          <a:prstGeom prst="chevron">
            <a:avLst>
              <a:gd name="adj" fmla="val 28000"/>
            </a:avLst>
          </a:prstGeom>
          <a:solidFill>
            <a:srgbClr val="28509C"/>
          </a:solidFill>
          <a:ln>
            <a:noFill/>
          </a:ln>
        </p:spPr>
        <p:txBody>
          <a:bodyPr wrap="square" lIns="254000" tIns="0" rIns="177800" bIns="0" rtlCol="0" anchor="ctr">
            <a:noAutofit/>
          </a:bodyPr>
          <a:lstStyle/>
          <a:p>
            <a:pPr algn="ctr">
              <a:spcBef>
                <a:spcPts val="0"/>
              </a:spcBef>
              <a:spcAft>
                <a:spcPts val="0"/>
              </a:spcAft>
              <a:buNone/>
            </a:pPr>
            <a:r>
              <a:rPr lang="en-US" sz="1400" b="1" dirty="0">
                <a:solidFill>
                  <a:srgbClr val="FFFFFF"/>
                </a:solidFill>
              </a:rPr>
              <a:t>Enzyme deficiency</a:t>
            </a:r>
          </a:p>
        </p:txBody>
      </p:sp>
      <p:sp>
        <p:nvSpPr>
          <p:cNvPr id="15" name="Shape 15"/>
          <p:cNvSpPr txBox="1"/>
          <p:nvPr/>
        </p:nvSpPr>
        <p:spPr>
          <a:xfrm>
            <a:off x="2971800" y="2362200"/>
            <a:ext cx="1905000" cy="1143000"/>
          </a:xfrm>
          <a:prstGeom prst="rect">
            <a:avLst/>
          </a:prstGeom>
          <a:noFill/>
          <a:ln>
            <a:noFill/>
          </a:ln>
        </p:spPr>
        <p:txBody>
          <a:bodyPr wrap="square" lIns="0" tIns="0" rIns="0" bIns="0" rtlCol="0" anchor="t">
            <a:noAutofit/>
          </a:bodyPr>
          <a:lstStyle/>
          <a:p>
            <a:pPr>
              <a:spcBef>
                <a:spcPts val="0"/>
              </a:spcBef>
              <a:spcAft>
                <a:spcPts val="0"/>
              </a:spcAft>
              <a:buNone/>
            </a:pPr>
            <a:r>
              <a:rPr lang="en-US" sz="1300" dirty="0">
                <a:solidFill>
                  <a:srgbClr val="2B2B2B"/>
                </a:solidFill>
              </a:rPr>
              <a:t>The lysosomal enzyme that breaks down GAGs is missing or works poorly</a:t>
            </a:r>
          </a:p>
        </p:txBody>
      </p:sp>
      <p:sp>
        <p:nvSpPr>
          <p:cNvPr id="16" name="Shape 16"/>
          <p:cNvSpPr/>
          <p:nvPr/>
        </p:nvSpPr>
        <p:spPr>
          <a:xfrm>
            <a:off x="4978400" y="1574800"/>
            <a:ext cx="2235200" cy="660400"/>
          </a:xfrm>
          <a:prstGeom prst="chevron">
            <a:avLst>
              <a:gd name="adj" fmla="val 28000"/>
            </a:avLst>
          </a:prstGeom>
          <a:solidFill>
            <a:srgbClr val="28509C"/>
          </a:solidFill>
          <a:ln>
            <a:noFill/>
          </a:ln>
        </p:spPr>
        <p:txBody>
          <a:bodyPr wrap="square" lIns="254000" tIns="0" rIns="177800" bIns="0" rtlCol="0" anchor="ctr">
            <a:noAutofit/>
          </a:bodyPr>
          <a:lstStyle/>
          <a:p>
            <a:pPr algn="ctr">
              <a:spcBef>
                <a:spcPts val="0"/>
              </a:spcBef>
              <a:spcAft>
                <a:spcPts val="0"/>
              </a:spcAft>
              <a:buNone/>
            </a:pPr>
            <a:r>
              <a:rPr lang="en-US" sz="1400" b="1" dirty="0">
                <a:solidFill>
                  <a:srgbClr val="FFFFFF"/>
                </a:solidFill>
              </a:rPr>
              <a:t>GAG storage</a:t>
            </a:r>
          </a:p>
        </p:txBody>
      </p:sp>
      <p:sp>
        <p:nvSpPr>
          <p:cNvPr id="17" name="Shape 17"/>
          <p:cNvSpPr txBox="1"/>
          <p:nvPr/>
        </p:nvSpPr>
        <p:spPr>
          <a:xfrm>
            <a:off x="5130800" y="2362200"/>
            <a:ext cx="1905000" cy="1143000"/>
          </a:xfrm>
          <a:prstGeom prst="rect">
            <a:avLst/>
          </a:prstGeom>
          <a:noFill/>
          <a:ln>
            <a:noFill/>
          </a:ln>
        </p:spPr>
        <p:txBody>
          <a:bodyPr wrap="square" lIns="0" tIns="0" rIns="0" bIns="0" rtlCol="0" anchor="t">
            <a:noAutofit/>
          </a:bodyPr>
          <a:lstStyle/>
          <a:p>
            <a:pPr>
              <a:spcBef>
                <a:spcPts val="0"/>
              </a:spcBef>
              <a:spcAft>
                <a:spcPts val="0"/>
              </a:spcAft>
              <a:buNone/>
            </a:pPr>
            <a:r>
              <a:rPr lang="en-US" sz="1300" dirty="0">
                <a:solidFill>
                  <a:srgbClr val="2B2B2B"/>
                </a:solidFill>
              </a:rPr>
              <a:t>GAGs (long sugar chains) accumulate inside lysosomes</a:t>
            </a:r>
          </a:p>
        </p:txBody>
      </p:sp>
      <p:sp>
        <p:nvSpPr>
          <p:cNvPr id="18" name="Shape 18"/>
          <p:cNvSpPr/>
          <p:nvPr/>
        </p:nvSpPr>
        <p:spPr>
          <a:xfrm>
            <a:off x="7137400" y="1574800"/>
            <a:ext cx="2235200" cy="660400"/>
          </a:xfrm>
          <a:prstGeom prst="chevron">
            <a:avLst>
              <a:gd name="adj" fmla="val 28000"/>
            </a:avLst>
          </a:prstGeom>
          <a:solidFill>
            <a:srgbClr val="28509C"/>
          </a:solidFill>
          <a:ln>
            <a:noFill/>
          </a:ln>
        </p:spPr>
        <p:txBody>
          <a:bodyPr wrap="square" lIns="254000" tIns="0" rIns="177800" bIns="0" rtlCol="0" anchor="ctr">
            <a:noAutofit/>
          </a:bodyPr>
          <a:lstStyle/>
          <a:p>
            <a:pPr algn="ctr">
              <a:spcBef>
                <a:spcPts val="0"/>
              </a:spcBef>
              <a:spcAft>
                <a:spcPts val="0"/>
              </a:spcAft>
              <a:buNone/>
            </a:pPr>
            <a:r>
              <a:rPr lang="en-US" sz="1400" b="1" dirty="0">
                <a:solidFill>
                  <a:srgbClr val="FFFFFF"/>
                </a:solidFill>
              </a:rPr>
              <a:t>Cell damage</a:t>
            </a:r>
          </a:p>
        </p:txBody>
      </p:sp>
      <p:sp>
        <p:nvSpPr>
          <p:cNvPr id="19" name="Shape 19"/>
          <p:cNvSpPr txBox="1"/>
          <p:nvPr/>
        </p:nvSpPr>
        <p:spPr>
          <a:xfrm>
            <a:off x="7289800" y="2362200"/>
            <a:ext cx="1905000" cy="1143000"/>
          </a:xfrm>
          <a:prstGeom prst="rect">
            <a:avLst/>
          </a:prstGeom>
          <a:noFill/>
          <a:ln>
            <a:noFill/>
          </a:ln>
        </p:spPr>
        <p:txBody>
          <a:bodyPr wrap="square" lIns="0" tIns="0" rIns="0" bIns="0" rtlCol="0" anchor="t">
            <a:noAutofit/>
          </a:bodyPr>
          <a:lstStyle/>
          <a:p>
            <a:pPr>
              <a:spcBef>
                <a:spcPts val="0"/>
              </a:spcBef>
              <a:spcAft>
                <a:spcPts val="0"/>
              </a:spcAft>
              <a:buNone/>
            </a:pPr>
            <a:r>
              <a:rPr lang="en-US" sz="1300" dirty="0">
                <a:solidFill>
                  <a:srgbClr val="2B2B2B"/>
                </a:solidFill>
              </a:rPr>
              <a:t>Storage triggers inflammation and disrupts cell and tissue function</a:t>
            </a:r>
          </a:p>
        </p:txBody>
      </p:sp>
      <p:sp>
        <p:nvSpPr>
          <p:cNvPr id="20" name="Shape 20"/>
          <p:cNvSpPr/>
          <p:nvPr/>
        </p:nvSpPr>
        <p:spPr>
          <a:xfrm>
            <a:off x="9296400" y="1574800"/>
            <a:ext cx="2235200" cy="660400"/>
          </a:xfrm>
          <a:prstGeom prst="chevron">
            <a:avLst>
              <a:gd name="adj" fmla="val 28000"/>
            </a:avLst>
          </a:prstGeom>
          <a:solidFill>
            <a:srgbClr val="002E56"/>
          </a:solidFill>
          <a:ln>
            <a:noFill/>
          </a:ln>
        </p:spPr>
        <p:txBody>
          <a:bodyPr wrap="square" lIns="254000" tIns="0" rIns="177800" bIns="0" rtlCol="0" anchor="ctr">
            <a:noAutofit/>
          </a:bodyPr>
          <a:lstStyle/>
          <a:p>
            <a:pPr algn="ctr">
              <a:spcBef>
                <a:spcPts val="0"/>
              </a:spcBef>
              <a:spcAft>
                <a:spcPts val="0"/>
              </a:spcAft>
              <a:buNone/>
            </a:pPr>
            <a:r>
              <a:rPr lang="en-US" sz="1400" b="1" dirty="0">
                <a:solidFill>
                  <a:srgbClr val="FFFFFF"/>
                </a:solidFill>
              </a:rPr>
              <a:t>Multi-organ disease</a:t>
            </a:r>
          </a:p>
        </p:txBody>
      </p:sp>
      <p:sp>
        <p:nvSpPr>
          <p:cNvPr id="21" name="Shape 21"/>
          <p:cNvSpPr txBox="1"/>
          <p:nvPr/>
        </p:nvSpPr>
        <p:spPr>
          <a:xfrm>
            <a:off x="9448800" y="2362200"/>
            <a:ext cx="1905000" cy="1143000"/>
          </a:xfrm>
          <a:prstGeom prst="rect">
            <a:avLst/>
          </a:prstGeom>
          <a:noFill/>
          <a:ln>
            <a:noFill/>
          </a:ln>
        </p:spPr>
        <p:txBody>
          <a:bodyPr wrap="square" lIns="0" tIns="0" rIns="0" bIns="0" rtlCol="0" anchor="t">
            <a:noAutofit/>
          </a:bodyPr>
          <a:lstStyle/>
          <a:p>
            <a:pPr>
              <a:spcBef>
                <a:spcPts val="0"/>
              </a:spcBef>
              <a:spcAft>
                <a:spcPts val="0"/>
              </a:spcAft>
              <a:buNone/>
            </a:pPr>
            <a:r>
              <a:rPr lang="en-US" sz="1300" dirty="0">
                <a:solidFill>
                  <a:srgbClr val="2B2B2B"/>
                </a:solidFill>
              </a:rPr>
              <a:t>Bones, joints, airway, heart, eyes and ears are progressively affected</a:t>
            </a:r>
          </a:p>
        </p:txBody>
      </p:sp>
      <p:sp>
        <p:nvSpPr>
          <p:cNvPr id="22" name="Shape 22"/>
          <p:cNvSpPr/>
          <p:nvPr/>
        </p:nvSpPr>
        <p:spPr>
          <a:xfrm>
            <a:off x="660400" y="3810000"/>
            <a:ext cx="3454400" cy="1625600"/>
          </a:xfrm>
          <a:prstGeom prst="roundRect">
            <a:avLst>
              <a:gd name="adj" fmla="val 7031"/>
            </a:avLst>
          </a:prstGeom>
          <a:solidFill>
            <a:srgbClr val="E8EEF7"/>
          </a:solidFill>
          <a:ln>
            <a:noFill/>
          </a:ln>
        </p:spPr>
        <p:txBody>
          <a:bodyPr wrap="square" lIns="0" tIns="0" rIns="0" bIns="0" rtlCol="0" anchor="t">
            <a:noAutofit/>
          </a:bodyPr>
          <a:lstStyle/>
          <a:p>
            <a:endParaRPr lang="en-US" dirty="0"/>
          </a:p>
        </p:txBody>
      </p:sp>
      <p:sp>
        <p:nvSpPr>
          <p:cNvPr id="24" name="Shape 24"/>
          <p:cNvSpPr txBox="1"/>
          <p:nvPr/>
        </p:nvSpPr>
        <p:spPr>
          <a:xfrm>
            <a:off x="889000" y="3962400"/>
            <a:ext cx="3098800" cy="457200"/>
          </a:xfrm>
          <a:prstGeom prst="rect">
            <a:avLst/>
          </a:prstGeom>
          <a:noFill/>
          <a:ln>
            <a:noFill/>
          </a:ln>
        </p:spPr>
        <p:txBody>
          <a:bodyPr wrap="square" lIns="0" tIns="0" rIns="0" bIns="0" rtlCol="0" anchor="t">
            <a:noAutofit/>
          </a:bodyPr>
          <a:lstStyle/>
          <a:p>
            <a:pPr>
              <a:spcBef>
                <a:spcPts val="0"/>
              </a:spcBef>
              <a:spcAft>
                <a:spcPts val="0"/>
              </a:spcAft>
              <a:buNone/>
            </a:pPr>
            <a:r>
              <a:rPr lang="en-US" sz="2600" b="1" dirty="0">
                <a:solidFill>
                  <a:srgbClr val="28509C"/>
                </a:solidFill>
              </a:rPr>
              <a:t>~1 in 25,000</a:t>
            </a:r>
            <a:r>
              <a:rPr lang="en-US" sz="2600" b="1" baseline="40000" dirty="0">
                <a:solidFill>
                  <a:srgbClr val="28509C"/>
                </a:solidFill>
              </a:rPr>
              <a:t>1</a:t>
            </a:r>
          </a:p>
        </p:txBody>
      </p:sp>
      <p:sp>
        <p:nvSpPr>
          <p:cNvPr id="25" name="Shape 25"/>
          <p:cNvSpPr txBox="1"/>
          <p:nvPr/>
        </p:nvSpPr>
        <p:spPr>
          <a:xfrm>
            <a:off x="889000" y="4470400"/>
            <a:ext cx="3098800" cy="8890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live births are affected by an MPS disorder, with wide regional variation</a:t>
            </a:r>
          </a:p>
        </p:txBody>
      </p:sp>
      <p:sp>
        <p:nvSpPr>
          <p:cNvPr id="26" name="Shape 26"/>
          <p:cNvSpPr/>
          <p:nvPr/>
        </p:nvSpPr>
        <p:spPr>
          <a:xfrm>
            <a:off x="4368800" y="3810000"/>
            <a:ext cx="3454400" cy="1625600"/>
          </a:xfrm>
          <a:prstGeom prst="roundRect">
            <a:avLst>
              <a:gd name="adj" fmla="val 7031"/>
            </a:avLst>
          </a:prstGeom>
          <a:solidFill>
            <a:srgbClr val="E8EEF7"/>
          </a:solidFill>
          <a:ln>
            <a:noFill/>
          </a:ln>
        </p:spPr>
        <p:txBody>
          <a:bodyPr wrap="square" lIns="0" tIns="0" rIns="0" bIns="0" rtlCol="0" anchor="t">
            <a:noAutofit/>
          </a:bodyPr>
          <a:lstStyle/>
          <a:p>
            <a:endParaRPr lang="en-US" dirty="0"/>
          </a:p>
        </p:txBody>
      </p:sp>
      <p:sp>
        <p:nvSpPr>
          <p:cNvPr id="28" name="Shape 28"/>
          <p:cNvSpPr txBox="1"/>
          <p:nvPr/>
        </p:nvSpPr>
        <p:spPr>
          <a:xfrm>
            <a:off x="4597400" y="3962400"/>
            <a:ext cx="3098800" cy="457200"/>
          </a:xfrm>
          <a:prstGeom prst="rect">
            <a:avLst/>
          </a:prstGeom>
          <a:noFill/>
          <a:ln>
            <a:noFill/>
          </a:ln>
        </p:spPr>
        <p:txBody>
          <a:bodyPr wrap="square" lIns="0" tIns="0" rIns="0" bIns="0" rtlCol="0" anchor="t">
            <a:noAutofit/>
          </a:bodyPr>
          <a:lstStyle/>
          <a:p>
            <a:pPr>
              <a:spcBef>
                <a:spcPts val="0"/>
              </a:spcBef>
              <a:spcAft>
                <a:spcPts val="0"/>
              </a:spcAft>
              <a:buNone/>
            </a:pPr>
            <a:r>
              <a:rPr lang="en-US" sz="2600" b="1" dirty="0">
                <a:solidFill>
                  <a:srgbClr val="28509C"/>
                </a:solidFill>
              </a:rPr>
              <a:t>From birth</a:t>
            </a:r>
            <a:r>
              <a:rPr lang="en-US" sz="2600" b="1" baseline="40000" dirty="0">
                <a:solidFill>
                  <a:srgbClr val="28509C"/>
                </a:solidFill>
              </a:rPr>
              <a:t>2</a:t>
            </a:r>
          </a:p>
        </p:txBody>
      </p:sp>
      <p:sp>
        <p:nvSpPr>
          <p:cNvPr id="29" name="Shape 29"/>
          <p:cNvSpPr txBox="1"/>
          <p:nvPr/>
        </p:nvSpPr>
        <p:spPr>
          <a:xfrm>
            <a:off x="4597400" y="4470400"/>
            <a:ext cx="3098800" cy="8890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the enzyme defect is present at birth; most signs appear over months to years</a:t>
            </a:r>
          </a:p>
        </p:txBody>
      </p:sp>
      <p:sp>
        <p:nvSpPr>
          <p:cNvPr id="30" name="Shape 30"/>
          <p:cNvSpPr/>
          <p:nvPr/>
        </p:nvSpPr>
        <p:spPr>
          <a:xfrm>
            <a:off x="8077200" y="3810000"/>
            <a:ext cx="3454400" cy="1625600"/>
          </a:xfrm>
          <a:prstGeom prst="roundRect">
            <a:avLst>
              <a:gd name="adj" fmla="val 7031"/>
            </a:avLst>
          </a:prstGeom>
          <a:solidFill>
            <a:srgbClr val="E8EEF7"/>
          </a:solidFill>
          <a:ln>
            <a:noFill/>
          </a:ln>
        </p:spPr>
        <p:txBody>
          <a:bodyPr wrap="square" lIns="0" tIns="0" rIns="0" bIns="0" rtlCol="0" anchor="t">
            <a:noAutofit/>
          </a:bodyPr>
          <a:lstStyle/>
          <a:p>
            <a:endParaRPr lang="en-US" dirty="0"/>
          </a:p>
        </p:txBody>
      </p:sp>
      <p:sp>
        <p:nvSpPr>
          <p:cNvPr id="32" name="Shape 32"/>
          <p:cNvSpPr txBox="1"/>
          <p:nvPr/>
        </p:nvSpPr>
        <p:spPr>
          <a:xfrm>
            <a:off x="8305800" y="3962400"/>
            <a:ext cx="3098800" cy="457200"/>
          </a:xfrm>
          <a:prstGeom prst="rect">
            <a:avLst/>
          </a:prstGeom>
          <a:noFill/>
          <a:ln>
            <a:noFill/>
          </a:ln>
        </p:spPr>
        <p:txBody>
          <a:bodyPr wrap="square" lIns="0" tIns="0" rIns="0" bIns="0" rtlCol="0" anchor="t">
            <a:noAutofit/>
          </a:bodyPr>
          <a:lstStyle/>
          <a:p>
            <a:pPr>
              <a:spcBef>
                <a:spcPts val="0"/>
              </a:spcBef>
              <a:spcAft>
                <a:spcPts val="0"/>
              </a:spcAft>
              <a:buNone/>
            </a:pPr>
            <a:r>
              <a:rPr lang="en-US" sz="2600" b="1" dirty="0">
                <a:solidFill>
                  <a:srgbClr val="28509C"/>
                </a:solidFill>
              </a:rPr>
              <a:t>Lifelong</a:t>
            </a:r>
            <a:r>
              <a:rPr lang="en-US" sz="2600" b="1" baseline="40000" dirty="0">
                <a:solidFill>
                  <a:srgbClr val="28509C"/>
                </a:solidFill>
              </a:rPr>
              <a:t>3</a:t>
            </a:r>
          </a:p>
        </p:txBody>
      </p:sp>
      <p:sp>
        <p:nvSpPr>
          <p:cNvPr id="33" name="Shape 33"/>
          <p:cNvSpPr txBox="1"/>
          <p:nvPr/>
        </p:nvSpPr>
        <p:spPr>
          <a:xfrm>
            <a:off x="8305800" y="4470400"/>
            <a:ext cx="3098800" cy="8890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storage continues without treatment, so the disease progresses with age</a:t>
            </a:r>
          </a:p>
        </p:txBody>
      </p:sp>
      <p:sp>
        <p:nvSpPr>
          <p:cNvPr id="34"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GAG, glycosaminoglycan; MPS, mucopolysaccharidosis</a:t>
            </a:r>
          </a:p>
        </p:txBody>
      </p:sp>
      <p:sp>
        <p:nvSpPr>
          <p:cNvPr id="35"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Gökdoğan C et al. Braz J Otorhinolaryngol 2016;82:281–4. 2. Muenzer J. Rheumatology (Oxford) 2011;50(Suppl 5):v4–12. 3. Neufeld EF, Muenzer J. In: The Metabolic and Molecular Bases of Inherited Disease. 8th ed. McGraw-Hill; 2001:3421–52.</a:t>
            </a:r>
          </a:p>
        </p:txBody>
      </p:sp>
    </p:spTree>
    <p:extLst>
      <p:ext uri="{BB962C8B-B14F-4D97-AF65-F5344CB8AC3E}">
        <p14:creationId xmlns:p14="http://schemas.microsoft.com/office/powerpoint/2010/main" val="689623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Understanding MPS</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Inheritance of MPS</a:t>
            </a:r>
            <a:endParaRPr lang="en-US" dirty="0"/>
          </a:p>
        </p:txBody>
      </p:sp>
      <p:sp>
        <p:nvSpPr>
          <p:cNvPr id="12" name="Shape 12"/>
          <p:cNvSpPr/>
          <p:nvPr/>
        </p:nvSpPr>
        <p:spPr>
          <a:xfrm>
            <a:off x="1828800" y="1574800"/>
            <a:ext cx="660400" cy="660400"/>
          </a:xfrm>
          <a:prstGeom prst="ellipse">
            <a:avLst/>
          </a:prstGeom>
          <a:solidFill>
            <a:srgbClr val="FFFFFF"/>
          </a:solidFill>
          <a:ln w="25400">
            <a:solidFill>
              <a:srgbClr val="28509C"/>
            </a:solidFill>
          </a:ln>
        </p:spPr>
        <p:txBody>
          <a:bodyPr wrap="square" lIns="0" tIns="0" rIns="0" bIns="0" rtlCol="0" anchor="ctr">
            <a:noAutofit/>
          </a:bodyPr>
          <a:lstStyle/>
          <a:p>
            <a:pPr algn="ctr">
              <a:spcBef>
                <a:spcPts val="0"/>
              </a:spcBef>
              <a:spcAft>
                <a:spcPts val="0"/>
              </a:spcAft>
              <a:buNone/>
            </a:pPr>
            <a:r>
              <a:rPr lang="en-US" sz="1500" b="1" dirty="0">
                <a:solidFill>
                  <a:srgbClr val="002E56"/>
                </a:solidFill>
              </a:rPr>
              <a:t>R r</a:t>
            </a:r>
          </a:p>
        </p:txBody>
      </p:sp>
      <p:sp>
        <p:nvSpPr>
          <p:cNvPr id="13" name="Shape 13"/>
          <p:cNvSpPr txBox="1"/>
          <p:nvPr/>
        </p:nvSpPr>
        <p:spPr>
          <a:xfrm>
            <a:off x="1270000" y="2286000"/>
            <a:ext cx="1778000" cy="254000"/>
          </a:xfrm>
          <a:prstGeom prst="rect">
            <a:avLst/>
          </a:prstGeom>
          <a:noFill/>
          <a:ln>
            <a:noFill/>
          </a:ln>
        </p:spPr>
        <p:txBody>
          <a:bodyPr wrap="square" lIns="0" tIns="0" rIns="0" bIns="0" rtlCol="0" anchor="t">
            <a:noAutofit/>
          </a:bodyPr>
          <a:lstStyle/>
          <a:p>
            <a:pPr algn="ctr">
              <a:spcBef>
                <a:spcPts val="0"/>
              </a:spcBef>
              <a:spcAft>
                <a:spcPts val="0"/>
              </a:spcAft>
              <a:buNone/>
            </a:pPr>
            <a:r>
              <a:rPr lang="en-US" sz="1400" b="1" dirty="0">
                <a:solidFill>
                  <a:srgbClr val="646464"/>
                </a:solidFill>
              </a:rPr>
              <a:t>Carrier father</a:t>
            </a:r>
          </a:p>
        </p:txBody>
      </p:sp>
      <p:sp>
        <p:nvSpPr>
          <p:cNvPr id="14" name="Shape 14"/>
          <p:cNvSpPr/>
          <p:nvPr/>
        </p:nvSpPr>
        <p:spPr>
          <a:xfrm>
            <a:off x="4622800" y="1574800"/>
            <a:ext cx="660400" cy="660400"/>
          </a:xfrm>
          <a:prstGeom prst="ellipse">
            <a:avLst/>
          </a:prstGeom>
          <a:solidFill>
            <a:srgbClr val="FFFFFF"/>
          </a:solidFill>
          <a:ln w="25400">
            <a:solidFill>
              <a:srgbClr val="28509C"/>
            </a:solidFill>
          </a:ln>
        </p:spPr>
        <p:txBody>
          <a:bodyPr wrap="square" lIns="0" tIns="0" rIns="0" bIns="0" rtlCol="0" anchor="ctr">
            <a:noAutofit/>
          </a:bodyPr>
          <a:lstStyle/>
          <a:p>
            <a:pPr algn="ctr">
              <a:spcBef>
                <a:spcPts val="0"/>
              </a:spcBef>
              <a:spcAft>
                <a:spcPts val="0"/>
              </a:spcAft>
              <a:buNone/>
            </a:pPr>
            <a:r>
              <a:rPr lang="en-US" sz="1500" b="1" dirty="0">
                <a:solidFill>
                  <a:srgbClr val="002E56"/>
                </a:solidFill>
              </a:rPr>
              <a:t>R r</a:t>
            </a:r>
          </a:p>
        </p:txBody>
      </p:sp>
      <p:sp>
        <p:nvSpPr>
          <p:cNvPr id="15" name="Shape 15"/>
          <p:cNvSpPr txBox="1"/>
          <p:nvPr/>
        </p:nvSpPr>
        <p:spPr>
          <a:xfrm>
            <a:off x="4064000" y="2286000"/>
            <a:ext cx="1778000" cy="254000"/>
          </a:xfrm>
          <a:prstGeom prst="rect">
            <a:avLst/>
          </a:prstGeom>
          <a:noFill/>
          <a:ln>
            <a:noFill/>
          </a:ln>
        </p:spPr>
        <p:txBody>
          <a:bodyPr wrap="square" lIns="0" tIns="0" rIns="0" bIns="0" rtlCol="0" anchor="t">
            <a:noAutofit/>
          </a:bodyPr>
          <a:lstStyle/>
          <a:p>
            <a:pPr algn="ctr">
              <a:spcBef>
                <a:spcPts val="0"/>
              </a:spcBef>
              <a:spcAft>
                <a:spcPts val="0"/>
              </a:spcAft>
              <a:buNone/>
            </a:pPr>
            <a:r>
              <a:rPr lang="en-US" sz="1400" b="1" dirty="0">
                <a:solidFill>
                  <a:srgbClr val="646464"/>
                </a:solidFill>
              </a:rPr>
              <a:t>Carrier mother</a:t>
            </a:r>
          </a:p>
        </p:txBody>
      </p:sp>
      <p:cxnSp>
        <p:nvCxnSpPr>
          <p:cNvPr id="16" name="Line 16"/>
          <p:cNvCxnSpPr/>
          <p:nvPr/>
        </p:nvCxnSpPr>
        <p:spPr>
          <a:xfrm>
            <a:off x="2489200" y="1905000"/>
            <a:ext cx="2133600" cy="0"/>
          </a:xfrm>
          <a:prstGeom prst="line">
            <a:avLst/>
          </a:prstGeom>
          <a:ln w="15875">
            <a:solidFill>
              <a:srgbClr val="A0A0A0"/>
            </a:solidFill>
          </a:ln>
        </p:spPr>
      </p:cxnSp>
      <p:cxnSp>
        <p:nvCxnSpPr>
          <p:cNvPr id="17" name="Line 17"/>
          <p:cNvCxnSpPr/>
          <p:nvPr/>
        </p:nvCxnSpPr>
        <p:spPr>
          <a:xfrm>
            <a:off x="3556000" y="1905000"/>
            <a:ext cx="0" cy="812800"/>
          </a:xfrm>
          <a:prstGeom prst="line">
            <a:avLst/>
          </a:prstGeom>
          <a:ln w="15875">
            <a:solidFill>
              <a:srgbClr val="A0A0A0"/>
            </a:solidFill>
          </a:ln>
        </p:spPr>
      </p:cxnSp>
      <p:cxnSp>
        <p:nvCxnSpPr>
          <p:cNvPr id="18" name="Line 18"/>
          <p:cNvCxnSpPr/>
          <p:nvPr/>
        </p:nvCxnSpPr>
        <p:spPr>
          <a:xfrm>
            <a:off x="1270000" y="2717800"/>
            <a:ext cx="4572000" cy="0"/>
          </a:xfrm>
          <a:prstGeom prst="line">
            <a:avLst/>
          </a:prstGeom>
          <a:ln w="15875">
            <a:solidFill>
              <a:srgbClr val="A0A0A0"/>
            </a:solidFill>
          </a:ln>
        </p:spPr>
      </p:cxnSp>
      <p:cxnSp>
        <p:nvCxnSpPr>
          <p:cNvPr id="19" name="Line 19"/>
          <p:cNvCxnSpPr/>
          <p:nvPr/>
        </p:nvCxnSpPr>
        <p:spPr>
          <a:xfrm>
            <a:off x="1270000" y="2717800"/>
            <a:ext cx="0" cy="279400"/>
          </a:xfrm>
          <a:prstGeom prst="line">
            <a:avLst/>
          </a:prstGeom>
          <a:ln w="15875">
            <a:solidFill>
              <a:srgbClr val="A0A0A0"/>
            </a:solidFill>
          </a:ln>
        </p:spPr>
      </p:cxnSp>
      <p:sp>
        <p:nvSpPr>
          <p:cNvPr id="20" name="Shape 20"/>
          <p:cNvSpPr/>
          <p:nvPr/>
        </p:nvSpPr>
        <p:spPr>
          <a:xfrm>
            <a:off x="914400" y="2997200"/>
            <a:ext cx="711200" cy="711200"/>
          </a:xfrm>
          <a:prstGeom prst="ellipse">
            <a:avLst/>
          </a:prstGeom>
          <a:solidFill>
            <a:srgbClr val="FFFFFF"/>
          </a:solidFill>
          <a:ln w="25400">
            <a:solidFill>
              <a:srgbClr val="A0A0A0"/>
            </a:solidFill>
          </a:ln>
        </p:spPr>
        <p:txBody>
          <a:bodyPr wrap="square" lIns="0" tIns="0" rIns="0" bIns="0" rtlCol="0" anchor="ctr">
            <a:noAutofit/>
          </a:bodyPr>
          <a:lstStyle/>
          <a:p>
            <a:pPr algn="ctr">
              <a:spcBef>
                <a:spcPts val="0"/>
              </a:spcBef>
              <a:spcAft>
                <a:spcPts val="0"/>
              </a:spcAft>
              <a:buNone/>
            </a:pPr>
            <a:r>
              <a:rPr lang="en-US" sz="1500" b="1" dirty="0">
                <a:solidFill>
                  <a:srgbClr val="002E56"/>
                </a:solidFill>
              </a:rPr>
              <a:t>R R</a:t>
            </a:r>
          </a:p>
        </p:txBody>
      </p:sp>
      <p:sp>
        <p:nvSpPr>
          <p:cNvPr id="21" name="Shape 21"/>
          <p:cNvSpPr txBox="1"/>
          <p:nvPr/>
        </p:nvSpPr>
        <p:spPr>
          <a:xfrm>
            <a:off x="571500" y="3784600"/>
            <a:ext cx="1397000" cy="508000"/>
          </a:xfrm>
          <a:prstGeom prst="rect">
            <a:avLst/>
          </a:prstGeom>
          <a:noFill/>
          <a:ln>
            <a:noFill/>
          </a:ln>
        </p:spPr>
        <p:txBody>
          <a:bodyPr wrap="square" lIns="0" tIns="0" rIns="0" bIns="0" rtlCol="0" anchor="t">
            <a:noAutofit/>
          </a:bodyPr>
          <a:lstStyle/>
          <a:p>
            <a:pPr algn="ctr">
              <a:spcBef>
                <a:spcPts val="0"/>
              </a:spcBef>
              <a:spcAft>
                <a:spcPts val="0"/>
              </a:spcAft>
              <a:buNone/>
            </a:pPr>
            <a:r>
              <a:rPr lang="en-US" sz="1400" b="1" dirty="0">
                <a:solidFill>
                  <a:srgbClr val="2B2B2B"/>
                </a:solidFill>
              </a:rPr>
              <a:t>Unaffected</a:t>
            </a:r>
          </a:p>
          <a:p>
            <a:pPr algn="ctr">
              <a:spcBef>
                <a:spcPts val="0"/>
              </a:spcBef>
              <a:spcAft>
                <a:spcPts val="0"/>
              </a:spcAft>
              <a:buNone/>
            </a:pPr>
            <a:r>
              <a:rPr lang="en-US" sz="1400" dirty="0">
                <a:solidFill>
                  <a:srgbClr val="646464"/>
                </a:solidFill>
              </a:rPr>
              <a:t>25%</a:t>
            </a:r>
          </a:p>
        </p:txBody>
      </p:sp>
      <p:cxnSp>
        <p:nvCxnSpPr>
          <p:cNvPr id="22" name="Line 22"/>
          <p:cNvCxnSpPr/>
          <p:nvPr/>
        </p:nvCxnSpPr>
        <p:spPr>
          <a:xfrm>
            <a:off x="2794000" y="2717800"/>
            <a:ext cx="0" cy="279400"/>
          </a:xfrm>
          <a:prstGeom prst="line">
            <a:avLst/>
          </a:prstGeom>
          <a:ln w="15875">
            <a:solidFill>
              <a:srgbClr val="A0A0A0"/>
            </a:solidFill>
          </a:ln>
        </p:spPr>
      </p:cxnSp>
      <p:sp>
        <p:nvSpPr>
          <p:cNvPr id="23" name="Shape 23"/>
          <p:cNvSpPr/>
          <p:nvPr/>
        </p:nvSpPr>
        <p:spPr>
          <a:xfrm>
            <a:off x="2438400" y="2997200"/>
            <a:ext cx="711200" cy="711200"/>
          </a:xfrm>
          <a:prstGeom prst="ellipse">
            <a:avLst/>
          </a:prstGeom>
          <a:solidFill>
            <a:srgbClr val="FFFFFF"/>
          </a:solidFill>
          <a:ln w="25400">
            <a:solidFill>
              <a:srgbClr val="28509C"/>
            </a:solidFill>
          </a:ln>
        </p:spPr>
        <p:txBody>
          <a:bodyPr wrap="square" lIns="0" tIns="0" rIns="0" bIns="0" rtlCol="0" anchor="ctr">
            <a:noAutofit/>
          </a:bodyPr>
          <a:lstStyle/>
          <a:p>
            <a:pPr algn="ctr">
              <a:spcBef>
                <a:spcPts val="0"/>
              </a:spcBef>
              <a:spcAft>
                <a:spcPts val="0"/>
              </a:spcAft>
              <a:buNone/>
            </a:pPr>
            <a:r>
              <a:rPr lang="en-US" sz="1500" b="1" dirty="0">
                <a:solidFill>
                  <a:srgbClr val="002E56"/>
                </a:solidFill>
              </a:rPr>
              <a:t>R r</a:t>
            </a:r>
          </a:p>
        </p:txBody>
      </p:sp>
      <p:sp>
        <p:nvSpPr>
          <p:cNvPr id="24" name="Shape 24"/>
          <p:cNvSpPr txBox="1"/>
          <p:nvPr/>
        </p:nvSpPr>
        <p:spPr>
          <a:xfrm>
            <a:off x="2095500" y="3784600"/>
            <a:ext cx="1397000" cy="508000"/>
          </a:xfrm>
          <a:prstGeom prst="rect">
            <a:avLst/>
          </a:prstGeom>
          <a:noFill/>
          <a:ln>
            <a:noFill/>
          </a:ln>
        </p:spPr>
        <p:txBody>
          <a:bodyPr wrap="square" lIns="0" tIns="0" rIns="0" bIns="0" rtlCol="0" anchor="t">
            <a:noAutofit/>
          </a:bodyPr>
          <a:lstStyle/>
          <a:p>
            <a:pPr algn="ctr">
              <a:spcBef>
                <a:spcPts val="0"/>
              </a:spcBef>
              <a:spcAft>
                <a:spcPts val="0"/>
              </a:spcAft>
              <a:buNone/>
            </a:pPr>
            <a:r>
              <a:rPr lang="en-US" sz="1400" b="1" dirty="0">
                <a:solidFill>
                  <a:srgbClr val="2B2B2B"/>
                </a:solidFill>
              </a:rPr>
              <a:t>Carrier</a:t>
            </a:r>
          </a:p>
          <a:p>
            <a:pPr algn="ctr">
              <a:spcBef>
                <a:spcPts val="0"/>
              </a:spcBef>
              <a:spcAft>
                <a:spcPts val="0"/>
              </a:spcAft>
              <a:buNone/>
            </a:pPr>
            <a:r>
              <a:rPr lang="en-US" sz="1400" dirty="0">
                <a:solidFill>
                  <a:srgbClr val="646464"/>
                </a:solidFill>
              </a:rPr>
              <a:t>25%</a:t>
            </a:r>
          </a:p>
        </p:txBody>
      </p:sp>
      <p:cxnSp>
        <p:nvCxnSpPr>
          <p:cNvPr id="25" name="Line 25"/>
          <p:cNvCxnSpPr/>
          <p:nvPr/>
        </p:nvCxnSpPr>
        <p:spPr>
          <a:xfrm>
            <a:off x="4318000" y="2717800"/>
            <a:ext cx="0" cy="279400"/>
          </a:xfrm>
          <a:prstGeom prst="line">
            <a:avLst/>
          </a:prstGeom>
          <a:ln w="15875">
            <a:solidFill>
              <a:srgbClr val="A0A0A0"/>
            </a:solidFill>
          </a:ln>
        </p:spPr>
      </p:cxnSp>
      <p:sp>
        <p:nvSpPr>
          <p:cNvPr id="26" name="Shape 26"/>
          <p:cNvSpPr/>
          <p:nvPr/>
        </p:nvSpPr>
        <p:spPr>
          <a:xfrm>
            <a:off x="3962400" y="2997200"/>
            <a:ext cx="711200" cy="711200"/>
          </a:xfrm>
          <a:prstGeom prst="ellipse">
            <a:avLst/>
          </a:prstGeom>
          <a:solidFill>
            <a:srgbClr val="FFFFFF"/>
          </a:solidFill>
          <a:ln w="25400">
            <a:solidFill>
              <a:srgbClr val="28509C"/>
            </a:solidFill>
          </a:ln>
        </p:spPr>
        <p:txBody>
          <a:bodyPr wrap="square" lIns="0" tIns="0" rIns="0" bIns="0" rtlCol="0" anchor="ctr">
            <a:noAutofit/>
          </a:bodyPr>
          <a:lstStyle/>
          <a:p>
            <a:pPr algn="ctr">
              <a:spcBef>
                <a:spcPts val="0"/>
              </a:spcBef>
              <a:spcAft>
                <a:spcPts val="0"/>
              </a:spcAft>
              <a:buNone/>
            </a:pPr>
            <a:r>
              <a:rPr lang="en-US" sz="1500" b="1" dirty="0">
                <a:solidFill>
                  <a:srgbClr val="002E56"/>
                </a:solidFill>
              </a:rPr>
              <a:t>R r</a:t>
            </a:r>
          </a:p>
        </p:txBody>
      </p:sp>
      <p:sp>
        <p:nvSpPr>
          <p:cNvPr id="27" name="Shape 27"/>
          <p:cNvSpPr txBox="1"/>
          <p:nvPr/>
        </p:nvSpPr>
        <p:spPr>
          <a:xfrm>
            <a:off x="3619500" y="3784600"/>
            <a:ext cx="1397000" cy="508000"/>
          </a:xfrm>
          <a:prstGeom prst="rect">
            <a:avLst/>
          </a:prstGeom>
          <a:noFill/>
          <a:ln>
            <a:noFill/>
          </a:ln>
        </p:spPr>
        <p:txBody>
          <a:bodyPr wrap="square" lIns="0" tIns="0" rIns="0" bIns="0" rtlCol="0" anchor="t">
            <a:noAutofit/>
          </a:bodyPr>
          <a:lstStyle/>
          <a:p>
            <a:pPr algn="ctr">
              <a:spcBef>
                <a:spcPts val="0"/>
              </a:spcBef>
              <a:spcAft>
                <a:spcPts val="0"/>
              </a:spcAft>
              <a:buNone/>
            </a:pPr>
            <a:r>
              <a:rPr lang="en-US" sz="1400" b="1" dirty="0">
                <a:solidFill>
                  <a:srgbClr val="2B2B2B"/>
                </a:solidFill>
              </a:rPr>
              <a:t>Carrier</a:t>
            </a:r>
          </a:p>
          <a:p>
            <a:pPr algn="ctr">
              <a:spcBef>
                <a:spcPts val="0"/>
              </a:spcBef>
              <a:spcAft>
                <a:spcPts val="0"/>
              </a:spcAft>
              <a:buNone/>
            </a:pPr>
            <a:r>
              <a:rPr lang="en-US" sz="1400" dirty="0">
                <a:solidFill>
                  <a:srgbClr val="646464"/>
                </a:solidFill>
              </a:rPr>
              <a:t>25%</a:t>
            </a:r>
          </a:p>
        </p:txBody>
      </p:sp>
      <p:cxnSp>
        <p:nvCxnSpPr>
          <p:cNvPr id="28" name="Line 28"/>
          <p:cNvCxnSpPr/>
          <p:nvPr/>
        </p:nvCxnSpPr>
        <p:spPr>
          <a:xfrm>
            <a:off x="5842000" y="2717800"/>
            <a:ext cx="0" cy="279400"/>
          </a:xfrm>
          <a:prstGeom prst="line">
            <a:avLst/>
          </a:prstGeom>
          <a:ln w="15875">
            <a:solidFill>
              <a:srgbClr val="A0A0A0"/>
            </a:solidFill>
          </a:ln>
        </p:spPr>
      </p:cxnSp>
      <p:sp>
        <p:nvSpPr>
          <p:cNvPr id="29" name="Shape 29"/>
          <p:cNvSpPr/>
          <p:nvPr/>
        </p:nvSpPr>
        <p:spPr>
          <a:xfrm>
            <a:off x="5486400" y="2997200"/>
            <a:ext cx="711200" cy="711200"/>
          </a:xfrm>
          <a:prstGeom prst="ellipse">
            <a:avLst/>
          </a:prstGeom>
          <a:solidFill>
            <a:srgbClr val="28509C"/>
          </a:solidFill>
          <a:ln w="25400">
            <a:solidFill>
              <a:srgbClr val="28509C"/>
            </a:solidFill>
          </a:ln>
        </p:spPr>
        <p:txBody>
          <a:bodyPr wrap="square" lIns="0" tIns="0" rIns="0" bIns="0" rtlCol="0" anchor="ctr">
            <a:noAutofit/>
          </a:bodyPr>
          <a:lstStyle/>
          <a:p>
            <a:pPr algn="ctr">
              <a:spcBef>
                <a:spcPts val="0"/>
              </a:spcBef>
              <a:spcAft>
                <a:spcPts val="0"/>
              </a:spcAft>
              <a:buNone/>
            </a:pPr>
            <a:r>
              <a:rPr lang="en-US" sz="1500" b="1" dirty="0">
                <a:solidFill>
                  <a:srgbClr val="FFFFFF"/>
                </a:solidFill>
              </a:rPr>
              <a:t>r r</a:t>
            </a:r>
          </a:p>
        </p:txBody>
      </p:sp>
      <p:sp>
        <p:nvSpPr>
          <p:cNvPr id="30" name="Shape 30"/>
          <p:cNvSpPr txBox="1"/>
          <p:nvPr/>
        </p:nvSpPr>
        <p:spPr>
          <a:xfrm>
            <a:off x="5143500" y="3784600"/>
            <a:ext cx="1397000" cy="508000"/>
          </a:xfrm>
          <a:prstGeom prst="rect">
            <a:avLst/>
          </a:prstGeom>
          <a:noFill/>
          <a:ln>
            <a:noFill/>
          </a:ln>
        </p:spPr>
        <p:txBody>
          <a:bodyPr wrap="square" lIns="0" tIns="0" rIns="0" bIns="0" rtlCol="0" anchor="t">
            <a:noAutofit/>
          </a:bodyPr>
          <a:lstStyle/>
          <a:p>
            <a:pPr algn="ctr">
              <a:spcBef>
                <a:spcPts val="0"/>
              </a:spcBef>
              <a:spcAft>
                <a:spcPts val="0"/>
              </a:spcAft>
              <a:buNone/>
            </a:pPr>
            <a:r>
              <a:rPr lang="en-US" sz="1400" b="1" dirty="0">
                <a:solidFill>
                  <a:srgbClr val="2B2B2B"/>
                </a:solidFill>
              </a:rPr>
              <a:t>Affected</a:t>
            </a:r>
          </a:p>
          <a:p>
            <a:pPr algn="ctr">
              <a:spcBef>
                <a:spcPts val="0"/>
              </a:spcBef>
              <a:spcAft>
                <a:spcPts val="0"/>
              </a:spcAft>
              <a:buNone/>
            </a:pPr>
            <a:r>
              <a:rPr lang="en-US" sz="1400" dirty="0">
                <a:solidFill>
                  <a:srgbClr val="646464"/>
                </a:solidFill>
              </a:rPr>
              <a:t>25%</a:t>
            </a:r>
          </a:p>
        </p:txBody>
      </p:sp>
      <p:sp>
        <p:nvSpPr>
          <p:cNvPr id="31" name="Shape 31"/>
          <p:cNvSpPr txBox="1"/>
          <p:nvPr/>
        </p:nvSpPr>
        <p:spPr>
          <a:xfrm>
            <a:off x="660400" y="4597400"/>
            <a:ext cx="6096000" cy="889000"/>
          </a:xfrm>
          <a:prstGeom prst="rect">
            <a:avLst/>
          </a:prstGeom>
          <a:noFill/>
          <a:ln>
            <a:noFill/>
          </a:ln>
        </p:spPr>
        <p:txBody>
          <a:bodyPr wrap="square" lIns="0" tIns="0" rIns="0" bIns="0" rtlCol="0" anchor="t">
            <a:noAutofit/>
          </a:bodyPr>
          <a:lstStyle/>
          <a:p>
            <a:pPr>
              <a:spcBef>
                <a:spcPts val="0"/>
              </a:spcBef>
              <a:spcAft>
                <a:spcPts val="600"/>
              </a:spcAft>
              <a:buNone/>
            </a:pPr>
            <a:r>
              <a:rPr lang="en-US" sz="1400" b="1" dirty="0">
                <a:solidFill>
                  <a:srgbClr val="002E56"/>
                </a:solidFill>
              </a:rPr>
              <a:t>R</a:t>
            </a:r>
            <a:r>
              <a:rPr lang="en-US" sz="1400" dirty="0">
                <a:solidFill>
                  <a:srgbClr val="646464"/>
                </a:solidFill>
              </a:rPr>
              <a:t> working gene copy   </a:t>
            </a:r>
            <a:r>
              <a:rPr lang="en-US" sz="1400" b="1" dirty="0">
                <a:solidFill>
                  <a:srgbClr val="002E56"/>
                </a:solidFill>
              </a:rPr>
              <a:t>r</a:t>
            </a:r>
            <a:r>
              <a:rPr lang="en-US" sz="1400" dirty="0">
                <a:solidFill>
                  <a:srgbClr val="646464"/>
                </a:solidFill>
              </a:rPr>
              <a:t> copy with the disease variant</a:t>
            </a:r>
          </a:p>
          <a:p>
            <a:pPr>
              <a:spcBef>
                <a:spcPts val="0"/>
              </a:spcBef>
              <a:spcAft>
                <a:spcPts val="0"/>
              </a:spcAft>
              <a:buNone/>
            </a:pPr>
            <a:r>
              <a:rPr lang="en-US" sz="1400" dirty="0">
                <a:solidFill>
                  <a:srgbClr val="2B2B2B"/>
                </a:solidFill>
              </a:rPr>
              <a:t>The same odds apply to every pregnancy, whatever the outcome of earlier pregnancies.</a:t>
            </a:r>
          </a:p>
        </p:txBody>
      </p:sp>
      <p:sp>
        <p:nvSpPr>
          <p:cNvPr id="32" name="Shape 32"/>
          <p:cNvSpPr/>
          <p:nvPr/>
        </p:nvSpPr>
        <p:spPr>
          <a:xfrm>
            <a:off x="7366000" y="1574800"/>
            <a:ext cx="4165600" cy="1574800"/>
          </a:xfrm>
          <a:prstGeom prst="roundRect">
            <a:avLst>
              <a:gd name="adj" fmla="val 7258"/>
            </a:avLst>
          </a:prstGeom>
          <a:solidFill>
            <a:srgbClr val="E8EEF7"/>
          </a:solidFill>
          <a:ln>
            <a:noFill/>
          </a:ln>
        </p:spPr>
        <p:txBody>
          <a:bodyPr wrap="square" lIns="0" tIns="0" rIns="0" bIns="0" rtlCol="0" anchor="t">
            <a:noAutofit/>
          </a:bodyPr>
          <a:lstStyle/>
          <a:p>
            <a:endParaRPr lang="en-US" dirty="0"/>
          </a:p>
        </p:txBody>
      </p:sp>
      <p:sp>
        <p:nvSpPr>
          <p:cNvPr id="34" name="Shape 34"/>
          <p:cNvSpPr txBox="1"/>
          <p:nvPr/>
        </p:nvSpPr>
        <p:spPr>
          <a:xfrm>
            <a:off x="7594600" y="1676400"/>
            <a:ext cx="38100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MPS II is the exception</a:t>
            </a:r>
          </a:p>
        </p:txBody>
      </p:sp>
      <p:sp>
        <p:nvSpPr>
          <p:cNvPr id="35" name="Shape 35"/>
          <p:cNvSpPr txBox="1"/>
          <p:nvPr/>
        </p:nvSpPr>
        <p:spPr>
          <a:xfrm>
            <a:off x="7594600" y="2032000"/>
            <a:ext cx="3810000" cy="10668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X-linked: a carrier mother has a 50% chance of passing the variant to each son (affected) and to each daughter (usually a carrier).</a:t>
            </a:r>
          </a:p>
        </p:txBody>
      </p:sp>
      <p:sp>
        <p:nvSpPr>
          <p:cNvPr id="36" name="Shape 36"/>
          <p:cNvSpPr txBox="1"/>
          <p:nvPr/>
        </p:nvSpPr>
        <p:spPr>
          <a:xfrm>
            <a:off x="7366000" y="3327400"/>
            <a:ext cx="41656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What this means for families</a:t>
            </a:r>
          </a:p>
        </p:txBody>
      </p:sp>
      <p:sp>
        <p:nvSpPr>
          <p:cNvPr id="37" name="Shape 37"/>
          <p:cNvSpPr txBox="1"/>
          <p:nvPr/>
        </p:nvSpPr>
        <p:spPr>
          <a:xfrm>
            <a:off x="7366000" y="3683000"/>
            <a:ext cx="4165600" cy="1905000"/>
          </a:xfrm>
          <a:prstGeom prst="rect">
            <a:avLst/>
          </a:prstGeom>
          <a:noFill/>
          <a:ln>
            <a:noFill/>
          </a:ln>
        </p:spPr>
        <p:txBody>
          <a:bodyPr wrap="square" lIns="0" tIns="0" rIns="0" bIns="0" rtlCol="0" anchor="t">
            <a:noAutofit/>
          </a:bodyPr>
          <a:lstStyle/>
          <a:p>
            <a:pPr marL="177800" indent="-177800">
              <a:spcBef>
                <a:spcPts val="0"/>
              </a:spcBef>
              <a:spcAft>
                <a:spcPts val="600"/>
              </a:spcAft>
              <a:buClr>
                <a:srgbClr val="28509C"/>
              </a:buClr>
              <a:buFont typeface="Arial"/>
              <a:buChar char="•"/>
            </a:pPr>
            <a:r>
              <a:rPr lang="en-US" sz="1400" b="1" dirty="0">
                <a:solidFill>
                  <a:srgbClr val="2B2B2B"/>
                </a:solidFill>
              </a:rPr>
              <a:t>Consanguinity</a:t>
            </a:r>
            <a:r>
              <a:rPr lang="en-US" sz="1400" dirty="0">
                <a:solidFill>
                  <a:srgbClr val="2B2B2B"/>
                </a:solidFill>
              </a:rPr>
              <a:t> raises the chance that both parents carry the same variant</a:t>
            </a:r>
          </a:p>
          <a:p>
            <a:pPr marL="177800" indent="-177800">
              <a:spcBef>
                <a:spcPts val="0"/>
              </a:spcBef>
              <a:spcAft>
                <a:spcPts val="600"/>
              </a:spcAft>
              <a:buClr>
                <a:srgbClr val="28509C"/>
              </a:buClr>
              <a:buFont typeface="Arial"/>
              <a:buChar char="•"/>
            </a:pPr>
            <a:r>
              <a:rPr lang="en-US" sz="1400" b="1" dirty="0">
                <a:solidFill>
                  <a:srgbClr val="2B2B2B"/>
                </a:solidFill>
              </a:rPr>
              <a:t>Siblings</a:t>
            </a:r>
            <a:r>
              <a:rPr lang="en-US" sz="1400" dirty="0">
                <a:solidFill>
                  <a:srgbClr val="2B2B2B"/>
                </a:solidFill>
              </a:rPr>
              <a:t> of a patient should be offered testing, as early treatment matters</a:t>
            </a:r>
          </a:p>
          <a:p>
            <a:pPr marL="177800" indent="-177800">
              <a:spcBef>
                <a:spcPts val="0"/>
              </a:spcBef>
              <a:spcAft>
                <a:spcPts val="600"/>
              </a:spcAft>
              <a:buClr>
                <a:srgbClr val="28509C"/>
              </a:buClr>
              <a:buFont typeface="Arial"/>
              <a:buChar char="•"/>
            </a:pPr>
            <a:r>
              <a:rPr lang="en-US" sz="1400" b="1" dirty="0">
                <a:solidFill>
                  <a:srgbClr val="2B2B2B"/>
                </a:solidFill>
              </a:rPr>
              <a:t>Genetic counselling</a:t>
            </a:r>
            <a:r>
              <a:rPr lang="en-US" sz="1400" dirty="0">
                <a:solidFill>
                  <a:srgbClr val="2B2B2B"/>
                </a:solidFill>
              </a:rPr>
              <a:t> supports family planning, including premarital and prenatal options</a:t>
            </a:r>
          </a:p>
        </p:txBody>
      </p:sp>
      <p:sp>
        <p:nvSpPr>
          <p:cNvPr id="38"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MPS, mucopolysaccharidosis</a:t>
            </a:r>
          </a:p>
        </p:txBody>
      </p:sp>
      <p:sp>
        <p:nvSpPr>
          <p:cNvPr id="39"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Muenzer J. Rheumatology (Oxford) 2011;50(Suppl 5):v4–12; Akyol MU et al. Orphanet J Rare Dis 2019;14:137; Akyol MU et al. Orphanet J Rare Dis 2019;14:118.</a:t>
            </a:r>
          </a:p>
        </p:txBody>
      </p:sp>
    </p:spTree>
    <p:extLst>
      <p:ext uri="{BB962C8B-B14F-4D97-AF65-F5344CB8AC3E}">
        <p14:creationId xmlns:p14="http://schemas.microsoft.com/office/powerpoint/2010/main" val="1185319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Understanding MPS</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MPS types and enzyme deficiencies</a:t>
            </a:r>
            <a:endParaRPr lang="en-US" dirty="0"/>
          </a:p>
        </p:txBody>
      </p:sp>
      <p:graphicFrame>
        <p:nvGraphicFramePr>
          <p:cNvPr id="60" name="MPS types table"/>
          <p:cNvGraphicFramePr>
            <a:graphicFrameLocks noGrp="1"/>
          </p:cNvGraphicFramePr>
          <p:nvPr/>
        </p:nvGraphicFramePr>
        <p:xfrm>
          <a:off x="660400" y="1524000"/>
          <a:ext cx="10871200" cy="3665220"/>
        </p:xfrm>
        <a:graphic>
          <a:graphicData uri="http://schemas.openxmlformats.org/drawingml/2006/table">
            <a:tbl>
              <a:tblPr firstRow="1"/>
              <a:tblGrid>
                <a:gridCol w="812800">
                  <a:extLst>
                    <a:ext uri="{9D8B030D-6E8A-4147-A177-3AD203B41FA5}">
                      <a16:colId xmlns:a16="http://schemas.microsoft.com/office/drawing/2014/main" val="20000"/>
                    </a:ext>
                  </a:extLst>
                </a:gridCol>
                <a:gridCol w="21082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gridCol w="1346200">
                  <a:extLst>
                    <a:ext uri="{9D8B030D-6E8A-4147-A177-3AD203B41FA5}">
                      <a16:colId xmlns:a16="http://schemas.microsoft.com/office/drawing/2014/main" val="20003"/>
                    </a:ext>
                  </a:extLst>
                </a:gridCol>
                <a:gridCol w="4191000">
                  <a:extLst>
                    <a:ext uri="{9D8B030D-6E8A-4147-A177-3AD203B41FA5}">
                      <a16:colId xmlns:a16="http://schemas.microsoft.com/office/drawing/2014/main" val="20004"/>
                    </a:ext>
                  </a:extLst>
                </a:gridCol>
              </a:tblGrid>
              <a:tr h="406400">
                <a:tc>
                  <a:txBody>
                    <a:bodyPr/>
                    <a:lstStyle/>
                    <a:p>
                      <a:pPr algn="l"/>
                      <a:r>
                        <a:rPr lang="en-US" sz="1400" b="1" dirty="0">
                          <a:solidFill>
                            <a:srgbClr val="002E56"/>
                          </a:solidFill>
                        </a:rPr>
                        <a:t>Type</a:t>
                      </a:r>
                    </a:p>
                  </a:txBody>
                  <a:tcPr marL="101600" marR="76200" marT="38100" marB="38100" anchor="ctr">
                    <a:lnL w="0">
                      <a:noFill/>
                    </a:lnL>
                    <a:lnR w="0">
                      <a:noFill/>
                    </a:lnR>
                    <a:lnT w="0">
                      <a:noFill/>
                    </a:lnT>
                    <a:lnB w="15875">
                      <a:solidFill>
                        <a:srgbClr val="002E56"/>
                      </a:solidFill>
                    </a:lnB>
                    <a:noFill/>
                  </a:tcPr>
                </a:tc>
                <a:tc>
                  <a:txBody>
                    <a:bodyPr/>
                    <a:lstStyle/>
                    <a:p>
                      <a:pPr algn="l"/>
                      <a:r>
                        <a:rPr lang="en-US" sz="1400" b="1" dirty="0">
                          <a:solidFill>
                            <a:srgbClr val="002E56"/>
                          </a:solidFill>
                        </a:rPr>
                        <a:t>Common name</a:t>
                      </a:r>
                    </a:p>
                  </a:txBody>
                  <a:tcPr marL="101600" marR="76200" marT="38100" marB="38100" anchor="ctr">
                    <a:lnL w="0">
                      <a:noFill/>
                    </a:lnL>
                    <a:lnR w="0">
                      <a:noFill/>
                    </a:lnR>
                    <a:lnT w="0">
                      <a:noFill/>
                    </a:lnT>
                    <a:lnB w="15875">
                      <a:solidFill>
                        <a:srgbClr val="002E56"/>
                      </a:solidFill>
                    </a:lnB>
                    <a:noFill/>
                  </a:tcPr>
                </a:tc>
                <a:tc>
                  <a:txBody>
                    <a:bodyPr/>
                    <a:lstStyle/>
                    <a:p>
                      <a:pPr algn="l"/>
                      <a:r>
                        <a:rPr lang="en-US" sz="1400" b="1" dirty="0">
                          <a:solidFill>
                            <a:srgbClr val="002E56"/>
                          </a:solidFill>
                        </a:rPr>
                        <a:t>Deficient enzyme</a:t>
                      </a:r>
                    </a:p>
                  </a:txBody>
                  <a:tcPr marL="101600" marR="76200" marT="38100" marB="38100" anchor="ctr">
                    <a:lnL w="0">
                      <a:noFill/>
                    </a:lnL>
                    <a:lnR w="0">
                      <a:noFill/>
                    </a:lnR>
                    <a:lnT w="0">
                      <a:noFill/>
                    </a:lnT>
                    <a:lnB w="15875">
                      <a:solidFill>
                        <a:srgbClr val="002E56"/>
                      </a:solidFill>
                    </a:lnB>
                    <a:noFill/>
                  </a:tcPr>
                </a:tc>
                <a:tc>
                  <a:txBody>
                    <a:bodyPr/>
                    <a:lstStyle/>
                    <a:p>
                      <a:pPr algn="l"/>
                      <a:r>
                        <a:rPr lang="en-US" sz="1400" b="1" dirty="0">
                          <a:solidFill>
                            <a:srgbClr val="002E56"/>
                          </a:solidFill>
                        </a:rPr>
                        <a:t>Stored GAG</a:t>
                      </a:r>
                    </a:p>
                  </a:txBody>
                  <a:tcPr marL="101600" marR="76200" marT="38100" marB="38100" anchor="ctr">
                    <a:lnL w="0">
                      <a:noFill/>
                    </a:lnL>
                    <a:lnR w="0">
                      <a:noFill/>
                    </a:lnR>
                    <a:lnT w="0">
                      <a:noFill/>
                    </a:lnT>
                    <a:lnB w="15875">
                      <a:solidFill>
                        <a:srgbClr val="002E56"/>
                      </a:solidFill>
                    </a:lnB>
                    <a:noFill/>
                  </a:tcPr>
                </a:tc>
                <a:tc>
                  <a:txBody>
                    <a:bodyPr/>
                    <a:lstStyle/>
                    <a:p>
                      <a:pPr algn="l"/>
                      <a:r>
                        <a:rPr lang="en-US" sz="1400" b="1" dirty="0">
                          <a:solidFill>
                            <a:srgbClr val="002E56"/>
                          </a:solidFill>
                        </a:rPr>
                        <a:t>Hallmark features</a:t>
                      </a:r>
                    </a:p>
                  </a:txBody>
                  <a:tcPr marL="101600" marR="76200" marT="38100" marB="38100" anchor="ctr">
                    <a:lnL w="0">
                      <a:noFill/>
                    </a:lnL>
                    <a:lnR w="0">
                      <a:noFill/>
                    </a:lnR>
                    <a:lnT w="0">
                      <a:noFill/>
                    </a:lnT>
                    <a:lnB w="15875">
                      <a:solidFill>
                        <a:srgbClr val="002E56"/>
                      </a:solidFill>
                    </a:lnB>
                    <a:noFill/>
                  </a:tcPr>
                </a:tc>
                <a:extLst>
                  <a:ext uri="{0D108BD9-81ED-4DB2-BD59-A6C34878D82A}">
                    <a16:rowId xmlns:a16="http://schemas.microsoft.com/office/drawing/2014/main" val="10000"/>
                  </a:ext>
                </a:extLst>
              </a:tr>
              <a:tr h="393700">
                <a:tc>
                  <a:txBody>
                    <a:bodyPr/>
                    <a:lstStyle/>
                    <a:p>
                      <a:pPr algn="l"/>
                      <a:r>
                        <a:rPr lang="en-US" sz="1400" b="1" dirty="0">
                          <a:solidFill>
                            <a:srgbClr val="28509C"/>
                          </a:solidFill>
                        </a:rPr>
                        <a:t>I</a:t>
                      </a:r>
                    </a:p>
                  </a:txBody>
                  <a:tcPr marL="101600" marR="76200" marT="38100" marB="381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Hurler, Hurler-Scheie, Scheie</a:t>
                      </a:r>
                    </a:p>
                  </a:txBody>
                  <a:tcPr marL="101600" marR="76200" marT="38100" marB="381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α-L-iduronidase</a:t>
                      </a:r>
                    </a:p>
                  </a:txBody>
                  <a:tcPr marL="101600" marR="76200" marT="38100" marB="381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DS, HS</a:t>
                      </a:r>
                    </a:p>
                  </a:txBody>
                  <a:tcPr marL="101600" marR="76200" marT="38100" marB="381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Skeletal and organ disease; brain in severe form</a:t>
                      </a:r>
                    </a:p>
                  </a:txBody>
                  <a:tcPr marL="101600" marR="76200" marT="38100" marB="381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393700">
                <a:tc>
                  <a:txBody>
                    <a:bodyPr/>
                    <a:lstStyle/>
                    <a:p>
                      <a:pPr algn="l"/>
                      <a:r>
                        <a:rPr lang="en-US" sz="1400" b="1" dirty="0">
                          <a:solidFill>
                            <a:srgbClr val="28509C"/>
                          </a:solidFill>
                        </a:rPr>
                        <a:t>II</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Hunter</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Iduronate-2-sulfatase</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DS, HS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X-linked, mainly males; similar to MPS I</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393700">
                <a:tc>
                  <a:txBody>
                    <a:bodyPr/>
                    <a:lstStyle/>
                    <a:p>
                      <a:pPr algn="l"/>
                      <a:r>
                        <a:rPr lang="en-US" sz="1400" b="1" dirty="0">
                          <a:solidFill>
                            <a:srgbClr val="28509C"/>
                          </a:solidFill>
                        </a:rPr>
                        <a:t>III</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Sanfilippo A–D</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Four different enzymes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HS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Mainly brain: behaviour, sleep, regression</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393700">
                <a:tc>
                  <a:txBody>
                    <a:bodyPr/>
                    <a:lstStyle/>
                    <a:p>
                      <a:pPr algn="l"/>
                      <a:r>
                        <a:rPr lang="en-US" sz="1400" b="1" dirty="0">
                          <a:solidFill>
                            <a:srgbClr val="28509C"/>
                          </a:solidFill>
                        </a:rPr>
                        <a:t>IVA</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US" sz="1400" b="1" dirty="0">
                          <a:solidFill>
                            <a:srgbClr val="2B2B2B"/>
                          </a:solidFill>
                        </a:rPr>
                        <a:t>Morquio A</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US" sz="1400" b="1" dirty="0">
                          <a:solidFill>
                            <a:srgbClr val="2B2B2B"/>
                          </a:solidFill>
                        </a:rPr>
                        <a:t>GALNS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US" sz="1400" b="1" dirty="0">
                          <a:solidFill>
                            <a:srgbClr val="2B2B2B"/>
                          </a:solidFill>
                        </a:rPr>
                        <a:t>KS, C6S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US" sz="1400" b="1" dirty="0">
                          <a:solidFill>
                            <a:srgbClr val="2B2B2B"/>
                          </a:solidFill>
                        </a:rPr>
                        <a:t>Severe skeletal, lax joints; normal cognition</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extLst>
                  <a:ext uri="{0D108BD9-81ED-4DB2-BD59-A6C34878D82A}">
                    <a16:rowId xmlns:a16="http://schemas.microsoft.com/office/drawing/2014/main" val="10004"/>
                  </a:ext>
                </a:extLst>
              </a:tr>
              <a:tr h="393700">
                <a:tc>
                  <a:txBody>
                    <a:bodyPr/>
                    <a:lstStyle/>
                    <a:p>
                      <a:pPr algn="l"/>
                      <a:r>
                        <a:rPr lang="en-US" sz="1400" b="1" dirty="0">
                          <a:solidFill>
                            <a:srgbClr val="28509C"/>
                          </a:solidFill>
                        </a:rPr>
                        <a:t>IVB</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Morquio B</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β-galactosidase</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KS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Milder skeletal disease</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5"/>
                  </a:ext>
                </a:extLst>
              </a:tr>
              <a:tr h="393700">
                <a:tc>
                  <a:txBody>
                    <a:bodyPr/>
                    <a:lstStyle/>
                    <a:p>
                      <a:pPr algn="l"/>
                      <a:r>
                        <a:rPr lang="en-US" sz="1400" b="1" dirty="0">
                          <a:solidFill>
                            <a:srgbClr val="28509C"/>
                          </a:solidFill>
                        </a:rPr>
                        <a:t>VI</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US" sz="1400" b="1" dirty="0">
                          <a:solidFill>
                            <a:srgbClr val="2B2B2B"/>
                          </a:solidFill>
                        </a:rPr>
                        <a:t>Maroteaux-Lamy</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US" sz="1400" b="1" dirty="0">
                          <a:solidFill>
                            <a:srgbClr val="2B2B2B"/>
                          </a:solidFill>
                        </a:rPr>
                        <a:t>ARSB</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US" sz="1400" b="1" dirty="0">
                          <a:solidFill>
                            <a:srgbClr val="2B2B2B"/>
                          </a:solidFill>
                        </a:rPr>
                        <a:t>DS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US" sz="1400" b="1" dirty="0">
                          <a:solidFill>
                            <a:srgbClr val="2B2B2B"/>
                          </a:solidFill>
                        </a:rPr>
                        <a:t>Skeleton, heart and cornea; normal cognition</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extLst>
                  <a:ext uri="{0D108BD9-81ED-4DB2-BD59-A6C34878D82A}">
                    <a16:rowId xmlns:a16="http://schemas.microsoft.com/office/drawing/2014/main" val="10006"/>
                  </a:ext>
                </a:extLst>
              </a:tr>
              <a:tr h="393700">
                <a:tc>
                  <a:txBody>
                    <a:bodyPr/>
                    <a:lstStyle/>
                    <a:p>
                      <a:pPr algn="l"/>
                      <a:r>
                        <a:rPr lang="en-US" sz="1400" b="1" dirty="0">
                          <a:solidFill>
                            <a:srgbClr val="28509C"/>
                          </a:solidFill>
                        </a:rPr>
                        <a:t>VII</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Sly</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β-glucuronidase</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DS, HS, CS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Very variable; may present before birth</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7"/>
                  </a:ext>
                </a:extLst>
              </a:tr>
              <a:tr h="393700">
                <a:tc>
                  <a:txBody>
                    <a:bodyPr/>
                    <a:lstStyle/>
                    <a:p>
                      <a:pPr algn="l"/>
                      <a:r>
                        <a:rPr lang="en-US" sz="1400" b="1" dirty="0">
                          <a:solidFill>
                            <a:srgbClr val="28509C"/>
                          </a:solidFill>
                        </a:rPr>
                        <a:t>IX</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Natowicz</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Hyaluronidase</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Hyaluronan</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US" sz="1400" dirty="0">
                          <a:solidFill>
                            <a:srgbClr val="2B2B2B"/>
                          </a:solidFill>
                        </a:rPr>
                        <a:t>Very rare; soft-tissue masses near joints</a:t>
                      </a:r>
                    </a:p>
                  </a:txBody>
                  <a:tcPr marL="101600" marR="76200" marT="38100" marB="381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8"/>
                  </a:ext>
                </a:extLst>
              </a:tr>
            </a:tbl>
          </a:graphicData>
        </a:graphic>
      </p:graphicFrame>
      <p:sp>
        <p:nvSpPr>
          <p:cNvPr id="12" name="Shape 12"/>
          <p:cNvSpPr txBox="1"/>
          <p:nvPr/>
        </p:nvSpPr>
        <p:spPr>
          <a:xfrm>
            <a:off x="660400" y="5283200"/>
            <a:ext cx="10871200" cy="4572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ARSB, arylsulfatase B; C6S, chondroitin-6-sulfate; CS, chondroitin sulfate; DS, dermatan sulfate; GAG, glycosaminoglycan; GALNS, N-acetylgalactosamine-6-sulfatase; HS, heparan sulfate; KS, keratan sulfate; MPS, mucopolysaccharidosis</a:t>
            </a:r>
          </a:p>
        </p:txBody>
      </p:sp>
      <p:sp>
        <p:nvSpPr>
          <p:cNvPr id="13" name="Shape 13"/>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Muenzer J. Rheumatology (Oxford) 2011;50(Suppl 5):v4–12; Neufeld EF, Muenzer J. In: The Metabolic and Molecular Bases of Inherited Disease. 8th ed. McGraw-Hill; 2001:3421–52.</a:t>
            </a:r>
          </a:p>
        </p:txBody>
      </p:sp>
    </p:spTree>
    <p:extLst>
      <p:ext uri="{BB962C8B-B14F-4D97-AF65-F5344CB8AC3E}">
        <p14:creationId xmlns:p14="http://schemas.microsoft.com/office/powerpoint/2010/main" val="2888786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MPS IVA and MPS VI</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MPS IVA (Morquio A): key facts</a:t>
            </a:r>
            <a:endParaRPr lang="en-US" dirty="0"/>
          </a:p>
        </p:txBody>
      </p:sp>
      <p:sp>
        <p:nvSpPr>
          <p:cNvPr id="12" name="Shape 12"/>
          <p:cNvSpPr/>
          <p:nvPr/>
        </p:nvSpPr>
        <p:spPr>
          <a:xfrm>
            <a:off x="660400" y="1473200"/>
            <a:ext cx="2794000" cy="4140200"/>
          </a:xfrm>
          <a:prstGeom prst="roundRect">
            <a:avLst>
              <a:gd name="adj" fmla="val 4091"/>
            </a:avLst>
          </a:prstGeom>
          <a:solidFill>
            <a:srgbClr val="F1F4F9"/>
          </a:solidFill>
          <a:ln>
            <a:noFill/>
          </a:ln>
        </p:spPr>
        <p:txBody>
          <a:bodyPr wrap="square" lIns="0" tIns="0" rIns="0" bIns="0" rtlCol="0" anchor="t">
            <a:noAutofit/>
          </a:bodyPr>
          <a:lstStyle/>
          <a:p>
            <a:endParaRPr lang="en-US" dirty="0"/>
          </a:p>
        </p:txBody>
      </p:sp>
      <p:sp>
        <p:nvSpPr>
          <p:cNvPr id="13" name="Shape 13"/>
          <p:cNvSpPr txBox="1"/>
          <p:nvPr/>
        </p:nvSpPr>
        <p:spPr>
          <a:xfrm>
            <a:off x="863600" y="1625600"/>
            <a:ext cx="2438400" cy="228600"/>
          </a:xfrm>
          <a:prstGeom prst="rect">
            <a:avLst/>
          </a:prstGeom>
          <a:noFill/>
          <a:ln>
            <a:noFill/>
          </a:ln>
        </p:spPr>
        <p:txBody>
          <a:bodyPr wrap="square" lIns="0" tIns="0" rIns="0" bIns="0" rtlCol="0" anchor="t">
            <a:noAutofit/>
          </a:bodyPr>
          <a:lstStyle/>
          <a:p>
            <a:pPr>
              <a:spcBef>
                <a:spcPts val="0"/>
              </a:spcBef>
              <a:spcAft>
                <a:spcPts val="0"/>
              </a:spcAft>
              <a:buNone/>
            </a:pPr>
            <a:r>
              <a:rPr lang="en-US" sz="1200" b="1" spc="100" dirty="0">
                <a:solidFill>
                  <a:srgbClr val="28509C"/>
                </a:solidFill>
              </a:rPr>
              <a:t>Key facts</a:t>
            </a:r>
          </a:p>
        </p:txBody>
      </p:sp>
      <p:sp>
        <p:nvSpPr>
          <p:cNvPr id="14" name="Shape 14"/>
          <p:cNvSpPr txBox="1"/>
          <p:nvPr/>
        </p:nvSpPr>
        <p:spPr>
          <a:xfrm>
            <a:off x="863600" y="1930400"/>
            <a:ext cx="2463800" cy="3581400"/>
          </a:xfrm>
          <a:prstGeom prst="rect">
            <a:avLst/>
          </a:prstGeom>
          <a:noFill/>
          <a:ln>
            <a:noFill/>
          </a:ln>
        </p:spPr>
        <p:txBody>
          <a:bodyPr wrap="square" lIns="0" tIns="0" rIns="0" bIns="0" rtlCol="0" anchor="t">
            <a:noAutofit/>
          </a:bodyPr>
          <a:lstStyle/>
          <a:p>
            <a:pPr>
              <a:spcBef>
                <a:spcPts val="0"/>
              </a:spcBef>
              <a:spcAft>
                <a:spcPts val="0"/>
              </a:spcAft>
              <a:buNone/>
            </a:pPr>
            <a:r>
              <a:rPr lang="en-US" sz="1300" b="1" dirty="0">
                <a:solidFill>
                  <a:srgbClr val="002E56"/>
                </a:solidFill>
              </a:rPr>
              <a:t>Enzyme</a:t>
            </a:r>
          </a:p>
          <a:p>
            <a:pPr>
              <a:spcBef>
                <a:spcPts val="0"/>
              </a:spcBef>
              <a:spcAft>
                <a:spcPts val="900"/>
              </a:spcAft>
              <a:buNone/>
            </a:pPr>
            <a:r>
              <a:rPr lang="en-US" sz="1200" dirty="0">
                <a:solidFill>
                  <a:srgbClr val="2B2B2B"/>
                </a:solidFill>
              </a:rPr>
              <a:t>GALNS is deficient</a:t>
            </a:r>
          </a:p>
          <a:p>
            <a:pPr>
              <a:spcBef>
                <a:spcPts val="0"/>
              </a:spcBef>
              <a:spcAft>
                <a:spcPts val="0"/>
              </a:spcAft>
              <a:buNone/>
            </a:pPr>
            <a:r>
              <a:rPr lang="en-US" sz="1300" b="1" dirty="0">
                <a:solidFill>
                  <a:srgbClr val="002E56"/>
                </a:solidFill>
              </a:rPr>
              <a:t>Stored GAGs</a:t>
            </a:r>
          </a:p>
          <a:p>
            <a:pPr>
              <a:spcBef>
                <a:spcPts val="0"/>
              </a:spcBef>
              <a:spcAft>
                <a:spcPts val="900"/>
              </a:spcAft>
              <a:buNone/>
            </a:pPr>
            <a:r>
              <a:rPr lang="en-US" sz="1200" dirty="0">
                <a:solidFill>
                  <a:srgbClr val="2B2B2B"/>
                </a:solidFill>
              </a:rPr>
              <a:t>Keratan sulfate and chondroitin-6-sulfate</a:t>
            </a:r>
          </a:p>
          <a:p>
            <a:pPr>
              <a:spcBef>
                <a:spcPts val="0"/>
              </a:spcBef>
              <a:spcAft>
                <a:spcPts val="0"/>
              </a:spcAft>
              <a:buNone/>
            </a:pPr>
            <a:r>
              <a:rPr lang="en-US" sz="1300" b="1" dirty="0">
                <a:solidFill>
                  <a:srgbClr val="002E56"/>
                </a:solidFill>
              </a:rPr>
              <a:t>Onset</a:t>
            </a:r>
          </a:p>
          <a:p>
            <a:pPr>
              <a:spcBef>
                <a:spcPts val="0"/>
              </a:spcBef>
              <a:spcAft>
                <a:spcPts val="900"/>
              </a:spcAft>
              <a:buNone/>
            </a:pPr>
            <a:r>
              <a:rPr lang="en-US" sz="1200" dirty="0">
                <a:solidFill>
                  <a:srgbClr val="2B2B2B"/>
                </a:solidFill>
              </a:rPr>
              <a:t>Normal at birth; skeletal signs develop progressively from about age 3</a:t>
            </a:r>
          </a:p>
          <a:p>
            <a:pPr>
              <a:spcBef>
                <a:spcPts val="0"/>
              </a:spcBef>
              <a:spcAft>
                <a:spcPts val="0"/>
              </a:spcAft>
              <a:buNone/>
            </a:pPr>
            <a:r>
              <a:rPr lang="en-US" sz="1300" b="1" dirty="0">
                <a:solidFill>
                  <a:srgbClr val="002E56"/>
                </a:solidFill>
              </a:rPr>
              <a:t>Cognition</a:t>
            </a:r>
          </a:p>
          <a:p>
            <a:pPr>
              <a:spcBef>
                <a:spcPts val="0"/>
              </a:spcBef>
              <a:spcAft>
                <a:spcPts val="900"/>
              </a:spcAft>
              <a:buNone/>
            </a:pPr>
            <a:r>
              <a:rPr lang="en-US" sz="1200" dirty="0">
                <a:solidFill>
                  <a:srgbClr val="2B2B2B"/>
                </a:solidFill>
              </a:rPr>
              <a:t>Usually normal</a:t>
            </a:r>
          </a:p>
          <a:p>
            <a:pPr>
              <a:spcBef>
                <a:spcPts val="0"/>
              </a:spcBef>
              <a:spcAft>
                <a:spcPts val="0"/>
              </a:spcAft>
              <a:buNone/>
            </a:pPr>
            <a:r>
              <a:rPr lang="en-US" sz="1300" b="1" dirty="0">
                <a:solidFill>
                  <a:srgbClr val="002E56"/>
                </a:solidFill>
              </a:rPr>
              <a:t>Life expectancy</a:t>
            </a:r>
          </a:p>
          <a:p>
            <a:pPr>
              <a:spcBef>
                <a:spcPts val="0"/>
              </a:spcBef>
              <a:spcAft>
                <a:spcPts val="900"/>
              </a:spcAft>
              <a:buNone/>
            </a:pPr>
            <a:r>
              <a:rPr lang="en-US" sz="1200" dirty="0">
                <a:solidFill>
                  <a:srgbClr val="2B2B2B"/>
                </a:solidFill>
              </a:rPr>
              <a:t>From the second decade to near-normal, depending on severity</a:t>
            </a:r>
          </a:p>
        </p:txBody>
      </p:sp>
      <p:sp>
        <p:nvSpPr>
          <p:cNvPr id="39"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ENT, ear, nose and throat; GAG, glycosaminoglycan; GALNS, N-acetylgalactosamine-6-sulfatase; MPS, mucopolysaccharidosis</a:t>
            </a:r>
          </a:p>
        </p:txBody>
      </p:sp>
      <p:sp>
        <p:nvSpPr>
          <p:cNvPr id="40"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Image: 1. Hendriksz CJ et al. Am J Med Genet A 2015;167A:11–25. 2. Hendriksz CJ et al. J Inherit Metab Dis 2013;36:309–22. 3. Tomatsu S et al. Curr Pharm Biotechnol 2011;12:931–45. Key facts: Hendriksz CJ et al. Am J Med Genet A 2015;167A:11–25; Hendriksz CJ et al. Mol Genet Metab 2013;110:54–64; Akyol MU et al. Orphanet J Rare Dis 2019;14:137.</a:t>
            </a:r>
          </a:p>
        </p:txBody>
      </p:sp>
      <p:pic>
        <p:nvPicPr>
          <p:cNvPr id="41" name="Copied Picture 41">
            <a:extLst>
              <a:ext uri="{FF2B5EF4-FFF2-40B4-BE49-F238E27FC236}">
                <a16:creationId xmlns:a16="http://schemas.microsoft.com/office/drawing/2014/main" id="{B5CB7A2F-3721-CBA8-5671-D05B4C8AD5FA}"/>
              </a:ext>
            </a:extLst>
          </p:cNvPr>
          <p:cNvPicPr>
            <a:picLocks noChangeAspect="1"/>
          </p:cNvPicPr>
          <p:nvPr/>
        </p:nvPicPr>
        <p:blipFill>
          <a:blip r:embed="rId2"/>
          <a:srcRect l="28400" r="29800" b="6500"/>
          <a:stretch>
            <a:fillRect/>
          </a:stretch>
        </p:blipFill>
        <p:spPr>
          <a:xfrm>
            <a:off x="6159500" y="1422400"/>
            <a:ext cx="2786665" cy="4013200"/>
          </a:xfrm>
          <a:prstGeom prst="rect">
            <a:avLst/>
          </a:prstGeom>
        </p:spPr>
      </p:pic>
      <p:sp>
        <p:nvSpPr>
          <p:cNvPr id="80" name="Organ Ophthalmological"/>
          <p:cNvSpPr txBox="1"/>
          <p:nvPr/>
        </p:nvSpPr>
        <p:spPr>
          <a:xfrm>
            <a:off x="3606800" y="1671604"/>
            <a:ext cx="2476500" cy="1016000"/>
          </a:xfrm>
          <a:prstGeom prst="rect">
            <a:avLst/>
          </a:prstGeom>
          <a:noFill/>
          <a:ln>
            <a:noFill/>
          </a:ln>
        </p:spPr>
        <p:txBody>
          <a:bodyPr wrap="square" lIns="0" tIns="0" rIns="0" bIns="0" rtlCol="0" anchor="t">
            <a:noAutofit/>
          </a:bodyPr>
          <a:lstStyle/>
          <a:p>
            <a:pPr algn="r">
              <a:lnSpc>
                <a:spcPct val="100000"/>
              </a:lnSpc>
              <a:spcBef>
                <a:spcPts val="0"/>
              </a:spcBef>
              <a:buNone/>
            </a:pPr>
            <a:r>
              <a:rPr lang="en-US" sz="1300" b="1" dirty="0">
                <a:solidFill>
                  <a:srgbClr val="28509C"/>
                </a:solidFill>
              </a:rPr>
              <a:t>Ophthalmological</a:t>
            </a:r>
          </a:p>
          <a:p>
            <a:pPr algn="r">
              <a:lnSpc>
                <a:spcPct val="100000"/>
              </a:lnSpc>
              <a:spcBef>
                <a:spcPts val="0"/>
              </a:spcBef>
              <a:buNone/>
            </a:pPr>
            <a:r>
              <a:rPr lang="en-US" sz="1200" dirty="0">
                <a:solidFill>
                  <a:srgbClr val="2B2B2B"/>
                </a:solidFill>
              </a:rPr>
              <a:t>Diffuse corneal clouding, cataracts, astigmatism, visual impairment</a:t>
            </a:r>
            <a:r>
              <a:rPr lang="en-US" sz="1200" baseline="30000" dirty="0">
                <a:solidFill>
                  <a:srgbClr val="2B2B2B"/>
                </a:solidFill>
              </a:rPr>
              <a:t>1,2</a:t>
            </a:r>
          </a:p>
        </p:txBody>
      </p:sp>
      <p:sp>
        <p:nvSpPr>
          <p:cNvPr id="81" name="Organ Pulmonary"/>
          <p:cNvSpPr txBox="1"/>
          <p:nvPr/>
        </p:nvSpPr>
        <p:spPr>
          <a:xfrm>
            <a:off x="3606800" y="2584727"/>
            <a:ext cx="2476500" cy="1016000"/>
          </a:xfrm>
          <a:prstGeom prst="rect">
            <a:avLst/>
          </a:prstGeom>
          <a:noFill/>
          <a:ln>
            <a:noFill/>
          </a:ln>
        </p:spPr>
        <p:txBody>
          <a:bodyPr wrap="square" lIns="0" tIns="0" rIns="0" bIns="0" rtlCol="0" anchor="t">
            <a:noAutofit/>
          </a:bodyPr>
          <a:lstStyle/>
          <a:p>
            <a:pPr algn="r">
              <a:lnSpc>
                <a:spcPct val="100000"/>
              </a:lnSpc>
              <a:spcBef>
                <a:spcPts val="0"/>
              </a:spcBef>
              <a:buNone/>
            </a:pPr>
            <a:r>
              <a:rPr lang="en-US" sz="1300" b="1" dirty="0">
                <a:solidFill>
                  <a:srgbClr val="28509C"/>
                </a:solidFill>
              </a:rPr>
              <a:t>Pulmonary</a:t>
            </a:r>
          </a:p>
          <a:p>
            <a:pPr algn="r">
              <a:lnSpc>
                <a:spcPct val="100000"/>
              </a:lnSpc>
              <a:spcBef>
                <a:spcPts val="0"/>
              </a:spcBef>
              <a:buNone/>
            </a:pPr>
            <a:r>
              <a:rPr lang="en-US" sz="1200" dirty="0">
                <a:solidFill>
                  <a:srgbClr val="2B2B2B"/>
                </a:solidFill>
              </a:rPr>
              <a:t>Obstructive sleep apnoea, respiratory infections, respiratory failure</a:t>
            </a:r>
            <a:r>
              <a:rPr lang="en-US" sz="1200" baseline="30000" dirty="0">
                <a:solidFill>
                  <a:srgbClr val="2B2B2B"/>
                </a:solidFill>
              </a:rPr>
              <a:t>2,3</a:t>
            </a:r>
          </a:p>
        </p:txBody>
      </p:sp>
      <p:sp>
        <p:nvSpPr>
          <p:cNvPr id="82" name="Organ Gastrointestinal"/>
          <p:cNvSpPr txBox="1"/>
          <p:nvPr/>
        </p:nvSpPr>
        <p:spPr>
          <a:xfrm>
            <a:off x="3606800" y="3528803"/>
            <a:ext cx="2476500" cy="1016000"/>
          </a:xfrm>
          <a:prstGeom prst="rect">
            <a:avLst/>
          </a:prstGeom>
          <a:noFill/>
          <a:ln>
            <a:noFill/>
          </a:ln>
        </p:spPr>
        <p:txBody>
          <a:bodyPr wrap="square" lIns="0" tIns="0" rIns="0" bIns="0" rtlCol="0" anchor="t">
            <a:noAutofit/>
          </a:bodyPr>
          <a:lstStyle/>
          <a:p>
            <a:pPr algn="r">
              <a:lnSpc>
                <a:spcPct val="100000"/>
              </a:lnSpc>
              <a:spcBef>
                <a:spcPts val="0"/>
              </a:spcBef>
              <a:buNone/>
            </a:pPr>
            <a:r>
              <a:rPr lang="en-US" sz="1300" b="1" dirty="0">
                <a:solidFill>
                  <a:srgbClr val="28509C"/>
                </a:solidFill>
              </a:rPr>
              <a:t>Gastrointestinal</a:t>
            </a:r>
          </a:p>
          <a:p>
            <a:pPr algn="r">
              <a:lnSpc>
                <a:spcPct val="100000"/>
              </a:lnSpc>
              <a:spcBef>
                <a:spcPts val="0"/>
              </a:spcBef>
              <a:buNone/>
            </a:pPr>
            <a:r>
              <a:rPr lang="en-US" sz="1200" dirty="0">
                <a:solidFill>
                  <a:srgbClr val="2B2B2B"/>
                </a:solidFill>
              </a:rPr>
              <a:t>Hepatomegaly, splenomegaly, hernias, diarrhoea, constipation</a:t>
            </a:r>
            <a:r>
              <a:rPr lang="en-US" sz="1200" baseline="30000" dirty="0">
                <a:solidFill>
                  <a:srgbClr val="2B2B2B"/>
                </a:solidFill>
              </a:rPr>
              <a:t>1,2</a:t>
            </a:r>
          </a:p>
        </p:txBody>
      </p:sp>
      <p:sp>
        <p:nvSpPr>
          <p:cNvPr id="83" name="Organ Neurological"/>
          <p:cNvSpPr txBox="1"/>
          <p:nvPr/>
        </p:nvSpPr>
        <p:spPr>
          <a:xfrm>
            <a:off x="3606800" y="4478038"/>
            <a:ext cx="2476500" cy="1016000"/>
          </a:xfrm>
          <a:prstGeom prst="rect">
            <a:avLst/>
          </a:prstGeom>
          <a:noFill/>
          <a:ln>
            <a:noFill/>
          </a:ln>
        </p:spPr>
        <p:txBody>
          <a:bodyPr wrap="square" lIns="0" tIns="0" rIns="0" bIns="0" rtlCol="0" anchor="t">
            <a:noAutofit/>
          </a:bodyPr>
          <a:lstStyle/>
          <a:p>
            <a:pPr algn="r">
              <a:lnSpc>
                <a:spcPct val="100000"/>
              </a:lnSpc>
              <a:spcBef>
                <a:spcPts val="0"/>
              </a:spcBef>
              <a:buNone/>
            </a:pPr>
            <a:r>
              <a:rPr lang="en-US" sz="1300" b="1" dirty="0">
                <a:solidFill>
                  <a:srgbClr val="28509C"/>
                </a:solidFill>
              </a:rPr>
              <a:t>Neurological</a:t>
            </a:r>
          </a:p>
          <a:p>
            <a:pPr algn="r">
              <a:lnSpc>
                <a:spcPct val="100000"/>
              </a:lnSpc>
              <a:spcBef>
                <a:spcPts val="0"/>
              </a:spcBef>
              <a:buNone/>
            </a:pPr>
            <a:r>
              <a:rPr lang="en-US" sz="1200" dirty="0">
                <a:solidFill>
                  <a:srgbClr val="2B2B2B"/>
                </a:solidFill>
              </a:rPr>
              <a:t>Cervical myelopathy from odontoid dysplasia or cervical spine instability, tetraplegia</a:t>
            </a:r>
            <a:r>
              <a:rPr lang="en-US" sz="1200" baseline="30000" dirty="0">
                <a:solidFill>
                  <a:srgbClr val="2B2B2B"/>
                </a:solidFill>
              </a:rPr>
              <a:t>1,3</a:t>
            </a:r>
          </a:p>
        </p:txBody>
      </p:sp>
      <p:sp>
        <p:nvSpPr>
          <p:cNvPr id="84" name="Organ ENT"/>
          <p:cNvSpPr txBox="1"/>
          <p:nvPr/>
        </p:nvSpPr>
        <p:spPr>
          <a:xfrm>
            <a:off x="8970034" y="1692240"/>
            <a:ext cx="2476500" cy="1016000"/>
          </a:xfrm>
          <a:prstGeom prst="rect">
            <a:avLst/>
          </a:prstGeom>
          <a:noFill/>
          <a:ln>
            <a:noFill/>
          </a:ln>
        </p:spPr>
        <p:txBody>
          <a:bodyPr wrap="square" lIns="0" tIns="0" rIns="0" bIns="0" rtlCol="0" anchor="t">
            <a:noAutofit/>
          </a:bodyPr>
          <a:lstStyle/>
          <a:p>
            <a:pPr algn="l">
              <a:lnSpc>
                <a:spcPct val="100000"/>
              </a:lnSpc>
              <a:spcBef>
                <a:spcPts val="0"/>
              </a:spcBef>
              <a:buNone/>
            </a:pPr>
            <a:r>
              <a:rPr lang="en-US" sz="1300" b="1" dirty="0">
                <a:solidFill>
                  <a:srgbClr val="28509C"/>
                </a:solidFill>
              </a:rPr>
              <a:t>ENT</a:t>
            </a:r>
          </a:p>
          <a:p>
            <a:pPr algn="l">
              <a:lnSpc>
                <a:spcPct val="100000"/>
              </a:lnSpc>
              <a:spcBef>
                <a:spcPts val="0"/>
              </a:spcBef>
              <a:buNone/>
            </a:pPr>
            <a:r>
              <a:rPr lang="en-US" sz="1200" dirty="0">
                <a:solidFill>
                  <a:srgbClr val="2B2B2B"/>
                </a:solidFill>
              </a:rPr>
              <a:t>Conductive and neurosensory hearing loss, airway obstruction</a:t>
            </a:r>
            <a:r>
              <a:rPr lang="en-US" sz="1200" baseline="30000" dirty="0">
                <a:solidFill>
                  <a:srgbClr val="2B2B2B"/>
                </a:solidFill>
              </a:rPr>
              <a:t>1,2</a:t>
            </a:r>
          </a:p>
        </p:txBody>
      </p:sp>
      <p:sp>
        <p:nvSpPr>
          <p:cNvPr id="85" name="Organ Dental"/>
          <p:cNvSpPr txBox="1"/>
          <p:nvPr/>
        </p:nvSpPr>
        <p:spPr>
          <a:xfrm>
            <a:off x="8970034" y="2341060"/>
            <a:ext cx="2476500" cy="1016000"/>
          </a:xfrm>
          <a:prstGeom prst="rect">
            <a:avLst/>
          </a:prstGeom>
          <a:noFill/>
          <a:ln>
            <a:noFill/>
          </a:ln>
        </p:spPr>
        <p:txBody>
          <a:bodyPr wrap="square" lIns="0" tIns="0" rIns="0" bIns="0" rtlCol="0" anchor="t">
            <a:noAutofit/>
          </a:bodyPr>
          <a:lstStyle/>
          <a:p>
            <a:pPr algn="l">
              <a:lnSpc>
                <a:spcPct val="100000"/>
              </a:lnSpc>
              <a:spcBef>
                <a:spcPts val="0"/>
              </a:spcBef>
              <a:buNone/>
            </a:pPr>
            <a:r>
              <a:rPr lang="en-US" sz="1300" b="1" dirty="0">
                <a:solidFill>
                  <a:srgbClr val="28509C"/>
                </a:solidFill>
              </a:rPr>
              <a:t>Dental</a:t>
            </a:r>
          </a:p>
          <a:p>
            <a:pPr algn="l">
              <a:lnSpc>
                <a:spcPct val="100000"/>
              </a:lnSpc>
              <a:spcBef>
                <a:spcPts val="0"/>
              </a:spcBef>
              <a:buNone/>
            </a:pPr>
            <a:r>
              <a:rPr lang="en-US" sz="1200" dirty="0">
                <a:solidFill>
                  <a:srgbClr val="2B2B2B"/>
                </a:solidFill>
              </a:rPr>
              <a:t>Widely spaced teeth, thin enamel, frequent caries, pointed cusps, spade-shaped incisors, abnormal buccal surfaces</a:t>
            </a:r>
            <a:r>
              <a:rPr lang="en-US" sz="1200" baseline="30000" dirty="0">
                <a:solidFill>
                  <a:srgbClr val="2B2B2B"/>
                </a:solidFill>
              </a:rPr>
              <a:t>2,3</a:t>
            </a:r>
          </a:p>
        </p:txBody>
      </p:sp>
      <p:sp>
        <p:nvSpPr>
          <p:cNvPr id="86" name="Organ Cardiac"/>
          <p:cNvSpPr txBox="1"/>
          <p:nvPr/>
        </p:nvSpPr>
        <p:spPr>
          <a:xfrm>
            <a:off x="8970034" y="3435943"/>
            <a:ext cx="2476500" cy="1016000"/>
          </a:xfrm>
          <a:prstGeom prst="rect">
            <a:avLst/>
          </a:prstGeom>
          <a:noFill/>
          <a:ln>
            <a:noFill/>
          </a:ln>
        </p:spPr>
        <p:txBody>
          <a:bodyPr wrap="square" lIns="0" tIns="0" rIns="0" bIns="0" rtlCol="0" anchor="t">
            <a:noAutofit/>
          </a:bodyPr>
          <a:lstStyle/>
          <a:p>
            <a:pPr algn="l">
              <a:lnSpc>
                <a:spcPct val="100000"/>
              </a:lnSpc>
              <a:spcBef>
                <a:spcPts val="0"/>
              </a:spcBef>
              <a:buNone/>
            </a:pPr>
            <a:r>
              <a:rPr lang="en-US" sz="1300" b="1" dirty="0">
                <a:solidFill>
                  <a:srgbClr val="28509C"/>
                </a:solidFill>
              </a:rPr>
              <a:t>Cardiac</a:t>
            </a:r>
          </a:p>
          <a:p>
            <a:pPr algn="l">
              <a:lnSpc>
                <a:spcPct val="100000"/>
              </a:lnSpc>
              <a:spcBef>
                <a:spcPts val="0"/>
              </a:spcBef>
              <a:buNone/>
            </a:pPr>
            <a:r>
              <a:rPr lang="en-US" sz="1200" dirty="0">
                <a:solidFill>
                  <a:srgbClr val="2B2B2B"/>
                </a:solidFill>
              </a:rPr>
              <a:t>Mitral and aortic valve stenosis and regurgitation, left ventricular hypertrophy</a:t>
            </a:r>
            <a:r>
              <a:rPr lang="en-US" sz="1200" baseline="30000" dirty="0">
                <a:solidFill>
                  <a:srgbClr val="2B2B2B"/>
                </a:solidFill>
              </a:rPr>
              <a:t>2</a:t>
            </a:r>
          </a:p>
        </p:txBody>
      </p:sp>
      <p:sp>
        <p:nvSpPr>
          <p:cNvPr id="87" name="Organ Skeletal"/>
          <p:cNvSpPr txBox="1"/>
          <p:nvPr/>
        </p:nvSpPr>
        <p:spPr>
          <a:xfrm>
            <a:off x="8970034" y="4405813"/>
            <a:ext cx="2476500" cy="1016000"/>
          </a:xfrm>
          <a:prstGeom prst="rect">
            <a:avLst/>
          </a:prstGeom>
          <a:noFill/>
          <a:ln>
            <a:noFill/>
          </a:ln>
        </p:spPr>
        <p:txBody>
          <a:bodyPr wrap="square" lIns="0" tIns="0" rIns="0" bIns="0" rtlCol="0" anchor="t">
            <a:noAutofit/>
          </a:bodyPr>
          <a:lstStyle/>
          <a:p>
            <a:pPr algn="l">
              <a:lnSpc>
                <a:spcPct val="100000"/>
              </a:lnSpc>
              <a:spcBef>
                <a:spcPts val="0"/>
              </a:spcBef>
              <a:buNone/>
            </a:pPr>
            <a:r>
              <a:rPr lang="en-US" sz="1300" b="1" dirty="0">
                <a:solidFill>
                  <a:srgbClr val="28509C"/>
                </a:solidFill>
              </a:rPr>
              <a:t>Skeletal</a:t>
            </a:r>
          </a:p>
          <a:p>
            <a:pPr algn="l">
              <a:lnSpc>
                <a:spcPct val="100000"/>
              </a:lnSpc>
              <a:spcBef>
                <a:spcPts val="0"/>
              </a:spcBef>
              <a:buNone/>
            </a:pPr>
            <a:r>
              <a:rPr lang="en-US" sz="1200" dirty="0">
                <a:solidFill>
                  <a:srgbClr val="2B2B2B"/>
                </a:solidFill>
              </a:rPr>
              <a:t>Short stature, spinal abnormalities, atlantoaxial instability, hip and odontoid dysplasia, genu valgum, pectus carinatum, joint abnormalities</a:t>
            </a:r>
            <a:r>
              <a:rPr lang="en-US" sz="1200" baseline="30000" dirty="0">
                <a:solidFill>
                  <a:srgbClr val="2B2B2B"/>
                </a:solidFill>
              </a:rPr>
              <a:t>1</a:t>
            </a:r>
          </a:p>
        </p:txBody>
      </p:sp>
      <p:sp>
        <p:nvSpPr>
          <p:cNvPr id="88" name="Eye bar"/>
          <p:cNvSpPr/>
          <p:nvPr/>
        </p:nvSpPr>
        <p:spPr>
          <a:xfrm>
            <a:off x="7366102" y="1989877"/>
            <a:ext cx="567477" cy="165084"/>
          </a:xfrm>
          <a:prstGeom prst="rect">
            <a:avLst/>
          </a:prstGeom>
          <a:solidFill>
            <a:srgbClr val="000000"/>
          </a:solidFill>
          <a:ln>
            <a:noFill/>
          </a:ln>
        </p:spPr>
        <p:txBody>
          <a:bodyPr/>
          <a:lstStyle/>
          <a:p>
            <a:endParaRPr lang="en-SA"/>
          </a:p>
        </p:txBody>
      </p:sp>
      <p:sp>
        <p:nvSpPr>
          <p:cNvPr id="89" name="Image caption"/>
          <p:cNvSpPr txBox="1"/>
          <p:nvPr/>
        </p:nvSpPr>
        <p:spPr>
          <a:xfrm>
            <a:off x="863600" y="5130800"/>
            <a:ext cx="2438400" cy="406400"/>
          </a:xfrm>
          <a:prstGeom prst="rect">
            <a:avLst/>
          </a:prstGeom>
          <a:noFill/>
          <a:ln>
            <a:noFill/>
          </a:ln>
        </p:spPr>
        <p:txBody>
          <a:bodyPr wrap="square" lIns="0" tIns="0" rIns="0" bIns="0" rtlCol="0" anchor="t">
            <a:noAutofit/>
          </a:bodyPr>
          <a:lstStyle/>
          <a:p>
            <a:pPr algn="l">
              <a:lnSpc>
                <a:spcPct val="100000"/>
              </a:lnSpc>
              <a:spcBef>
                <a:spcPts val="0"/>
              </a:spcBef>
              <a:buNone/>
            </a:pPr>
            <a:r>
              <a:rPr lang="en-US" sz="1050" i="1" dirty="0">
                <a:solidFill>
                  <a:srgbClr val="646464"/>
                </a:solidFill>
              </a:rPr>
              <a:t>Image: patient with MPS IVA. Not all signs or symptoms are present in every patient.</a:t>
            </a:r>
          </a:p>
        </p:txBody>
      </p:sp>
    </p:spTree>
    <p:extLst>
      <p:ext uri="{BB962C8B-B14F-4D97-AF65-F5344CB8AC3E}">
        <p14:creationId xmlns:p14="http://schemas.microsoft.com/office/powerpoint/2010/main" val="1085814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B41901-08F0-CC4F-AF2B-16EA1CA36B0A}"/>
              </a:ext>
            </a:extLst>
          </p:cNvPr>
          <p:cNvPicPr>
            <a:picLocks noChangeAspect="1"/>
          </p:cNvPicPr>
          <p:nvPr/>
        </p:nvPicPr>
        <p:blipFill>
          <a:blip r:embed="rId2"/>
          <a:stretch>
            <a:fillRect/>
          </a:stretch>
        </p:blipFill>
        <p:spPr>
          <a:xfrm>
            <a:off x="889000" y="1422400"/>
            <a:ext cx="10414000" cy="4267200"/>
          </a:xfrm>
          <a:prstGeom prst="rect">
            <a:avLst/>
          </a:prstGeom>
        </p:spPr>
      </p:pic>
      <p:sp>
        <p:nvSpPr>
          <p:cNvPr id="200" name="Section label"/>
          <p:cNvSpPr txBox="1"/>
          <p:nvPr/>
        </p:nvSpPr>
        <p:spPr>
          <a:xfrm>
            <a:off x="660400" y="190500"/>
            <a:ext cx="7620000" cy="203200"/>
          </a:xfrm>
          <a:prstGeom prst="rect">
            <a:avLst/>
          </a:prstGeom>
          <a:noFill/>
        </p:spPr>
        <p:txBody>
          <a:bodyPr wrap="square" lIns="0" tIns="0" rIns="0" bIns="0" anchor="t">
            <a:noAutofit/>
          </a:bodyPr>
          <a:lstStyle/>
          <a:p>
            <a:pPr>
              <a:spcBef>
                <a:spcPts val="0"/>
              </a:spcBef>
              <a:spcAft>
                <a:spcPts val="0"/>
              </a:spcAft>
              <a:buNone/>
            </a:pPr>
            <a:r>
              <a:rPr lang="en-US" sz="1050" b="1" spc="100" dirty="0">
                <a:solidFill>
                  <a:srgbClr val="28509C"/>
                </a:solidFill>
              </a:rPr>
              <a:t>MPS IVA</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MPS IVA progression: two patients from infancy to adulthood</a:t>
            </a:r>
            <a:endParaRPr lang="en-US" baseline="30000" dirty="0"/>
          </a:p>
        </p:txBody>
      </p:sp>
      <p:sp>
        <p:nvSpPr>
          <p:cNvPr id="202" name="Abbreviations"/>
          <p:cNvSpPr txBox="1"/>
          <p:nvPr/>
        </p:nvSpPr>
        <p:spPr>
          <a:xfrm>
            <a:off x="660400" y="5943600"/>
            <a:ext cx="10871200" cy="203200"/>
          </a:xfrm>
          <a:prstGeom prst="rect">
            <a:avLst/>
          </a:prstGeom>
          <a:noFill/>
        </p:spPr>
        <p:txBody>
          <a:bodyPr wrap="square" lIns="0" tIns="0" rIns="0" bIns="0" anchor="b">
            <a:noAutofit/>
          </a:bodyPr>
          <a:lstStyle/>
          <a:p>
            <a:pPr>
              <a:spcBef>
                <a:spcPts val="0"/>
              </a:spcBef>
              <a:spcAft>
                <a:spcPts val="0"/>
              </a:spcAft>
              <a:buNone/>
            </a:pPr>
            <a:r>
              <a:rPr lang="en-US" sz="1100" i="1" dirty="0">
                <a:solidFill>
                  <a:srgbClr val="404040"/>
                </a:solidFill>
              </a:rPr>
              <a:t>MPS, mucopolysaccharidosis</a:t>
            </a:r>
          </a:p>
        </p:txBody>
      </p:sp>
      <p:sp>
        <p:nvSpPr>
          <p:cNvPr id="203" name="References"/>
          <p:cNvSpPr txBox="1"/>
          <p:nvPr/>
        </p:nvSpPr>
        <p:spPr>
          <a:xfrm>
            <a:off x="660400" y="6223000"/>
            <a:ext cx="10871200" cy="254000"/>
          </a:xfrm>
          <a:prstGeom prst="rect">
            <a:avLst/>
          </a:prstGeom>
          <a:noFill/>
        </p:spPr>
        <p:txBody>
          <a:bodyPr wrap="square" lIns="0" tIns="0" rIns="0" bIns="0" anchor="t">
            <a:noAutofit/>
          </a:bodyPr>
          <a:lstStyle/>
          <a:p>
            <a:pPr>
              <a:spcBef>
                <a:spcPts val="0"/>
              </a:spcBef>
              <a:spcAft>
                <a:spcPts val="0"/>
              </a:spcAft>
              <a:buNone/>
            </a:pPr>
            <a:r>
              <a:rPr lang="en-US" sz="900" dirty="0">
                <a:solidFill>
                  <a:srgbClr val="646464"/>
                </a:solidFill>
              </a:rPr>
              <a:t>1. Hendriksz CJ et al. Am J Med Genet A 2015;167A:11–25.</a:t>
            </a:r>
          </a:p>
        </p:txBody>
      </p:sp>
    </p:spTree>
    <p:extLst>
      <p:ext uri="{BB962C8B-B14F-4D97-AF65-F5344CB8AC3E}">
        <p14:creationId xmlns:p14="http://schemas.microsoft.com/office/powerpoint/2010/main" val="998788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MPS IVA</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MPS IVA: morbidity and mortality</a:t>
            </a:r>
            <a:endParaRPr lang="en-US" baseline="30000" dirty="0"/>
          </a:p>
        </p:txBody>
      </p:sp>
      <p:sp>
        <p:nvSpPr>
          <p:cNvPr id="202" name="Box"/>
          <p:cNvSpPr/>
          <p:nvPr/>
        </p:nvSpPr>
        <p:spPr>
          <a:xfrm>
            <a:off x="660400" y="1498600"/>
            <a:ext cx="5969000" cy="3962400"/>
          </a:xfrm>
          <a:prstGeom prst="roundRect">
            <a:avLst>
              <a:gd name="adj" fmla="val 2885"/>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89000" y="1676400"/>
            <a:ext cx="5588000" cy="36830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002E56"/>
                </a:solidFill>
              </a:rPr>
              <a:t>Morbidity</a:t>
            </a:r>
            <a:r>
              <a:rPr lang="en-US" sz="1600" baseline="30000" dirty="0">
                <a:solidFill>
                  <a:srgbClr val="2B2B2B"/>
                </a:solidFill>
              </a:rPr>
              <a:t>1,2</a:t>
            </a:r>
          </a:p>
          <a:p>
            <a:pPr marL="171450" indent="-171450">
              <a:spcBef>
                <a:spcPts val="1400"/>
              </a:spcBef>
              <a:spcAft>
                <a:spcPts val="0"/>
              </a:spcAft>
              <a:buClr>
                <a:srgbClr val="28509C"/>
              </a:buClr>
              <a:buFont typeface="Arial"/>
              <a:buChar char="•"/>
            </a:pPr>
            <a:r>
              <a:rPr lang="en-US" sz="1600" dirty="0">
                <a:solidFill>
                  <a:srgbClr val="2B2B2B"/>
                </a:solidFill>
              </a:rPr>
              <a:t>Progressive multisystem manifestations</a:t>
            </a:r>
            <a:r>
              <a:rPr lang="en-US" sz="1600" baseline="30000" dirty="0">
                <a:solidFill>
                  <a:srgbClr val="2B2B2B"/>
                </a:solidFill>
              </a:rPr>
              <a:t>1</a:t>
            </a:r>
          </a:p>
          <a:p>
            <a:pPr marL="342900" indent="-171450">
              <a:spcBef>
                <a:spcPts val="500"/>
              </a:spcBef>
              <a:spcAft>
                <a:spcPts val="0"/>
              </a:spcAft>
              <a:buClr>
                <a:srgbClr val="28509C"/>
              </a:buClr>
              <a:buFont typeface="Arial"/>
              <a:buChar char="–"/>
            </a:pPr>
            <a:r>
              <a:rPr lang="en-US" sz="1600" dirty="0">
                <a:solidFill>
                  <a:srgbClr val="2B2B2B"/>
                </a:solidFill>
              </a:rPr>
              <a:t>Cardiac disease</a:t>
            </a:r>
          </a:p>
          <a:p>
            <a:pPr marL="342900" indent="-171450">
              <a:spcBef>
                <a:spcPts val="500"/>
              </a:spcBef>
              <a:spcAft>
                <a:spcPts val="0"/>
              </a:spcAft>
              <a:buClr>
                <a:srgbClr val="28509C"/>
              </a:buClr>
              <a:buFont typeface="Arial"/>
              <a:buChar char="–"/>
            </a:pPr>
            <a:r>
              <a:rPr lang="en-US" sz="1600" dirty="0">
                <a:solidFill>
                  <a:srgbClr val="2B2B2B"/>
                </a:solidFill>
              </a:rPr>
              <a:t>Respiratory disease</a:t>
            </a:r>
          </a:p>
          <a:p>
            <a:pPr marL="342900" indent="-171450">
              <a:spcBef>
                <a:spcPts val="500"/>
              </a:spcBef>
              <a:spcAft>
                <a:spcPts val="0"/>
              </a:spcAft>
              <a:buClr>
                <a:srgbClr val="28509C"/>
              </a:buClr>
              <a:buFont typeface="Arial"/>
              <a:buChar char="–"/>
            </a:pPr>
            <a:r>
              <a:rPr lang="en-US" sz="1600" dirty="0">
                <a:solidFill>
                  <a:srgbClr val="2B2B2B"/>
                </a:solidFill>
              </a:rPr>
              <a:t>Musculoskeletal disease</a:t>
            </a:r>
          </a:p>
          <a:p>
            <a:pPr marL="342900" indent="-171450">
              <a:spcBef>
                <a:spcPts val="500"/>
              </a:spcBef>
              <a:spcAft>
                <a:spcPts val="0"/>
              </a:spcAft>
              <a:buClr>
                <a:srgbClr val="28509C"/>
              </a:buClr>
              <a:buFont typeface="Arial"/>
              <a:buChar char="–"/>
            </a:pPr>
            <a:r>
              <a:rPr lang="en-US" sz="1600" dirty="0">
                <a:solidFill>
                  <a:srgbClr val="2B2B2B"/>
                </a:solidFill>
              </a:rPr>
              <a:t>Spinal cord compression</a:t>
            </a:r>
          </a:p>
          <a:p>
            <a:pPr marL="171450" indent="-171450">
              <a:spcBef>
                <a:spcPts val="1300"/>
              </a:spcBef>
              <a:spcAft>
                <a:spcPts val="0"/>
              </a:spcAft>
              <a:buClr>
                <a:srgbClr val="28509C"/>
              </a:buClr>
              <a:buFont typeface="Arial"/>
              <a:buChar char="•"/>
            </a:pPr>
            <a:r>
              <a:rPr lang="en-US" sz="1600" dirty="0">
                <a:solidFill>
                  <a:srgbClr val="2B2B2B"/>
                </a:solidFill>
              </a:rPr>
              <a:t>Multiple surgeries</a:t>
            </a:r>
            <a:r>
              <a:rPr lang="en-US" sz="1600" baseline="30000" dirty="0">
                <a:solidFill>
                  <a:srgbClr val="2B2B2B"/>
                </a:solidFill>
              </a:rPr>
              <a:t>2</a:t>
            </a:r>
          </a:p>
          <a:p>
            <a:pPr marL="171450" indent="-171450">
              <a:spcBef>
                <a:spcPts val="1300"/>
              </a:spcBef>
              <a:spcAft>
                <a:spcPts val="0"/>
              </a:spcAft>
              <a:buClr>
                <a:srgbClr val="28509C"/>
              </a:buClr>
              <a:buFont typeface="Arial"/>
              <a:buChar char="•"/>
            </a:pPr>
            <a:r>
              <a:rPr lang="en-US" sz="1600" dirty="0">
                <a:solidFill>
                  <a:srgbClr val="2B2B2B"/>
                </a:solidFill>
              </a:rPr>
              <a:t>Reduced mobility</a:t>
            </a:r>
            <a:r>
              <a:rPr lang="en-US" sz="1600" baseline="30000" dirty="0">
                <a:solidFill>
                  <a:srgbClr val="2B2B2B"/>
                </a:solidFill>
              </a:rPr>
              <a:t>1</a:t>
            </a:r>
          </a:p>
          <a:p>
            <a:pPr marL="171450" indent="-171450">
              <a:spcBef>
                <a:spcPts val="1300"/>
              </a:spcBef>
              <a:spcAft>
                <a:spcPts val="0"/>
              </a:spcAft>
              <a:buClr>
                <a:srgbClr val="28509C"/>
              </a:buClr>
              <a:buFont typeface="Arial"/>
              <a:buChar char="•"/>
            </a:pPr>
            <a:r>
              <a:rPr lang="en-US" sz="1600" dirty="0">
                <a:solidFill>
                  <a:srgbClr val="2B2B2B"/>
                </a:solidFill>
              </a:rPr>
              <a:t>Chronic pain</a:t>
            </a:r>
            <a:r>
              <a:rPr lang="en-US" sz="1600" baseline="30000" dirty="0">
                <a:solidFill>
                  <a:srgbClr val="2B2B2B"/>
                </a:solidFill>
              </a:rPr>
              <a:t>2</a:t>
            </a:r>
          </a:p>
          <a:p>
            <a:pPr marL="171450" indent="-171450">
              <a:spcBef>
                <a:spcPts val="1300"/>
              </a:spcBef>
              <a:spcAft>
                <a:spcPts val="0"/>
              </a:spcAft>
              <a:buClr>
                <a:srgbClr val="28509C"/>
              </a:buClr>
              <a:buFont typeface="Arial"/>
              <a:buChar char="•"/>
            </a:pPr>
            <a:r>
              <a:rPr lang="en-US" sz="1600" dirty="0">
                <a:solidFill>
                  <a:srgbClr val="2B2B2B"/>
                </a:solidFill>
              </a:rPr>
              <a:t>Lower quality of life</a:t>
            </a:r>
            <a:r>
              <a:rPr lang="en-US" sz="1600" baseline="30000" dirty="0">
                <a:solidFill>
                  <a:srgbClr val="2B2B2B"/>
                </a:solidFill>
              </a:rPr>
              <a:t>2</a:t>
            </a:r>
          </a:p>
        </p:txBody>
      </p:sp>
      <p:sp>
        <p:nvSpPr>
          <p:cNvPr id="205" name="Box"/>
          <p:cNvSpPr/>
          <p:nvPr/>
        </p:nvSpPr>
        <p:spPr>
          <a:xfrm>
            <a:off x="6832600" y="1498600"/>
            <a:ext cx="4699000" cy="3962400"/>
          </a:xfrm>
          <a:prstGeom prst="roundRect">
            <a:avLst>
              <a:gd name="adj" fmla="val 2885"/>
            </a:avLst>
          </a:prstGeom>
          <a:solidFill>
            <a:srgbClr val="E3EAF5"/>
          </a:solidFill>
          <a:ln>
            <a:noFill/>
          </a:ln>
        </p:spPr>
        <p:txBody>
          <a:bodyPr wrap="square" lIns="0" tIns="0" rIns="0" bIns="0" anchor="t">
            <a:noAutofit/>
          </a:bodyPr>
          <a:lstStyle/>
          <a:p>
            <a:endParaRPr lang="en-US" dirty="0"/>
          </a:p>
        </p:txBody>
      </p:sp>
      <p:sp>
        <p:nvSpPr>
          <p:cNvPr id="207" name="Box"/>
          <p:cNvSpPr txBox="1"/>
          <p:nvPr/>
        </p:nvSpPr>
        <p:spPr>
          <a:xfrm>
            <a:off x="7061200" y="1676400"/>
            <a:ext cx="4318000" cy="36830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28509C"/>
                </a:solidFill>
              </a:rPr>
              <a:t>Mortality</a:t>
            </a:r>
            <a:r>
              <a:rPr lang="en-US" sz="1600" baseline="30000" dirty="0">
                <a:solidFill>
                  <a:srgbClr val="2B2B2B"/>
                </a:solidFill>
              </a:rPr>
              <a:t>2,3</a:t>
            </a:r>
          </a:p>
          <a:p>
            <a:pPr>
              <a:spcBef>
                <a:spcPts val="1400"/>
              </a:spcBef>
              <a:spcAft>
                <a:spcPts val="0"/>
              </a:spcAft>
              <a:buNone/>
            </a:pPr>
            <a:r>
              <a:rPr lang="en-US" sz="1600" dirty="0">
                <a:solidFill>
                  <a:srgbClr val="2B2B2B"/>
                </a:solidFill>
              </a:rPr>
              <a:t>Life expectancy ranges from the second decade to a near-normal lifespan</a:t>
            </a:r>
          </a:p>
          <a:p>
            <a:pPr>
              <a:spcBef>
                <a:spcPts val="2000"/>
              </a:spcBef>
              <a:spcAft>
                <a:spcPts val="0"/>
              </a:spcAft>
              <a:buNone/>
            </a:pPr>
            <a:r>
              <a:rPr lang="en-US" sz="1600" b="1" dirty="0">
                <a:solidFill>
                  <a:srgbClr val="002E56"/>
                </a:solidFill>
              </a:rPr>
              <a:t>Causes of death include:</a:t>
            </a:r>
          </a:p>
          <a:p>
            <a:pPr marL="171450" indent="-171450">
              <a:spcBef>
                <a:spcPts val="1300"/>
              </a:spcBef>
              <a:spcAft>
                <a:spcPts val="0"/>
              </a:spcAft>
              <a:buClr>
                <a:srgbClr val="28509C"/>
              </a:buClr>
              <a:buFont typeface="Arial"/>
              <a:buChar char="•"/>
            </a:pPr>
            <a:r>
              <a:rPr lang="en-US" sz="1600" dirty="0">
                <a:solidFill>
                  <a:srgbClr val="2B2B2B"/>
                </a:solidFill>
              </a:rPr>
              <a:t>Pulmonary complications</a:t>
            </a:r>
          </a:p>
          <a:p>
            <a:pPr marL="171450" indent="-171450">
              <a:spcBef>
                <a:spcPts val="1300"/>
              </a:spcBef>
              <a:spcAft>
                <a:spcPts val="0"/>
              </a:spcAft>
              <a:buClr>
                <a:srgbClr val="28509C"/>
              </a:buClr>
              <a:buFont typeface="Arial"/>
              <a:buChar char="•"/>
            </a:pPr>
            <a:r>
              <a:rPr lang="en-US" sz="1600" dirty="0">
                <a:solidFill>
                  <a:srgbClr val="2B2B2B"/>
                </a:solidFill>
              </a:rPr>
              <a:t>Neurological complications</a:t>
            </a:r>
          </a:p>
          <a:p>
            <a:pPr marL="171450" indent="-171450">
              <a:spcBef>
                <a:spcPts val="1300"/>
              </a:spcBef>
              <a:spcAft>
                <a:spcPts val="0"/>
              </a:spcAft>
              <a:buClr>
                <a:srgbClr val="28509C"/>
              </a:buClr>
              <a:buFont typeface="Arial"/>
              <a:buChar char="•"/>
            </a:pPr>
            <a:r>
              <a:rPr lang="en-US" sz="1600" dirty="0">
                <a:solidFill>
                  <a:srgbClr val="2B2B2B"/>
                </a:solidFill>
              </a:rPr>
              <a:t>Cardiac complications</a:t>
            </a:r>
          </a:p>
        </p:txBody>
      </p:sp>
      <p:sp>
        <p:nvSpPr>
          <p:cNvPr id="208" name="Abbreviations"/>
          <p:cNvSpPr txBox="1"/>
          <p:nvPr/>
        </p:nvSpPr>
        <p:spPr>
          <a:xfrm>
            <a:off x="660400" y="5664200"/>
            <a:ext cx="10871200" cy="2286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MPS, mucopolysaccharidosis</a:t>
            </a:r>
          </a:p>
        </p:txBody>
      </p:sp>
      <p:sp>
        <p:nvSpPr>
          <p:cNvPr id="209" name="References"/>
          <p:cNvSpPr txBox="1"/>
          <p:nvPr/>
        </p:nvSpPr>
        <p:spPr>
          <a:xfrm>
            <a:off x="660400" y="60198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Hendriksz CJ et al. Mol Genet Metab 2013;110:54–64. 2. Harmatz P et al. Mol Genet Metab 2013;109:54–61. 3. Tomatsu S et al. Curr Pharm Biotechnol 2011;12:931–45.</a:t>
            </a:r>
          </a:p>
        </p:txBody>
      </p:sp>
    </p:spTree>
    <p:extLst>
      <p:ext uri="{BB962C8B-B14F-4D97-AF65-F5344CB8AC3E}">
        <p14:creationId xmlns:p14="http://schemas.microsoft.com/office/powerpoint/2010/main" val="106226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MPS IVA and MPS VI</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MPS VI (Maroteaux-Lamy): key facts</a:t>
            </a:r>
            <a:endParaRPr lang="en-US" dirty="0"/>
          </a:p>
        </p:txBody>
      </p:sp>
      <p:sp>
        <p:nvSpPr>
          <p:cNvPr id="12" name="Shape 12"/>
          <p:cNvSpPr/>
          <p:nvPr/>
        </p:nvSpPr>
        <p:spPr>
          <a:xfrm>
            <a:off x="660400" y="1473200"/>
            <a:ext cx="2794000" cy="4140200"/>
          </a:xfrm>
          <a:prstGeom prst="roundRect">
            <a:avLst>
              <a:gd name="adj" fmla="val 4091"/>
            </a:avLst>
          </a:prstGeom>
          <a:solidFill>
            <a:srgbClr val="F1F4F9"/>
          </a:solidFill>
          <a:ln>
            <a:noFill/>
          </a:ln>
        </p:spPr>
        <p:txBody>
          <a:bodyPr wrap="square" lIns="0" tIns="0" rIns="0" bIns="0" rtlCol="0" anchor="t">
            <a:noAutofit/>
          </a:bodyPr>
          <a:lstStyle/>
          <a:p>
            <a:endParaRPr lang="en-US" dirty="0"/>
          </a:p>
        </p:txBody>
      </p:sp>
      <p:sp>
        <p:nvSpPr>
          <p:cNvPr id="13" name="Shape 13"/>
          <p:cNvSpPr txBox="1"/>
          <p:nvPr/>
        </p:nvSpPr>
        <p:spPr>
          <a:xfrm>
            <a:off x="863600" y="1625600"/>
            <a:ext cx="2438400" cy="228600"/>
          </a:xfrm>
          <a:prstGeom prst="rect">
            <a:avLst/>
          </a:prstGeom>
          <a:noFill/>
          <a:ln>
            <a:noFill/>
          </a:ln>
        </p:spPr>
        <p:txBody>
          <a:bodyPr wrap="square" lIns="0" tIns="0" rIns="0" bIns="0" rtlCol="0" anchor="t">
            <a:noAutofit/>
          </a:bodyPr>
          <a:lstStyle/>
          <a:p>
            <a:pPr>
              <a:spcBef>
                <a:spcPts val="0"/>
              </a:spcBef>
              <a:spcAft>
                <a:spcPts val="0"/>
              </a:spcAft>
              <a:buNone/>
            </a:pPr>
            <a:r>
              <a:rPr lang="en-US" sz="1200" b="1" spc="100" dirty="0">
                <a:solidFill>
                  <a:srgbClr val="28509C"/>
                </a:solidFill>
              </a:rPr>
              <a:t>Key facts</a:t>
            </a:r>
          </a:p>
        </p:txBody>
      </p:sp>
      <p:sp>
        <p:nvSpPr>
          <p:cNvPr id="14" name="Shape 14"/>
          <p:cNvSpPr txBox="1"/>
          <p:nvPr/>
        </p:nvSpPr>
        <p:spPr>
          <a:xfrm>
            <a:off x="863600" y="1930400"/>
            <a:ext cx="2463800" cy="3581400"/>
          </a:xfrm>
          <a:prstGeom prst="rect">
            <a:avLst/>
          </a:prstGeom>
          <a:noFill/>
          <a:ln>
            <a:noFill/>
          </a:ln>
        </p:spPr>
        <p:txBody>
          <a:bodyPr wrap="square" lIns="0" tIns="0" rIns="0" bIns="0" rtlCol="0" anchor="t">
            <a:noAutofit/>
          </a:bodyPr>
          <a:lstStyle/>
          <a:p>
            <a:pPr>
              <a:spcBef>
                <a:spcPts val="0"/>
              </a:spcBef>
              <a:spcAft>
                <a:spcPts val="0"/>
              </a:spcAft>
              <a:buNone/>
            </a:pPr>
            <a:r>
              <a:rPr lang="en-US" sz="1300" b="1" dirty="0">
                <a:solidFill>
                  <a:srgbClr val="002E56"/>
                </a:solidFill>
              </a:rPr>
              <a:t>Enzyme</a:t>
            </a:r>
          </a:p>
          <a:p>
            <a:pPr>
              <a:spcBef>
                <a:spcPts val="0"/>
              </a:spcBef>
              <a:spcAft>
                <a:spcPts val="900"/>
              </a:spcAft>
              <a:buNone/>
            </a:pPr>
            <a:r>
              <a:rPr lang="en-US" sz="1200" dirty="0">
                <a:solidFill>
                  <a:srgbClr val="2B2B2B"/>
                </a:solidFill>
              </a:rPr>
              <a:t>ARSB is deficient</a:t>
            </a:r>
          </a:p>
          <a:p>
            <a:pPr>
              <a:spcBef>
                <a:spcPts val="0"/>
              </a:spcBef>
              <a:spcAft>
                <a:spcPts val="0"/>
              </a:spcAft>
              <a:buNone/>
            </a:pPr>
            <a:r>
              <a:rPr lang="en-US" sz="1300" b="1" dirty="0">
                <a:solidFill>
                  <a:srgbClr val="002E56"/>
                </a:solidFill>
              </a:rPr>
              <a:t>Stored GAG</a:t>
            </a:r>
          </a:p>
          <a:p>
            <a:pPr>
              <a:spcBef>
                <a:spcPts val="0"/>
              </a:spcBef>
              <a:spcAft>
                <a:spcPts val="900"/>
              </a:spcAft>
              <a:buNone/>
            </a:pPr>
            <a:r>
              <a:rPr lang="en-US" sz="1200" dirty="0">
                <a:solidFill>
                  <a:srgbClr val="2B2B2B"/>
                </a:solidFill>
              </a:rPr>
              <a:t>Dermatan sulfate</a:t>
            </a:r>
          </a:p>
          <a:p>
            <a:pPr>
              <a:spcBef>
                <a:spcPts val="0"/>
              </a:spcBef>
              <a:spcAft>
                <a:spcPts val="0"/>
              </a:spcAft>
              <a:buNone/>
            </a:pPr>
            <a:r>
              <a:rPr lang="en-US" sz="1300" b="1" dirty="0">
                <a:solidFill>
                  <a:srgbClr val="002E56"/>
                </a:solidFill>
              </a:rPr>
              <a:t>Spectrum</a:t>
            </a:r>
          </a:p>
          <a:p>
            <a:pPr>
              <a:spcBef>
                <a:spcPts val="0"/>
              </a:spcBef>
              <a:spcAft>
                <a:spcPts val="900"/>
              </a:spcAft>
              <a:buNone/>
            </a:pPr>
            <a:r>
              <a:rPr lang="en-US" sz="1200" dirty="0">
                <a:solidFill>
                  <a:srgbClr val="2B2B2B"/>
                </a:solidFill>
              </a:rPr>
              <a:t>Rapid forms show signs before age 2; slower forms may be diagnosed in adulthood</a:t>
            </a:r>
          </a:p>
          <a:p>
            <a:pPr>
              <a:spcBef>
                <a:spcPts val="0"/>
              </a:spcBef>
              <a:spcAft>
                <a:spcPts val="0"/>
              </a:spcAft>
              <a:buNone/>
            </a:pPr>
            <a:r>
              <a:rPr lang="en-US" sz="1300" b="1" dirty="0">
                <a:solidFill>
                  <a:srgbClr val="002E56"/>
                </a:solidFill>
              </a:rPr>
              <a:t>Genetics</a:t>
            </a:r>
          </a:p>
          <a:p>
            <a:pPr>
              <a:spcBef>
                <a:spcPts val="0"/>
              </a:spcBef>
              <a:spcAft>
                <a:spcPts val="900"/>
              </a:spcAft>
              <a:buNone/>
            </a:pPr>
            <a:r>
              <a:rPr lang="en-US" sz="1200" dirty="0">
                <a:solidFill>
                  <a:srgbClr val="2B2B2B"/>
                </a:solidFill>
              </a:rPr>
              <a:t>&gt;130 ARSB variants; symptoms appear below ~10% of normal enzyme activity</a:t>
            </a:r>
          </a:p>
          <a:p>
            <a:pPr>
              <a:spcBef>
                <a:spcPts val="0"/>
              </a:spcBef>
              <a:spcAft>
                <a:spcPts val="0"/>
              </a:spcAft>
              <a:buNone/>
            </a:pPr>
            <a:r>
              <a:rPr lang="en-US" sz="1300" b="1" dirty="0">
                <a:solidFill>
                  <a:srgbClr val="002E56"/>
                </a:solidFill>
              </a:rPr>
              <a:t>Cognition</a:t>
            </a:r>
          </a:p>
          <a:p>
            <a:pPr>
              <a:spcBef>
                <a:spcPts val="0"/>
              </a:spcBef>
              <a:spcAft>
                <a:spcPts val="900"/>
              </a:spcAft>
              <a:buNone/>
            </a:pPr>
            <a:r>
              <a:rPr lang="en-US" sz="1200" dirty="0">
                <a:solidFill>
                  <a:srgbClr val="2B2B2B"/>
                </a:solidFill>
              </a:rPr>
              <a:t>Usually normal</a:t>
            </a:r>
          </a:p>
        </p:txBody>
      </p:sp>
      <p:sp>
        <p:nvSpPr>
          <p:cNvPr id="39"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ARSB, arylsulfatase B (N-acetylgalactosamine 4-sulfatase); ENT, ear, nose and throat; GAG, glycosaminoglycan; MPS, mucopolysaccharidosis</a:t>
            </a:r>
          </a:p>
        </p:txBody>
      </p:sp>
      <p:sp>
        <p:nvSpPr>
          <p:cNvPr id="40"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Giugliani R et al. Pediatrics 2007;120:405–18; D’Avanzo F et al. Int J Mol Sci 2021;22:13456; Akyol MU et al. Orphanet J Rare Dis 2019;14:118.</a:t>
            </a:r>
          </a:p>
        </p:txBody>
      </p:sp>
      <p:pic>
        <p:nvPicPr>
          <p:cNvPr id="41" name="Copied Picture 41">
            <a:extLst>
              <a:ext uri="{FF2B5EF4-FFF2-40B4-BE49-F238E27FC236}">
                <a16:creationId xmlns:a16="http://schemas.microsoft.com/office/drawing/2014/main" id="{18A4B596-5BCB-40AA-8A9B-502DF7C646BC}"/>
              </a:ext>
            </a:extLst>
          </p:cNvPr>
          <p:cNvPicPr>
            <a:picLocks noChangeAspect="1"/>
          </p:cNvPicPr>
          <p:nvPr/>
        </p:nvPicPr>
        <p:blipFill>
          <a:blip r:embed="rId2"/>
          <a:srcRect l="39500" r="31530" b="9940"/>
          <a:stretch>
            <a:fillRect/>
          </a:stretch>
        </p:blipFill>
        <p:spPr>
          <a:xfrm>
            <a:off x="6070600" y="1422400"/>
            <a:ext cx="2961358" cy="4013200"/>
          </a:xfrm>
          <a:prstGeom prst="rect">
            <a:avLst/>
          </a:prstGeom>
        </p:spPr>
      </p:pic>
      <p:sp>
        <p:nvSpPr>
          <p:cNvPr id="80" name="Organ ENT"/>
          <p:cNvSpPr txBox="1"/>
          <p:nvPr/>
        </p:nvSpPr>
        <p:spPr>
          <a:xfrm>
            <a:off x="3606800" y="1609743"/>
            <a:ext cx="2387600" cy="889000"/>
          </a:xfrm>
          <a:prstGeom prst="rect">
            <a:avLst/>
          </a:prstGeom>
          <a:noFill/>
          <a:ln>
            <a:noFill/>
          </a:ln>
        </p:spPr>
        <p:txBody>
          <a:bodyPr wrap="square" lIns="0" tIns="0" rIns="0" bIns="0" rtlCol="0" anchor="t">
            <a:noAutofit/>
          </a:bodyPr>
          <a:lstStyle/>
          <a:p>
            <a:pPr algn="r">
              <a:lnSpc>
                <a:spcPct val="100000"/>
              </a:lnSpc>
              <a:spcBef>
                <a:spcPts val="0"/>
              </a:spcBef>
              <a:buNone/>
            </a:pPr>
            <a:r>
              <a:rPr lang="en-US" sz="1300" b="1" dirty="0">
                <a:solidFill>
                  <a:srgbClr val="28509C"/>
                </a:solidFill>
              </a:rPr>
              <a:t>ENT</a:t>
            </a:r>
          </a:p>
          <a:p>
            <a:pPr algn="r">
              <a:lnSpc>
                <a:spcPct val="100000"/>
              </a:lnSpc>
              <a:spcBef>
                <a:spcPts val="0"/>
              </a:spcBef>
              <a:buNone/>
            </a:pPr>
            <a:r>
              <a:rPr lang="en-US" sz="1200" dirty="0">
                <a:solidFill>
                  <a:srgbClr val="2B2B2B"/>
                </a:solidFill>
              </a:rPr>
              <a:t>Impaired hearing, recurrent otitis media, recurrent sinusitis</a:t>
            </a:r>
            <a:r>
              <a:rPr lang="en-US" sz="1200" baseline="30000" dirty="0">
                <a:solidFill>
                  <a:srgbClr val="2B2B2B"/>
                </a:solidFill>
              </a:rPr>
              <a:t>1–3</a:t>
            </a:r>
          </a:p>
        </p:txBody>
      </p:sp>
      <p:sp>
        <p:nvSpPr>
          <p:cNvPr id="81" name="Organ Neurological"/>
          <p:cNvSpPr txBox="1"/>
          <p:nvPr/>
        </p:nvSpPr>
        <p:spPr>
          <a:xfrm>
            <a:off x="3606800" y="2521518"/>
            <a:ext cx="2387600" cy="889000"/>
          </a:xfrm>
          <a:prstGeom prst="rect">
            <a:avLst/>
          </a:prstGeom>
          <a:noFill/>
          <a:ln>
            <a:noFill/>
          </a:ln>
        </p:spPr>
        <p:txBody>
          <a:bodyPr wrap="square" lIns="0" tIns="0" rIns="0" bIns="0" rtlCol="0" anchor="t">
            <a:noAutofit/>
          </a:bodyPr>
          <a:lstStyle/>
          <a:p>
            <a:pPr algn="r">
              <a:lnSpc>
                <a:spcPct val="100000"/>
              </a:lnSpc>
              <a:spcBef>
                <a:spcPts val="0"/>
              </a:spcBef>
              <a:buNone/>
            </a:pPr>
            <a:r>
              <a:rPr lang="en-US" sz="1300" b="1" dirty="0">
                <a:solidFill>
                  <a:srgbClr val="28509C"/>
                </a:solidFill>
              </a:rPr>
              <a:t>Neurological</a:t>
            </a:r>
          </a:p>
          <a:p>
            <a:pPr algn="r">
              <a:lnSpc>
                <a:spcPct val="100000"/>
              </a:lnSpc>
              <a:spcBef>
                <a:spcPts val="0"/>
              </a:spcBef>
              <a:buNone/>
            </a:pPr>
            <a:r>
              <a:rPr lang="en-US" sz="1200" dirty="0">
                <a:solidFill>
                  <a:srgbClr val="2B2B2B"/>
                </a:solidFill>
              </a:rPr>
              <a:t>Spinal cord compression, hydrocephalus, carpal tunnel syndrome</a:t>
            </a:r>
            <a:r>
              <a:rPr lang="en-US" sz="1200" baseline="30000" dirty="0">
                <a:solidFill>
                  <a:srgbClr val="2B2B2B"/>
                </a:solidFill>
              </a:rPr>
              <a:t>1</a:t>
            </a:r>
          </a:p>
        </p:txBody>
      </p:sp>
      <p:sp>
        <p:nvSpPr>
          <p:cNvPr id="82" name="Organ Pulmonary"/>
          <p:cNvSpPr txBox="1"/>
          <p:nvPr/>
        </p:nvSpPr>
        <p:spPr>
          <a:xfrm>
            <a:off x="3606800" y="3375504"/>
            <a:ext cx="2387600" cy="889000"/>
          </a:xfrm>
          <a:prstGeom prst="rect">
            <a:avLst/>
          </a:prstGeom>
          <a:noFill/>
          <a:ln>
            <a:noFill/>
          </a:ln>
        </p:spPr>
        <p:txBody>
          <a:bodyPr wrap="square" lIns="0" tIns="0" rIns="0" bIns="0" rtlCol="0" anchor="t">
            <a:noAutofit/>
          </a:bodyPr>
          <a:lstStyle/>
          <a:p>
            <a:pPr algn="r">
              <a:lnSpc>
                <a:spcPct val="100000"/>
              </a:lnSpc>
              <a:spcBef>
                <a:spcPts val="0"/>
              </a:spcBef>
              <a:buNone/>
            </a:pPr>
            <a:r>
              <a:rPr lang="en-US" sz="1300" b="1" dirty="0">
                <a:solidFill>
                  <a:srgbClr val="28509C"/>
                </a:solidFill>
              </a:rPr>
              <a:t>Pulmonary</a:t>
            </a:r>
          </a:p>
          <a:p>
            <a:pPr algn="r">
              <a:lnSpc>
                <a:spcPct val="100000"/>
              </a:lnSpc>
              <a:spcBef>
                <a:spcPts val="0"/>
              </a:spcBef>
              <a:buNone/>
            </a:pPr>
            <a:r>
              <a:rPr lang="en-US" sz="1200" dirty="0">
                <a:solidFill>
                  <a:srgbClr val="2B2B2B"/>
                </a:solidFill>
              </a:rPr>
              <a:t>Obstructive and restrictive airway disease, sleep apnoea, recurrent pulmonary infections</a:t>
            </a:r>
            <a:r>
              <a:rPr lang="en-US" sz="1200" baseline="30000" dirty="0">
                <a:solidFill>
                  <a:srgbClr val="2B2B2B"/>
                </a:solidFill>
              </a:rPr>
              <a:t>2,3</a:t>
            </a:r>
          </a:p>
        </p:txBody>
      </p:sp>
      <p:sp>
        <p:nvSpPr>
          <p:cNvPr id="83" name="Organ Abdominal"/>
          <p:cNvSpPr txBox="1"/>
          <p:nvPr/>
        </p:nvSpPr>
        <p:spPr>
          <a:xfrm>
            <a:off x="3606800" y="4512013"/>
            <a:ext cx="2387600" cy="889000"/>
          </a:xfrm>
          <a:prstGeom prst="rect">
            <a:avLst/>
          </a:prstGeom>
          <a:noFill/>
          <a:ln>
            <a:noFill/>
          </a:ln>
        </p:spPr>
        <p:txBody>
          <a:bodyPr wrap="square" lIns="0" tIns="0" rIns="0" bIns="0" rtlCol="0" anchor="t">
            <a:noAutofit/>
          </a:bodyPr>
          <a:lstStyle/>
          <a:p>
            <a:pPr algn="r">
              <a:lnSpc>
                <a:spcPct val="100000"/>
              </a:lnSpc>
              <a:spcBef>
                <a:spcPts val="0"/>
              </a:spcBef>
              <a:buNone/>
            </a:pPr>
            <a:r>
              <a:rPr lang="en-US" sz="1300" b="1" dirty="0">
                <a:solidFill>
                  <a:srgbClr val="28509C"/>
                </a:solidFill>
              </a:rPr>
              <a:t>Abdominal</a:t>
            </a:r>
          </a:p>
          <a:p>
            <a:pPr algn="r">
              <a:lnSpc>
                <a:spcPct val="100000"/>
              </a:lnSpc>
              <a:spcBef>
                <a:spcPts val="0"/>
              </a:spcBef>
              <a:buNone/>
            </a:pPr>
            <a:r>
              <a:rPr lang="en-US" sz="1200" dirty="0">
                <a:solidFill>
                  <a:srgbClr val="2B2B2B"/>
                </a:solidFill>
              </a:rPr>
              <a:t>Hepatosplenomegaly, umbilical and inguinal hernias</a:t>
            </a:r>
            <a:r>
              <a:rPr lang="en-US" sz="1200" baseline="30000" dirty="0">
                <a:solidFill>
                  <a:srgbClr val="2B2B2B"/>
                </a:solidFill>
              </a:rPr>
              <a:t>4,5</a:t>
            </a:r>
          </a:p>
        </p:txBody>
      </p:sp>
      <p:sp>
        <p:nvSpPr>
          <p:cNvPr id="84" name="Organ Ophthalmological"/>
          <p:cNvSpPr txBox="1"/>
          <p:nvPr/>
        </p:nvSpPr>
        <p:spPr>
          <a:xfrm>
            <a:off x="9108158" y="1622585"/>
            <a:ext cx="2387600" cy="889000"/>
          </a:xfrm>
          <a:prstGeom prst="rect">
            <a:avLst/>
          </a:prstGeom>
          <a:noFill/>
          <a:ln>
            <a:noFill/>
          </a:ln>
        </p:spPr>
        <p:txBody>
          <a:bodyPr wrap="square" lIns="0" tIns="0" rIns="0" bIns="0" rtlCol="0" anchor="t">
            <a:noAutofit/>
          </a:bodyPr>
          <a:lstStyle/>
          <a:p>
            <a:pPr algn="l">
              <a:lnSpc>
                <a:spcPct val="100000"/>
              </a:lnSpc>
              <a:spcBef>
                <a:spcPts val="0"/>
              </a:spcBef>
              <a:buNone/>
            </a:pPr>
            <a:r>
              <a:rPr lang="en-US" sz="1300" b="1" dirty="0">
                <a:solidFill>
                  <a:srgbClr val="28509C"/>
                </a:solidFill>
              </a:rPr>
              <a:t>Ophthalmological</a:t>
            </a:r>
          </a:p>
          <a:p>
            <a:pPr algn="l">
              <a:lnSpc>
                <a:spcPct val="100000"/>
              </a:lnSpc>
              <a:spcBef>
                <a:spcPts val="0"/>
              </a:spcBef>
              <a:buNone/>
            </a:pPr>
            <a:r>
              <a:rPr lang="en-US" sz="1200" dirty="0">
                <a:solidFill>
                  <a:srgbClr val="2B2B2B"/>
                </a:solidFill>
              </a:rPr>
              <a:t>Impaired vision, corneal clouding, glaucoma, optic nerve disease</a:t>
            </a:r>
            <a:r>
              <a:rPr lang="en-US" sz="1200" baseline="30000" dirty="0">
                <a:solidFill>
                  <a:srgbClr val="2B2B2B"/>
                </a:solidFill>
              </a:rPr>
              <a:t>1,5</a:t>
            </a:r>
          </a:p>
        </p:txBody>
      </p:sp>
      <p:sp>
        <p:nvSpPr>
          <p:cNvPr id="85" name="Organ Dental"/>
          <p:cNvSpPr txBox="1"/>
          <p:nvPr/>
        </p:nvSpPr>
        <p:spPr>
          <a:xfrm>
            <a:off x="9108158" y="2566465"/>
            <a:ext cx="2387600" cy="889000"/>
          </a:xfrm>
          <a:prstGeom prst="rect">
            <a:avLst/>
          </a:prstGeom>
          <a:noFill/>
          <a:ln>
            <a:noFill/>
          </a:ln>
        </p:spPr>
        <p:txBody>
          <a:bodyPr wrap="square" lIns="0" tIns="0" rIns="0" bIns="0" rtlCol="0" anchor="t">
            <a:noAutofit/>
          </a:bodyPr>
          <a:lstStyle/>
          <a:p>
            <a:pPr algn="l">
              <a:lnSpc>
                <a:spcPct val="100000"/>
              </a:lnSpc>
              <a:spcBef>
                <a:spcPts val="0"/>
              </a:spcBef>
              <a:buNone/>
            </a:pPr>
            <a:r>
              <a:rPr lang="en-US" sz="1300" b="1" dirty="0">
                <a:solidFill>
                  <a:srgbClr val="28509C"/>
                </a:solidFill>
              </a:rPr>
              <a:t>Dental</a:t>
            </a:r>
          </a:p>
          <a:p>
            <a:pPr algn="l">
              <a:lnSpc>
                <a:spcPct val="100000"/>
              </a:lnSpc>
              <a:spcBef>
                <a:spcPts val="0"/>
              </a:spcBef>
              <a:buNone/>
            </a:pPr>
            <a:r>
              <a:rPr lang="en-US" sz="1200" dirty="0">
                <a:solidFill>
                  <a:srgbClr val="2B2B2B"/>
                </a:solidFill>
              </a:rPr>
              <a:t>Enlarged tongue, small and widely spaced teeth</a:t>
            </a:r>
            <a:r>
              <a:rPr lang="en-US" sz="1200" baseline="30000" dirty="0">
                <a:solidFill>
                  <a:srgbClr val="2B2B2B"/>
                </a:solidFill>
              </a:rPr>
              <a:t>6</a:t>
            </a:r>
          </a:p>
        </p:txBody>
      </p:sp>
      <p:sp>
        <p:nvSpPr>
          <p:cNvPr id="86" name="Organ Cardiac"/>
          <p:cNvSpPr txBox="1"/>
          <p:nvPr/>
        </p:nvSpPr>
        <p:spPr>
          <a:xfrm>
            <a:off x="9108158" y="3414030"/>
            <a:ext cx="2387600" cy="889000"/>
          </a:xfrm>
          <a:prstGeom prst="rect">
            <a:avLst/>
          </a:prstGeom>
          <a:noFill/>
          <a:ln>
            <a:noFill/>
          </a:ln>
        </p:spPr>
        <p:txBody>
          <a:bodyPr wrap="square" lIns="0" tIns="0" rIns="0" bIns="0" rtlCol="0" anchor="t">
            <a:noAutofit/>
          </a:bodyPr>
          <a:lstStyle/>
          <a:p>
            <a:pPr algn="l">
              <a:lnSpc>
                <a:spcPct val="100000"/>
              </a:lnSpc>
              <a:spcBef>
                <a:spcPts val="0"/>
              </a:spcBef>
              <a:buNone/>
            </a:pPr>
            <a:r>
              <a:rPr lang="en-US" sz="1300" b="1" dirty="0">
                <a:solidFill>
                  <a:srgbClr val="28509C"/>
                </a:solidFill>
              </a:rPr>
              <a:t>Cardiac</a:t>
            </a:r>
          </a:p>
          <a:p>
            <a:pPr algn="l">
              <a:lnSpc>
                <a:spcPct val="100000"/>
              </a:lnSpc>
              <a:spcBef>
                <a:spcPts val="0"/>
              </a:spcBef>
              <a:buNone/>
            </a:pPr>
            <a:r>
              <a:rPr lang="en-US" sz="1200" dirty="0">
                <a:solidFill>
                  <a:srgbClr val="2B2B2B"/>
                </a:solidFill>
              </a:rPr>
              <a:t>Valve disease, cardiomyopathy, cardiac arrhythmia, systemic and pulmonary hypertension</a:t>
            </a:r>
            <a:r>
              <a:rPr lang="en-US" sz="1200" baseline="30000" dirty="0">
                <a:solidFill>
                  <a:srgbClr val="2B2B2B"/>
                </a:solidFill>
              </a:rPr>
              <a:t>1,7</a:t>
            </a:r>
          </a:p>
        </p:txBody>
      </p:sp>
      <p:sp>
        <p:nvSpPr>
          <p:cNvPr id="87" name="Organ Skeletal"/>
          <p:cNvSpPr txBox="1"/>
          <p:nvPr/>
        </p:nvSpPr>
        <p:spPr>
          <a:xfrm>
            <a:off x="9108158" y="4550539"/>
            <a:ext cx="2387600" cy="889000"/>
          </a:xfrm>
          <a:prstGeom prst="rect">
            <a:avLst/>
          </a:prstGeom>
          <a:noFill/>
          <a:ln>
            <a:noFill/>
          </a:ln>
        </p:spPr>
        <p:txBody>
          <a:bodyPr wrap="square" lIns="0" tIns="0" rIns="0" bIns="0" rtlCol="0" anchor="t">
            <a:noAutofit/>
          </a:bodyPr>
          <a:lstStyle/>
          <a:p>
            <a:pPr algn="l">
              <a:lnSpc>
                <a:spcPct val="100000"/>
              </a:lnSpc>
              <a:spcBef>
                <a:spcPts val="0"/>
              </a:spcBef>
              <a:buNone/>
            </a:pPr>
            <a:r>
              <a:rPr lang="en-US" sz="1300" b="1" dirty="0">
                <a:solidFill>
                  <a:srgbClr val="28509C"/>
                </a:solidFill>
              </a:rPr>
              <a:t>Skeletal</a:t>
            </a:r>
          </a:p>
          <a:p>
            <a:pPr algn="l">
              <a:lnSpc>
                <a:spcPct val="100000"/>
              </a:lnSpc>
              <a:spcBef>
                <a:spcPts val="0"/>
              </a:spcBef>
              <a:buNone/>
            </a:pPr>
            <a:r>
              <a:rPr lang="en-US" sz="1200" dirty="0">
                <a:solidFill>
                  <a:srgbClr val="2B2B2B"/>
                </a:solidFill>
              </a:rPr>
              <a:t>Joint stiffness and contractures, dysostosis multiplex, hip dysplasia</a:t>
            </a:r>
            <a:r>
              <a:rPr lang="en-US" sz="1200" baseline="30000" dirty="0">
                <a:solidFill>
                  <a:srgbClr val="2B2B2B"/>
                </a:solidFill>
              </a:rPr>
              <a:t>1</a:t>
            </a:r>
          </a:p>
        </p:txBody>
      </p:sp>
      <p:sp>
        <p:nvSpPr>
          <p:cNvPr id="88" name="Eye bar"/>
          <p:cNvSpPr/>
          <p:nvPr/>
        </p:nvSpPr>
        <p:spPr>
          <a:xfrm>
            <a:off x="7246661" y="1743448"/>
            <a:ext cx="443046" cy="160524"/>
          </a:xfrm>
          <a:prstGeom prst="rect">
            <a:avLst/>
          </a:prstGeom>
          <a:solidFill>
            <a:srgbClr val="000000"/>
          </a:solidFill>
          <a:ln>
            <a:noFill/>
          </a:ln>
        </p:spPr>
        <p:txBody>
          <a:bodyPr/>
          <a:lstStyle/>
          <a:p>
            <a:endParaRPr lang="en-SA"/>
          </a:p>
        </p:txBody>
      </p:sp>
      <p:sp>
        <p:nvSpPr>
          <p:cNvPr id="89" name="Image caption"/>
          <p:cNvSpPr txBox="1"/>
          <p:nvPr/>
        </p:nvSpPr>
        <p:spPr>
          <a:xfrm>
            <a:off x="863600" y="5130800"/>
            <a:ext cx="2438400" cy="406400"/>
          </a:xfrm>
          <a:prstGeom prst="rect">
            <a:avLst/>
          </a:prstGeom>
          <a:noFill/>
          <a:ln>
            <a:noFill/>
          </a:ln>
        </p:spPr>
        <p:txBody>
          <a:bodyPr wrap="square" lIns="0" tIns="0" rIns="0" bIns="0" rtlCol="0" anchor="t">
            <a:noAutofit/>
          </a:bodyPr>
          <a:lstStyle/>
          <a:p>
            <a:pPr algn="l">
              <a:lnSpc>
                <a:spcPct val="100000"/>
              </a:lnSpc>
              <a:spcBef>
                <a:spcPts val="0"/>
              </a:spcBef>
              <a:buNone/>
            </a:pPr>
            <a:r>
              <a:rPr lang="en-US" sz="1050" i="1" dirty="0">
                <a:solidFill>
                  <a:srgbClr val="646464"/>
                </a:solidFill>
              </a:rPr>
              <a:t>Image: patient with MPS VI. Not all signs or symptoms are present in every patient.</a:t>
            </a:r>
          </a:p>
        </p:txBody>
      </p:sp>
    </p:spTree>
    <p:extLst>
      <p:ext uri="{BB962C8B-B14F-4D97-AF65-F5344CB8AC3E}">
        <p14:creationId xmlns:p14="http://schemas.microsoft.com/office/powerpoint/2010/main" val="3403458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atient photo 50">
            <a:extLst>
              <a:ext uri="{FF2B5EF4-FFF2-40B4-BE49-F238E27FC236}">
                <a16:creationId xmlns:a16="http://schemas.microsoft.com/office/drawing/2014/main" id="{74243BED-3676-9C4E-920B-F963953909E3}"/>
              </a:ext>
            </a:extLst>
          </p:cNvPr>
          <p:cNvPicPr>
            <a:picLocks noChangeAspect="1"/>
          </p:cNvPicPr>
          <p:nvPr/>
        </p:nvPicPr>
        <p:blipFill>
          <a:blip r:embed="rId2"/>
          <a:srcRect l="54900" t="6900" r="34500" b="62200"/>
          <a:stretch>
            <a:fillRect/>
          </a:stretch>
        </p:blipFill>
        <p:spPr>
          <a:xfrm>
            <a:off x="6483350" y="1320800"/>
            <a:ext cx="850900" cy="1117600"/>
          </a:xfrm>
          <a:prstGeom prst="rect">
            <a:avLst/>
          </a:prstGeom>
        </p:spPr>
      </p:pic>
      <p:pic>
        <p:nvPicPr>
          <p:cNvPr id="51" name="Patient photo 51">
            <a:extLst>
              <a:ext uri="{FF2B5EF4-FFF2-40B4-BE49-F238E27FC236}">
                <a16:creationId xmlns:a16="http://schemas.microsoft.com/office/drawing/2014/main" id="{74243BED-3676-9C4E-920B-F963953909E3}"/>
              </a:ext>
            </a:extLst>
          </p:cNvPr>
          <p:cNvPicPr>
            <a:picLocks noChangeAspect="1"/>
          </p:cNvPicPr>
          <p:nvPr/>
        </p:nvPicPr>
        <p:blipFill>
          <a:blip r:embed="rId2"/>
          <a:srcRect l="79300" t="6900" r="7400" b="62200"/>
          <a:stretch>
            <a:fillRect/>
          </a:stretch>
        </p:blipFill>
        <p:spPr>
          <a:xfrm>
            <a:off x="9417050" y="1320800"/>
            <a:ext cx="1079500" cy="1117600"/>
          </a:xfrm>
          <a:prstGeom prst="rect">
            <a:avLst/>
          </a:prstGeom>
        </p:spPr>
      </p:pic>
      <p:sp>
        <p:nvSpPr>
          <p:cNvPr id="200" name="Section label"/>
          <p:cNvSpPr txBox="1"/>
          <p:nvPr/>
        </p:nvSpPr>
        <p:spPr>
          <a:xfrm>
            <a:off x="660400" y="190500"/>
            <a:ext cx="7620000" cy="203200"/>
          </a:xfrm>
          <a:prstGeom prst="rect">
            <a:avLst/>
          </a:prstGeom>
          <a:noFill/>
        </p:spPr>
        <p:txBody>
          <a:bodyPr wrap="square" lIns="0" tIns="0" rIns="0" bIns="0" anchor="t">
            <a:noAutofit/>
          </a:bodyPr>
          <a:lstStyle/>
          <a:p>
            <a:pPr>
              <a:spcBef>
                <a:spcPts val="0"/>
              </a:spcBef>
              <a:spcAft>
                <a:spcPts val="0"/>
              </a:spcAft>
              <a:buNone/>
            </a:pPr>
            <a:r>
              <a:rPr lang="en-US" sz="1050" b="1" spc="100" dirty="0">
                <a:solidFill>
                  <a:srgbClr val="28509C"/>
                </a:solidFill>
              </a:rPr>
              <a:t>MPS VI</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MPS VI: classical and non-classical disease</a:t>
            </a:r>
            <a:endParaRPr lang="en-US" baseline="30000" dirty="0"/>
          </a:p>
        </p:txBody>
      </p:sp>
      <p:graphicFrame>
        <p:nvGraphicFramePr>
          <p:cNvPr id="202" name="MPS VI table"/>
          <p:cNvGraphicFramePr>
            <a:graphicFrameLocks noGrp="1"/>
          </p:cNvGraphicFramePr>
          <p:nvPr/>
        </p:nvGraphicFramePr>
        <p:xfrm>
          <a:off x="660400" y="2616200"/>
          <a:ext cx="10871200" cy="2781300"/>
        </p:xfrm>
        <a:graphic>
          <a:graphicData uri="http://schemas.openxmlformats.org/drawingml/2006/table">
            <a:tbl>
              <a:tblPr firstRow="1"/>
              <a:tblGrid>
                <a:gridCol w="4724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98800">
                  <a:extLst>
                    <a:ext uri="{9D8B030D-6E8A-4147-A177-3AD203B41FA5}">
                      <a16:colId xmlns:a16="http://schemas.microsoft.com/office/drawing/2014/main" val="20002"/>
                    </a:ext>
                  </a:extLst>
                </a:gridCol>
              </a:tblGrid>
              <a:tr h="381000">
                <a:tc>
                  <a:txBody>
                    <a:bodyPr/>
                    <a:lstStyle/>
                    <a:p>
                      <a:pPr>
                        <a:spcBef>
                          <a:spcPts val="0"/>
                        </a:spcBef>
                        <a:spcAft>
                          <a:spcPts val="0"/>
                        </a:spcAft>
                        <a:buNone/>
                      </a:pPr>
                      <a:r>
                        <a:rPr lang="en-US" sz="1400" b="1" dirty="0">
                          <a:solidFill>
                            <a:srgbClr val="002E56"/>
                          </a:solidFill>
                        </a:rPr>
                        <a:t>Feature</a:t>
                      </a:r>
                    </a:p>
                  </a:txBody>
                  <a:tcPr anchor="ctr">
                    <a:lnL w="0">
                      <a:noFill/>
                    </a:lnL>
                    <a:lnR w="0">
                      <a:noFill/>
                    </a:lnR>
                    <a:lnT w="0">
                      <a:noFill/>
                    </a:lnT>
                    <a:lnB w="9525">
                      <a:solidFill>
                        <a:srgbClr val="28509C"/>
                      </a:solidFill>
                    </a:lnB>
                    <a:noFill/>
                  </a:tcPr>
                </a:tc>
                <a:tc>
                  <a:txBody>
                    <a:bodyPr/>
                    <a:lstStyle/>
                    <a:p>
                      <a:pPr algn="ctr">
                        <a:spcBef>
                          <a:spcPts val="0"/>
                        </a:spcBef>
                        <a:spcAft>
                          <a:spcPts val="0"/>
                        </a:spcAft>
                        <a:buNone/>
                      </a:pPr>
                      <a:r>
                        <a:rPr lang="en-US" sz="1400" b="1" dirty="0">
                          <a:solidFill>
                            <a:srgbClr val="28509C"/>
                          </a:solidFill>
                        </a:rPr>
                        <a:t>Classical</a:t>
                      </a:r>
                    </a:p>
                  </a:txBody>
                  <a:tcPr anchor="ctr">
                    <a:lnL w="0">
                      <a:noFill/>
                    </a:lnL>
                    <a:lnR w="0">
                      <a:noFill/>
                    </a:lnR>
                    <a:lnT w="0">
                      <a:noFill/>
                    </a:lnT>
                    <a:lnB w="9525">
                      <a:solidFill>
                        <a:srgbClr val="28509C"/>
                      </a:solidFill>
                    </a:lnB>
                    <a:solidFill>
                      <a:srgbClr val="E3EAF5"/>
                    </a:solidFill>
                  </a:tcPr>
                </a:tc>
                <a:tc>
                  <a:txBody>
                    <a:bodyPr/>
                    <a:lstStyle/>
                    <a:p>
                      <a:pPr algn="ctr">
                        <a:spcBef>
                          <a:spcPts val="0"/>
                        </a:spcBef>
                        <a:spcAft>
                          <a:spcPts val="0"/>
                        </a:spcAft>
                        <a:buNone/>
                      </a:pPr>
                      <a:r>
                        <a:rPr lang="en-US" sz="1400" b="1" dirty="0">
                          <a:solidFill>
                            <a:srgbClr val="002E56"/>
                          </a:solidFill>
                        </a:rPr>
                        <a:t>Non-classical</a:t>
                      </a:r>
                    </a:p>
                  </a:txBody>
                  <a:tcPr anchor="ctr">
                    <a:lnL w="0">
                      <a:noFill/>
                    </a:lnL>
                    <a:lnR w="0">
                      <a:noFill/>
                    </a:lnR>
                    <a:lnT w="0">
                      <a:noFill/>
                    </a:lnT>
                    <a:lnB w="9525">
                      <a:solidFill>
                        <a:srgbClr val="28509C"/>
                      </a:solidFill>
                    </a:lnB>
                    <a:noFill/>
                  </a:tcPr>
                </a:tc>
                <a:extLst>
                  <a:ext uri="{0D108BD9-81ED-4DB2-BD59-A6C34878D82A}">
                    <a16:rowId xmlns:a16="http://schemas.microsoft.com/office/drawing/2014/main" val="10000"/>
                  </a:ext>
                </a:extLst>
              </a:tr>
              <a:tr h="342900">
                <a:tc>
                  <a:txBody>
                    <a:bodyPr/>
                    <a:lstStyle/>
                    <a:p>
                      <a:pPr>
                        <a:spcBef>
                          <a:spcPts val="0"/>
                        </a:spcBef>
                        <a:spcAft>
                          <a:spcPts val="0"/>
                        </a:spcAft>
                        <a:buNone/>
                      </a:pPr>
                      <a:r>
                        <a:rPr lang="en-US" sz="1400" b="1" dirty="0">
                          <a:solidFill>
                            <a:srgbClr val="2B2B2B"/>
                          </a:solidFill>
                        </a:rPr>
                        <a:t>Enzyme activity</a:t>
                      </a:r>
                      <a:r>
                        <a:rPr lang="en-US" sz="1400" baseline="30000" dirty="0">
                          <a:solidFill>
                            <a:srgbClr val="2B2B2B"/>
                          </a:solidFill>
                        </a:rPr>
                        <a:t>1</a:t>
                      </a:r>
                    </a:p>
                  </a:txBody>
                  <a:tcPr anchor="ctr">
                    <a:lnL w="0">
                      <a:noFill/>
                    </a:lnL>
                    <a:lnR w="0">
                      <a:noFill/>
                    </a:lnR>
                    <a:lnT w="9525" cap="flat" cmpd="sng" algn="ctr">
                      <a:solidFill>
                        <a:srgbClr val="28509C"/>
                      </a:solidFill>
                      <a:prstDash val="solid"/>
                      <a:round/>
                      <a:headEnd type="none" w="med" len="med"/>
                      <a:tailEnd type="none" w="med" len="med"/>
                    </a:lnT>
                    <a:lnB w="9525">
                      <a:solidFill>
                        <a:srgbClr val="E0E0E0"/>
                      </a:solidFill>
                    </a:lnB>
                    <a:noFill/>
                  </a:tcPr>
                </a:tc>
                <a:tc>
                  <a:txBody>
                    <a:bodyPr/>
                    <a:lstStyle/>
                    <a:p>
                      <a:pPr algn="ctr">
                        <a:spcBef>
                          <a:spcPts val="0"/>
                        </a:spcBef>
                        <a:spcAft>
                          <a:spcPts val="0"/>
                        </a:spcAft>
                        <a:buNone/>
                      </a:pPr>
                      <a:r>
                        <a:rPr lang="en-US" sz="1400" dirty="0">
                          <a:solidFill>
                            <a:srgbClr val="2B2B2B"/>
                          </a:solidFill>
                        </a:rPr>
                        <a:t>No significant activity</a:t>
                      </a:r>
                    </a:p>
                  </a:txBody>
                  <a:tcPr anchor="ctr">
                    <a:lnL w="0">
                      <a:noFill/>
                    </a:lnL>
                    <a:lnR w="0">
                      <a:noFill/>
                    </a:lnR>
                    <a:lnT w="9525" cap="flat" cmpd="sng" algn="ctr">
                      <a:solidFill>
                        <a:srgbClr val="28509C"/>
                      </a:solidFill>
                      <a:prstDash val="solid"/>
                      <a:round/>
                      <a:headEnd type="none" w="med" len="med"/>
                      <a:tailEnd type="none" w="med" len="med"/>
                    </a:lnT>
                    <a:lnB w="9525">
                      <a:solidFill>
                        <a:srgbClr val="E0E0E0"/>
                      </a:solidFill>
                    </a:lnB>
                    <a:solidFill>
                      <a:srgbClr val="E3EAF5"/>
                    </a:solidFill>
                  </a:tcPr>
                </a:tc>
                <a:tc>
                  <a:txBody>
                    <a:bodyPr/>
                    <a:lstStyle/>
                    <a:p>
                      <a:pPr algn="ctr">
                        <a:spcBef>
                          <a:spcPts val="0"/>
                        </a:spcBef>
                        <a:spcAft>
                          <a:spcPts val="0"/>
                        </a:spcAft>
                        <a:buNone/>
                      </a:pPr>
                      <a:r>
                        <a:rPr lang="en-US" sz="1400" dirty="0">
                          <a:solidFill>
                            <a:srgbClr val="2B2B2B"/>
                          </a:solidFill>
                        </a:rPr>
                        <a:t>Some residual activity</a:t>
                      </a:r>
                    </a:p>
                  </a:txBody>
                  <a:tcPr anchor="ctr">
                    <a:lnL w="0">
                      <a:noFill/>
                    </a:lnL>
                    <a:lnR w="0">
                      <a:noFill/>
                    </a:lnR>
                    <a:lnT w="9525" cap="flat" cmpd="sng" algn="ctr">
                      <a:solidFill>
                        <a:srgbClr val="28509C"/>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342900">
                <a:tc>
                  <a:txBody>
                    <a:bodyPr/>
                    <a:lstStyle/>
                    <a:p>
                      <a:pPr>
                        <a:spcBef>
                          <a:spcPts val="0"/>
                        </a:spcBef>
                        <a:spcAft>
                          <a:spcPts val="0"/>
                        </a:spcAft>
                        <a:buNone/>
                      </a:pPr>
                      <a:r>
                        <a:rPr lang="en-US" sz="1400" b="1" dirty="0">
                          <a:solidFill>
                            <a:srgbClr val="2B2B2B"/>
                          </a:solidFill>
                        </a:rPr>
                        <a:t>uGAG</a:t>
                      </a:r>
                      <a:r>
                        <a:rPr lang="en-US" sz="1400" baseline="30000" dirty="0">
                          <a:solidFill>
                            <a:srgbClr val="2B2B2B"/>
                          </a:solidFill>
                        </a:rPr>
                        <a:t>2</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ctr">
                        <a:spcBef>
                          <a:spcPts val="0"/>
                        </a:spcBef>
                        <a:spcAft>
                          <a:spcPts val="0"/>
                        </a:spcAft>
                        <a:buNone/>
                      </a:pPr>
                      <a:r>
                        <a:rPr lang="en-US" sz="1400" dirty="0">
                          <a:solidFill>
                            <a:srgbClr val="2B2B2B"/>
                          </a:solidFill>
                        </a:rPr>
                        <a:t>&gt;200 µg/mg</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ctr">
                        <a:spcBef>
                          <a:spcPts val="0"/>
                        </a:spcBef>
                        <a:spcAft>
                          <a:spcPts val="0"/>
                        </a:spcAft>
                        <a:buNone/>
                      </a:pPr>
                      <a:r>
                        <a:rPr lang="en-US" sz="1400" dirty="0">
                          <a:solidFill>
                            <a:srgbClr val="2B2B2B"/>
                          </a:solidFill>
                        </a:rPr>
                        <a:t>&lt;100 µg/mg</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342900">
                <a:tc>
                  <a:txBody>
                    <a:bodyPr/>
                    <a:lstStyle/>
                    <a:p>
                      <a:pPr>
                        <a:spcBef>
                          <a:spcPts val="0"/>
                        </a:spcBef>
                        <a:spcAft>
                          <a:spcPts val="0"/>
                        </a:spcAft>
                        <a:buNone/>
                      </a:pPr>
                      <a:r>
                        <a:rPr lang="en-US" sz="1400" b="1" dirty="0">
                          <a:solidFill>
                            <a:srgbClr val="2B2B2B"/>
                          </a:solidFill>
                        </a:rPr>
                        <a:t>Onset of symptoms</a:t>
                      </a:r>
                      <a:r>
                        <a:rPr lang="en-US" sz="1400" baseline="30000" dirty="0">
                          <a:solidFill>
                            <a:srgbClr val="2B2B2B"/>
                          </a:solidFill>
                        </a:rPr>
                        <a:t>3</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ctr">
                        <a:spcBef>
                          <a:spcPts val="0"/>
                        </a:spcBef>
                        <a:spcAft>
                          <a:spcPts val="0"/>
                        </a:spcAft>
                        <a:buNone/>
                      </a:pPr>
                      <a:r>
                        <a:rPr lang="en-US" sz="1400" dirty="0">
                          <a:solidFill>
                            <a:srgbClr val="2B2B2B"/>
                          </a:solidFill>
                        </a:rPr>
                        <a:t>&lt;3 years</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ctr">
                        <a:spcBef>
                          <a:spcPts val="0"/>
                        </a:spcBef>
                        <a:spcAft>
                          <a:spcPts val="0"/>
                        </a:spcAft>
                        <a:buNone/>
                      </a:pPr>
                      <a:r>
                        <a:rPr lang="en-US" sz="1400" dirty="0">
                          <a:solidFill>
                            <a:srgbClr val="2B2B2B"/>
                          </a:solidFill>
                        </a:rPr>
                        <a:t>&gt;5 years</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342900">
                <a:tc>
                  <a:txBody>
                    <a:bodyPr/>
                    <a:lstStyle/>
                    <a:p>
                      <a:pPr>
                        <a:spcBef>
                          <a:spcPts val="0"/>
                        </a:spcBef>
                        <a:spcAft>
                          <a:spcPts val="0"/>
                        </a:spcAft>
                        <a:buNone/>
                      </a:pPr>
                      <a:r>
                        <a:rPr lang="en-US" sz="1400" b="1" dirty="0">
                          <a:solidFill>
                            <a:srgbClr val="2B2B2B"/>
                          </a:solidFill>
                        </a:rPr>
                        <a:t>Height</a:t>
                      </a:r>
                      <a:r>
                        <a:rPr lang="en-US" sz="1400" baseline="30000" dirty="0">
                          <a:solidFill>
                            <a:srgbClr val="2B2B2B"/>
                          </a:solidFill>
                        </a:rPr>
                        <a:t>1</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ctr">
                        <a:spcBef>
                          <a:spcPts val="0"/>
                        </a:spcBef>
                        <a:spcAft>
                          <a:spcPts val="0"/>
                        </a:spcAft>
                        <a:buNone/>
                      </a:pPr>
                      <a:r>
                        <a:rPr lang="en-US" sz="1400" dirty="0">
                          <a:solidFill>
                            <a:srgbClr val="2B2B2B"/>
                          </a:solidFill>
                        </a:rPr>
                        <a:t>&lt;95–100 cm</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ctr">
                        <a:spcBef>
                          <a:spcPts val="0"/>
                        </a:spcBef>
                        <a:spcAft>
                          <a:spcPts val="0"/>
                        </a:spcAft>
                        <a:buNone/>
                      </a:pPr>
                      <a:r>
                        <a:rPr lang="en-US" sz="1400" dirty="0">
                          <a:solidFill>
                            <a:srgbClr val="2B2B2B"/>
                          </a:solidFill>
                        </a:rPr>
                        <a:t>&gt;140 cm</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4"/>
                  </a:ext>
                </a:extLst>
              </a:tr>
              <a:tr h="342900">
                <a:tc>
                  <a:txBody>
                    <a:bodyPr/>
                    <a:lstStyle/>
                    <a:p>
                      <a:pPr>
                        <a:spcBef>
                          <a:spcPts val="0"/>
                        </a:spcBef>
                        <a:spcAft>
                          <a:spcPts val="0"/>
                        </a:spcAft>
                        <a:buNone/>
                      </a:pPr>
                      <a:r>
                        <a:rPr lang="en-US" sz="1400" b="1" dirty="0">
                          <a:solidFill>
                            <a:srgbClr val="2B2B2B"/>
                          </a:solidFill>
                        </a:rPr>
                        <a:t>Debilitation</a:t>
                      </a:r>
                      <a:r>
                        <a:rPr lang="en-US" sz="1400" baseline="30000" dirty="0">
                          <a:solidFill>
                            <a:srgbClr val="2B2B2B"/>
                          </a:solidFill>
                        </a:rPr>
                        <a:t>1</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ctr">
                        <a:spcBef>
                          <a:spcPts val="0"/>
                        </a:spcBef>
                        <a:spcAft>
                          <a:spcPts val="0"/>
                        </a:spcAft>
                        <a:buNone/>
                      </a:pPr>
                      <a:r>
                        <a:rPr lang="en-US" sz="1400" dirty="0">
                          <a:solidFill>
                            <a:srgbClr val="2B2B2B"/>
                          </a:solidFill>
                        </a:rPr>
                        <a:t>First decade of life</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ctr">
                        <a:spcBef>
                          <a:spcPts val="0"/>
                        </a:spcBef>
                        <a:spcAft>
                          <a:spcPts val="0"/>
                        </a:spcAft>
                        <a:buNone/>
                      </a:pPr>
                      <a:r>
                        <a:rPr lang="en-US" sz="1400" dirty="0">
                          <a:solidFill>
                            <a:srgbClr val="2B2B2B"/>
                          </a:solidFill>
                        </a:rPr>
                        <a:t>Second decade or later</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5"/>
                  </a:ext>
                </a:extLst>
              </a:tr>
              <a:tr h="342900">
                <a:tc>
                  <a:txBody>
                    <a:bodyPr/>
                    <a:lstStyle/>
                    <a:p>
                      <a:pPr>
                        <a:spcBef>
                          <a:spcPts val="0"/>
                        </a:spcBef>
                        <a:spcAft>
                          <a:spcPts val="0"/>
                        </a:spcAft>
                        <a:buNone/>
                      </a:pPr>
                      <a:r>
                        <a:rPr lang="en-US" sz="1400" b="1" dirty="0">
                          <a:solidFill>
                            <a:srgbClr val="2B2B2B"/>
                          </a:solidFill>
                        </a:rPr>
                        <a:t>Death</a:t>
                      </a:r>
                      <a:r>
                        <a:rPr lang="en-US" sz="1400" baseline="30000" dirty="0">
                          <a:solidFill>
                            <a:srgbClr val="2B2B2B"/>
                          </a:solidFill>
                        </a:rPr>
                        <a:t>2,3</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ctr">
                        <a:spcBef>
                          <a:spcPts val="0"/>
                        </a:spcBef>
                        <a:spcAft>
                          <a:spcPts val="0"/>
                        </a:spcAft>
                        <a:buNone/>
                      </a:pPr>
                      <a:r>
                        <a:rPr lang="en-US" sz="1400" dirty="0">
                          <a:solidFill>
                            <a:srgbClr val="2B2B2B"/>
                          </a:solidFill>
                        </a:rPr>
                        <a:t>&lt;20 years</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ctr">
                        <a:spcBef>
                          <a:spcPts val="0"/>
                        </a:spcBef>
                        <a:spcAft>
                          <a:spcPts val="0"/>
                        </a:spcAft>
                        <a:buNone/>
                      </a:pPr>
                      <a:r>
                        <a:rPr lang="en-US" sz="1400" dirty="0">
                          <a:solidFill>
                            <a:srgbClr val="2B2B2B"/>
                          </a:solidFill>
                        </a:rPr>
                        <a:t>Survival into adulthood</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6"/>
                  </a:ext>
                </a:extLst>
              </a:tr>
              <a:tr h="342900">
                <a:tc>
                  <a:txBody>
                    <a:bodyPr/>
                    <a:lstStyle/>
                    <a:p>
                      <a:pPr>
                        <a:spcBef>
                          <a:spcPts val="0"/>
                        </a:spcBef>
                        <a:spcAft>
                          <a:spcPts val="0"/>
                        </a:spcAft>
                        <a:buNone/>
                      </a:pPr>
                      <a:r>
                        <a:rPr lang="en-US" sz="1400" b="1" dirty="0">
                          <a:solidFill>
                            <a:srgbClr val="2B2B2B"/>
                          </a:solidFill>
                        </a:rPr>
                        <a:t>Share of patients</a:t>
                      </a:r>
                      <a:r>
                        <a:rPr lang="en-US" sz="1400" baseline="30000" dirty="0">
                          <a:solidFill>
                            <a:srgbClr val="2B2B2B"/>
                          </a:solidFill>
                        </a:rPr>
                        <a:t>3</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ctr">
                        <a:spcBef>
                          <a:spcPts val="0"/>
                        </a:spcBef>
                        <a:spcAft>
                          <a:spcPts val="0"/>
                        </a:spcAft>
                        <a:buNone/>
                      </a:pPr>
                      <a:r>
                        <a:rPr lang="en-US" sz="1400" dirty="0">
                          <a:solidFill>
                            <a:srgbClr val="2B2B2B"/>
                          </a:solidFill>
                        </a:rPr>
                        <a:t>60%</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ctr">
                        <a:spcBef>
                          <a:spcPts val="0"/>
                        </a:spcBef>
                        <a:spcAft>
                          <a:spcPts val="0"/>
                        </a:spcAft>
                        <a:buNone/>
                      </a:pPr>
                      <a:r>
                        <a:rPr lang="en-US" sz="1400" dirty="0">
                          <a:solidFill>
                            <a:srgbClr val="2B2B2B"/>
                          </a:solidFill>
                        </a:rPr>
                        <a:t>40%</a:t>
                      </a:r>
                    </a:p>
                  </a:txBody>
                  <a:tcPr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7"/>
                  </a:ext>
                </a:extLst>
              </a:tr>
            </a:tbl>
          </a:graphicData>
        </a:graphic>
      </p:graphicFrame>
      <p:sp>
        <p:nvSpPr>
          <p:cNvPr id="203" name="Abbreviations"/>
          <p:cNvSpPr txBox="1"/>
          <p:nvPr/>
        </p:nvSpPr>
        <p:spPr>
          <a:xfrm>
            <a:off x="660400" y="5435600"/>
            <a:ext cx="10871200" cy="406400"/>
          </a:xfrm>
          <a:prstGeom prst="rect">
            <a:avLst/>
          </a:prstGeom>
          <a:noFill/>
        </p:spPr>
        <p:txBody>
          <a:bodyPr wrap="square" lIns="0" tIns="0" rIns="0" bIns="0" anchor="b">
            <a:noAutofit/>
          </a:bodyPr>
          <a:lstStyle/>
          <a:p>
            <a:pPr>
              <a:spcBef>
                <a:spcPts val="0"/>
              </a:spcBef>
              <a:spcAft>
                <a:spcPts val="0"/>
              </a:spcAft>
              <a:buNone/>
            </a:pPr>
            <a:r>
              <a:rPr lang="en-US" sz="1100" i="1" dirty="0">
                <a:solidFill>
                  <a:srgbClr val="404040"/>
                </a:solidFill>
              </a:rPr>
              <a:t>Debilitation, weakness. GAG, glycosaminoglycan; MPS, mucopolysaccharidosis; uGAG, urinary GAG (µg/mg creatinine)</a:t>
            </a:r>
          </a:p>
        </p:txBody>
      </p:sp>
      <p:sp>
        <p:nvSpPr>
          <p:cNvPr id="204" name="References"/>
          <p:cNvSpPr txBox="1"/>
          <p:nvPr/>
        </p:nvSpPr>
        <p:spPr>
          <a:xfrm>
            <a:off x="660400" y="5969000"/>
            <a:ext cx="10871200" cy="508000"/>
          </a:xfrm>
          <a:prstGeom prst="rect">
            <a:avLst/>
          </a:prstGeom>
          <a:noFill/>
        </p:spPr>
        <p:txBody>
          <a:bodyPr wrap="square" lIns="0" tIns="0" rIns="0" bIns="0" anchor="t">
            <a:noAutofit/>
          </a:bodyPr>
          <a:lstStyle/>
          <a:p>
            <a:pPr>
              <a:spcBef>
                <a:spcPts val="0"/>
              </a:spcBef>
              <a:spcAft>
                <a:spcPts val="0"/>
              </a:spcAft>
              <a:buNone/>
            </a:pPr>
            <a:r>
              <a:rPr lang="en-US" sz="900" dirty="0">
                <a:solidFill>
                  <a:srgbClr val="646464"/>
                </a:solidFill>
              </a:rPr>
              <a:t>1. Giugliani R et al. Pediatrics 2007;120:405–18. 2. Swiedler SJ et al. Am J Med Genet A 2005;134A:144–50. 3. Montaño AM et al. J Inherit Metab Dis 2007;30:165–74.</a:t>
            </a:r>
          </a:p>
        </p:txBody>
      </p:sp>
    </p:spTree>
    <p:extLst>
      <p:ext uri="{BB962C8B-B14F-4D97-AF65-F5344CB8AC3E}">
        <p14:creationId xmlns:p14="http://schemas.microsoft.com/office/powerpoint/2010/main" val="2448880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178982-CD2C-0249-A2AB-4B726310D4CD}"/>
              </a:ext>
            </a:extLst>
          </p:cNvPr>
          <p:cNvPicPr>
            <a:picLocks noChangeAspect="1"/>
          </p:cNvPicPr>
          <p:nvPr/>
        </p:nvPicPr>
        <p:blipFill>
          <a:blip r:embed="rId2"/>
          <a:stretch>
            <a:fillRect/>
          </a:stretch>
        </p:blipFill>
        <p:spPr>
          <a:xfrm>
            <a:off x="4318000" y="1625600"/>
            <a:ext cx="7213600" cy="1788160"/>
          </a:xfrm>
          <a:prstGeom prst="rect">
            <a:avLst/>
          </a:prstGeom>
        </p:spPr>
      </p:pic>
      <p:pic>
        <p:nvPicPr>
          <p:cNvPr id="7" name="Copied Picture 7">
            <a:extLst>
              <a:ext uri="{FF2B5EF4-FFF2-40B4-BE49-F238E27FC236}">
                <a16:creationId xmlns:a16="http://schemas.microsoft.com/office/drawing/2014/main" id="{0065E180-B6DB-1940-BF08-5BD3A0006407}"/>
              </a:ext>
            </a:extLst>
          </p:cNvPr>
          <p:cNvPicPr>
            <a:picLocks noChangeAspect="1"/>
          </p:cNvPicPr>
          <p:nvPr/>
        </p:nvPicPr>
        <p:blipFill>
          <a:blip r:embed="rId3"/>
          <a:stretch>
            <a:fillRect/>
          </a:stretch>
        </p:blipFill>
        <p:spPr>
          <a:xfrm>
            <a:off x="4318000" y="3657600"/>
            <a:ext cx="7213600" cy="1835150"/>
          </a:xfrm>
          <a:prstGeom prst="rect">
            <a:avLst/>
          </a:prstGeom>
        </p:spPr>
      </p:pic>
      <p:sp>
        <p:nvSpPr>
          <p:cNvPr id="1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MPS IVA and MPS VI</a:t>
            </a:r>
          </a:p>
        </p:txBody>
      </p:sp>
      <p:sp>
        <p:nvSpPr>
          <p:cNvPr id="1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MPS VI: rapidly and slowly progressing examples</a:t>
            </a:r>
            <a:endParaRPr lang="en-US" dirty="0"/>
          </a:p>
        </p:txBody>
      </p:sp>
      <p:sp>
        <p:nvSpPr>
          <p:cNvPr id="102" name="Box 102"/>
          <p:cNvSpPr/>
          <p:nvPr/>
        </p:nvSpPr>
        <p:spPr>
          <a:xfrm>
            <a:off x="660400" y="1625600"/>
            <a:ext cx="3454400" cy="1790700"/>
          </a:xfrm>
          <a:prstGeom prst="roundRect">
            <a:avLst>
              <a:gd name="adj" fmla="val 6383"/>
            </a:avLst>
          </a:prstGeom>
          <a:solidFill>
            <a:srgbClr val="E3EAF5"/>
          </a:solidFill>
          <a:ln>
            <a:noFill/>
          </a:ln>
        </p:spPr>
        <p:txBody>
          <a:bodyPr wrap="square" lIns="0" tIns="0" rIns="0" bIns="0" anchor="t">
            <a:noAutofit/>
          </a:bodyPr>
          <a:lstStyle/>
          <a:p>
            <a:endParaRPr lang="en-US" dirty="0"/>
          </a:p>
        </p:txBody>
      </p:sp>
      <p:sp>
        <p:nvSpPr>
          <p:cNvPr id="104" name="Box 104"/>
          <p:cNvSpPr txBox="1"/>
          <p:nvPr/>
        </p:nvSpPr>
        <p:spPr>
          <a:xfrm>
            <a:off x="863600" y="1778000"/>
            <a:ext cx="3124200" cy="1485900"/>
          </a:xfrm>
          <a:prstGeom prst="rect">
            <a:avLst/>
          </a:prstGeom>
          <a:noFill/>
          <a:ln>
            <a:noFill/>
          </a:ln>
        </p:spPr>
        <p:txBody>
          <a:bodyPr wrap="square" lIns="0" tIns="0" rIns="0" bIns="0" anchor="ctr">
            <a:noAutofit/>
          </a:bodyPr>
          <a:lstStyle/>
          <a:p>
            <a:pPr>
              <a:spcBef>
                <a:spcPts val="0"/>
              </a:spcBef>
              <a:spcAft>
                <a:spcPts val="0"/>
              </a:spcAft>
              <a:buNone/>
            </a:pPr>
            <a:r>
              <a:rPr lang="en-US" sz="1400" b="1" dirty="0">
                <a:solidFill>
                  <a:srgbClr val="28509C"/>
                </a:solidFill>
              </a:rPr>
              <a:t>Rapidly progressing (classical)</a:t>
            </a:r>
          </a:p>
          <a:p>
            <a:pPr>
              <a:spcBef>
                <a:spcPts val="400"/>
              </a:spcBef>
              <a:spcAft>
                <a:spcPts val="0"/>
              </a:spcAft>
              <a:buNone/>
            </a:pPr>
            <a:r>
              <a:rPr lang="en-US" sz="1400" dirty="0">
                <a:solidFill>
                  <a:srgbClr val="2B2B2B"/>
                </a:solidFill>
              </a:rPr>
              <a:t>Features are apparent from an early age</a:t>
            </a:r>
          </a:p>
          <a:p>
            <a:pPr>
              <a:spcBef>
                <a:spcPts val="400"/>
              </a:spcBef>
              <a:spcAft>
                <a:spcPts val="0"/>
              </a:spcAft>
              <a:buNone/>
            </a:pPr>
            <a:r>
              <a:rPr lang="en-US" sz="1200" dirty="0">
                <a:solidFill>
                  <a:srgbClr val="646464"/>
                </a:solidFill>
              </a:rPr>
              <a:t>Patient followed from birth to 26 years</a:t>
            </a:r>
          </a:p>
        </p:txBody>
      </p:sp>
      <p:sp>
        <p:nvSpPr>
          <p:cNvPr id="105" name="Box 105"/>
          <p:cNvSpPr/>
          <p:nvPr/>
        </p:nvSpPr>
        <p:spPr>
          <a:xfrm>
            <a:off x="660400" y="3657600"/>
            <a:ext cx="3454400" cy="1841500"/>
          </a:xfrm>
          <a:prstGeom prst="roundRect">
            <a:avLst>
              <a:gd name="adj" fmla="val 6207"/>
            </a:avLst>
          </a:prstGeom>
          <a:solidFill>
            <a:srgbClr val="F1F4F9"/>
          </a:solidFill>
          <a:ln>
            <a:noFill/>
          </a:ln>
        </p:spPr>
        <p:txBody>
          <a:bodyPr wrap="square" lIns="0" tIns="0" rIns="0" bIns="0" anchor="t">
            <a:noAutofit/>
          </a:bodyPr>
          <a:lstStyle/>
          <a:p>
            <a:endParaRPr lang="en-US" dirty="0"/>
          </a:p>
        </p:txBody>
      </p:sp>
      <p:sp>
        <p:nvSpPr>
          <p:cNvPr id="107" name="Box 107"/>
          <p:cNvSpPr txBox="1"/>
          <p:nvPr/>
        </p:nvSpPr>
        <p:spPr>
          <a:xfrm>
            <a:off x="863600" y="3810000"/>
            <a:ext cx="3124200" cy="1536700"/>
          </a:xfrm>
          <a:prstGeom prst="rect">
            <a:avLst/>
          </a:prstGeom>
          <a:noFill/>
          <a:ln>
            <a:noFill/>
          </a:ln>
        </p:spPr>
        <p:txBody>
          <a:bodyPr wrap="square" lIns="0" tIns="0" rIns="0" bIns="0" anchor="ctr">
            <a:noAutofit/>
          </a:bodyPr>
          <a:lstStyle/>
          <a:p>
            <a:pPr>
              <a:spcBef>
                <a:spcPts val="0"/>
              </a:spcBef>
              <a:spcAft>
                <a:spcPts val="0"/>
              </a:spcAft>
              <a:buNone/>
            </a:pPr>
            <a:r>
              <a:rPr lang="en-US" sz="1400" b="1" dirty="0">
                <a:solidFill>
                  <a:srgbClr val="A9218E"/>
                </a:solidFill>
              </a:rPr>
              <a:t>Slowly progressing (non-classical)</a:t>
            </a:r>
          </a:p>
          <a:p>
            <a:pPr>
              <a:spcBef>
                <a:spcPts val="400"/>
              </a:spcBef>
              <a:spcAft>
                <a:spcPts val="0"/>
              </a:spcAft>
              <a:buNone/>
            </a:pPr>
            <a:r>
              <a:rPr lang="en-US" sz="1400" dirty="0">
                <a:solidFill>
                  <a:srgbClr val="2B2B2B"/>
                </a:solidFill>
              </a:rPr>
              <a:t>No obvious clinical features through early adolescence</a:t>
            </a:r>
          </a:p>
          <a:p>
            <a:pPr>
              <a:spcBef>
                <a:spcPts val="400"/>
              </a:spcBef>
              <a:spcAft>
                <a:spcPts val="0"/>
              </a:spcAft>
              <a:buNone/>
            </a:pPr>
            <a:r>
              <a:rPr lang="en-US" sz="1200" dirty="0">
                <a:solidFill>
                  <a:srgbClr val="646464"/>
                </a:solidFill>
              </a:rPr>
              <a:t>Patient followed from 7 months to 13 years</a:t>
            </a:r>
          </a:p>
        </p:txBody>
      </p:sp>
      <p:sp>
        <p:nvSpPr>
          <p:cNvPr id="108" name="Abbreviations"/>
          <p:cNvSpPr txBox="1"/>
          <p:nvPr/>
        </p:nvSpPr>
        <p:spPr>
          <a:xfrm>
            <a:off x="660400" y="5664200"/>
            <a:ext cx="10871200" cy="2794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MPS, mucopolysaccharidosis</a:t>
            </a:r>
          </a:p>
        </p:txBody>
      </p:sp>
      <p:sp>
        <p:nvSpPr>
          <p:cNvPr id="109" name="References"/>
          <p:cNvSpPr txBox="1"/>
          <p:nvPr/>
        </p:nvSpPr>
        <p:spPr>
          <a:xfrm>
            <a:off x="660400" y="6019800"/>
            <a:ext cx="10871200" cy="2032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Giugliani R et al. Pediatrics 2007;120:405–18.</a:t>
            </a:r>
          </a:p>
        </p:txBody>
      </p:sp>
    </p:spTree>
    <p:extLst>
      <p:ext uri="{BB962C8B-B14F-4D97-AF65-F5344CB8AC3E}">
        <p14:creationId xmlns:p14="http://schemas.microsoft.com/office/powerpoint/2010/main" val="3684444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MPS VI</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MPS VI: morbidity and mortality</a:t>
            </a:r>
            <a:endParaRPr lang="en-US" baseline="30000" dirty="0"/>
          </a:p>
        </p:txBody>
      </p:sp>
      <p:sp>
        <p:nvSpPr>
          <p:cNvPr id="202" name="Box"/>
          <p:cNvSpPr/>
          <p:nvPr/>
        </p:nvSpPr>
        <p:spPr>
          <a:xfrm>
            <a:off x="660400" y="1498600"/>
            <a:ext cx="5461000" cy="3962400"/>
          </a:xfrm>
          <a:prstGeom prst="roundRect">
            <a:avLst>
              <a:gd name="adj" fmla="val 2885"/>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89000" y="1676400"/>
            <a:ext cx="5080000" cy="36830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002E56"/>
                </a:solidFill>
              </a:rPr>
              <a:t>Morbidity</a:t>
            </a:r>
            <a:r>
              <a:rPr lang="en-US" sz="1600" baseline="30000" dirty="0">
                <a:solidFill>
                  <a:srgbClr val="2B2B2B"/>
                </a:solidFill>
              </a:rPr>
              <a:t>1</a:t>
            </a:r>
          </a:p>
          <a:p>
            <a:pPr marL="171450" indent="-171450">
              <a:spcBef>
                <a:spcPts val="1400"/>
              </a:spcBef>
              <a:spcAft>
                <a:spcPts val="0"/>
              </a:spcAft>
              <a:buClr>
                <a:srgbClr val="28509C"/>
              </a:buClr>
              <a:buFont typeface="Arial"/>
              <a:buChar char="•"/>
            </a:pPr>
            <a:r>
              <a:rPr lang="en-US" sz="1600" dirty="0">
                <a:solidFill>
                  <a:srgbClr val="2B2B2B"/>
                </a:solidFill>
              </a:rPr>
              <a:t>Physical and functional well-being decline, limiting endurance and mobility</a:t>
            </a:r>
          </a:p>
          <a:p>
            <a:pPr marL="342900" indent="-171450">
              <a:spcBef>
                <a:spcPts val="600"/>
              </a:spcBef>
              <a:spcAft>
                <a:spcPts val="0"/>
              </a:spcAft>
              <a:buClr>
                <a:srgbClr val="28509C"/>
              </a:buClr>
              <a:buFont typeface="Arial"/>
              <a:buChar char="–"/>
            </a:pPr>
            <a:r>
              <a:rPr lang="en-US" sz="1600" dirty="0">
                <a:solidFill>
                  <a:srgbClr val="2B2B2B"/>
                </a:solidFill>
              </a:rPr>
              <a:t>Skeletal deformities</a:t>
            </a:r>
          </a:p>
          <a:p>
            <a:pPr marL="342900" indent="-171450">
              <a:spcBef>
                <a:spcPts val="600"/>
              </a:spcBef>
              <a:spcAft>
                <a:spcPts val="0"/>
              </a:spcAft>
              <a:buClr>
                <a:srgbClr val="28509C"/>
              </a:buClr>
              <a:buFont typeface="Arial"/>
              <a:buChar char="–"/>
            </a:pPr>
            <a:r>
              <a:rPr lang="en-US" sz="1600" dirty="0">
                <a:solidFill>
                  <a:srgbClr val="2B2B2B"/>
                </a:solidFill>
              </a:rPr>
              <a:t>Joint disease</a:t>
            </a:r>
          </a:p>
          <a:p>
            <a:pPr marL="342900" indent="-171450">
              <a:spcBef>
                <a:spcPts val="600"/>
              </a:spcBef>
              <a:spcAft>
                <a:spcPts val="0"/>
              </a:spcAft>
              <a:buClr>
                <a:srgbClr val="28509C"/>
              </a:buClr>
              <a:buFont typeface="Arial"/>
              <a:buChar char="–"/>
            </a:pPr>
            <a:r>
              <a:rPr lang="en-US" sz="1600" dirty="0">
                <a:solidFill>
                  <a:srgbClr val="2B2B2B"/>
                </a:solidFill>
              </a:rPr>
              <a:t>Cardiopulmonary disease</a:t>
            </a:r>
          </a:p>
          <a:p>
            <a:pPr marL="342900" indent="-171450">
              <a:spcBef>
                <a:spcPts val="600"/>
              </a:spcBef>
              <a:spcAft>
                <a:spcPts val="0"/>
              </a:spcAft>
              <a:buClr>
                <a:srgbClr val="28509C"/>
              </a:buClr>
              <a:buFont typeface="Arial"/>
              <a:buChar char="–"/>
            </a:pPr>
            <a:r>
              <a:rPr lang="en-US" sz="1600" dirty="0">
                <a:solidFill>
                  <a:srgbClr val="2B2B2B"/>
                </a:solidFill>
              </a:rPr>
              <a:t>Blindness</a:t>
            </a:r>
          </a:p>
          <a:p>
            <a:pPr marL="342900" indent="-171450">
              <a:spcBef>
                <a:spcPts val="600"/>
              </a:spcBef>
              <a:spcAft>
                <a:spcPts val="0"/>
              </a:spcAft>
              <a:buClr>
                <a:srgbClr val="28509C"/>
              </a:buClr>
              <a:buFont typeface="Arial"/>
              <a:buChar char="–"/>
            </a:pPr>
            <a:r>
              <a:rPr lang="en-US" sz="1600" dirty="0">
                <a:solidFill>
                  <a:srgbClr val="2B2B2B"/>
                </a:solidFill>
              </a:rPr>
              <a:t>Spinal cord compression</a:t>
            </a:r>
          </a:p>
        </p:txBody>
      </p:sp>
      <p:sp>
        <p:nvSpPr>
          <p:cNvPr id="205" name="Box"/>
          <p:cNvSpPr/>
          <p:nvPr/>
        </p:nvSpPr>
        <p:spPr>
          <a:xfrm>
            <a:off x="6324600" y="1498600"/>
            <a:ext cx="5207000" cy="3962400"/>
          </a:xfrm>
          <a:prstGeom prst="roundRect">
            <a:avLst>
              <a:gd name="adj" fmla="val 2885"/>
            </a:avLst>
          </a:prstGeom>
          <a:solidFill>
            <a:srgbClr val="E3EAF5"/>
          </a:solidFill>
          <a:ln>
            <a:noFill/>
          </a:ln>
        </p:spPr>
        <p:txBody>
          <a:bodyPr wrap="square" lIns="0" tIns="0" rIns="0" bIns="0" anchor="t">
            <a:noAutofit/>
          </a:bodyPr>
          <a:lstStyle/>
          <a:p>
            <a:endParaRPr lang="en-US" dirty="0"/>
          </a:p>
        </p:txBody>
      </p:sp>
      <p:sp>
        <p:nvSpPr>
          <p:cNvPr id="207" name="Box"/>
          <p:cNvSpPr txBox="1"/>
          <p:nvPr/>
        </p:nvSpPr>
        <p:spPr>
          <a:xfrm>
            <a:off x="6553200" y="1676400"/>
            <a:ext cx="4826000" cy="36830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28509C"/>
                </a:solidFill>
              </a:rPr>
              <a:t>Mortality</a:t>
            </a:r>
            <a:r>
              <a:rPr lang="en-US" sz="1600" baseline="30000" dirty="0">
                <a:solidFill>
                  <a:srgbClr val="2B2B2B"/>
                </a:solidFill>
              </a:rPr>
              <a:t>1</a:t>
            </a:r>
          </a:p>
          <a:p>
            <a:pPr marL="171450" indent="-171450">
              <a:spcBef>
                <a:spcPts val="1400"/>
              </a:spcBef>
              <a:spcAft>
                <a:spcPts val="0"/>
              </a:spcAft>
              <a:buClr>
                <a:srgbClr val="28509C"/>
              </a:buClr>
              <a:buFont typeface="Arial"/>
              <a:buChar char="•"/>
            </a:pPr>
            <a:r>
              <a:rPr lang="en-US" sz="1600" b="1" dirty="0">
                <a:solidFill>
                  <a:srgbClr val="002E56"/>
                </a:solidFill>
              </a:rPr>
              <a:t>Severely affected patients: </a:t>
            </a:r>
            <a:r>
              <a:rPr lang="en-US" sz="1600" dirty="0">
                <a:solidFill>
                  <a:srgbClr val="2B2B2B"/>
                </a:solidFill>
              </a:rPr>
              <a:t>live to their early teens or early 20s</a:t>
            </a:r>
          </a:p>
          <a:p>
            <a:pPr marL="171450" indent="-171450">
              <a:spcBef>
                <a:spcPts val="1000"/>
              </a:spcBef>
              <a:spcAft>
                <a:spcPts val="0"/>
              </a:spcAft>
              <a:buClr>
                <a:srgbClr val="28509C"/>
              </a:buClr>
              <a:buFont typeface="Arial"/>
              <a:buChar char="•"/>
            </a:pPr>
            <a:r>
              <a:rPr lang="en-US" sz="1600" b="1" dirty="0">
                <a:solidFill>
                  <a:srgbClr val="002E56"/>
                </a:solidFill>
              </a:rPr>
              <a:t>Slowly progressing patients: </a:t>
            </a:r>
            <a:r>
              <a:rPr lang="en-US" sz="1600" dirty="0">
                <a:solidFill>
                  <a:srgbClr val="2B2B2B"/>
                </a:solidFill>
              </a:rPr>
              <a:t>can live into their 40s or 50s</a:t>
            </a:r>
          </a:p>
          <a:p>
            <a:pPr>
              <a:spcBef>
                <a:spcPts val="2000"/>
              </a:spcBef>
              <a:spcAft>
                <a:spcPts val="0"/>
              </a:spcAft>
              <a:buNone/>
            </a:pPr>
            <a:r>
              <a:rPr lang="en-US" sz="1600" b="1" dirty="0">
                <a:solidFill>
                  <a:srgbClr val="002E56"/>
                </a:solidFill>
              </a:rPr>
              <a:t>Causes of death include:</a:t>
            </a:r>
          </a:p>
          <a:p>
            <a:pPr marL="171450" indent="-171450">
              <a:spcBef>
                <a:spcPts val="700"/>
              </a:spcBef>
              <a:spcAft>
                <a:spcPts val="0"/>
              </a:spcAft>
              <a:buClr>
                <a:srgbClr val="28509C"/>
              </a:buClr>
              <a:buFont typeface="Arial"/>
              <a:buChar char="•"/>
            </a:pPr>
            <a:r>
              <a:rPr lang="en-US" sz="1600" dirty="0">
                <a:solidFill>
                  <a:srgbClr val="2B2B2B"/>
                </a:solidFill>
              </a:rPr>
              <a:t>Infections</a:t>
            </a:r>
          </a:p>
          <a:p>
            <a:pPr marL="171450" indent="-171450">
              <a:spcBef>
                <a:spcPts val="700"/>
              </a:spcBef>
              <a:spcAft>
                <a:spcPts val="0"/>
              </a:spcAft>
              <a:buClr>
                <a:srgbClr val="28509C"/>
              </a:buClr>
              <a:buFont typeface="Arial"/>
              <a:buChar char="•"/>
            </a:pPr>
            <a:r>
              <a:rPr lang="en-US" sz="1600" dirty="0">
                <a:solidFill>
                  <a:srgbClr val="2B2B2B"/>
                </a:solidFill>
              </a:rPr>
              <a:t>Surgical complications</a:t>
            </a:r>
          </a:p>
          <a:p>
            <a:pPr marL="171450" indent="-171450">
              <a:spcBef>
                <a:spcPts val="700"/>
              </a:spcBef>
              <a:spcAft>
                <a:spcPts val="0"/>
              </a:spcAft>
              <a:buClr>
                <a:srgbClr val="28509C"/>
              </a:buClr>
              <a:buFont typeface="Arial"/>
              <a:buChar char="•"/>
            </a:pPr>
            <a:r>
              <a:rPr lang="en-US" sz="1600" dirty="0">
                <a:solidFill>
                  <a:srgbClr val="2B2B2B"/>
                </a:solidFill>
              </a:rPr>
              <a:t>Cardiopulmonary disease</a:t>
            </a:r>
          </a:p>
        </p:txBody>
      </p:sp>
      <p:sp>
        <p:nvSpPr>
          <p:cNvPr id="208" name="Abbreviations"/>
          <p:cNvSpPr txBox="1"/>
          <p:nvPr/>
        </p:nvSpPr>
        <p:spPr>
          <a:xfrm>
            <a:off x="660400" y="5664200"/>
            <a:ext cx="10871200" cy="2286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MPS, mucopolysaccharidosis</a:t>
            </a:r>
          </a:p>
        </p:txBody>
      </p:sp>
      <p:sp>
        <p:nvSpPr>
          <p:cNvPr id="209" name="References"/>
          <p:cNvSpPr txBox="1"/>
          <p:nvPr/>
        </p:nvSpPr>
        <p:spPr>
          <a:xfrm>
            <a:off x="660400" y="60198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Giugliani R et al. Pediatrics 2007;120:405–18.</a:t>
            </a:r>
          </a:p>
        </p:txBody>
      </p:sp>
    </p:spTree>
    <p:extLst>
      <p:ext uri="{BB962C8B-B14F-4D97-AF65-F5344CB8AC3E}">
        <p14:creationId xmlns:p14="http://schemas.microsoft.com/office/powerpoint/2010/main" val="4160660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Section number"/>
          <p:cNvSpPr txBox="1"/>
          <p:nvPr/>
        </p:nvSpPr>
        <p:spPr>
          <a:xfrm>
            <a:off x="914400" y="1625600"/>
            <a:ext cx="5334000" cy="1219200"/>
          </a:xfrm>
          <a:prstGeom prst="rect">
            <a:avLst/>
          </a:prstGeom>
          <a:noFill/>
          <a:ln>
            <a:noFill/>
          </a:ln>
        </p:spPr>
        <p:txBody>
          <a:bodyPr wrap="square" lIns="0" tIns="0" rIns="0" bIns="0" anchor="b">
            <a:noAutofit/>
          </a:bodyPr>
          <a:lstStyle/>
          <a:p>
            <a:pPr>
              <a:spcBef>
                <a:spcPts val="0"/>
              </a:spcBef>
              <a:buNone/>
            </a:pPr>
            <a:r>
              <a:rPr lang="en-GB" sz="8000" b="1" dirty="0">
                <a:solidFill>
                  <a:srgbClr val="9DB3D9"/>
                </a:solidFill>
              </a:rPr>
              <a:t>02</a:t>
            </a:r>
          </a:p>
        </p:txBody>
      </p:sp>
      <p:sp>
        <p:nvSpPr>
          <p:cNvPr id="403" name="Title"/>
          <p:cNvSpPr>
            <a:spLocks noGrp="1"/>
          </p:cNvSpPr>
          <p:nvPr>
            <p:ph type="title"/>
          </p:nvPr>
        </p:nvSpPr>
        <p:spPr>
          <a:xfrm>
            <a:off x="914400" y="3327400"/>
            <a:ext cx="5842000" cy="812800"/>
          </a:xfrm>
        </p:spPr>
        <p:txBody>
          <a:bodyPr wrap="square" lIns="0" tIns="0" rIns="0" bIns="0" anchor="t">
            <a:normAutofit/>
          </a:bodyPr>
          <a:lstStyle/>
          <a:p>
            <a:pPr algn="l"/>
            <a:r>
              <a:rPr lang="en-GB" sz="4400" b="1" dirty="0">
                <a:solidFill>
                  <a:srgbClr val="FFFFFF"/>
                </a:solidFill>
              </a:rPr>
              <a:t>First signs and diagnosis</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spcBef>
                <a:spcPts val="0"/>
              </a:spcBef>
              <a:buNone/>
            </a:pPr>
            <a:r>
              <a:rPr lang="en-GB" sz="1800" dirty="0">
                <a:solidFill>
                  <a:srgbClr val="C9D5EA"/>
                </a:solidFill>
              </a:rPr>
              <a:t>Why diagnosis takes years, how it is confirmed and what it means for the family</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6223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Time to diagnosis</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6223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How MPS IVA and MPS VI are diagnosed</a:t>
            </a:r>
          </a:p>
        </p:txBody>
      </p:sp>
    </p:spTree>
    <p:extLst>
      <p:ext uri="{BB962C8B-B14F-4D97-AF65-F5344CB8AC3E}">
        <p14:creationId xmlns:p14="http://schemas.microsoft.com/office/powerpoint/2010/main" val="4108657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Understanding MPS</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Organ systems affected in MPS</a:t>
            </a:r>
            <a:endParaRPr lang="en-US" dirty="0"/>
          </a:p>
        </p:txBody>
      </p:sp>
      <p:sp>
        <p:nvSpPr>
          <p:cNvPr id="12" name="Card 1"/>
          <p:cNvSpPr/>
          <p:nvPr/>
        </p:nvSpPr>
        <p:spPr>
          <a:xfrm>
            <a:off x="660400" y="1549400"/>
            <a:ext cx="2565400" cy="1905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13" name="Shape 13"/>
          <p:cNvSpPr txBox="1"/>
          <p:nvPr/>
        </p:nvSpPr>
        <p:spPr>
          <a:xfrm>
            <a:off x="838200" y="2286000"/>
            <a:ext cx="2286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Bones and joints</a:t>
            </a:r>
          </a:p>
        </p:txBody>
      </p:sp>
      <p:sp>
        <p:nvSpPr>
          <p:cNvPr id="14" name="Shape 14"/>
          <p:cNvSpPr txBox="1"/>
          <p:nvPr/>
        </p:nvSpPr>
        <p:spPr>
          <a:xfrm>
            <a:off x="838200" y="2590800"/>
            <a:ext cx="2286000" cy="812800"/>
          </a:xfrm>
          <a:prstGeom prst="rect">
            <a:avLst/>
          </a:prstGeom>
          <a:noFill/>
          <a:ln>
            <a:noFill/>
          </a:ln>
        </p:spPr>
        <p:txBody>
          <a:bodyPr wrap="square" lIns="0" tIns="0" rIns="0" bIns="0" rtlCol="0" anchor="t">
            <a:noAutofit/>
          </a:bodyPr>
          <a:lstStyle/>
          <a:p>
            <a:pPr>
              <a:spcBef>
                <a:spcPts val="0"/>
              </a:spcBef>
              <a:spcAft>
                <a:spcPts val="0"/>
              </a:spcAft>
              <a:buNone/>
            </a:pPr>
            <a:r>
              <a:rPr lang="en-US" sz="1350" dirty="0">
                <a:solidFill>
                  <a:srgbClr val="646464"/>
                </a:solidFill>
              </a:rPr>
              <a:t>Dysostosis multiplex, short stature, stiff (or lax in IVA) joints, hip and knee deformity</a:t>
            </a:r>
          </a:p>
        </p:txBody>
      </p:sp>
      <p:sp>
        <p:nvSpPr>
          <p:cNvPr id="15" name="Card 2"/>
          <p:cNvSpPr/>
          <p:nvPr/>
        </p:nvSpPr>
        <p:spPr>
          <a:xfrm>
            <a:off x="3429000" y="1549400"/>
            <a:ext cx="2565400" cy="1905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16" name="Shape 16"/>
          <p:cNvSpPr txBox="1"/>
          <p:nvPr/>
        </p:nvSpPr>
        <p:spPr>
          <a:xfrm>
            <a:off x="3606800" y="2286000"/>
            <a:ext cx="2286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Spine and nerves</a:t>
            </a:r>
          </a:p>
        </p:txBody>
      </p:sp>
      <p:sp>
        <p:nvSpPr>
          <p:cNvPr id="17" name="Shape 17"/>
          <p:cNvSpPr txBox="1"/>
          <p:nvPr/>
        </p:nvSpPr>
        <p:spPr>
          <a:xfrm>
            <a:off x="3606800" y="2590800"/>
            <a:ext cx="2286000" cy="812800"/>
          </a:xfrm>
          <a:prstGeom prst="rect">
            <a:avLst/>
          </a:prstGeom>
          <a:noFill/>
          <a:ln>
            <a:noFill/>
          </a:ln>
        </p:spPr>
        <p:txBody>
          <a:bodyPr wrap="square" lIns="0" tIns="0" rIns="0" bIns="0" rtlCol="0" anchor="t">
            <a:noAutofit/>
          </a:bodyPr>
          <a:lstStyle/>
          <a:p>
            <a:pPr>
              <a:spcBef>
                <a:spcPts val="0"/>
              </a:spcBef>
              <a:spcAft>
                <a:spcPts val="0"/>
              </a:spcAft>
              <a:buNone/>
            </a:pPr>
            <a:r>
              <a:rPr lang="en-US" sz="1350" dirty="0">
                <a:solidFill>
                  <a:srgbClr val="646464"/>
                </a:solidFill>
              </a:rPr>
              <a:t>Cord compression, carpal tunnel; brain affected in MPS I, II, III, VII</a:t>
            </a:r>
          </a:p>
        </p:txBody>
      </p:sp>
      <p:sp>
        <p:nvSpPr>
          <p:cNvPr id="18" name="Card 3"/>
          <p:cNvSpPr/>
          <p:nvPr/>
        </p:nvSpPr>
        <p:spPr>
          <a:xfrm>
            <a:off x="6197600" y="1549400"/>
            <a:ext cx="2565400" cy="1905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19" name="Shape 19"/>
          <p:cNvSpPr txBox="1"/>
          <p:nvPr/>
        </p:nvSpPr>
        <p:spPr>
          <a:xfrm>
            <a:off x="6375400" y="2286000"/>
            <a:ext cx="2286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Airway and lungs</a:t>
            </a:r>
          </a:p>
        </p:txBody>
      </p:sp>
      <p:sp>
        <p:nvSpPr>
          <p:cNvPr id="20" name="Shape 20"/>
          <p:cNvSpPr txBox="1"/>
          <p:nvPr/>
        </p:nvSpPr>
        <p:spPr>
          <a:xfrm>
            <a:off x="6375400" y="2590800"/>
            <a:ext cx="2286000" cy="812800"/>
          </a:xfrm>
          <a:prstGeom prst="rect">
            <a:avLst/>
          </a:prstGeom>
          <a:noFill/>
          <a:ln>
            <a:noFill/>
          </a:ln>
        </p:spPr>
        <p:txBody>
          <a:bodyPr wrap="square" lIns="0" tIns="0" rIns="0" bIns="0" rtlCol="0" anchor="t">
            <a:noAutofit/>
          </a:bodyPr>
          <a:lstStyle/>
          <a:p>
            <a:pPr>
              <a:spcBef>
                <a:spcPts val="0"/>
              </a:spcBef>
              <a:spcAft>
                <a:spcPts val="0"/>
              </a:spcAft>
              <a:buNone/>
            </a:pPr>
            <a:r>
              <a:rPr lang="en-US" sz="1350" dirty="0">
                <a:solidFill>
                  <a:srgbClr val="646464"/>
                </a:solidFill>
              </a:rPr>
              <a:t>Narrow airway, sleep apnoea, small rigid chest, recurrent infections</a:t>
            </a:r>
          </a:p>
        </p:txBody>
      </p:sp>
      <p:sp>
        <p:nvSpPr>
          <p:cNvPr id="21" name="Card 4"/>
          <p:cNvSpPr/>
          <p:nvPr/>
        </p:nvSpPr>
        <p:spPr>
          <a:xfrm>
            <a:off x="8966200" y="1549400"/>
            <a:ext cx="2565400" cy="1905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22" name="Shape 22"/>
          <p:cNvSpPr txBox="1"/>
          <p:nvPr/>
        </p:nvSpPr>
        <p:spPr>
          <a:xfrm>
            <a:off x="9144000" y="2286000"/>
            <a:ext cx="2286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Heart</a:t>
            </a:r>
          </a:p>
        </p:txBody>
      </p:sp>
      <p:sp>
        <p:nvSpPr>
          <p:cNvPr id="23" name="Shape 23"/>
          <p:cNvSpPr txBox="1"/>
          <p:nvPr/>
        </p:nvSpPr>
        <p:spPr>
          <a:xfrm>
            <a:off x="9144000" y="2590800"/>
            <a:ext cx="2286000" cy="812800"/>
          </a:xfrm>
          <a:prstGeom prst="rect">
            <a:avLst/>
          </a:prstGeom>
          <a:noFill/>
          <a:ln>
            <a:noFill/>
          </a:ln>
        </p:spPr>
        <p:txBody>
          <a:bodyPr wrap="square" lIns="0" tIns="0" rIns="0" bIns="0" rtlCol="0" anchor="t">
            <a:noAutofit/>
          </a:bodyPr>
          <a:lstStyle/>
          <a:p>
            <a:pPr>
              <a:spcBef>
                <a:spcPts val="0"/>
              </a:spcBef>
              <a:spcAft>
                <a:spcPts val="0"/>
              </a:spcAft>
              <a:buNone/>
            </a:pPr>
            <a:r>
              <a:rPr lang="en-US" sz="1350" dirty="0">
                <a:solidFill>
                  <a:srgbClr val="646464"/>
                </a:solidFill>
              </a:rPr>
              <a:t>Thickened valves that leak or narrow; cardiomyopathy</a:t>
            </a:r>
          </a:p>
        </p:txBody>
      </p:sp>
      <p:sp>
        <p:nvSpPr>
          <p:cNvPr id="24" name="Card 5"/>
          <p:cNvSpPr/>
          <p:nvPr/>
        </p:nvSpPr>
        <p:spPr>
          <a:xfrm>
            <a:off x="660400" y="3606800"/>
            <a:ext cx="2565400" cy="1905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25" name="Shape 25"/>
          <p:cNvSpPr txBox="1"/>
          <p:nvPr/>
        </p:nvSpPr>
        <p:spPr>
          <a:xfrm>
            <a:off x="838200" y="4343400"/>
            <a:ext cx="2286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Eyes</a:t>
            </a:r>
          </a:p>
        </p:txBody>
      </p:sp>
      <p:sp>
        <p:nvSpPr>
          <p:cNvPr id="26" name="Shape 26"/>
          <p:cNvSpPr txBox="1"/>
          <p:nvPr/>
        </p:nvSpPr>
        <p:spPr>
          <a:xfrm>
            <a:off x="838200" y="4648200"/>
            <a:ext cx="2286000" cy="812800"/>
          </a:xfrm>
          <a:prstGeom prst="rect">
            <a:avLst/>
          </a:prstGeom>
          <a:noFill/>
          <a:ln>
            <a:noFill/>
          </a:ln>
        </p:spPr>
        <p:txBody>
          <a:bodyPr wrap="square" lIns="0" tIns="0" rIns="0" bIns="0" rtlCol="0" anchor="t">
            <a:noAutofit/>
          </a:bodyPr>
          <a:lstStyle/>
          <a:p>
            <a:pPr>
              <a:spcBef>
                <a:spcPts val="0"/>
              </a:spcBef>
              <a:spcAft>
                <a:spcPts val="0"/>
              </a:spcAft>
              <a:buNone/>
            </a:pPr>
            <a:r>
              <a:rPr lang="en-US" sz="1350" dirty="0">
                <a:solidFill>
                  <a:srgbClr val="646464"/>
                </a:solidFill>
              </a:rPr>
              <a:t>Corneal clouding, glaucoma, retinal and optic-nerve disease</a:t>
            </a:r>
          </a:p>
        </p:txBody>
      </p:sp>
      <p:sp>
        <p:nvSpPr>
          <p:cNvPr id="27" name="Card 6"/>
          <p:cNvSpPr/>
          <p:nvPr/>
        </p:nvSpPr>
        <p:spPr>
          <a:xfrm>
            <a:off x="3429000" y="3606800"/>
            <a:ext cx="2565400" cy="1905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28" name="Shape 28"/>
          <p:cNvSpPr txBox="1"/>
          <p:nvPr/>
        </p:nvSpPr>
        <p:spPr>
          <a:xfrm>
            <a:off x="3606800" y="4343400"/>
            <a:ext cx="2286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Ears</a:t>
            </a:r>
          </a:p>
        </p:txBody>
      </p:sp>
      <p:sp>
        <p:nvSpPr>
          <p:cNvPr id="29" name="Shape 29"/>
          <p:cNvSpPr txBox="1"/>
          <p:nvPr/>
        </p:nvSpPr>
        <p:spPr>
          <a:xfrm>
            <a:off x="3606800" y="4648200"/>
            <a:ext cx="2286000" cy="812800"/>
          </a:xfrm>
          <a:prstGeom prst="rect">
            <a:avLst/>
          </a:prstGeom>
          <a:noFill/>
          <a:ln>
            <a:noFill/>
          </a:ln>
        </p:spPr>
        <p:txBody>
          <a:bodyPr wrap="square" lIns="0" tIns="0" rIns="0" bIns="0" rtlCol="0" anchor="t">
            <a:noAutofit/>
          </a:bodyPr>
          <a:lstStyle/>
          <a:p>
            <a:pPr>
              <a:spcBef>
                <a:spcPts val="0"/>
              </a:spcBef>
              <a:spcAft>
                <a:spcPts val="0"/>
              </a:spcAft>
              <a:buNone/>
            </a:pPr>
            <a:r>
              <a:rPr lang="en-US" sz="1350" dirty="0">
                <a:solidFill>
                  <a:srgbClr val="646464"/>
                </a:solidFill>
              </a:rPr>
              <a:t>Recurrent ear infections; conductive and sensorineural hearing loss</a:t>
            </a:r>
          </a:p>
        </p:txBody>
      </p:sp>
      <p:sp>
        <p:nvSpPr>
          <p:cNvPr id="30" name="Card 7"/>
          <p:cNvSpPr/>
          <p:nvPr/>
        </p:nvSpPr>
        <p:spPr>
          <a:xfrm>
            <a:off x="6197600" y="3606800"/>
            <a:ext cx="2565400" cy="1905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31" name="Shape 31"/>
          <p:cNvSpPr txBox="1"/>
          <p:nvPr/>
        </p:nvSpPr>
        <p:spPr>
          <a:xfrm>
            <a:off x="6375400" y="4343400"/>
            <a:ext cx="2286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Abdomen</a:t>
            </a:r>
          </a:p>
        </p:txBody>
      </p:sp>
      <p:sp>
        <p:nvSpPr>
          <p:cNvPr id="32" name="Shape 32"/>
          <p:cNvSpPr txBox="1"/>
          <p:nvPr/>
        </p:nvSpPr>
        <p:spPr>
          <a:xfrm>
            <a:off x="6375400" y="4648200"/>
            <a:ext cx="2286000" cy="812800"/>
          </a:xfrm>
          <a:prstGeom prst="rect">
            <a:avLst/>
          </a:prstGeom>
          <a:noFill/>
          <a:ln>
            <a:noFill/>
          </a:ln>
        </p:spPr>
        <p:txBody>
          <a:bodyPr wrap="square" lIns="0" tIns="0" rIns="0" bIns="0" rtlCol="0" anchor="t">
            <a:noAutofit/>
          </a:bodyPr>
          <a:lstStyle/>
          <a:p>
            <a:pPr>
              <a:spcBef>
                <a:spcPts val="0"/>
              </a:spcBef>
              <a:spcAft>
                <a:spcPts val="0"/>
              </a:spcAft>
              <a:buNone/>
            </a:pPr>
            <a:r>
              <a:rPr lang="en-US" sz="1350" dirty="0">
                <a:solidFill>
                  <a:srgbClr val="646464"/>
                </a:solidFill>
              </a:rPr>
              <a:t>Enlarged liver and spleen; umbilical and inguinal hernias</a:t>
            </a:r>
          </a:p>
        </p:txBody>
      </p:sp>
      <p:sp>
        <p:nvSpPr>
          <p:cNvPr id="33" name="Card 8"/>
          <p:cNvSpPr/>
          <p:nvPr/>
        </p:nvSpPr>
        <p:spPr>
          <a:xfrm>
            <a:off x="8966200" y="3606800"/>
            <a:ext cx="2565400" cy="1905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34" name="Shape 34"/>
          <p:cNvSpPr txBox="1"/>
          <p:nvPr/>
        </p:nvSpPr>
        <p:spPr>
          <a:xfrm>
            <a:off x="9144000" y="4343400"/>
            <a:ext cx="2286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Teeth and mouth</a:t>
            </a:r>
          </a:p>
        </p:txBody>
      </p:sp>
      <p:sp>
        <p:nvSpPr>
          <p:cNvPr id="35" name="Shape 35"/>
          <p:cNvSpPr txBox="1"/>
          <p:nvPr/>
        </p:nvSpPr>
        <p:spPr>
          <a:xfrm>
            <a:off x="9144000" y="4648200"/>
            <a:ext cx="2286000" cy="812800"/>
          </a:xfrm>
          <a:prstGeom prst="rect">
            <a:avLst/>
          </a:prstGeom>
          <a:noFill/>
          <a:ln>
            <a:noFill/>
          </a:ln>
        </p:spPr>
        <p:txBody>
          <a:bodyPr wrap="square" lIns="0" tIns="0" rIns="0" bIns="0" rtlCol="0" anchor="t">
            <a:noAutofit/>
          </a:bodyPr>
          <a:lstStyle/>
          <a:p>
            <a:pPr>
              <a:spcBef>
                <a:spcPts val="0"/>
              </a:spcBef>
              <a:spcAft>
                <a:spcPts val="0"/>
              </a:spcAft>
              <a:buNone/>
            </a:pPr>
            <a:r>
              <a:rPr lang="en-US" sz="1350" dirty="0">
                <a:solidFill>
                  <a:srgbClr val="646464"/>
                </a:solidFill>
              </a:rPr>
              <a:t>Widely spaced teeth, enamel defects, enlarged gums and tongue</a:t>
            </a:r>
          </a:p>
        </p:txBody>
      </p:sp>
      <p:sp>
        <p:nvSpPr>
          <p:cNvPr id="36"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GAG, glycosaminoglycan; MPS, mucopolysaccharidosis</a:t>
            </a:r>
          </a:p>
        </p:txBody>
      </p:sp>
      <p:sp>
        <p:nvSpPr>
          <p:cNvPr id="37"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Neufeld EF, Muenzer J. In: The Metabolic and Molecular Bases of Inherited Disease. 8th ed. McGraw-Hill; 2001:3421–52; Muenzer J. Rheumatology (Oxford) 2011;50(Suppl 5):v4–12; Clarke L et al. J Inborn Errors Metab Screen 2018;6:1–12.</a:t>
            </a:r>
          </a:p>
        </p:txBody>
      </p:sp>
      <p:pic>
        <p:nvPicPr>
          <p:cNvPr id="38" name="Graphic 38" descr="Bones and joint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200" y="1727200"/>
            <a:ext cx="457200" cy="457200"/>
          </a:xfrm>
          <a:prstGeom prst="rect">
            <a:avLst/>
          </a:prstGeom>
        </p:spPr>
      </p:pic>
      <p:pic>
        <p:nvPicPr>
          <p:cNvPr id="39" name="Graphic 39" descr="Spine and nerv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06800" y="1727200"/>
            <a:ext cx="457200" cy="457200"/>
          </a:xfrm>
          <a:prstGeom prst="rect">
            <a:avLst/>
          </a:prstGeom>
        </p:spPr>
      </p:pic>
      <p:pic>
        <p:nvPicPr>
          <p:cNvPr id="40" name="Graphic 40" descr="Airway and lung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75400" y="1727200"/>
            <a:ext cx="457200" cy="457200"/>
          </a:xfrm>
          <a:prstGeom prst="rect">
            <a:avLst/>
          </a:prstGeom>
        </p:spPr>
      </p:pic>
      <p:pic>
        <p:nvPicPr>
          <p:cNvPr id="41" name="Graphic 41" descr="Hear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0" y="1727200"/>
            <a:ext cx="457200" cy="457200"/>
          </a:xfrm>
          <a:prstGeom prst="rect">
            <a:avLst/>
          </a:prstGeom>
        </p:spPr>
      </p:pic>
      <p:pic>
        <p:nvPicPr>
          <p:cNvPr id="42" name="Graphic 42" descr="Eye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8200" y="3784600"/>
            <a:ext cx="457200" cy="457200"/>
          </a:xfrm>
          <a:prstGeom prst="rect">
            <a:avLst/>
          </a:prstGeom>
        </p:spPr>
      </p:pic>
      <p:pic>
        <p:nvPicPr>
          <p:cNvPr id="43" name="Graphic 43" descr="Ears"/>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06800" y="3784600"/>
            <a:ext cx="457200" cy="457200"/>
          </a:xfrm>
          <a:prstGeom prst="rect">
            <a:avLst/>
          </a:prstGeom>
        </p:spPr>
      </p:pic>
      <p:pic>
        <p:nvPicPr>
          <p:cNvPr id="44" name="Graphic 44" descr="Abdomen"/>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75400" y="3784600"/>
            <a:ext cx="457200" cy="457200"/>
          </a:xfrm>
          <a:prstGeom prst="rect">
            <a:avLst/>
          </a:prstGeom>
        </p:spPr>
      </p:pic>
      <p:pic>
        <p:nvPicPr>
          <p:cNvPr id="45" name="Graphic 45" descr="Teeth and mouth"/>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144000" y="3784600"/>
            <a:ext cx="457200" cy="457200"/>
          </a:xfrm>
          <a:prstGeom prst="rect">
            <a:avLst/>
          </a:prstGeom>
        </p:spPr>
      </p:pic>
    </p:spTree>
    <p:extLst>
      <p:ext uri="{BB962C8B-B14F-4D97-AF65-F5344CB8AC3E}">
        <p14:creationId xmlns:p14="http://schemas.microsoft.com/office/powerpoint/2010/main" val="317402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Ongoing follow-up</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Warning signs that need escalation</a:t>
            </a:r>
            <a:endParaRPr lang="en-US" dirty="0"/>
          </a:p>
        </p:txBody>
      </p:sp>
      <p:graphicFrame>
        <p:nvGraphicFramePr>
          <p:cNvPr id="60" name="Warning signs table"/>
          <p:cNvGraphicFramePr>
            <a:graphicFrameLocks noGrp="1"/>
          </p:cNvGraphicFramePr>
          <p:nvPr/>
        </p:nvGraphicFramePr>
        <p:xfrm>
          <a:off x="660400" y="1498600"/>
          <a:ext cx="10871200" cy="3429000"/>
        </p:xfrm>
        <a:graphic>
          <a:graphicData uri="http://schemas.openxmlformats.org/drawingml/2006/table">
            <a:tbl>
              <a:tblPr firstRow="1"/>
              <a:tblGrid>
                <a:gridCol w="2133600">
                  <a:extLst>
                    <a:ext uri="{9D8B030D-6E8A-4147-A177-3AD203B41FA5}">
                      <a16:colId xmlns:a16="http://schemas.microsoft.com/office/drawing/2014/main" val="20000"/>
                    </a:ext>
                  </a:extLst>
                </a:gridCol>
                <a:gridCol w="4978400">
                  <a:extLst>
                    <a:ext uri="{9D8B030D-6E8A-4147-A177-3AD203B41FA5}">
                      <a16:colId xmlns:a16="http://schemas.microsoft.com/office/drawing/2014/main" val="20001"/>
                    </a:ext>
                  </a:extLst>
                </a:gridCol>
                <a:gridCol w="3759200">
                  <a:extLst>
                    <a:ext uri="{9D8B030D-6E8A-4147-A177-3AD203B41FA5}">
                      <a16:colId xmlns:a16="http://schemas.microsoft.com/office/drawing/2014/main" val="20002"/>
                    </a:ext>
                  </a:extLst>
                </a:gridCol>
              </a:tblGrid>
              <a:tr h="381000">
                <a:tc>
                  <a:txBody>
                    <a:bodyPr/>
                    <a:lstStyle/>
                    <a:p>
                      <a:r>
                        <a:rPr lang="en-US" sz="1400" b="1" dirty="0">
                          <a:solidFill>
                            <a:srgbClr val="002E56"/>
                          </a:solidFill>
                        </a:rPr>
                        <a:t>Warning sign</a:t>
                      </a:r>
                    </a:p>
                  </a:txBody>
                  <a:tcPr marL="101600" marR="101600" marT="50800" marB="50800" anchor="ctr">
                    <a:lnL w="0">
                      <a:noFill/>
                    </a:lnL>
                    <a:lnR w="0">
                      <a:noFill/>
                    </a:lnR>
                    <a:lnT w="0">
                      <a:noFill/>
                    </a:lnT>
                    <a:lnB w="15875">
                      <a:solidFill>
                        <a:srgbClr val="002E56"/>
                      </a:solidFill>
                    </a:lnB>
                    <a:noFill/>
                  </a:tcPr>
                </a:tc>
                <a:tc>
                  <a:txBody>
                    <a:bodyPr/>
                    <a:lstStyle/>
                    <a:p>
                      <a:r>
                        <a:rPr lang="en-US" sz="1400" b="1" dirty="0">
                          <a:solidFill>
                            <a:srgbClr val="002E56"/>
                          </a:solidFill>
                        </a:rPr>
                        <a:t>What the patient or family may report</a:t>
                      </a:r>
                    </a:p>
                  </a:txBody>
                  <a:tcPr marL="101600" marR="101600" marT="50800" marB="50800" anchor="ctr">
                    <a:lnL w="0">
                      <a:noFill/>
                    </a:lnL>
                    <a:lnR w="0">
                      <a:noFill/>
                    </a:lnR>
                    <a:lnT w="0">
                      <a:noFill/>
                    </a:lnT>
                    <a:lnB w="15875">
                      <a:solidFill>
                        <a:srgbClr val="002E56"/>
                      </a:solidFill>
                    </a:lnB>
                    <a:noFill/>
                  </a:tcPr>
                </a:tc>
                <a:tc>
                  <a:txBody>
                    <a:bodyPr/>
                    <a:lstStyle/>
                    <a:p>
                      <a:r>
                        <a:rPr lang="en-US" sz="1400" b="1" dirty="0">
                          <a:solidFill>
                            <a:srgbClr val="002E56"/>
                          </a:solidFill>
                        </a:rPr>
                        <a:t>Why it matters</a:t>
                      </a:r>
                    </a:p>
                  </a:txBody>
                  <a:tcPr marL="101600" marR="101600" marT="50800" marB="50800" anchor="ctr">
                    <a:lnL w="0">
                      <a:noFill/>
                    </a:lnL>
                    <a:lnR w="0">
                      <a:noFill/>
                    </a:lnR>
                    <a:lnT w="0">
                      <a:noFill/>
                    </a:lnT>
                    <a:lnB w="15875">
                      <a:solidFill>
                        <a:srgbClr val="002E56"/>
                      </a:solidFill>
                    </a:lnB>
                    <a:noFill/>
                  </a:tcPr>
                </a:tc>
                <a:extLst>
                  <a:ext uri="{0D108BD9-81ED-4DB2-BD59-A6C34878D82A}">
                    <a16:rowId xmlns:a16="http://schemas.microsoft.com/office/drawing/2014/main" val="10000"/>
                  </a:ext>
                </a:extLst>
              </a:tr>
              <a:tr h="609600">
                <a:tc>
                  <a:txBody>
                    <a:bodyPr/>
                    <a:lstStyle/>
                    <a:p>
                      <a:r>
                        <a:rPr lang="en-US" sz="1400" b="1" dirty="0">
                          <a:solidFill>
                            <a:srgbClr val="002E56"/>
                          </a:solidFill>
                        </a:rPr>
                        <a:t>Spinal cord compression</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Neck pain, new weakness, numbness or tingling, clumsy walking, falls, change in bladder or bowel control</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Can cause permanent paralysis; needs urgent assessment</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609600">
                <a:tc>
                  <a:txBody>
                    <a:bodyPr/>
                    <a:lstStyle/>
                    <a:p>
                      <a:r>
                        <a:rPr lang="en-US" sz="1400" b="1" dirty="0">
                          <a:solidFill>
                            <a:srgbClr val="002E56"/>
                          </a:solidFill>
                        </a:rPr>
                        <a:t>Breathing and sleep</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Loud snoring, pauses in breathing, gasping, daytime sleepiness, morning headache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Signals airway obstruction or declining lung function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609600">
                <a:tc>
                  <a:txBody>
                    <a:bodyPr/>
                    <a:lstStyle/>
                    <a:p>
                      <a:r>
                        <a:rPr lang="en-US" sz="1400" b="1" dirty="0">
                          <a:solidFill>
                            <a:srgbClr val="002E56"/>
                          </a:solidFill>
                        </a:rPr>
                        <a:t>Heart</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Breathlessness on effort, chest pain, palpitations, leg swelling, fainting</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May indicate progressing valve disease or heart failure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609600">
                <a:tc>
                  <a:txBody>
                    <a:bodyPr/>
                    <a:lstStyle/>
                    <a:p>
                      <a:r>
                        <a:rPr lang="en-US" sz="1400" b="1" dirty="0">
                          <a:solidFill>
                            <a:srgbClr val="002E56"/>
                          </a:solidFill>
                        </a:rPr>
                        <a:t>Planned surgery or sedation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Any operation, dental work or imaging that needs anaesthesia or sedation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High airway and anaesthetic risk; MPS team must plan it</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4"/>
                  </a:ext>
                </a:extLst>
              </a:tr>
              <a:tr h="609600">
                <a:tc>
                  <a:txBody>
                    <a:bodyPr/>
                    <a:lstStyle/>
                    <a:p>
                      <a:r>
                        <a:rPr lang="en-US" sz="1400" b="1" dirty="0">
                          <a:solidFill>
                            <a:srgbClr val="002E56"/>
                          </a:solidFill>
                        </a:rPr>
                        <a:t>Delayed infusion reaction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Rash, fever, wheeze or swelling in the hours after an infusion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Late-phase reactions need medical review</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5"/>
                  </a:ext>
                </a:extLst>
              </a:tr>
            </a:tbl>
          </a:graphicData>
        </a:graphic>
      </p:graphicFrame>
      <p:sp>
        <p:nvSpPr>
          <p:cNvPr id="12" name="Shape 12"/>
          <p:cNvSpPr/>
          <p:nvPr/>
        </p:nvSpPr>
        <p:spPr>
          <a:xfrm>
            <a:off x="660400" y="5105400"/>
            <a:ext cx="10871200" cy="508000"/>
          </a:xfrm>
          <a:prstGeom prst="roundRect">
            <a:avLst>
              <a:gd name="adj" fmla="val 15000"/>
            </a:avLst>
          </a:prstGeom>
          <a:solidFill>
            <a:srgbClr val="FBEAEA"/>
          </a:solidFill>
          <a:ln>
            <a:noFill/>
          </a:ln>
        </p:spPr>
        <p:txBody>
          <a:bodyPr wrap="square" lIns="0" tIns="0" rIns="0" bIns="0" rtlCol="0" anchor="t">
            <a:noAutofit/>
          </a:bodyPr>
          <a:lstStyle/>
          <a:p>
            <a:endParaRPr lang="en-US" dirty="0"/>
          </a:p>
        </p:txBody>
      </p:sp>
      <p:sp>
        <p:nvSpPr>
          <p:cNvPr id="14" name="Shape 14"/>
          <p:cNvSpPr txBox="1"/>
          <p:nvPr/>
        </p:nvSpPr>
        <p:spPr>
          <a:xfrm>
            <a:off x="863600" y="5105400"/>
            <a:ext cx="10617200" cy="508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A33A3A"/>
                </a:solidFill>
              </a:rPr>
              <a:t>Escalation rule: </a:t>
            </a:r>
            <a:r>
              <a:rPr lang="en-US" sz="1400" dirty="0">
                <a:solidFill>
                  <a:srgbClr val="2B2B2B"/>
                </a:solidFill>
              </a:rPr>
              <a:t>report any of these to the treating physician the same day, following the program’s escalation procedure.</a:t>
            </a:r>
          </a:p>
        </p:txBody>
      </p:sp>
      <p:sp>
        <p:nvSpPr>
          <p:cNvPr id="15"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MPS, mucopolysaccharidosis</a:t>
            </a:r>
          </a:p>
        </p:txBody>
      </p:sp>
      <p:sp>
        <p:nvSpPr>
          <p:cNvPr id="16"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Akyol MU et al. Orphanet J Rare Dis 2019;14:137; Akyol MU et al. Orphanet J Rare Dis 2019;14:118; Miebach E. Int J Clin Pharmacol Ther 2009;47(Suppl 1):S100–6.</a:t>
            </a:r>
          </a:p>
        </p:txBody>
      </p:sp>
    </p:spTree>
    <p:extLst>
      <p:ext uri="{BB962C8B-B14F-4D97-AF65-F5344CB8AC3E}">
        <p14:creationId xmlns:p14="http://schemas.microsoft.com/office/powerpoint/2010/main" val="401296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Complications  |  Summary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Summary: signs of MPS by specialty</a:t>
            </a:r>
            <a:endParaRPr lang="en-GB" dirty="0"/>
          </a:p>
        </p:txBody>
      </p:sp>
      <p:graphicFrame>
        <p:nvGraphicFramePr>
          <p:cNvPr id="302" name="Summary table"/>
          <p:cNvGraphicFramePr>
            <a:graphicFrameLocks noGrp="1"/>
          </p:cNvGraphicFramePr>
          <p:nvPr/>
        </p:nvGraphicFramePr>
        <p:xfrm>
          <a:off x="660400" y="1422400"/>
          <a:ext cx="10871200" cy="3865880"/>
        </p:xfrm>
        <a:graphic>
          <a:graphicData uri="http://schemas.openxmlformats.org/drawingml/2006/table">
            <a:tbl>
              <a:tblPr firstRow="1"/>
              <a:tblGrid>
                <a:gridCol w="24892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55600">
                <a:tc>
                  <a:txBody>
                    <a:bodyPr/>
                    <a:lstStyle/>
                    <a:p>
                      <a:r>
                        <a:rPr lang="en-GB" sz="1400" b="1" dirty="0">
                          <a:solidFill>
                            <a:srgbClr val="002E56"/>
                          </a:solidFill>
                        </a:rPr>
                        <a:t>Specialty</a:t>
                      </a:r>
                    </a:p>
                  </a:txBody>
                  <a:tcPr marL="76200" marR="101600" marT="63500" marB="63500" anchor="ctr">
                    <a:lnL w="12700">
                      <a:noFill/>
                    </a:lnL>
                    <a:lnR w="12700">
                      <a:noFill/>
                    </a:lnR>
                    <a:lnT w="12700">
                      <a:noFill/>
                    </a:lnT>
                    <a:lnB w="19050">
                      <a:solidFill>
                        <a:srgbClr val="28509C"/>
                      </a:solidFill>
                    </a:lnB>
                    <a:noFill/>
                  </a:tcPr>
                </a:tc>
                <a:tc>
                  <a:txBody>
                    <a:bodyPr/>
                    <a:lstStyle/>
                    <a:p>
                      <a:r>
                        <a:rPr lang="en-GB" sz="1400" b="1" dirty="0">
                          <a:solidFill>
                            <a:srgbClr val="002E56"/>
                          </a:solidFill>
                        </a:rPr>
                        <a:t>Signs to look for</a:t>
                      </a:r>
                    </a:p>
                  </a:txBody>
                  <a:tcPr marL="76200" marR="101600" marT="63500" marB="63500" anchor="ctr">
                    <a:lnL w="12700">
                      <a:noFill/>
                    </a:lnL>
                    <a:lnR w="12700">
                      <a:noFill/>
                    </a:lnR>
                    <a:lnT w="12700">
                      <a:noFill/>
                    </a:lnT>
                    <a:lnB w="19050">
                      <a:solidFill>
                        <a:srgbClr val="28509C"/>
                      </a:solidFill>
                    </a:lnB>
                    <a:noFill/>
                  </a:tcPr>
                </a:tc>
                <a:tc>
                  <a:txBody>
                    <a:bodyPr/>
                    <a:lstStyle/>
                    <a:p>
                      <a:r>
                        <a:rPr lang="en-GB" sz="1400" b="1" dirty="0">
                          <a:solidFill>
                            <a:srgbClr val="002E56"/>
                          </a:solidFill>
                        </a:rPr>
                        <a:t>Key point</a:t>
                      </a:r>
                    </a:p>
                  </a:txBody>
                  <a:tcPr marL="76200" marR="101600" marT="63500" marB="63500" anchor="ctr">
                    <a:lnL w="12700">
                      <a:noFill/>
                    </a:lnL>
                    <a:lnR w="12700">
                      <a:noFill/>
                    </a:lnR>
                    <a:lnT w="12700">
                      <a:noFill/>
                    </a:lnT>
                    <a:lnB w="19050">
                      <a:solidFill>
                        <a:srgbClr val="28509C"/>
                      </a:solidFill>
                    </a:lnB>
                    <a:noFill/>
                  </a:tcPr>
                </a:tc>
                <a:extLst>
                  <a:ext uri="{0D108BD9-81ED-4DB2-BD59-A6C34878D82A}">
                    <a16:rowId xmlns:a16="http://schemas.microsoft.com/office/drawing/2014/main" val="10000"/>
                  </a:ext>
                </a:extLst>
              </a:tr>
              <a:tr h="685800">
                <a:tc>
                  <a:txBody>
                    <a:bodyPr/>
                    <a:lstStyle/>
                    <a:p>
                      <a:r>
                        <a:rPr lang="en-GB" sz="1400" b="1" dirty="0">
                          <a:solidFill>
                            <a:srgbClr val="A9218E"/>
                          </a:solidFill>
                        </a:rPr>
                        <a:t>Paediatrics</a:t>
                      </a:r>
                    </a:p>
                  </a:txBody>
                  <a:tcPr marL="76200" marR="101600" marT="63500" marB="63500" anchor="ctr">
                    <a:lnL w="12700">
                      <a:noFill/>
                    </a:lnL>
                    <a:lnR w="12700">
                      <a:noFill/>
                    </a:lnR>
                    <a:lnT w="19050" cap="flat" cmpd="sng" algn="ctr">
                      <a:solidFill>
                        <a:srgbClr val="28509C"/>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Subtle, varied early signs; MPS IVA starts at 1–3 years, MPS VI in early childhood</a:t>
                      </a:r>
                    </a:p>
                  </a:txBody>
                  <a:tcPr marL="76200" marR="101600" marT="63500" marB="63500" anchor="ctr">
                    <a:lnL w="12700">
                      <a:noFill/>
                    </a:lnL>
                    <a:lnR w="12700">
                      <a:noFill/>
                    </a:lnR>
                    <a:lnT w="19050" cap="flat" cmpd="sng" algn="ctr">
                      <a:solidFill>
                        <a:srgbClr val="28509C"/>
                      </a:solidFill>
                      <a:prstDash val="solid"/>
                      <a:round/>
                      <a:headEnd type="none" w="med" len="med"/>
                      <a:tailEnd type="none" w="med" len="med"/>
                    </a:lnT>
                    <a:lnB w="9525">
                      <a:solidFill>
                        <a:srgbClr val="E0E0E0"/>
                      </a:solidFill>
                    </a:lnB>
                    <a:noFill/>
                  </a:tcPr>
                </a:tc>
                <a:tc>
                  <a:txBody>
                    <a:bodyPr/>
                    <a:lstStyle/>
                    <a:p>
                      <a:r>
                        <a:rPr lang="en-GB" sz="1400" b="1" dirty="0">
                          <a:solidFill>
                            <a:srgbClr val="28509C"/>
                          </a:solidFill>
                        </a:rPr>
                        <a:t>Diagnosis takes about 4 years on average</a:t>
                      </a:r>
                    </a:p>
                  </a:txBody>
                  <a:tcPr marL="76200" marR="101600" marT="63500" marB="63500" anchor="ctr">
                    <a:lnL w="12700">
                      <a:noFill/>
                    </a:lnL>
                    <a:lnR w="12700">
                      <a:noFill/>
                    </a:lnR>
                    <a:lnT w="19050" cap="flat" cmpd="sng" algn="ctr">
                      <a:solidFill>
                        <a:srgbClr val="28509C"/>
                      </a:solidFill>
                      <a:prstDash val="solid"/>
                      <a:round/>
                      <a:headEnd type="none" w="med" len="med"/>
                      <a:tailEnd type="none" w="med" len="med"/>
                    </a:lnT>
                    <a:lnB w="9525">
                      <a:solidFill>
                        <a:srgbClr val="E0E0E0"/>
                      </a:solidFill>
                    </a:lnB>
                    <a:solidFill>
                      <a:srgbClr val="F1F4F9"/>
                    </a:solidFill>
                  </a:tcPr>
                </a:tc>
                <a:extLst>
                  <a:ext uri="{0D108BD9-81ED-4DB2-BD59-A6C34878D82A}">
                    <a16:rowId xmlns:a16="http://schemas.microsoft.com/office/drawing/2014/main" val="10001"/>
                  </a:ext>
                </a:extLst>
              </a:tr>
              <a:tr h="685800">
                <a:tc>
                  <a:txBody>
                    <a:bodyPr/>
                    <a:lstStyle/>
                    <a:p>
                      <a:r>
                        <a:rPr lang="en-GB" sz="1400" b="1" dirty="0">
                          <a:solidFill>
                            <a:srgbClr val="A9218E"/>
                          </a:solidFill>
                        </a:rPr>
                        <a:t>Orthopaedics and rheumatology</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Dysostosis multiplex, kyphosis or scoliosis, hip dysplasia, claw hands, short stature</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28509C"/>
                          </a:solidFill>
                        </a:rPr>
                        <a:t>Hypermobile joints suggest MPS IVA; stiff joints and carpal tunnel suggest MPS VI</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F1F4F9"/>
                    </a:solidFill>
                  </a:tcPr>
                </a:tc>
                <a:extLst>
                  <a:ext uri="{0D108BD9-81ED-4DB2-BD59-A6C34878D82A}">
                    <a16:rowId xmlns:a16="http://schemas.microsoft.com/office/drawing/2014/main" val="10002"/>
                  </a:ext>
                </a:extLst>
              </a:tr>
              <a:tr h="685800">
                <a:tc>
                  <a:txBody>
                    <a:bodyPr/>
                    <a:lstStyle/>
                    <a:p>
                      <a:r>
                        <a:rPr lang="en-GB" sz="1400" b="1" dirty="0">
                          <a:solidFill>
                            <a:srgbClr val="A9218E"/>
                          </a:solidFill>
                        </a:rPr>
                        <a:t>ENT and pulmonology</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Recurrent ENT infection, enlarged tonsils, hearing loss, sleep apnoea, macroglossia</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28509C"/>
                          </a:solidFill>
                        </a:rPr>
                        <a:t>Airway problems are often the first sign and worsen over time</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F1F4F9"/>
                    </a:solidFill>
                  </a:tcPr>
                </a:tc>
                <a:extLst>
                  <a:ext uri="{0D108BD9-81ED-4DB2-BD59-A6C34878D82A}">
                    <a16:rowId xmlns:a16="http://schemas.microsoft.com/office/drawing/2014/main" val="10003"/>
                  </a:ext>
                </a:extLst>
              </a:tr>
              <a:tr h="685800">
                <a:tc>
                  <a:txBody>
                    <a:bodyPr/>
                    <a:lstStyle/>
                    <a:p>
                      <a:r>
                        <a:rPr lang="en-GB" sz="1400" b="1" dirty="0">
                          <a:solidFill>
                            <a:srgbClr val="A9218E"/>
                          </a:solidFill>
                        </a:rPr>
                        <a:t>Cardiology and ophthalmology</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Thickened mitral or aortic valves; corneal clouding, optic nerve disease, glaucoma</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28509C"/>
                          </a:solidFill>
                        </a:rPr>
                        <a:t>Heart involved in 60–100% of patients</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F1F4F9"/>
                    </a:solidFill>
                  </a:tcPr>
                </a:tc>
                <a:extLst>
                  <a:ext uri="{0D108BD9-81ED-4DB2-BD59-A6C34878D82A}">
                    <a16:rowId xmlns:a16="http://schemas.microsoft.com/office/drawing/2014/main" val="10004"/>
                  </a:ext>
                </a:extLst>
              </a:tr>
              <a:tr h="685800">
                <a:tc>
                  <a:txBody>
                    <a:bodyPr/>
                    <a:lstStyle/>
                    <a:p>
                      <a:r>
                        <a:rPr lang="en-GB" sz="1400" b="1" dirty="0">
                          <a:solidFill>
                            <a:srgbClr val="A9218E"/>
                          </a:solidFill>
                        </a:rPr>
                        <a:t>Gastroenterology</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Umbilical and inguinal hernias, organomegaly, constipation or diarrhoea</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28509C"/>
                          </a:solidFill>
                        </a:rPr>
                        <a:t>Hepatosplenomegaly is typical of MPS VI</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F1F4F9"/>
                    </a:solidFill>
                  </a:tcPr>
                </a:tc>
                <a:extLst>
                  <a:ext uri="{0D108BD9-81ED-4DB2-BD59-A6C34878D82A}">
                    <a16:rowId xmlns:a16="http://schemas.microsoft.com/office/drawing/2014/main" val="10005"/>
                  </a:ext>
                </a:extLst>
              </a:tr>
            </a:tbl>
          </a:graphicData>
        </a:graphic>
      </p:graphicFrame>
      <p:sp>
        <p:nvSpPr>
          <p:cNvPr id="303"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ENT, ear, nose and throat; MPS, mucopolysaccharidosis. Macroglossia, enlarged tongue. Sources as cited on the diagnosis appendix slides</a:t>
            </a:r>
          </a:p>
        </p:txBody>
      </p:sp>
    </p:spTree>
    <p:extLst>
      <p:ext uri="{BB962C8B-B14F-4D97-AF65-F5344CB8AC3E}">
        <p14:creationId xmlns:p14="http://schemas.microsoft.com/office/powerpoint/2010/main" val="2275956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First signs and diagnosis</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Time to diagnosis</a:t>
            </a:r>
            <a:endParaRPr lang="en-US" dirty="0"/>
          </a:p>
        </p:txBody>
      </p:sp>
      <p:sp>
        <p:nvSpPr>
          <p:cNvPr id="12" name="Shape 12"/>
          <p:cNvSpPr/>
          <p:nvPr/>
        </p:nvSpPr>
        <p:spPr>
          <a:xfrm>
            <a:off x="660400" y="1549400"/>
            <a:ext cx="3937000" cy="4038600"/>
          </a:xfrm>
          <a:prstGeom prst="roundRect">
            <a:avLst>
              <a:gd name="adj" fmla="val 2903"/>
            </a:avLst>
          </a:prstGeom>
          <a:solidFill>
            <a:srgbClr val="002E56"/>
          </a:solidFill>
          <a:ln>
            <a:noFill/>
          </a:ln>
        </p:spPr>
        <p:txBody>
          <a:bodyPr wrap="square" lIns="0" tIns="0" rIns="0" bIns="0" rtlCol="0" anchor="t">
            <a:noAutofit/>
          </a:bodyPr>
          <a:lstStyle/>
          <a:p>
            <a:endParaRPr lang="en-US" dirty="0"/>
          </a:p>
        </p:txBody>
      </p:sp>
      <p:sp>
        <p:nvSpPr>
          <p:cNvPr id="13" name="Shape 13"/>
          <p:cNvSpPr txBox="1"/>
          <p:nvPr/>
        </p:nvSpPr>
        <p:spPr>
          <a:xfrm>
            <a:off x="965200" y="1905000"/>
            <a:ext cx="3429000" cy="1270000"/>
          </a:xfrm>
          <a:prstGeom prst="rect">
            <a:avLst/>
          </a:prstGeom>
          <a:noFill/>
          <a:ln>
            <a:noFill/>
          </a:ln>
        </p:spPr>
        <p:txBody>
          <a:bodyPr wrap="square" lIns="0" tIns="0" rIns="0" bIns="0" rtlCol="0" anchor="b">
            <a:noAutofit/>
          </a:bodyPr>
          <a:lstStyle/>
          <a:p>
            <a:pPr>
              <a:spcBef>
                <a:spcPts val="0"/>
              </a:spcBef>
              <a:spcAft>
                <a:spcPts val="0"/>
              </a:spcAft>
              <a:buNone/>
            </a:pPr>
            <a:r>
              <a:rPr lang="en-US" sz="8000" b="1" dirty="0">
                <a:solidFill>
                  <a:srgbClr val="FFFFFF"/>
                </a:solidFill>
              </a:rPr>
              <a:t>~4</a:t>
            </a:r>
            <a:r>
              <a:rPr lang="en-US" sz="3200" b="1" dirty="0">
                <a:solidFill>
                  <a:srgbClr val="9DB3D9"/>
                </a:solidFill>
              </a:rPr>
              <a:t> years</a:t>
            </a:r>
          </a:p>
        </p:txBody>
      </p:sp>
      <p:sp>
        <p:nvSpPr>
          <p:cNvPr id="14" name="Shape 14"/>
          <p:cNvSpPr txBox="1"/>
          <p:nvPr/>
        </p:nvSpPr>
        <p:spPr>
          <a:xfrm>
            <a:off x="965200" y="3327400"/>
            <a:ext cx="3327400" cy="1016000"/>
          </a:xfrm>
          <a:prstGeom prst="rect">
            <a:avLst/>
          </a:prstGeom>
          <a:noFill/>
          <a:ln>
            <a:noFill/>
          </a:ln>
        </p:spPr>
        <p:txBody>
          <a:bodyPr wrap="square" lIns="0" tIns="0" rIns="0" bIns="0" rtlCol="0" anchor="t">
            <a:noAutofit/>
          </a:bodyPr>
          <a:lstStyle/>
          <a:p>
            <a:pPr>
              <a:spcBef>
                <a:spcPts val="0"/>
              </a:spcBef>
              <a:spcAft>
                <a:spcPts val="0"/>
              </a:spcAft>
              <a:buNone/>
            </a:pPr>
            <a:r>
              <a:rPr lang="en-US" sz="1600" dirty="0">
                <a:solidFill>
                  <a:srgbClr val="DCE4F2"/>
                </a:solidFill>
              </a:rPr>
              <a:t>average delay from first symptoms to diagnosis of MPS</a:t>
            </a:r>
            <a:r>
              <a:rPr lang="en-US" sz="1600" baseline="30000" dirty="0">
                <a:solidFill>
                  <a:srgbClr val="DCE4F2"/>
                </a:solidFill>
              </a:rPr>
              <a:t>1</a:t>
            </a:r>
          </a:p>
        </p:txBody>
      </p:sp>
      <p:cxnSp>
        <p:nvCxnSpPr>
          <p:cNvPr id="15" name="Line 15"/>
          <p:cNvCxnSpPr/>
          <p:nvPr/>
        </p:nvCxnSpPr>
        <p:spPr>
          <a:xfrm>
            <a:off x="965200" y="4445000"/>
            <a:ext cx="3327400" cy="0"/>
          </a:xfrm>
          <a:prstGeom prst="line">
            <a:avLst/>
          </a:prstGeom>
          <a:ln w="9525">
            <a:solidFill>
              <a:srgbClr val="646464"/>
            </a:solidFill>
          </a:ln>
        </p:spPr>
      </p:cxnSp>
      <p:sp>
        <p:nvSpPr>
          <p:cNvPr id="16" name="Shape 16"/>
          <p:cNvSpPr txBox="1"/>
          <p:nvPr/>
        </p:nvSpPr>
        <p:spPr>
          <a:xfrm>
            <a:off x="965200" y="4572000"/>
            <a:ext cx="3327400" cy="9144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DCE4F2"/>
                </a:solidFill>
              </a:rPr>
              <a:t>Early signs are often subtle or mistaken for common childhood conditions.</a:t>
            </a:r>
          </a:p>
        </p:txBody>
      </p:sp>
      <p:sp>
        <p:nvSpPr>
          <p:cNvPr id="17" name="Shape 17"/>
          <p:cNvSpPr/>
          <p:nvPr/>
        </p:nvSpPr>
        <p:spPr>
          <a:xfrm>
            <a:off x="4902200" y="1549400"/>
            <a:ext cx="330200" cy="330200"/>
          </a:xfrm>
          <a:prstGeom prst="ellipse">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400" b="1" dirty="0">
                <a:solidFill>
                  <a:srgbClr val="FFFFFF"/>
                </a:solidFill>
              </a:rPr>
              <a:t>1</a:t>
            </a:r>
          </a:p>
        </p:txBody>
      </p:sp>
      <p:sp>
        <p:nvSpPr>
          <p:cNvPr id="18" name="Shape 18"/>
          <p:cNvSpPr txBox="1"/>
          <p:nvPr/>
        </p:nvSpPr>
        <p:spPr>
          <a:xfrm>
            <a:off x="5384800" y="1549400"/>
            <a:ext cx="614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Earlier treatment, better outcomes</a:t>
            </a:r>
          </a:p>
        </p:txBody>
      </p:sp>
      <p:sp>
        <p:nvSpPr>
          <p:cNvPr id="19" name="Shape 19"/>
          <p:cNvSpPr txBox="1"/>
          <p:nvPr/>
        </p:nvSpPr>
        <p:spPr>
          <a:xfrm>
            <a:off x="5384800" y="1879600"/>
            <a:ext cx="6146800" cy="8890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In MPS VI siblings, the child who started ERT at 7.5 weeks had no scoliosis at age 3.6 years; the older sibling, untreated until then, already had scoliosis.</a:t>
            </a:r>
            <a:r>
              <a:rPr lang="en-US" sz="1400" baseline="30000" dirty="0">
                <a:solidFill>
                  <a:srgbClr val="2B2B2B"/>
                </a:solidFill>
              </a:rPr>
              <a:t>2</a:t>
            </a:r>
          </a:p>
        </p:txBody>
      </p:sp>
      <p:cxnSp>
        <p:nvCxnSpPr>
          <p:cNvPr id="20" name="Line 20"/>
          <p:cNvCxnSpPr/>
          <p:nvPr/>
        </p:nvCxnSpPr>
        <p:spPr>
          <a:xfrm>
            <a:off x="4902200" y="2819400"/>
            <a:ext cx="6629400" cy="0"/>
          </a:xfrm>
          <a:prstGeom prst="line">
            <a:avLst/>
          </a:prstGeom>
          <a:ln w="9525">
            <a:solidFill>
              <a:srgbClr val="D9DEE6"/>
            </a:solidFill>
          </a:ln>
        </p:spPr>
      </p:cxnSp>
      <p:sp>
        <p:nvSpPr>
          <p:cNvPr id="21" name="Shape 21"/>
          <p:cNvSpPr/>
          <p:nvPr/>
        </p:nvSpPr>
        <p:spPr>
          <a:xfrm>
            <a:off x="4902200" y="2921000"/>
            <a:ext cx="330200" cy="330200"/>
          </a:xfrm>
          <a:prstGeom prst="ellipse">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400" b="1" dirty="0">
                <a:solidFill>
                  <a:srgbClr val="FFFFFF"/>
                </a:solidFill>
              </a:rPr>
              <a:t>2</a:t>
            </a:r>
          </a:p>
        </p:txBody>
      </p:sp>
      <p:sp>
        <p:nvSpPr>
          <p:cNvPr id="22" name="Shape 22"/>
          <p:cNvSpPr txBox="1"/>
          <p:nvPr/>
        </p:nvSpPr>
        <p:spPr>
          <a:xfrm>
            <a:off x="5384800" y="2921000"/>
            <a:ext cx="614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Guidelines: start ERT at diagnosis</a:t>
            </a:r>
          </a:p>
        </p:txBody>
      </p:sp>
      <p:sp>
        <p:nvSpPr>
          <p:cNvPr id="23" name="Shape 23"/>
          <p:cNvSpPr txBox="1"/>
          <p:nvPr/>
        </p:nvSpPr>
        <p:spPr>
          <a:xfrm>
            <a:off x="5384800" y="3251200"/>
            <a:ext cx="6146800" cy="8890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International recommendations for MPS IVA and MPS VI advise starting ERT as soon as the diagnosis is confirmed.</a:t>
            </a:r>
            <a:r>
              <a:rPr lang="en-US" sz="1400" baseline="30000" dirty="0">
                <a:solidFill>
                  <a:srgbClr val="2B2B2B"/>
                </a:solidFill>
              </a:rPr>
              <a:t>3,4</a:t>
            </a:r>
          </a:p>
        </p:txBody>
      </p:sp>
      <p:cxnSp>
        <p:nvCxnSpPr>
          <p:cNvPr id="24" name="Line 24"/>
          <p:cNvCxnSpPr/>
          <p:nvPr/>
        </p:nvCxnSpPr>
        <p:spPr>
          <a:xfrm>
            <a:off x="4902200" y="4191000"/>
            <a:ext cx="6629400" cy="0"/>
          </a:xfrm>
          <a:prstGeom prst="line">
            <a:avLst/>
          </a:prstGeom>
          <a:ln w="9525">
            <a:solidFill>
              <a:srgbClr val="D9DEE6"/>
            </a:solidFill>
          </a:ln>
        </p:spPr>
      </p:cxnSp>
      <p:sp>
        <p:nvSpPr>
          <p:cNvPr id="25" name="Shape 25"/>
          <p:cNvSpPr/>
          <p:nvPr/>
        </p:nvSpPr>
        <p:spPr>
          <a:xfrm>
            <a:off x="4902200" y="4292600"/>
            <a:ext cx="330200" cy="330200"/>
          </a:xfrm>
          <a:prstGeom prst="ellipse">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400" b="1" dirty="0">
                <a:solidFill>
                  <a:srgbClr val="FFFFFF"/>
                </a:solidFill>
              </a:rPr>
              <a:t>3</a:t>
            </a:r>
          </a:p>
        </p:txBody>
      </p:sp>
      <p:sp>
        <p:nvSpPr>
          <p:cNvPr id="26" name="Shape 26"/>
          <p:cNvSpPr txBox="1"/>
          <p:nvPr/>
        </p:nvSpPr>
        <p:spPr>
          <a:xfrm>
            <a:off x="5384800" y="4292600"/>
            <a:ext cx="61468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Established damage does not reverse</a:t>
            </a:r>
          </a:p>
        </p:txBody>
      </p:sp>
      <p:sp>
        <p:nvSpPr>
          <p:cNvPr id="27" name="Shape 27"/>
          <p:cNvSpPr txBox="1"/>
          <p:nvPr/>
        </p:nvSpPr>
        <p:spPr>
          <a:xfrm>
            <a:off x="5384800" y="4622800"/>
            <a:ext cx="6146800" cy="8890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ERT slows or stabilises disease, but existing bone and joint changes remain, so every delay costs function.</a:t>
            </a:r>
            <a:r>
              <a:rPr lang="en-US" sz="1400" baseline="30000" dirty="0">
                <a:solidFill>
                  <a:srgbClr val="2B2B2B"/>
                </a:solidFill>
              </a:rPr>
              <a:t>3,4</a:t>
            </a:r>
          </a:p>
        </p:txBody>
      </p:sp>
      <p:sp>
        <p:nvSpPr>
          <p:cNvPr id="28"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ERT, enzyme replacement therapy; MPS, mucopolysaccharidosis</a:t>
            </a:r>
          </a:p>
        </p:txBody>
      </p:sp>
      <p:sp>
        <p:nvSpPr>
          <p:cNvPr id="29"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Mitchell J et al. Presenting signs and symptoms of MPS: systematic literature analysis. WORLDSymposium 2018, poster 244. 2. McGill JJ et al. Clin Genet 2010;77:492–8. 3. Akyol MU et al. Orphanet J Rare Dis 2019;14:137. 4. Akyol MU et al. Orphanet J Rare Dis 2019;14:118.</a:t>
            </a:r>
          </a:p>
        </p:txBody>
      </p:sp>
    </p:spTree>
    <p:extLst>
      <p:ext uri="{BB962C8B-B14F-4D97-AF65-F5344CB8AC3E}">
        <p14:creationId xmlns:p14="http://schemas.microsoft.com/office/powerpoint/2010/main" val="221814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Barriers to diagnosing MPS</a:t>
            </a:r>
            <a:endParaRPr lang="en-US" baseline="30000" dirty="0"/>
          </a:p>
        </p:txBody>
      </p:sp>
      <p:sp>
        <p:nvSpPr>
          <p:cNvPr id="202" name="Box"/>
          <p:cNvSpPr/>
          <p:nvPr/>
        </p:nvSpPr>
        <p:spPr>
          <a:xfrm>
            <a:off x="660400" y="1549400"/>
            <a:ext cx="2584450" cy="2159000"/>
          </a:xfrm>
          <a:prstGeom prst="roundRect">
            <a:avLst>
              <a:gd name="adj" fmla="val 5294"/>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63600" y="1778000"/>
            <a:ext cx="2178050" cy="1752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01</a:t>
            </a:r>
          </a:p>
          <a:p>
            <a:pPr>
              <a:spcBef>
                <a:spcPts val="800"/>
              </a:spcBef>
              <a:spcAft>
                <a:spcPts val="0"/>
              </a:spcAft>
              <a:buNone/>
            </a:pPr>
            <a:r>
              <a:rPr lang="en-US" sz="1600" b="1" dirty="0">
                <a:solidFill>
                  <a:srgbClr val="002E56"/>
                </a:solidFill>
              </a:rPr>
              <a:t>Low disease awareness</a:t>
            </a:r>
            <a:r>
              <a:rPr lang="en-US" sz="1600" baseline="30000" dirty="0">
                <a:solidFill>
                  <a:srgbClr val="2B2B2B"/>
                </a:solidFill>
              </a:rPr>
              <a:t>2</a:t>
            </a:r>
          </a:p>
          <a:p>
            <a:pPr>
              <a:spcBef>
                <a:spcPts val="500"/>
              </a:spcBef>
              <a:spcAft>
                <a:spcPts val="0"/>
              </a:spcAft>
              <a:buNone/>
            </a:pPr>
            <a:r>
              <a:rPr lang="en-US" sz="1400" dirty="0">
                <a:solidFill>
                  <a:srgbClr val="646464"/>
                </a:solidFill>
              </a:rPr>
              <a:t>Few clinicians have seen MPS</a:t>
            </a:r>
          </a:p>
        </p:txBody>
      </p:sp>
      <p:sp>
        <p:nvSpPr>
          <p:cNvPr id="205" name="Box"/>
          <p:cNvSpPr/>
          <p:nvPr/>
        </p:nvSpPr>
        <p:spPr>
          <a:xfrm>
            <a:off x="3422650" y="1549400"/>
            <a:ext cx="2584450" cy="2159000"/>
          </a:xfrm>
          <a:prstGeom prst="roundRect">
            <a:avLst>
              <a:gd name="adj" fmla="val 5294"/>
            </a:avLst>
          </a:prstGeom>
          <a:solidFill>
            <a:srgbClr val="F1F4F9"/>
          </a:solidFill>
          <a:ln>
            <a:noFill/>
          </a:ln>
        </p:spPr>
        <p:txBody>
          <a:bodyPr wrap="square" lIns="0" tIns="0" rIns="0" bIns="0" anchor="t">
            <a:noAutofit/>
          </a:bodyPr>
          <a:lstStyle/>
          <a:p>
            <a:endParaRPr lang="en-US" dirty="0"/>
          </a:p>
        </p:txBody>
      </p:sp>
      <p:sp>
        <p:nvSpPr>
          <p:cNvPr id="207" name="Box"/>
          <p:cNvSpPr txBox="1"/>
          <p:nvPr/>
        </p:nvSpPr>
        <p:spPr>
          <a:xfrm>
            <a:off x="3625850" y="1778000"/>
            <a:ext cx="2178050" cy="1752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02</a:t>
            </a:r>
          </a:p>
          <a:p>
            <a:pPr>
              <a:spcBef>
                <a:spcPts val="800"/>
              </a:spcBef>
              <a:spcAft>
                <a:spcPts val="0"/>
              </a:spcAft>
              <a:buNone/>
            </a:pPr>
            <a:r>
              <a:rPr lang="en-US" sz="1600" b="1" dirty="0">
                <a:solidFill>
                  <a:srgbClr val="002E56"/>
                </a:solidFill>
              </a:rPr>
              <a:t>Hard to tell MPS types apart</a:t>
            </a:r>
            <a:r>
              <a:rPr lang="en-US" sz="1600" baseline="30000" dirty="0">
                <a:solidFill>
                  <a:srgbClr val="2B2B2B"/>
                </a:solidFill>
              </a:rPr>
              <a:t>2</a:t>
            </a:r>
          </a:p>
          <a:p>
            <a:pPr>
              <a:spcBef>
                <a:spcPts val="500"/>
              </a:spcBef>
              <a:spcAft>
                <a:spcPts val="0"/>
              </a:spcAft>
              <a:buNone/>
            </a:pPr>
            <a:r>
              <a:rPr lang="en-US" sz="1400" dirty="0">
                <a:solidFill>
                  <a:srgbClr val="646464"/>
                </a:solidFill>
              </a:rPr>
              <a:t>Types overlap in their signs</a:t>
            </a:r>
          </a:p>
        </p:txBody>
      </p:sp>
      <p:sp>
        <p:nvSpPr>
          <p:cNvPr id="208" name="Box"/>
          <p:cNvSpPr/>
          <p:nvPr/>
        </p:nvSpPr>
        <p:spPr>
          <a:xfrm>
            <a:off x="6184900" y="1549400"/>
            <a:ext cx="2584450" cy="2159000"/>
          </a:xfrm>
          <a:prstGeom prst="roundRect">
            <a:avLst>
              <a:gd name="adj" fmla="val 5294"/>
            </a:avLst>
          </a:prstGeom>
          <a:solidFill>
            <a:srgbClr val="F1F4F9"/>
          </a:solidFill>
          <a:ln>
            <a:noFill/>
          </a:ln>
        </p:spPr>
        <p:txBody>
          <a:bodyPr wrap="square" lIns="0" tIns="0" rIns="0" bIns="0" anchor="t">
            <a:noAutofit/>
          </a:bodyPr>
          <a:lstStyle/>
          <a:p>
            <a:endParaRPr lang="en-US" dirty="0"/>
          </a:p>
        </p:txBody>
      </p:sp>
      <p:sp>
        <p:nvSpPr>
          <p:cNvPr id="210" name="Box"/>
          <p:cNvSpPr txBox="1"/>
          <p:nvPr/>
        </p:nvSpPr>
        <p:spPr>
          <a:xfrm>
            <a:off x="6388100" y="1778000"/>
            <a:ext cx="2178050" cy="1752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03</a:t>
            </a:r>
          </a:p>
          <a:p>
            <a:pPr>
              <a:spcBef>
                <a:spcPts val="800"/>
              </a:spcBef>
              <a:spcAft>
                <a:spcPts val="0"/>
              </a:spcAft>
              <a:buNone/>
            </a:pPr>
            <a:r>
              <a:rPr lang="en-US" sz="1600" b="1" dirty="0">
                <a:solidFill>
                  <a:srgbClr val="002E56"/>
                </a:solidFill>
              </a:rPr>
              <a:t>Variable symptoms</a:t>
            </a:r>
            <a:r>
              <a:rPr lang="en-US" sz="1600" baseline="30000" dirty="0">
                <a:solidFill>
                  <a:srgbClr val="2B2B2B"/>
                </a:solidFill>
              </a:rPr>
              <a:t>3</a:t>
            </a:r>
          </a:p>
          <a:p>
            <a:pPr>
              <a:spcBef>
                <a:spcPts val="500"/>
              </a:spcBef>
              <a:spcAft>
                <a:spcPts val="0"/>
              </a:spcAft>
              <a:buNone/>
            </a:pPr>
            <a:r>
              <a:rPr lang="en-US" sz="1400" dirty="0">
                <a:solidFill>
                  <a:srgbClr val="646464"/>
                </a:solidFill>
              </a:rPr>
              <a:t>Onset and severity differ widely between patients</a:t>
            </a:r>
          </a:p>
        </p:txBody>
      </p:sp>
      <p:sp>
        <p:nvSpPr>
          <p:cNvPr id="211" name="Box"/>
          <p:cNvSpPr/>
          <p:nvPr/>
        </p:nvSpPr>
        <p:spPr>
          <a:xfrm>
            <a:off x="8947150" y="1549400"/>
            <a:ext cx="2584450" cy="2159000"/>
          </a:xfrm>
          <a:prstGeom prst="roundRect">
            <a:avLst>
              <a:gd name="adj" fmla="val 5294"/>
            </a:avLst>
          </a:prstGeom>
          <a:solidFill>
            <a:srgbClr val="F1F4F9"/>
          </a:solidFill>
          <a:ln>
            <a:noFill/>
          </a:ln>
        </p:spPr>
        <p:txBody>
          <a:bodyPr wrap="square" lIns="0" tIns="0" rIns="0" bIns="0" anchor="t">
            <a:noAutofit/>
          </a:bodyPr>
          <a:lstStyle/>
          <a:p>
            <a:endParaRPr lang="en-US" dirty="0"/>
          </a:p>
        </p:txBody>
      </p:sp>
      <p:sp>
        <p:nvSpPr>
          <p:cNvPr id="213" name="Box"/>
          <p:cNvSpPr txBox="1"/>
          <p:nvPr/>
        </p:nvSpPr>
        <p:spPr>
          <a:xfrm>
            <a:off x="9150350" y="1778000"/>
            <a:ext cx="2178050" cy="1752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04</a:t>
            </a:r>
          </a:p>
          <a:p>
            <a:pPr>
              <a:spcBef>
                <a:spcPts val="800"/>
              </a:spcBef>
              <a:spcAft>
                <a:spcPts val="0"/>
              </a:spcAft>
              <a:buNone/>
            </a:pPr>
            <a:r>
              <a:rPr lang="en-US" sz="1600" b="1" dirty="0">
                <a:solidFill>
                  <a:srgbClr val="002E56"/>
                </a:solidFill>
              </a:rPr>
              <a:t>Resembles other disorders</a:t>
            </a:r>
            <a:r>
              <a:rPr lang="en-US" sz="1600" baseline="30000" dirty="0">
                <a:solidFill>
                  <a:srgbClr val="2B2B2B"/>
                </a:solidFill>
              </a:rPr>
              <a:t>4</a:t>
            </a:r>
          </a:p>
          <a:p>
            <a:pPr>
              <a:spcBef>
                <a:spcPts val="500"/>
              </a:spcBef>
              <a:spcAft>
                <a:spcPts val="0"/>
              </a:spcAft>
              <a:buNone/>
            </a:pPr>
            <a:r>
              <a:rPr lang="en-US" sz="1400" dirty="0">
                <a:solidFill>
                  <a:srgbClr val="646464"/>
                </a:solidFill>
              </a:rPr>
              <a:t>Often mistaken for common rheumatological or skeletal conditions</a:t>
            </a:r>
          </a:p>
        </p:txBody>
      </p:sp>
      <p:sp>
        <p:nvSpPr>
          <p:cNvPr id="214" name="Box"/>
          <p:cNvSpPr/>
          <p:nvPr/>
        </p:nvSpPr>
        <p:spPr>
          <a:xfrm>
            <a:off x="660400" y="3911600"/>
            <a:ext cx="10871200" cy="1371600"/>
          </a:xfrm>
          <a:prstGeom prst="roundRect">
            <a:avLst>
              <a:gd name="adj" fmla="val 8333"/>
            </a:avLst>
          </a:prstGeom>
          <a:solidFill>
            <a:srgbClr val="28509C"/>
          </a:solidFill>
          <a:ln>
            <a:noFill/>
          </a:ln>
        </p:spPr>
        <p:txBody>
          <a:bodyPr wrap="square" lIns="0" tIns="0" rIns="0" bIns="0" anchor="t">
            <a:noAutofit/>
          </a:bodyPr>
          <a:lstStyle/>
          <a:p>
            <a:endParaRPr lang="en-US" dirty="0"/>
          </a:p>
        </p:txBody>
      </p:sp>
      <p:sp>
        <p:nvSpPr>
          <p:cNvPr id="215" name="Box"/>
          <p:cNvSpPr txBox="1"/>
          <p:nvPr/>
        </p:nvSpPr>
        <p:spPr>
          <a:xfrm>
            <a:off x="965200" y="4038600"/>
            <a:ext cx="10261600" cy="1117600"/>
          </a:xfrm>
          <a:prstGeom prst="rect">
            <a:avLst/>
          </a:prstGeom>
          <a:noFill/>
          <a:ln>
            <a:noFill/>
          </a:ln>
        </p:spPr>
        <p:txBody>
          <a:bodyPr wrap="square" lIns="0" tIns="0" rIns="0" bIns="0" anchor="ctr">
            <a:noAutofit/>
          </a:bodyPr>
          <a:lstStyle/>
          <a:p>
            <a:pPr>
              <a:spcBef>
                <a:spcPts val="0"/>
              </a:spcBef>
              <a:spcAft>
                <a:spcPts val="0"/>
              </a:spcAft>
              <a:buNone/>
            </a:pPr>
            <a:r>
              <a:rPr lang="en-US" sz="1800" b="1" dirty="0">
                <a:solidFill>
                  <a:srgbClr val="FFFFFF"/>
                </a:solidFill>
              </a:rPr>
              <a:t>Knowing how MPS first presents </a:t>
            </a:r>
            <a:r>
              <a:rPr lang="en-US" sz="1800" dirty="0">
                <a:solidFill>
                  <a:srgbClr val="FFFFFF"/>
                </a:solidFill>
              </a:rPr>
              <a:t>helps clinicians recognise possible cases early, reach a timely diagnosis and manage patients well</a:t>
            </a:r>
            <a:r>
              <a:rPr lang="en-US" sz="1600" baseline="30000" dirty="0">
                <a:solidFill>
                  <a:srgbClr val="FFFFFF"/>
                </a:solidFill>
              </a:rPr>
              <a:t>5</a:t>
            </a:r>
          </a:p>
        </p:txBody>
      </p:sp>
      <p:sp>
        <p:nvSpPr>
          <p:cNvPr id="216" name="Abbreviations"/>
          <p:cNvSpPr txBox="1"/>
          <p:nvPr/>
        </p:nvSpPr>
        <p:spPr>
          <a:xfrm>
            <a:off x="660400" y="5486400"/>
            <a:ext cx="10871200" cy="2286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MPS, mucopolysaccharidosis</a:t>
            </a:r>
          </a:p>
        </p:txBody>
      </p:sp>
      <p:sp>
        <p:nvSpPr>
          <p:cNvPr id="217" name="References"/>
          <p:cNvSpPr txBox="1"/>
          <p:nvPr/>
        </p:nvSpPr>
        <p:spPr>
          <a:xfrm>
            <a:off x="660400" y="5816600"/>
            <a:ext cx="10871200" cy="635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Muenzer J. Rheumatology (Oxford) 2011;50(Suppl 5):v4–12. 2. Clarke L et al. 13th International Congress of Inborn Errors of Metabolism, 5–8 September 2017, Rio de Janeiro, Brazil, 649. 3. Giugliani R et al. Pediatrics 2007;120:405–18. 4. Morishita K, Petty RE. Rheumatology (Oxford) 2011;50(Suppl 5):v19–25. 5. Mubarak F et al. 13th International Congress of Inborn Errors of Metabolism, 5–8 September 2017, Rio de Janeiro, Brazil, 662.</a:t>
            </a:r>
          </a:p>
        </p:txBody>
      </p:sp>
    </p:spTree>
    <p:extLst>
      <p:ext uri="{BB962C8B-B14F-4D97-AF65-F5344CB8AC3E}">
        <p14:creationId xmlns:p14="http://schemas.microsoft.com/office/powerpoint/2010/main" val="3095523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Screening and direct tests for MPS</a:t>
            </a:r>
            <a:endParaRPr lang="en-US" dirty="0"/>
          </a:p>
        </p:txBody>
      </p:sp>
      <p:sp>
        <p:nvSpPr>
          <p:cNvPr id="202" name="Col head"/>
          <p:cNvSpPr txBox="1"/>
          <p:nvPr/>
        </p:nvSpPr>
        <p:spPr>
          <a:xfrm>
            <a:off x="660400" y="1473200"/>
            <a:ext cx="5346700" cy="304800"/>
          </a:xfrm>
          <a:prstGeom prst="rect">
            <a:avLst/>
          </a:prstGeom>
          <a:noFill/>
          <a:ln>
            <a:noFill/>
          </a:ln>
        </p:spPr>
        <p:txBody>
          <a:bodyPr wrap="square" lIns="0" tIns="0" rIns="0" bIns="0" anchor="t">
            <a:noAutofit/>
          </a:bodyPr>
          <a:lstStyle/>
          <a:p>
            <a:pPr>
              <a:spcBef>
                <a:spcPts val="0"/>
              </a:spcBef>
              <a:spcAft>
                <a:spcPts val="0"/>
              </a:spcAft>
              <a:buNone/>
            </a:pPr>
            <a:r>
              <a:rPr lang="en-US" sz="1800" b="1" dirty="0">
                <a:solidFill>
                  <a:srgbClr val="002E56"/>
                </a:solidFill>
              </a:rPr>
              <a:t>Screening tests</a:t>
            </a:r>
          </a:p>
        </p:txBody>
      </p:sp>
      <p:sp>
        <p:nvSpPr>
          <p:cNvPr id="203" name="Box"/>
          <p:cNvSpPr/>
          <p:nvPr/>
        </p:nvSpPr>
        <p:spPr>
          <a:xfrm>
            <a:off x="660400" y="1879600"/>
            <a:ext cx="5346700" cy="1651000"/>
          </a:xfrm>
          <a:prstGeom prst="roundRect">
            <a:avLst>
              <a:gd name="adj" fmla="val 6923"/>
            </a:avLst>
          </a:prstGeom>
          <a:solidFill>
            <a:srgbClr val="F1F4F9"/>
          </a:solidFill>
          <a:ln>
            <a:noFill/>
          </a:ln>
        </p:spPr>
        <p:txBody>
          <a:bodyPr wrap="square" lIns="0" tIns="0" rIns="0" bIns="0" anchor="t">
            <a:noAutofit/>
          </a:bodyPr>
          <a:lstStyle/>
          <a:p>
            <a:endParaRPr lang="en-US" dirty="0"/>
          </a:p>
        </p:txBody>
      </p:sp>
      <p:sp>
        <p:nvSpPr>
          <p:cNvPr id="205" name="Box"/>
          <p:cNvSpPr txBox="1"/>
          <p:nvPr/>
        </p:nvSpPr>
        <p:spPr>
          <a:xfrm>
            <a:off x="1727200" y="2032000"/>
            <a:ext cx="4076700" cy="1346200"/>
          </a:xfrm>
          <a:prstGeom prst="rect">
            <a:avLst/>
          </a:prstGeom>
          <a:noFill/>
          <a:ln>
            <a:noFill/>
          </a:ln>
        </p:spPr>
        <p:txBody>
          <a:bodyPr wrap="square" lIns="0" tIns="0" rIns="0" bIns="0" anchor="ctr">
            <a:noAutofit/>
          </a:bodyPr>
          <a:lstStyle/>
          <a:p>
            <a:pPr>
              <a:spcBef>
                <a:spcPts val="0"/>
              </a:spcBef>
              <a:spcAft>
                <a:spcPts val="0"/>
              </a:spcAft>
              <a:buNone/>
            </a:pPr>
            <a:r>
              <a:rPr lang="en-US" sz="1600" b="1" dirty="0">
                <a:solidFill>
                  <a:srgbClr val="002E56"/>
                </a:solidFill>
              </a:rPr>
              <a:t>Urinary GAG analysis</a:t>
            </a:r>
            <a:r>
              <a:rPr lang="en-US" sz="1600" baseline="30000" dirty="0">
                <a:solidFill>
                  <a:srgbClr val="2B2B2B"/>
                </a:solidFill>
              </a:rPr>
              <a:t>1,2</a:t>
            </a:r>
          </a:p>
          <a:p>
            <a:pPr>
              <a:spcBef>
                <a:spcPts val="600"/>
              </a:spcBef>
              <a:spcAft>
                <a:spcPts val="0"/>
              </a:spcAft>
              <a:buNone/>
            </a:pPr>
            <a:r>
              <a:rPr lang="en-US" sz="1500" dirty="0">
                <a:solidFill>
                  <a:srgbClr val="2B2B2B"/>
                </a:solidFill>
              </a:rPr>
              <a:t>Accuracy varies by technique; confirm results with a direct test</a:t>
            </a:r>
          </a:p>
        </p:txBody>
      </p:sp>
      <p:sp>
        <p:nvSpPr>
          <p:cNvPr id="206" name="Box"/>
          <p:cNvSpPr/>
          <p:nvPr/>
        </p:nvSpPr>
        <p:spPr>
          <a:xfrm>
            <a:off x="660400" y="3683000"/>
            <a:ext cx="5346700" cy="1651000"/>
          </a:xfrm>
          <a:prstGeom prst="roundRect">
            <a:avLst>
              <a:gd name="adj" fmla="val 6923"/>
            </a:avLst>
          </a:prstGeom>
          <a:solidFill>
            <a:srgbClr val="F1F4F9"/>
          </a:solidFill>
          <a:ln>
            <a:noFill/>
          </a:ln>
        </p:spPr>
        <p:txBody>
          <a:bodyPr wrap="square" lIns="0" tIns="0" rIns="0" bIns="0" anchor="t">
            <a:noAutofit/>
          </a:bodyPr>
          <a:lstStyle/>
          <a:p>
            <a:endParaRPr lang="en-US" dirty="0"/>
          </a:p>
        </p:txBody>
      </p:sp>
      <p:sp>
        <p:nvSpPr>
          <p:cNvPr id="208" name="Box"/>
          <p:cNvSpPr txBox="1"/>
          <p:nvPr/>
        </p:nvSpPr>
        <p:spPr>
          <a:xfrm>
            <a:off x="1727200" y="3835400"/>
            <a:ext cx="4076700" cy="1346200"/>
          </a:xfrm>
          <a:prstGeom prst="rect">
            <a:avLst/>
          </a:prstGeom>
          <a:noFill/>
          <a:ln>
            <a:noFill/>
          </a:ln>
        </p:spPr>
        <p:txBody>
          <a:bodyPr wrap="square" lIns="0" tIns="0" rIns="0" bIns="0" anchor="ctr">
            <a:noAutofit/>
          </a:bodyPr>
          <a:lstStyle/>
          <a:p>
            <a:pPr>
              <a:spcBef>
                <a:spcPts val="0"/>
              </a:spcBef>
              <a:spcAft>
                <a:spcPts val="0"/>
              </a:spcAft>
              <a:buNone/>
            </a:pPr>
            <a:r>
              <a:rPr lang="en-US" sz="1600" b="1" dirty="0">
                <a:solidFill>
                  <a:srgbClr val="002E56"/>
                </a:solidFill>
              </a:rPr>
              <a:t>Enzyme activity analysis (DBS)</a:t>
            </a:r>
            <a:r>
              <a:rPr lang="en-US" sz="1600" baseline="30000" dirty="0">
                <a:solidFill>
                  <a:srgbClr val="2B2B2B"/>
                </a:solidFill>
              </a:rPr>
              <a:t>1,2</a:t>
            </a:r>
          </a:p>
          <a:p>
            <a:pPr>
              <a:spcBef>
                <a:spcPts val="600"/>
              </a:spcBef>
              <a:spcAft>
                <a:spcPts val="0"/>
              </a:spcAft>
              <a:buNone/>
            </a:pPr>
            <a:r>
              <a:rPr lang="en-US" sz="1500" dirty="0">
                <a:solidFill>
                  <a:srgbClr val="2B2B2B"/>
                </a:solidFill>
              </a:rPr>
              <a:t>Easier to collect and transport than whole blood, but can give false positives</a:t>
            </a:r>
          </a:p>
        </p:txBody>
      </p:sp>
      <p:sp>
        <p:nvSpPr>
          <p:cNvPr id="209" name="Col head"/>
          <p:cNvSpPr txBox="1"/>
          <p:nvPr/>
        </p:nvSpPr>
        <p:spPr>
          <a:xfrm>
            <a:off x="6184900" y="1473200"/>
            <a:ext cx="5346700" cy="304800"/>
          </a:xfrm>
          <a:prstGeom prst="rect">
            <a:avLst/>
          </a:prstGeom>
          <a:noFill/>
          <a:ln>
            <a:noFill/>
          </a:ln>
        </p:spPr>
        <p:txBody>
          <a:bodyPr wrap="square" lIns="0" tIns="0" rIns="0" bIns="0" anchor="t">
            <a:noAutofit/>
          </a:bodyPr>
          <a:lstStyle/>
          <a:p>
            <a:pPr>
              <a:spcBef>
                <a:spcPts val="0"/>
              </a:spcBef>
              <a:spcAft>
                <a:spcPts val="0"/>
              </a:spcAft>
              <a:buNone/>
            </a:pPr>
            <a:r>
              <a:rPr lang="en-US" sz="1800" b="1" dirty="0">
                <a:solidFill>
                  <a:srgbClr val="28509C"/>
                </a:solidFill>
              </a:rPr>
              <a:t>Direct tests*</a:t>
            </a:r>
          </a:p>
        </p:txBody>
      </p:sp>
      <p:sp>
        <p:nvSpPr>
          <p:cNvPr id="210" name="Box"/>
          <p:cNvSpPr/>
          <p:nvPr/>
        </p:nvSpPr>
        <p:spPr>
          <a:xfrm>
            <a:off x="6184900" y="1879600"/>
            <a:ext cx="5346700" cy="1651000"/>
          </a:xfrm>
          <a:prstGeom prst="roundRect">
            <a:avLst>
              <a:gd name="adj" fmla="val 6923"/>
            </a:avLst>
          </a:prstGeom>
          <a:solidFill>
            <a:srgbClr val="E3EAF5"/>
          </a:solidFill>
          <a:ln>
            <a:noFill/>
          </a:ln>
        </p:spPr>
        <p:txBody>
          <a:bodyPr wrap="square" lIns="0" tIns="0" rIns="0" bIns="0" anchor="t">
            <a:noAutofit/>
          </a:bodyPr>
          <a:lstStyle/>
          <a:p>
            <a:endParaRPr lang="en-US" dirty="0"/>
          </a:p>
        </p:txBody>
      </p:sp>
      <p:sp>
        <p:nvSpPr>
          <p:cNvPr id="212" name="Box"/>
          <p:cNvSpPr txBox="1"/>
          <p:nvPr/>
        </p:nvSpPr>
        <p:spPr>
          <a:xfrm>
            <a:off x="7251700" y="2032000"/>
            <a:ext cx="4076700" cy="1346200"/>
          </a:xfrm>
          <a:prstGeom prst="rect">
            <a:avLst/>
          </a:prstGeom>
          <a:noFill/>
          <a:ln>
            <a:noFill/>
          </a:ln>
        </p:spPr>
        <p:txBody>
          <a:bodyPr wrap="square" lIns="0" tIns="0" rIns="0" bIns="0" anchor="ctr">
            <a:noAutofit/>
          </a:bodyPr>
          <a:lstStyle/>
          <a:p>
            <a:pPr>
              <a:spcBef>
                <a:spcPts val="0"/>
              </a:spcBef>
              <a:spcAft>
                <a:spcPts val="0"/>
              </a:spcAft>
              <a:buNone/>
            </a:pPr>
            <a:r>
              <a:rPr lang="en-US" sz="1600" b="1" dirty="0">
                <a:solidFill>
                  <a:srgbClr val="002E56"/>
                </a:solidFill>
              </a:rPr>
              <a:t>Enzyme activity analysis (leukocytes or fibroblasts)</a:t>
            </a:r>
            <a:r>
              <a:rPr lang="en-US" sz="1600" baseline="30000" dirty="0">
                <a:solidFill>
                  <a:srgbClr val="2B2B2B"/>
                </a:solidFill>
              </a:rPr>
              <a:t>2</a:t>
            </a:r>
          </a:p>
          <a:p>
            <a:pPr>
              <a:spcBef>
                <a:spcPts val="600"/>
              </a:spcBef>
              <a:spcAft>
                <a:spcPts val="0"/>
              </a:spcAft>
              <a:buNone/>
            </a:pPr>
            <a:r>
              <a:rPr lang="en-US" sz="1500" dirty="0">
                <a:solidFill>
                  <a:srgbClr val="2B2B2B"/>
                </a:solidFill>
              </a:rPr>
              <a:t>The gold-standard diagnostic test for MPS</a:t>
            </a:r>
          </a:p>
        </p:txBody>
      </p:sp>
      <p:sp>
        <p:nvSpPr>
          <p:cNvPr id="213" name="Box"/>
          <p:cNvSpPr/>
          <p:nvPr/>
        </p:nvSpPr>
        <p:spPr>
          <a:xfrm>
            <a:off x="6184900" y="3683000"/>
            <a:ext cx="5346700" cy="1651000"/>
          </a:xfrm>
          <a:prstGeom prst="roundRect">
            <a:avLst>
              <a:gd name="adj" fmla="val 6923"/>
            </a:avLst>
          </a:prstGeom>
          <a:solidFill>
            <a:srgbClr val="E3EAF5"/>
          </a:solidFill>
          <a:ln>
            <a:noFill/>
          </a:ln>
        </p:spPr>
        <p:txBody>
          <a:bodyPr wrap="square" lIns="0" tIns="0" rIns="0" bIns="0" anchor="t">
            <a:noAutofit/>
          </a:bodyPr>
          <a:lstStyle/>
          <a:p>
            <a:endParaRPr lang="en-US" dirty="0"/>
          </a:p>
        </p:txBody>
      </p:sp>
      <p:sp>
        <p:nvSpPr>
          <p:cNvPr id="215" name="Box"/>
          <p:cNvSpPr txBox="1"/>
          <p:nvPr/>
        </p:nvSpPr>
        <p:spPr>
          <a:xfrm>
            <a:off x="7251700" y="3835400"/>
            <a:ext cx="4076700" cy="1346200"/>
          </a:xfrm>
          <a:prstGeom prst="rect">
            <a:avLst/>
          </a:prstGeom>
          <a:noFill/>
          <a:ln>
            <a:noFill/>
          </a:ln>
        </p:spPr>
        <p:txBody>
          <a:bodyPr wrap="square" lIns="0" tIns="0" rIns="0" bIns="0" anchor="ctr">
            <a:noAutofit/>
          </a:bodyPr>
          <a:lstStyle/>
          <a:p>
            <a:pPr>
              <a:spcBef>
                <a:spcPts val="0"/>
              </a:spcBef>
              <a:spcAft>
                <a:spcPts val="0"/>
              </a:spcAft>
              <a:buNone/>
            </a:pPr>
            <a:r>
              <a:rPr lang="en-US" sz="1600" b="1" dirty="0">
                <a:solidFill>
                  <a:srgbClr val="002E56"/>
                </a:solidFill>
              </a:rPr>
              <a:t>Molecular testing</a:t>
            </a:r>
            <a:r>
              <a:rPr lang="en-US" sz="1600" baseline="30000" dirty="0">
                <a:solidFill>
                  <a:srgbClr val="2B2B2B"/>
                </a:solidFill>
              </a:rPr>
              <a:t>2</a:t>
            </a:r>
          </a:p>
          <a:p>
            <a:pPr>
              <a:spcBef>
                <a:spcPts val="600"/>
              </a:spcBef>
              <a:spcAft>
                <a:spcPts val="0"/>
              </a:spcAft>
              <a:buNone/>
            </a:pPr>
            <a:r>
              <a:rPr lang="en-US" sz="1500" dirty="0">
                <a:solidFill>
                  <a:srgbClr val="2B2B2B"/>
                </a:solidFill>
              </a:rPr>
              <a:t>Can confirm an MPS diagnosis; consult a geneticist</a:t>
            </a:r>
          </a:p>
        </p:txBody>
      </p:sp>
      <p:sp>
        <p:nvSpPr>
          <p:cNvPr id="216" name="Abbreviations"/>
          <p:cNvSpPr txBox="1"/>
          <p:nvPr/>
        </p:nvSpPr>
        <p:spPr>
          <a:xfrm>
            <a:off x="660400" y="5537200"/>
            <a:ext cx="10871200" cy="3810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*Direct tests are laboratory tests that can confirm an MPS diagnosis. DBS, dried blood spot; GAG, glycosaminoglycan; MPS, mucopolysaccharidosis</a:t>
            </a:r>
          </a:p>
        </p:txBody>
      </p:sp>
      <p:sp>
        <p:nvSpPr>
          <p:cNvPr id="217" name="References"/>
          <p:cNvSpPr txBox="1"/>
          <p:nvPr/>
        </p:nvSpPr>
        <p:spPr>
          <a:xfrm>
            <a:off x="660400" y="60198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Wood TC et al. J Inherit Metab Dis 2013;36:293–307. 2. Wood T et al. Mol Genet Metab 2012;106:73–82.</a:t>
            </a:r>
          </a:p>
        </p:txBody>
      </p:sp>
      <p:pic>
        <p:nvPicPr>
          <p:cNvPr id="218" name="Graphic 218" descr="Test tube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4400" y="2425700"/>
            <a:ext cx="558800" cy="558800"/>
          </a:xfrm>
          <a:prstGeom prst="rect">
            <a:avLst/>
          </a:prstGeom>
        </p:spPr>
      </p:pic>
      <p:pic>
        <p:nvPicPr>
          <p:cNvPr id="219" name="Graphic 219" descr="Dropp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4229100"/>
            <a:ext cx="558800" cy="558800"/>
          </a:xfrm>
          <a:prstGeom prst="rect">
            <a:avLst/>
          </a:prstGeom>
        </p:spPr>
      </p:pic>
      <p:pic>
        <p:nvPicPr>
          <p:cNvPr id="220" name="Graphic 220" descr="Microscop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38900" y="2425700"/>
            <a:ext cx="558800" cy="558800"/>
          </a:xfrm>
          <a:prstGeom prst="rect">
            <a:avLst/>
          </a:prstGeom>
        </p:spPr>
      </p:pic>
      <p:pic>
        <p:nvPicPr>
          <p:cNvPr id="221" name="Graphic 221" descr="DNA"/>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38900" y="4229100"/>
            <a:ext cx="558800" cy="558800"/>
          </a:xfrm>
          <a:prstGeom prst="rect">
            <a:avLst/>
          </a:prstGeom>
        </p:spPr>
      </p:pic>
    </p:spTree>
    <p:extLst>
      <p:ext uri="{BB962C8B-B14F-4D97-AF65-F5344CB8AC3E}">
        <p14:creationId xmlns:p14="http://schemas.microsoft.com/office/powerpoint/2010/main" val="1220665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Urinary GAG analysis</a:t>
            </a:r>
            <a:endParaRPr lang="en-US" dirty="0"/>
          </a:p>
        </p:txBody>
      </p:sp>
      <p:sp>
        <p:nvSpPr>
          <p:cNvPr id="202" name="Box"/>
          <p:cNvSpPr/>
          <p:nvPr/>
        </p:nvSpPr>
        <p:spPr>
          <a:xfrm>
            <a:off x="660400" y="1447800"/>
            <a:ext cx="5346700" cy="1905000"/>
          </a:xfrm>
          <a:prstGeom prst="roundRect">
            <a:avLst>
              <a:gd name="adj" fmla="val 6000"/>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63600" y="1574800"/>
            <a:ext cx="49911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002E56"/>
                </a:solidFill>
              </a:rPr>
              <a:t>Sample</a:t>
            </a:r>
          </a:p>
          <a:p>
            <a:pPr>
              <a:spcBef>
                <a:spcPts val="500"/>
              </a:spcBef>
              <a:spcAft>
                <a:spcPts val="0"/>
              </a:spcAft>
              <a:buNone/>
            </a:pPr>
            <a:r>
              <a:rPr lang="en-US" sz="1400" b="1" dirty="0">
                <a:solidFill>
                  <a:srgbClr val="2B2B2B"/>
                </a:solidFill>
              </a:rPr>
              <a:t>Urine</a:t>
            </a:r>
            <a:r>
              <a:rPr lang="en-US" sz="1400" baseline="30000" dirty="0">
                <a:solidFill>
                  <a:srgbClr val="2B2B2B"/>
                </a:solidFill>
              </a:rPr>
              <a:t>1</a:t>
            </a:r>
          </a:p>
          <a:p>
            <a:pPr>
              <a:spcBef>
                <a:spcPts val="400"/>
              </a:spcBef>
              <a:spcAft>
                <a:spcPts val="0"/>
              </a:spcAft>
              <a:buNone/>
            </a:pPr>
            <a:r>
              <a:rPr lang="en-US" sz="1400" b="1" dirty="0">
                <a:solidFill>
                  <a:srgbClr val="2B2B2B"/>
                </a:solidFill>
              </a:rPr>
              <a:t>Note: </a:t>
            </a:r>
            <a:r>
              <a:rPr lang="en-US" sz="1400" dirty="0">
                <a:solidFill>
                  <a:srgbClr val="2B2B2B"/>
                </a:solidFill>
              </a:rPr>
              <a:t>GAG levels are higher in infants and children and fall with age, sometimes into the normal range, which can lead to misreading results</a:t>
            </a:r>
            <a:r>
              <a:rPr lang="en-US" sz="1400" baseline="30000" dirty="0">
                <a:solidFill>
                  <a:srgbClr val="2B2B2B"/>
                </a:solidFill>
              </a:rPr>
              <a:t>1</a:t>
            </a:r>
          </a:p>
        </p:txBody>
      </p:sp>
      <p:sp>
        <p:nvSpPr>
          <p:cNvPr id="205" name="Box"/>
          <p:cNvSpPr/>
          <p:nvPr/>
        </p:nvSpPr>
        <p:spPr>
          <a:xfrm>
            <a:off x="6184900" y="1447800"/>
            <a:ext cx="5346700" cy="1905000"/>
          </a:xfrm>
          <a:prstGeom prst="roundRect">
            <a:avLst>
              <a:gd name="adj" fmla="val 6000"/>
            </a:avLst>
          </a:prstGeom>
          <a:solidFill>
            <a:srgbClr val="F1F4F9"/>
          </a:solidFill>
          <a:ln>
            <a:noFill/>
          </a:ln>
        </p:spPr>
        <p:txBody>
          <a:bodyPr wrap="square" lIns="0" tIns="0" rIns="0" bIns="0" anchor="t">
            <a:noAutofit/>
          </a:bodyPr>
          <a:lstStyle/>
          <a:p>
            <a:endParaRPr lang="en-US" dirty="0"/>
          </a:p>
        </p:txBody>
      </p:sp>
      <p:sp>
        <p:nvSpPr>
          <p:cNvPr id="207" name="Box"/>
          <p:cNvSpPr txBox="1"/>
          <p:nvPr/>
        </p:nvSpPr>
        <p:spPr>
          <a:xfrm>
            <a:off x="6388100" y="1574800"/>
            <a:ext cx="49911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002E56"/>
                </a:solidFill>
              </a:rPr>
              <a:t>Techniques</a:t>
            </a:r>
          </a:p>
          <a:p>
            <a:pPr marL="171450" indent="-171450">
              <a:spcBef>
                <a:spcPts val="500"/>
              </a:spcBef>
              <a:spcAft>
                <a:spcPts val="0"/>
              </a:spcAft>
              <a:buClr>
                <a:srgbClr val="28509C"/>
              </a:buClr>
              <a:buFont typeface="Arial"/>
              <a:buChar char="•"/>
            </a:pPr>
            <a:r>
              <a:rPr lang="en-US" sz="1400" dirty="0">
                <a:solidFill>
                  <a:srgbClr val="2B2B2B"/>
                </a:solidFill>
              </a:rPr>
              <a:t>LC-MS/MS</a:t>
            </a:r>
            <a:r>
              <a:rPr lang="en-US" sz="1400" baseline="30000" dirty="0">
                <a:solidFill>
                  <a:srgbClr val="2B2B2B"/>
                </a:solidFill>
              </a:rPr>
              <a:t>1</a:t>
            </a:r>
          </a:p>
          <a:p>
            <a:pPr marL="171450" indent="-171450">
              <a:spcBef>
                <a:spcPts val="300"/>
              </a:spcBef>
              <a:spcAft>
                <a:spcPts val="0"/>
              </a:spcAft>
              <a:buClr>
                <a:srgbClr val="28509C"/>
              </a:buClr>
              <a:buFont typeface="Arial"/>
              <a:buChar char="•"/>
            </a:pPr>
            <a:r>
              <a:rPr lang="en-US" sz="1400" dirty="0">
                <a:solidFill>
                  <a:srgbClr val="2B2B2B"/>
                </a:solidFill>
              </a:rPr>
              <a:t>Quantitative analysis (e.g. DMB)</a:t>
            </a:r>
            <a:r>
              <a:rPr lang="en-US" sz="1400" baseline="30000" dirty="0">
                <a:solidFill>
                  <a:srgbClr val="2B2B2B"/>
                </a:solidFill>
              </a:rPr>
              <a:t>1</a:t>
            </a:r>
          </a:p>
          <a:p>
            <a:pPr marL="171450" indent="-171450">
              <a:spcBef>
                <a:spcPts val="300"/>
              </a:spcBef>
              <a:spcAft>
                <a:spcPts val="0"/>
              </a:spcAft>
              <a:buClr>
                <a:srgbClr val="28509C"/>
              </a:buClr>
              <a:buFont typeface="Arial"/>
              <a:buChar char="•"/>
            </a:pPr>
            <a:r>
              <a:rPr lang="en-US" sz="1400" dirty="0">
                <a:solidFill>
                  <a:srgbClr val="2B2B2B"/>
                </a:solidFill>
              </a:rPr>
              <a:t>Qualitative analysis (e.g. electrophoresis)</a:t>
            </a:r>
            <a:r>
              <a:rPr lang="en-US" sz="1400" baseline="30000" dirty="0">
                <a:solidFill>
                  <a:srgbClr val="2B2B2B"/>
                </a:solidFill>
              </a:rPr>
              <a:t>1</a:t>
            </a:r>
          </a:p>
        </p:txBody>
      </p:sp>
      <p:sp>
        <p:nvSpPr>
          <p:cNvPr id="208" name="Box"/>
          <p:cNvSpPr/>
          <p:nvPr/>
        </p:nvSpPr>
        <p:spPr>
          <a:xfrm>
            <a:off x="660400" y="3479800"/>
            <a:ext cx="5346700" cy="1905000"/>
          </a:xfrm>
          <a:prstGeom prst="roundRect">
            <a:avLst>
              <a:gd name="adj" fmla="val 6000"/>
            </a:avLst>
          </a:prstGeom>
          <a:solidFill>
            <a:srgbClr val="E3EAF5"/>
          </a:solidFill>
          <a:ln>
            <a:noFill/>
          </a:ln>
        </p:spPr>
        <p:txBody>
          <a:bodyPr wrap="square" lIns="0" tIns="0" rIns="0" bIns="0" anchor="t">
            <a:noAutofit/>
          </a:bodyPr>
          <a:lstStyle/>
          <a:p>
            <a:endParaRPr lang="en-US" dirty="0"/>
          </a:p>
        </p:txBody>
      </p:sp>
      <p:sp>
        <p:nvSpPr>
          <p:cNvPr id="210" name="Box"/>
          <p:cNvSpPr txBox="1"/>
          <p:nvPr/>
        </p:nvSpPr>
        <p:spPr>
          <a:xfrm>
            <a:off x="863600" y="3606800"/>
            <a:ext cx="49911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28509C"/>
                </a:solidFill>
              </a:rPr>
              <a:t>Advantages</a:t>
            </a:r>
          </a:p>
          <a:p>
            <a:pPr marL="171450" indent="-171450">
              <a:spcBef>
                <a:spcPts val="500"/>
              </a:spcBef>
              <a:spcAft>
                <a:spcPts val="0"/>
              </a:spcAft>
              <a:buClr>
                <a:srgbClr val="28509C"/>
              </a:buClr>
              <a:buFont typeface="Arial"/>
              <a:buChar char="•"/>
            </a:pPr>
            <a:r>
              <a:rPr lang="en-US" sz="1400" dirty="0">
                <a:solidFill>
                  <a:srgbClr val="2B2B2B"/>
                </a:solidFill>
              </a:rPr>
              <a:t>MS/MS is increasingly available in laboratories</a:t>
            </a:r>
            <a:r>
              <a:rPr lang="en-US" sz="1400" baseline="30000" dirty="0">
                <a:solidFill>
                  <a:srgbClr val="2B2B2B"/>
                </a:solidFill>
              </a:rPr>
              <a:t>3</a:t>
            </a:r>
          </a:p>
          <a:p>
            <a:pPr marL="171450" indent="-171450">
              <a:spcBef>
                <a:spcPts val="300"/>
              </a:spcBef>
              <a:spcAft>
                <a:spcPts val="0"/>
              </a:spcAft>
              <a:buClr>
                <a:srgbClr val="28509C"/>
              </a:buClr>
              <a:buFont typeface="Arial"/>
              <a:buChar char="•"/>
            </a:pPr>
            <a:r>
              <a:rPr lang="en-US" sz="1400" dirty="0">
                <a:solidFill>
                  <a:srgbClr val="2B2B2B"/>
                </a:solidFill>
              </a:rPr>
              <a:t>Sample collection is non-invasive</a:t>
            </a:r>
            <a:r>
              <a:rPr lang="en-US" sz="1400" baseline="30000" dirty="0">
                <a:solidFill>
                  <a:srgbClr val="2B2B2B"/>
                </a:solidFill>
              </a:rPr>
              <a:t>1</a:t>
            </a:r>
          </a:p>
          <a:p>
            <a:pPr marL="171450" indent="-171450">
              <a:spcBef>
                <a:spcPts val="300"/>
              </a:spcBef>
              <a:spcAft>
                <a:spcPts val="0"/>
              </a:spcAft>
              <a:buClr>
                <a:srgbClr val="28509C"/>
              </a:buClr>
              <a:buFont typeface="Arial"/>
              <a:buChar char="•"/>
            </a:pPr>
            <a:r>
              <a:rPr lang="en-US" sz="1400" dirty="0">
                <a:solidFill>
                  <a:srgbClr val="2B2B2B"/>
                </a:solidFill>
              </a:rPr>
              <a:t>MS/MS is highly accurate and sensitive</a:t>
            </a:r>
            <a:r>
              <a:rPr lang="en-US" sz="1400" baseline="30000" dirty="0">
                <a:solidFill>
                  <a:srgbClr val="2B2B2B"/>
                </a:solidFill>
              </a:rPr>
              <a:t>2,4</a:t>
            </a:r>
          </a:p>
        </p:txBody>
      </p:sp>
      <p:sp>
        <p:nvSpPr>
          <p:cNvPr id="211" name="Box"/>
          <p:cNvSpPr/>
          <p:nvPr/>
        </p:nvSpPr>
        <p:spPr>
          <a:xfrm>
            <a:off x="6184900" y="3479800"/>
            <a:ext cx="5346700" cy="1905000"/>
          </a:xfrm>
          <a:prstGeom prst="roundRect">
            <a:avLst>
              <a:gd name="adj" fmla="val 6000"/>
            </a:avLst>
          </a:prstGeom>
          <a:solidFill>
            <a:srgbClr val="FBEAEA"/>
          </a:solidFill>
          <a:ln>
            <a:noFill/>
          </a:ln>
        </p:spPr>
        <p:txBody>
          <a:bodyPr wrap="square" lIns="0" tIns="0" rIns="0" bIns="0" anchor="t">
            <a:noAutofit/>
          </a:bodyPr>
          <a:lstStyle/>
          <a:p>
            <a:endParaRPr lang="en-US" dirty="0"/>
          </a:p>
        </p:txBody>
      </p:sp>
      <p:sp>
        <p:nvSpPr>
          <p:cNvPr id="213" name="Box"/>
          <p:cNvSpPr txBox="1"/>
          <p:nvPr/>
        </p:nvSpPr>
        <p:spPr>
          <a:xfrm>
            <a:off x="6388100" y="3606800"/>
            <a:ext cx="49911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A33A3A"/>
                </a:solidFill>
              </a:rPr>
              <a:t>Limitations</a:t>
            </a:r>
          </a:p>
          <a:p>
            <a:pPr marL="171450" indent="-171450">
              <a:spcBef>
                <a:spcPts val="500"/>
              </a:spcBef>
              <a:spcAft>
                <a:spcPts val="0"/>
              </a:spcAft>
              <a:buClr>
                <a:srgbClr val="D25D5D"/>
              </a:buClr>
              <a:buFont typeface="Arial"/>
              <a:buChar char="•"/>
            </a:pPr>
            <a:r>
              <a:rPr lang="en-US" sz="1400" dirty="0">
                <a:solidFill>
                  <a:srgbClr val="2B2B2B"/>
                </a:solidFill>
              </a:rPr>
              <a:t>Not all laboratories offer MS/MS yet</a:t>
            </a:r>
            <a:r>
              <a:rPr lang="en-US" sz="1400" baseline="30000" dirty="0">
                <a:solidFill>
                  <a:srgbClr val="2B2B2B"/>
                </a:solidFill>
              </a:rPr>
              <a:t>3</a:t>
            </a:r>
          </a:p>
          <a:p>
            <a:pPr marL="171450" indent="-171450">
              <a:spcBef>
                <a:spcPts val="300"/>
              </a:spcBef>
              <a:spcAft>
                <a:spcPts val="0"/>
              </a:spcAft>
              <a:buClr>
                <a:srgbClr val="D25D5D"/>
              </a:buClr>
              <a:buFont typeface="Arial"/>
              <a:buChar char="•"/>
            </a:pPr>
            <a:r>
              <a:rPr lang="en-US" sz="1400" dirty="0">
                <a:solidFill>
                  <a:srgbClr val="2B2B2B"/>
                </a:solidFill>
              </a:rPr>
              <a:t>A positive result must be confirmed by enzyme activity analysis</a:t>
            </a:r>
          </a:p>
          <a:p>
            <a:pPr marL="171450" indent="-171450">
              <a:spcBef>
                <a:spcPts val="300"/>
              </a:spcBef>
              <a:spcAft>
                <a:spcPts val="0"/>
              </a:spcAft>
              <a:buClr>
                <a:srgbClr val="D25D5D"/>
              </a:buClr>
              <a:buFont typeface="Arial"/>
              <a:buChar char="•"/>
            </a:pPr>
            <a:r>
              <a:rPr lang="en-US" sz="1400" dirty="0">
                <a:solidFill>
                  <a:srgbClr val="2B2B2B"/>
                </a:solidFill>
              </a:rPr>
              <a:t>High risk of false negatives, especially with quantitative analysis alone</a:t>
            </a:r>
          </a:p>
        </p:txBody>
      </p:sp>
      <p:sp>
        <p:nvSpPr>
          <p:cNvPr id="214" name="Abbreviations"/>
          <p:cNvSpPr txBox="1"/>
          <p:nvPr/>
        </p:nvSpPr>
        <p:spPr>
          <a:xfrm>
            <a:off x="660400" y="5511800"/>
            <a:ext cx="10871200" cy="3810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DMB, dimethylmethylene blue; GAG, glycosaminoglycan; LC-MS/MS, liquid chromatography–tandem mass spectrometry</a:t>
            </a:r>
          </a:p>
        </p:txBody>
      </p:sp>
      <p:sp>
        <p:nvSpPr>
          <p:cNvPr id="215" name="References"/>
          <p:cNvSpPr txBox="1"/>
          <p:nvPr/>
        </p:nvSpPr>
        <p:spPr>
          <a:xfrm>
            <a:off x="660400" y="59944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Wood T et al. Mol Genet Metab 2012;106:73–82. 2. Kubaski F et al. Mol Genet Metab 2017;120:67–77. 3. BioMarin, data on file. 4. Gelb MH et al. J Inherit Metab Dis 2006;29:397–404.</a:t>
            </a:r>
          </a:p>
        </p:txBody>
      </p:sp>
    </p:spTree>
    <p:extLst>
      <p:ext uri="{BB962C8B-B14F-4D97-AF65-F5344CB8AC3E}">
        <p14:creationId xmlns:p14="http://schemas.microsoft.com/office/powerpoint/2010/main" val="2661134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Dried blood spot (DBS) testing</a:t>
            </a:r>
            <a:endParaRPr lang="en-US" dirty="0"/>
          </a:p>
        </p:txBody>
      </p:sp>
      <p:sp>
        <p:nvSpPr>
          <p:cNvPr id="202" name="Box"/>
          <p:cNvSpPr/>
          <p:nvPr/>
        </p:nvSpPr>
        <p:spPr>
          <a:xfrm>
            <a:off x="660400" y="1447800"/>
            <a:ext cx="5346700" cy="1905000"/>
          </a:xfrm>
          <a:prstGeom prst="roundRect">
            <a:avLst>
              <a:gd name="adj" fmla="val 6000"/>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63600" y="1574800"/>
            <a:ext cx="23114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002E56"/>
                </a:solidFill>
              </a:rPr>
              <a:t>Sample</a:t>
            </a:r>
          </a:p>
          <a:p>
            <a:pPr>
              <a:spcBef>
                <a:spcPts val="500"/>
              </a:spcBef>
              <a:spcAft>
                <a:spcPts val="0"/>
              </a:spcAft>
              <a:buNone/>
            </a:pPr>
            <a:r>
              <a:rPr lang="en-US" sz="1400" dirty="0">
                <a:solidFill>
                  <a:srgbClr val="2B2B2B"/>
                </a:solidFill>
              </a:rPr>
              <a:t>Blood collected as dried spots on filter paper</a:t>
            </a:r>
          </a:p>
        </p:txBody>
      </p:sp>
      <p:pic>
        <p:nvPicPr>
          <p:cNvPr id="13" name="Picture 12">
            <a:extLst>
              <a:ext uri="{FF2B5EF4-FFF2-40B4-BE49-F238E27FC236}">
                <a16:creationId xmlns:a16="http://schemas.microsoft.com/office/drawing/2014/main" id="{58079496-A873-2E45-92A3-5E8DD905C3C0}"/>
              </a:ext>
            </a:extLst>
          </p:cNvPr>
          <p:cNvPicPr>
            <a:picLocks noChangeAspect="1"/>
          </p:cNvPicPr>
          <p:nvPr/>
        </p:nvPicPr>
        <p:blipFill>
          <a:blip r:embed="rId2"/>
          <a:stretch>
            <a:fillRect/>
          </a:stretch>
        </p:blipFill>
        <p:spPr>
          <a:xfrm>
            <a:off x="3479800" y="1651000"/>
            <a:ext cx="2324100" cy="1498600"/>
          </a:xfrm>
          <a:prstGeom prst="rect">
            <a:avLst/>
          </a:prstGeom>
        </p:spPr>
      </p:pic>
      <p:sp>
        <p:nvSpPr>
          <p:cNvPr id="205" name="Box"/>
          <p:cNvSpPr/>
          <p:nvPr/>
        </p:nvSpPr>
        <p:spPr>
          <a:xfrm>
            <a:off x="6184900" y="1447800"/>
            <a:ext cx="5346700" cy="1905000"/>
          </a:xfrm>
          <a:prstGeom prst="roundRect">
            <a:avLst>
              <a:gd name="adj" fmla="val 6000"/>
            </a:avLst>
          </a:prstGeom>
          <a:solidFill>
            <a:srgbClr val="F1F4F9"/>
          </a:solidFill>
          <a:ln>
            <a:noFill/>
          </a:ln>
        </p:spPr>
        <p:txBody>
          <a:bodyPr wrap="square" lIns="0" tIns="0" rIns="0" bIns="0" anchor="t">
            <a:noAutofit/>
          </a:bodyPr>
          <a:lstStyle/>
          <a:p>
            <a:endParaRPr lang="en-US" dirty="0"/>
          </a:p>
        </p:txBody>
      </p:sp>
      <p:sp>
        <p:nvSpPr>
          <p:cNvPr id="207" name="Box"/>
          <p:cNvSpPr txBox="1"/>
          <p:nvPr/>
        </p:nvSpPr>
        <p:spPr>
          <a:xfrm>
            <a:off x="6388100" y="1574800"/>
            <a:ext cx="49911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002E56"/>
                </a:solidFill>
              </a:rPr>
              <a:t>Results</a:t>
            </a:r>
          </a:p>
          <a:p>
            <a:pPr marL="171450" indent="-171450">
              <a:spcBef>
                <a:spcPts val="500"/>
              </a:spcBef>
              <a:spcAft>
                <a:spcPts val="0"/>
              </a:spcAft>
              <a:buClr>
                <a:srgbClr val="28509C"/>
              </a:buClr>
              <a:buFont typeface="Arial"/>
              <a:buChar char="•"/>
            </a:pPr>
            <a:r>
              <a:rPr lang="en-US" sz="1400" dirty="0">
                <a:solidFill>
                  <a:srgbClr val="2B2B2B"/>
                </a:solidFill>
              </a:rPr>
              <a:t>Complete results in 14–21 days</a:t>
            </a:r>
            <a:r>
              <a:rPr lang="en-US" sz="1400" baseline="30000" dirty="0">
                <a:solidFill>
                  <a:srgbClr val="2B2B2B"/>
                </a:solidFill>
              </a:rPr>
              <a:t>1</a:t>
            </a:r>
          </a:p>
          <a:p>
            <a:pPr marL="171450" indent="-171450">
              <a:spcBef>
                <a:spcPts val="300"/>
              </a:spcBef>
              <a:spcAft>
                <a:spcPts val="0"/>
              </a:spcAft>
              <a:buClr>
                <a:srgbClr val="28509C"/>
              </a:buClr>
              <a:buFont typeface="Arial"/>
              <a:buChar char="•"/>
            </a:pPr>
            <a:r>
              <a:rPr lang="en-US" sz="1400" dirty="0">
                <a:solidFill>
                  <a:srgbClr val="2B2B2B"/>
                </a:solidFill>
              </a:rPr>
              <a:t>Reported by post, phone or fax, or online</a:t>
            </a:r>
            <a:r>
              <a:rPr lang="en-US" sz="1400" baseline="30000" dirty="0">
                <a:solidFill>
                  <a:srgbClr val="2B2B2B"/>
                </a:solidFill>
              </a:rPr>
              <a:t>1</a:t>
            </a:r>
          </a:p>
        </p:txBody>
      </p:sp>
      <p:sp>
        <p:nvSpPr>
          <p:cNvPr id="208" name="Box"/>
          <p:cNvSpPr/>
          <p:nvPr/>
        </p:nvSpPr>
        <p:spPr>
          <a:xfrm>
            <a:off x="660400" y="3479800"/>
            <a:ext cx="5346700" cy="1905000"/>
          </a:xfrm>
          <a:prstGeom prst="roundRect">
            <a:avLst>
              <a:gd name="adj" fmla="val 6000"/>
            </a:avLst>
          </a:prstGeom>
          <a:solidFill>
            <a:srgbClr val="E3EAF5"/>
          </a:solidFill>
          <a:ln>
            <a:noFill/>
          </a:ln>
        </p:spPr>
        <p:txBody>
          <a:bodyPr wrap="square" lIns="0" tIns="0" rIns="0" bIns="0" anchor="t">
            <a:noAutofit/>
          </a:bodyPr>
          <a:lstStyle/>
          <a:p>
            <a:endParaRPr lang="en-US" dirty="0"/>
          </a:p>
        </p:txBody>
      </p:sp>
      <p:sp>
        <p:nvSpPr>
          <p:cNvPr id="210" name="Box"/>
          <p:cNvSpPr txBox="1"/>
          <p:nvPr/>
        </p:nvSpPr>
        <p:spPr>
          <a:xfrm>
            <a:off x="863600" y="3606800"/>
            <a:ext cx="49911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28509C"/>
                </a:solidFill>
              </a:rPr>
              <a:t>Advantages</a:t>
            </a:r>
          </a:p>
          <a:p>
            <a:pPr marL="171450" indent="-171450">
              <a:spcBef>
                <a:spcPts val="500"/>
              </a:spcBef>
              <a:spcAft>
                <a:spcPts val="0"/>
              </a:spcAft>
              <a:buClr>
                <a:srgbClr val="28509C"/>
              </a:buClr>
              <a:buFont typeface="Arial"/>
              <a:buChar char="•"/>
            </a:pPr>
            <a:r>
              <a:rPr lang="en-US" sz="1400" dirty="0">
                <a:solidFill>
                  <a:srgbClr val="2B2B2B"/>
                </a:solidFill>
              </a:rPr>
              <a:t>Easy to collect, store and transport</a:t>
            </a:r>
            <a:r>
              <a:rPr lang="en-US" sz="1400" baseline="30000" dirty="0">
                <a:solidFill>
                  <a:srgbClr val="2B2B2B"/>
                </a:solidFill>
              </a:rPr>
              <a:t>1</a:t>
            </a:r>
          </a:p>
          <a:p>
            <a:pPr marL="171450" indent="-171450">
              <a:spcBef>
                <a:spcPts val="300"/>
              </a:spcBef>
              <a:spcAft>
                <a:spcPts val="0"/>
              </a:spcAft>
              <a:buClr>
                <a:srgbClr val="28509C"/>
              </a:buClr>
              <a:buFont typeface="Arial"/>
              <a:buChar char="•"/>
            </a:pPr>
            <a:r>
              <a:rPr lang="en-US" sz="1400" dirty="0">
                <a:solidFill>
                  <a:srgbClr val="2B2B2B"/>
                </a:solidFill>
              </a:rPr>
              <a:t>One sample supports several enzyme tests and molecular analysis</a:t>
            </a:r>
            <a:r>
              <a:rPr lang="en-US" sz="1400" baseline="30000" dirty="0">
                <a:solidFill>
                  <a:srgbClr val="2B2B2B"/>
                </a:solidFill>
              </a:rPr>
              <a:t>2</a:t>
            </a:r>
          </a:p>
        </p:txBody>
      </p:sp>
      <p:sp>
        <p:nvSpPr>
          <p:cNvPr id="211" name="Box"/>
          <p:cNvSpPr/>
          <p:nvPr/>
        </p:nvSpPr>
        <p:spPr>
          <a:xfrm>
            <a:off x="6184900" y="3479800"/>
            <a:ext cx="5346700" cy="1905000"/>
          </a:xfrm>
          <a:prstGeom prst="roundRect">
            <a:avLst>
              <a:gd name="adj" fmla="val 6000"/>
            </a:avLst>
          </a:prstGeom>
          <a:solidFill>
            <a:srgbClr val="FBEAEA"/>
          </a:solidFill>
          <a:ln>
            <a:noFill/>
          </a:ln>
        </p:spPr>
        <p:txBody>
          <a:bodyPr wrap="square" lIns="0" tIns="0" rIns="0" bIns="0" anchor="t">
            <a:noAutofit/>
          </a:bodyPr>
          <a:lstStyle/>
          <a:p>
            <a:endParaRPr lang="en-US" dirty="0"/>
          </a:p>
        </p:txBody>
      </p:sp>
      <p:sp>
        <p:nvSpPr>
          <p:cNvPr id="213" name="Box"/>
          <p:cNvSpPr txBox="1"/>
          <p:nvPr/>
        </p:nvSpPr>
        <p:spPr>
          <a:xfrm>
            <a:off x="6388100" y="3606800"/>
            <a:ext cx="49911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A33A3A"/>
                </a:solidFill>
              </a:rPr>
              <a:t>Limitations</a:t>
            </a:r>
          </a:p>
          <a:p>
            <a:pPr marL="171450" indent="-171450">
              <a:spcBef>
                <a:spcPts val="500"/>
              </a:spcBef>
              <a:spcAft>
                <a:spcPts val="0"/>
              </a:spcAft>
              <a:buClr>
                <a:srgbClr val="D25D5D"/>
              </a:buClr>
              <a:buFont typeface="Arial"/>
              <a:buChar char="•"/>
            </a:pPr>
            <a:r>
              <a:rPr lang="en-US" sz="1400" dirty="0">
                <a:solidFill>
                  <a:srgbClr val="2B2B2B"/>
                </a:solidFill>
              </a:rPr>
              <a:t>Cannot confirm an MPS diagnosis</a:t>
            </a:r>
            <a:r>
              <a:rPr lang="en-US" sz="1400" baseline="30000" dirty="0">
                <a:solidFill>
                  <a:srgbClr val="2B2B2B"/>
                </a:solidFill>
              </a:rPr>
              <a:t>2</a:t>
            </a:r>
          </a:p>
          <a:p>
            <a:pPr marL="171450" indent="-171450">
              <a:spcBef>
                <a:spcPts val="300"/>
              </a:spcBef>
              <a:spcAft>
                <a:spcPts val="0"/>
              </a:spcAft>
              <a:buClr>
                <a:srgbClr val="D25D5D"/>
              </a:buClr>
              <a:buFont typeface="Arial"/>
              <a:buChar char="•"/>
            </a:pPr>
            <a:r>
              <a:rPr lang="en-US" sz="1400" dirty="0">
                <a:solidFill>
                  <a:srgbClr val="2B2B2B"/>
                </a:solidFill>
              </a:rPr>
              <a:t>Samples are temperature-sensitive; ship without delay</a:t>
            </a:r>
            <a:r>
              <a:rPr lang="en-US" sz="1400" baseline="30000" dirty="0">
                <a:solidFill>
                  <a:srgbClr val="2B2B2B"/>
                </a:solidFill>
              </a:rPr>
              <a:t>2</a:t>
            </a:r>
          </a:p>
          <a:p>
            <a:pPr marL="171450" indent="-171450">
              <a:spcBef>
                <a:spcPts val="300"/>
              </a:spcBef>
              <a:spcAft>
                <a:spcPts val="0"/>
              </a:spcAft>
              <a:buClr>
                <a:srgbClr val="D25D5D"/>
              </a:buClr>
              <a:buFont typeface="Arial"/>
              <a:buChar char="•"/>
            </a:pPr>
            <a:r>
              <a:rPr lang="en-US" sz="1400" dirty="0">
                <a:solidFill>
                  <a:srgbClr val="2B2B2B"/>
                </a:solidFill>
              </a:rPr>
              <a:t>Repeat the test if results are unclear or samples unusable</a:t>
            </a:r>
            <a:r>
              <a:rPr lang="en-US" sz="1400" baseline="30000" dirty="0">
                <a:solidFill>
                  <a:srgbClr val="2B2B2B"/>
                </a:solidFill>
              </a:rPr>
              <a:t>1</a:t>
            </a:r>
          </a:p>
          <a:p>
            <a:pPr marL="171450" indent="-171450">
              <a:spcBef>
                <a:spcPts val="300"/>
              </a:spcBef>
              <a:spcAft>
                <a:spcPts val="0"/>
              </a:spcAft>
              <a:buClr>
                <a:srgbClr val="D25D5D"/>
              </a:buClr>
              <a:buFont typeface="Arial"/>
              <a:buChar char="•"/>
            </a:pPr>
            <a:r>
              <a:rPr lang="en-US" sz="1400" dirty="0">
                <a:solidFill>
                  <a:srgbClr val="2B2B2B"/>
                </a:solidFill>
              </a:rPr>
              <a:t>A specialist's clinical evaluation must confirm the diagnosis</a:t>
            </a:r>
            <a:r>
              <a:rPr lang="en-US" sz="1400" baseline="30000" dirty="0">
                <a:solidFill>
                  <a:srgbClr val="2B2B2B"/>
                </a:solidFill>
              </a:rPr>
              <a:t>1</a:t>
            </a:r>
          </a:p>
        </p:txBody>
      </p:sp>
      <p:sp>
        <p:nvSpPr>
          <p:cNvPr id="214" name="Abbreviations"/>
          <p:cNvSpPr txBox="1"/>
          <p:nvPr/>
        </p:nvSpPr>
        <p:spPr>
          <a:xfrm>
            <a:off x="660400" y="5511800"/>
            <a:ext cx="10871200" cy="3810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DBS, dried blood spot; MPS, mucopolysaccharidosis</a:t>
            </a:r>
          </a:p>
        </p:txBody>
      </p:sp>
      <p:sp>
        <p:nvSpPr>
          <p:cNvPr id="215" name="References"/>
          <p:cNvSpPr txBox="1"/>
          <p:nvPr/>
        </p:nvSpPr>
        <p:spPr>
          <a:xfrm>
            <a:off x="660400" y="59944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Lehman TJ et al. Rheumatology (Oxford) 2011;50(Suppl 5):v41–8.</a:t>
            </a:r>
          </a:p>
        </p:txBody>
      </p:sp>
    </p:spTree>
    <p:extLst>
      <p:ext uri="{BB962C8B-B14F-4D97-AF65-F5344CB8AC3E}">
        <p14:creationId xmlns:p14="http://schemas.microsoft.com/office/powerpoint/2010/main" val="2786499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Molecular testing</a:t>
            </a:r>
            <a:endParaRPr lang="en-US" dirty="0"/>
          </a:p>
        </p:txBody>
      </p:sp>
      <p:sp>
        <p:nvSpPr>
          <p:cNvPr id="202" name="Box"/>
          <p:cNvSpPr/>
          <p:nvPr/>
        </p:nvSpPr>
        <p:spPr>
          <a:xfrm>
            <a:off x="660400" y="1447800"/>
            <a:ext cx="3175000" cy="3937000"/>
          </a:xfrm>
          <a:prstGeom prst="roundRect">
            <a:avLst>
              <a:gd name="adj" fmla="val 3600"/>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63600" y="1574800"/>
            <a:ext cx="2819400" cy="3733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002E56"/>
                </a:solidFill>
              </a:rPr>
              <a:t>Sample</a:t>
            </a:r>
            <a:r>
              <a:rPr lang="en-US" sz="1400" baseline="30000" dirty="0">
                <a:solidFill>
                  <a:srgbClr val="2B2B2B"/>
                </a:solidFill>
              </a:rPr>
              <a:t>1,2</a:t>
            </a:r>
          </a:p>
          <a:p>
            <a:pPr marL="171450" indent="-171450">
              <a:spcBef>
                <a:spcPts val="500"/>
              </a:spcBef>
              <a:spcAft>
                <a:spcPts val="0"/>
              </a:spcAft>
              <a:buClr>
                <a:srgbClr val="28509C"/>
              </a:buClr>
              <a:buFont typeface="Arial"/>
              <a:buChar char="•"/>
            </a:pPr>
            <a:r>
              <a:rPr lang="en-US" sz="1400" dirty="0">
                <a:solidFill>
                  <a:srgbClr val="2B2B2B"/>
                </a:solidFill>
              </a:rPr>
              <a:t>Leukocytes from whole blood</a:t>
            </a:r>
          </a:p>
          <a:p>
            <a:pPr marL="171450" indent="-171450">
              <a:spcBef>
                <a:spcPts val="400"/>
              </a:spcBef>
              <a:spcAft>
                <a:spcPts val="0"/>
              </a:spcAft>
              <a:buClr>
                <a:srgbClr val="28509C"/>
              </a:buClr>
              <a:buFont typeface="Arial"/>
              <a:buChar char="•"/>
            </a:pPr>
            <a:r>
              <a:rPr lang="en-US" sz="1400" dirty="0">
                <a:solidFill>
                  <a:srgbClr val="2B2B2B"/>
                </a:solidFill>
              </a:rPr>
              <a:t>Leukocytes from DBS</a:t>
            </a:r>
          </a:p>
          <a:p>
            <a:pPr marL="171450" indent="-171450">
              <a:spcBef>
                <a:spcPts val="400"/>
              </a:spcBef>
              <a:spcAft>
                <a:spcPts val="0"/>
              </a:spcAft>
              <a:buClr>
                <a:srgbClr val="28509C"/>
              </a:buClr>
              <a:buFont typeface="Arial"/>
              <a:buChar char="•"/>
            </a:pPr>
            <a:r>
              <a:rPr lang="en-US" sz="1400" dirty="0">
                <a:solidFill>
                  <a:srgbClr val="2B2B2B"/>
                </a:solidFill>
              </a:rPr>
              <a:t>DNA from saliva</a:t>
            </a:r>
          </a:p>
        </p:txBody>
      </p:sp>
      <p:sp>
        <p:nvSpPr>
          <p:cNvPr id="205" name="Box"/>
          <p:cNvSpPr/>
          <p:nvPr/>
        </p:nvSpPr>
        <p:spPr>
          <a:xfrm>
            <a:off x="4013200" y="1447800"/>
            <a:ext cx="7518400" cy="2108200"/>
          </a:xfrm>
          <a:prstGeom prst="roundRect">
            <a:avLst>
              <a:gd name="adj" fmla="val 5422"/>
            </a:avLst>
          </a:prstGeom>
          <a:solidFill>
            <a:srgbClr val="E3EAF5"/>
          </a:solidFill>
          <a:ln>
            <a:noFill/>
          </a:ln>
        </p:spPr>
        <p:txBody>
          <a:bodyPr wrap="square" lIns="0" tIns="0" rIns="0" bIns="0" anchor="t">
            <a:noAutofit/>
          </a:bodyPr>
          <a:lstStyle/>
          <a:p>
            <a:endParaRPr lang="en-US" dirty="0"/>
          </a:p>
        </p:txBody>
      </p:sp>
      <p:sp>
        <p:nvSpPr>
          <p:cNvPr id="207" name="Box"/>
          <p:cNvSpPr txBox="1"/>
          <p:nvPr/>
        </p:nvSpPr>
        <p:spPr>
          <a:xfrm>
            <a:off x="4216400" y="1574800"/>
            <a:ext cx="7162800" cy="19050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28509C"/>
                </a:solidFill>
              </a:rPr>
              <a:t>Advantages</a:t>
            </a:r>
          </a:p>
          <a:p>
            <a:pPr marL="171450" indent="-171450">
              <a:spcBef>
                <a:spcPts val="500"/>
              </a:spcBef>
              <a:spcAft>
                <a:spcPts val="0"/>
              </a:spcAft>
              <a:buClr>
                <a:srgbClr val="28509C"/>
              </a:buClr>
              <a:buFont typeface="Arial"/>
              <a:buChar char="•"/>
            </a:pPr>
            <a:r>
              <a:rPr lang="en-US" sz="1400" dirty="0">
                <a:solidFill>
                  <a:srgbClr val="2B2B2B"/>
                </a:solidFill>
              </a:rPr>
              <a:t>Confirms the diagnosis alone when two pathogenic variants are found, one on each allele</a:t>
            </a:r>
            <a:r>
              <a:rPr lang="en-US" sz="1400" baseline="30000" dirty="0">
                <a:solidFill>
                  <a:srgbClr val="2B2B2B"/>
                </a:solidFill>
              </a:rPr>
              <a:t>3</a:t>
            </a:r>
          </a:p>
          <a:p>
            <a:pPr marL="171450" indent="-171450">
              <a:spcBef>
                <a:spcPts val="400"/>
              </a:spcBef>
              <a:spcAft>
                <a:spcPts val="0"/>
              </a:spcAft>
              <a:buClr>
                <a:srgbClr val="28509C"/>
              </a:buClr>
              <a:buFont typeface="Arial"/>
              <a:buChar char="•"/>
            </a:pPr>
            <a:r>
              <a:rPr lang="en-US" sz="1400" dirty="0">
                <a:solidFill>
                  <a:srgbClr val="2B2B2B"/>
                </a:solidFill>
              </a:rPr>
              <a:t>Can confirm the specific MPS type when enzyme results are inconclusive</a:t>
            </a:r>
          </a:p>
          <a:p>
            <a:pPr marL="171450" indent="-171450">
              <a:spcBef>
                <a:spcPts val="400"/>
              </a:spcBef>
              <a:spcAft>
                <a:spcPts val="0"/>
              </a:spcAft>
              <a:buClr>
                <a:srgbClr val="28509C"/>
              </a:buClr>
              <a:buFont typeface="Arial"/>
              <a:buChar char="•"/>
            </a:pPr>
            <a:r>
              <a:rPr lang="en-US" sz="1400" dirty="0">
                <a:solidFill>
                  <a:srgbClr val="2B2B2B"/>
                </a:solidFill>
              </a:rPr>
              <a:t>Supports carrier and prenatal testing and genetic counselling once the family variant is known</a:t>
            </a:r>
            <a:r>
              <a:rPr lang="en-US" sz="1400" baseline="30000" dirty="0">
                <a:solidFill>
                  <a:srgbClr val="2B2B2B"/>
                </a:solidFill>
              </a:rPr>
              <a:t>3</a:t>
            </a:r>
          </a:p>
        </p:txBody>
      </p:sp>
      <p:sp>
        <p:nvSpPr>
          <p:cNvPr id="208" name="Box"/>
          <p:cNvSpPr/>
          <p:nvPr/>
        </p:nvSpPr>
        <p:spPr>
          <a:xfrm>
            <a:off x="4013200" y="3683000"/>
            <a:ext cx="7518400" cy="1701800"/>
          </a:xfrm>
          <a:prstGeom prst="roundRect">
            <a:avLst>
              <a:gd name="adj" fmla="val 6716"/>
            </a:avLst>
          </a:prstGeom>
          <a:solidFill>
            <a:srgbClr val="FBEAEA"/>
          </a:solidFill>
          <a:ln>
            <a:noFill/>
          </a:ln>
        </p:spPr>
        <p:txBody>
          <a:bodyPr wrap="square" lIns="0" tIns="0" rIns="0" bIns="0" anchor="t">
            <a:noAutofit/>
          </a:bodyPr>
          <a:lstStyle/>
          <a:p>
            <a:endParaRPr lang="en-US" dirty="0"/>
          </a:p>
        </p:txBody>
      </p:sp>
      <p:sp>
        <p:nvSpPr>
          <p:cNvPr id="210" name="Box"/>
          <p:cNvSpPr txBox="1"/>
          <p:nvPr/>
        </p:nvSpPr>
        <p:spPr>
          <a:xfrm>
            <a:off x="4216400" y="3810000"/>
            <a:ext cx="7162800" cy="14986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A33A3A"/>
                </a:solidFill>
              </a:rPr>
              <a:t>Limitations</a:t>
            </a:r>
          </a:p>
          <a:p>
            <a:pPr marL="171450" indent="-171450">
              <a:spcBef>
                <a:spcPts val="500"/>
              </a:spcBef>
              <a:spcAft>
                <a:spcPts val="0"/>
              </a:spcAft>
              <a:buClr>
                <a:srgbClr val="D25D5D"/>
              </a:buClr>
              <a:buFont typeface="Arial"/>
              <a:buChar char="•"/>
            </a:pPr>
            <a:r>
              <a:rPr lang="en-US" sz="1400" dirty="0">
                <a:solidFill>
                  <a:srgbClr val="2B2B2B"/>
                </a:solidFill>
              </a:rPr>
              <a:t>Novel variants or variants of unknown significance need an enzyme test to confirm</a:t>
            </a:r>
            <a:r>
              <a:rPr lang="en-US" sz="1400" baseline="30000" dirty="0">
                <a:solidFill>
                  <a:srgbClr val="2B2B2B"/>
                </a:solidFill>
              </a:rPr>
              <a:t>2,3</a:t>
            </a:r>
          </a:p>
          <a:p>
            <a:pPr marL="171450" indent="-171450">
              <a:spcBef>
                <a:spcPts val="400"/>
              </a:spcBef>
              <a:spcAft>
                <a:spcPts val="0"/>
              </a:spcAft>
              <a:buClr>
                <a:srgbClr val="D25D5D"/>
              </a:buClr>
              <a:buFont typeface="Arial"/>
              <a:buChar char="•"/>
            </a:pPr>
            <a:r>
              <a:rPr lang="en-US" sz="1400" dirty="0">
                <a:solidFill>
                  <a:srgbClr val="2B2B2B"/>
                </a:solidFill>
              </a:rPr>
              <a:t>Some sequencing methods miss certain variants</a:t>
            </a:r>
            <a:r>
              <a:rPr lang="en-US" sz="1400" baseline="30000" dirty="0">
                <a:solidFill>
                  <a:srgbClr val="2B2B2B"/>
                </a:solidFill>
              </a:rPr>
              <a:t>2</a:t>
            </a:r>
          </a:p>
          <a:p>
            <a:pPr marL="171450" indent="-171450">
              <a:spcBef>
                <a:spcPts val="400"/>
              </a:spcBef>
              <a:spcAft>
                <a:spcPts val="0"/>
              </a:spcAft>
              <a:buClr>
                <a:srgbClr val="D25D5D"/>
              </a:buClr>
              <a:buFont typeface="Arial"/>
              <a:buChar char="•"/>
            </a:pPr>
            <a:r>
              <a:rPr lang="en-US" sz="1400" dirty="0">
                <a:solidFill>
                  <a:srgbClr val="2B2B2B"/>
                </a:solidFill>
              </a:rPr>
              <a:t>Usually costs more than other tests</a:t>
            </a:r>
            <a:r>
              <a:rPr lang="en-US" sz="1400" baseline="30000" dirty="0">
                <a:solidFill>
                  <a:srgbClr val="2B2B2B"/>
                </a:solidFill>
              </a:rPr>
              <a:t>3</a:t>
            </a:r>
          </a:p>
        </p:txBody>
      </p:sp>
      <p:sp>
        <p:nvSpPr>
          <p:cNvPr id="211" name="Abbreviations"/>
          <p:cNvSpPr txBox="1"/>
          <p:nvPr/>
        </p:nvSpPr>
        <p:spPr>
          <a:xfrm>
            <a:off x="660400" y="5511800"/>
            <a:ext cx="10871200" cy="3810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DBS, dried blood spot; MPS, mucopolysaccharidosis</a:t>
            </a:r>
          </a:p>
        </p:txBody>
      </p:sp>
      <p:sp>
        <p:nvSpPr>
          <p:cNvPr id="212" name="References"/>
          <p:cNvSpPr txBox="1"/>
          <p:nvPr/>
        </p:nvSpPr>
        <p:spPr>
          <a:xfrm>
            <a:off x="660400" y="59944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Lehman TJ et al. Rheumatology (Oxford) 2011;50(Suppl 5):v41–8. 2. Wood TC et al. J Inherit Metab Dis 2013;36:293–307. 3. Wood T et al. Mol Genet Metab 2012;106:73–82. 4. BioMarin, data on file.</a:t>
            </a:r>
          </a:p>
        </p:txBody>
      </p:sp>
    </p:spTree>
    <p:extLst>
      <p:ext uri="{BB962C8B-B14F-4D97-AF65-F5344CB8AC3E}">
        <p14:creationId xmlns:p14="http://schemas.microsoft.com/office/powerpoint/2010/main" val="3759662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660400" y="444500"/>
            <a:ext cx="10871200" cy="889000"/>
          </a:xfrm>
        </p:spPr>
        <p:txBody>
          <a:bodyPr wrap="square" lIns="0" tIns="0" rIns="0" bIns="0" anchor="t">
            <a:noAutofit/>
          </a:bodyPr>
          <a:lstStyle/>
          <a:p>
            <a:pPr>
              <a:spcBef>
                <a:spcPts val="0"/>
              </a:spcBef>
              <a:spcAft>
                <a:spcPts val="0"/>
              </a:spcAft>
              <a:buNone/>
            </a:pPr>
            <a:r>
              <a:rPr lang="en-US"/>
              <a:t>Enzyme activity testing in leukocytes or fibroblasts</a:t>
            </a:r>
            <a:endParaRPr lang="en-US" dirty="0"/>
          </a:p>
        </p:txBody>
      </p:sp>
      <p:sp>
        <p:nvSpPr>
          <p:cNvPr id="202" name="Box"/>
          <p:cNvSpPr/>
          <p:nvPr/>
        </p:nvSpPr>
        <p:spPr>
          <a:xfrm>
            <a:off x="660400" y="1447800"/>
            <a:ext cx="3175000" cy="3937000"/>
          </a:xfrm>
          <a:prstGeom prst="roundRect">
            <a:avLst>
              <a:gd name="adj" fmla="val 3600"/>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63600" y="1574800"/>
            <a:ext cx="2819400" cy="3733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002E56"/>
                </a:solidFill>
              </a:rPr>
              <a:t>Sample</a:t>
            </a:r>
            <a:r>
              <a:rPr lang="en-US" sz="1400" baseline="30000" dirty="0">
                <a:solidFill>
                  <a:srgbClr val="2B2B2B"/>
                </a:solidFill>
              </a:rPr>
              <a:t>1,2</a:t>
            </a:r>
          </a:p>
          <a:p>
            <a:pPr marL="171450" indent="-171450">
              <a:spcBef>
                <a:spcPts val="500"/>
              </a:spcBef>
              <a:spcAft>
                <a:spcPts val="0"/>
              </a:spcAft>
              <a:buClr>
                <a:srgbClr val="28509C"/>
              </a:buClr>
              <a:buFont typeface="Arial"/>
              <a:buChar char="•"/>
            </a:pPr>
            <a:r>
              <a:rPr lang="en-US" sz="1400" dirty="0">
                <a:solidFill>
                  <a:srgbClr val="2B2B2B"/>
                </a:solidFill>
              </a:rPr>
              <a:t>Leukocytes isolated from whole blood</a:t>
            </a:r>
          </a:p>
          <a:p>
            <a:pPr marL="171450" indent="-171450">
              <a:spcBef>
                <a:spcPts val="400"/>
              </a:spcBef>
              <a:spcAft>
                <a:spcPts val="0"/>
              </a:spcAft>
              <a:buClr>
                <a:srgbClr val="28509C"/>
              </a:buClr>
              <a:buFont typeface="Arial"/>
              <a:buChar char="•"/>
            </a:pPr>
            <a:r>
              <a:rPr lang="en-US" sz="1400" dirty="0">
                <a:solidFill>
                  <a:srgbClr val="2B2B2B"/>
                </a:solidFill>
              </a:rPr>
              <a:t>Fibroblasts from skin biopsies</a:t>
            </a:r>
          </a:p>
        </p:txBody>
      </p:sp>
      <p:sp>
        <p:nvSpPr>
          <p:cNvPr id="205" name="Box"/>
          <p:cNvSpPr/>
          <p:nvPr/>
        </p:nvSpPr>
        <p:spPr>
          <a:xfrm>
            <a:off x="4013200" y="1447800"/>
            <a:ext cx="7518400" cy="1905000"/>
          </a:xfrm>
          <a:prstGeom prst="roundRect">
            <a:avLst>
              <a:gd name="adj" fmla="val 6000"/>
            </a:avLst>
          </a:prstGeom>
          <a:solidFill>
            <a:srgbClr val="E3EAF5"/>
          </a:solidFill>
          <a:ln>
            <a:noFill/>
          </a:ln>
        </p:spPr>
        <p:txBody>
          <a:bodyPr wrap="square" lIns="0" tIns="0" rIns="0" bIns="0" anchor="t">
            <a:noAutofit/>
          </a:bodyPr>
          <a:lstStyle/>
          <a:p>
            <a:endParaRPr lang="en-US" dirty="0"/>
          </a:p>
        </p:txBody>
      </p:sp>
      <p:sp>
        <p:nvSpPr>
          <p:cNvPr id="207" name="Box"/>
          <p:cNvSpPr txBox="1"/>
          <p:nvPr/>
        </p:nvSpPr>
        <p:spPr>
          <a:xfrm>
            <a:off x="4216400" y="1574800"/>
            <a:ext cx="71628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28509C"/>
                </a:solidFill>
              </a:rPr>
              <a:t>Advantages</a:t>
            </a:r>
          </a:p>
          <a:p>
            <a:pPr marL="171450" indent="-171450">
              <a:spcBef>
                <a:spcPts val="500"/>
              </a:spcBef>
              <a:spcAft>
                <a:spcPts val="0"/>
              </a:spcAft>
              <a:buClr>
                <a:srgbClr val="28509C"/>
              </a:buClr>
              <a:buFont typeface="Arial"/>
              <a:buChar char="•"/>
            </a:pPr>
            <a:r>
              <a:rPr lang="en-US" sz="1400" dirty="0">
                <a:solidFill>
                  <a:srgbClr val="2B2B2B"/>
                </a:solidFill>
              </a:rPr>
              <a:t>Several enzymes can be tested from one sample</a:t>
            </a:r>
            <a:r>
              <a:rPr lang="en-US" sz="1400" baseline="30000" dirty="0">
                <a:solidFill>
                  <a:srgbClr val="2B2B2B"/>
                </a:solidFill>
              </a:rPr>
              <a:t>2</a:t>
            </a:r>
          </a:p>
          <a:p>
            <a:pPr marL="171450" indent="-171450">
              <a:spcBef>
                <a:spcPts val="400"/>
              </a:spcBef>
              <a:spcAft>
                <a:spcPts val="0"/>
              </a:spcAft>
              <a:buClr>
                <a:srgbClr val="28509C"/>
              </a:buClr>
              <a:buFont typeface="Arial"/>
              <a:buChar char="•"/>
            </a:pPr>
            <a:r>
              <a:rPr lang="en-US" sz="1400" dirty="0">
                <a:solidFill>
                  <a:srgbClr val="2B2B2B"/>
                </a:solidFill>
              </a:rPr>
              <a:t>Allows quicker analysis</a:t>
            </a:r>
            <a:r>
              <a:rPr lang="en-US" sz="1400" baseline="30000" dirty="0">
                <a:solidFill>
                  <a:srgbClr val="2B2B2B"/>
                </a:solidFill>
              </a:rPr>
              <a:t>1</a:t>
            </a:r>
          </a:p>
        </p:txBody>
      </p:sp>
      <p:sp>
        <p:nvSpPr>
          <p:cNvPr id="208" name="Box"/>
          <p:cNvSpPr/>
          <p:nvPr/>
        </p:nvSpPr>
        <p:spPr>
          <a:xfrm>
            <a:off x="4013200" y="3479800"/>
            <a:ext cx="7518400" cy="1905000"/>
          </a:xfrm>
          <a:prstGeom prst="roundRect">
            <a:avLst>
              <a:gd name="adj" fmla="val 6000"/>
            </a:avLst>
          </a:prstGeom>
          <a:solidFill>
            <a:srgbClr val="FBEAEA"/>
          </a:solidFill>
          <a:ln>
            <a:noFill/>
          </a:ln>
        </p:spPr>
        <p:txBody>
          <a:bodyPr wrap="square" lIns="0" tIns="0" rIns="0" bIns="0" anchor="t">
            <a:noAutofit/>
          </a:bodyPr>
          <a:lstStyle/>
          <a:p>
            <a:endParaRPr lang="en-US" dirty="0"/>
          </a:p>
        </p:txBody>
      </p:sp>
      <p:sp>
        <p:nvSpPr>
          <p:cNvPr id="210" name="Box"/>
          <p:cNvSpPr txBox="1"/>
          <p:nvPr/>
        </p:nvSpPr>
        <p:spPr>
          <a:xfrm>
            <a:off x="4216400" y="3606800"/>
            <a:ext cx="7162800" cy="17018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A33A3A"/>
                </a:solidFill>
              </a:rPr>
              <a:t>Limitations</a:t>
            </a:r>
          </a:p>
          <a:p>
            <a:pPr marL="171450" indent="-171450">
              <a:spcBef>
                <a:spcPts val="500"/>
              </a:spcBef>
              <a:spcAft>
                <a:spcPts val="0"/>
              </a:spcAft>
              <a:buClr>
                <a:srgbClr val="D25D5D"/>
              </a:buClr>
              <a:buFont typeface="Arial"/>
              <a:buChar char="•"/>
            </a:pPr>
            <a:r>
              <a:rPr lang="en-US" sz="1400" dirty="0">
                <a:solidFill>
                  <a:srgbClr val="2B2B2B"/>
                </a:solidFill>
              </a:rPr>
              <a:t>Environmental temperatures can compromise leukocyte samples</a:t>
            </a:r>
            <a:r>
              <a:rPr lang="en-US" sz="1400" baseline="30000" dirty="0">
                <a:solidFill>
                  <a:srgbClr val="2B2B2B"/>
                </a:solidFill>
              </a:rPr>
              <a:t>2</a:t>
            </a:r>
          </a:p>
          <a:p>
            <a:pPr marL="171450" indent="-171450">
              <a:spcBef>
                <a:spcPts val="400"/>
              </a:spcBef>
              <a:spcAft>
                <a:spcPts val="0"/>
              </a:spcAft>
              <a:buClr>
                <a:srgbClr val="D25D5D"/>
              </a:buClr>
              <a:buFont typeface="Arial"/>
              <a:buChar char="•"/>
            </a:pPr>
            <a:r>
              <a:rPr lang="en-US" sz="1400" dirty="0">
                <a:solidFill>
                  <a:srgbClr val="2B2B2B"/>
                </a:solidFill>
              </a:rPr>
              <a:t>Skin punch biopsies are invasive and slow to culture</a:t>
            </a:r>
            <a:r>
              <a:rPr lang="en-US" sz="1400" baseline="30000" dirty="0">
                <a:solidFill>
                  <a:srgbClr val="2B2B2B"/>
                </a:solidFill>
              </a:rPr>
              <a:t>2</a:t>
            </a:r>
          </a:p>
        </p:txBody>
      </p:sp>
      <p:sp>
        <p:nvSpPr>
          <p:cNvPr id="211" name="Abbreviations"/>
          <p:cNvSpPr txBox="1"/>
          <p:nvPr/>
        </p:nvSpPr>
        <p:spPr>
          <a:xfrm>
            <a:off x="660400" y="5511800"/>
            <a:ext cx="10871200" cy="3810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MPS, mucopolysaccharidosis</a:t>
            </a:r>
          </a:p>
        </p:txBody>
      </p:sp>
      <p:sp>
        <p:nvSpPr>
          <p:cNvPr id="212" name="References"/>
          <p:cNvSpPr txBox="1"/>
          <p:nvPr/>
        </p:nvSpPr>
        <p:spPr>
          <a:xfrm>
            <a:off x="660400" y="59944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Lehman TJ et al. Rheumatology (Oxford) 2011;50(Suppl 5):v41–8. 2. Wood TC et al. J Inherit Metab Dis 2013;36:293–307. 3. Wood T et al. Mol Genet Metab 2012;106:73–82.</a:t>
            </a:r>
          </a:p>
        </p:txBody>
      </p:sp>
    </p:spTree>
    <p:extLst>
      <p:ext uri="{BB962C8B-B14F-4D97-AF65-F5344CB8AC3E}">
        <p14:creationId xmlns:p14="http://schemas.microsoft.com/office/powerpoint/2010/main" val="7240064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660400" y="444500"/>
            <a:ext cx="10871200" cy="889000"/>
          </a:xfrm>
        </p:spPr>
        <p:txBody>
          <a:bodyPr wrap="square" lIns="0" tIns="0" rIns="0" bIns="0" rtlCol="0" anchor="t">
            <a:noAutofit/>
          </a:bodyPr>
          <a:lstStyle/>
          <a:p>
            <a:pPr>
              <a:spcBef>
                <a:spcPts val="0"/>
              </a:spcBef>
              <a:spcAft>
                <a:spcPts val="0"/>
              </a:spcAft>
              <a:buNone/>
            </a:pPr>
            <a:r>
              <a:rPr lang="en-US"/>
              <a:t>Prenatal diagnosis</a:t>
            </a:r>
            <a:endParaRPr lang="en-US" dirty="0"/>
          </a:p>
        </p:txBody>
      </p:sp>
      <p:sp>
        <p:nvSpPr>
          <p:cNvPr id="202" name="Box"/>
          <p:cNvSpPr/>
          <p:nvPr/>
        </p:nvSpPr>
        <p:spPr>
          <a:xfrm>
            <a:off x="660400" y="1549400"/>
            <a:ext cx="3522133" cy="3225800"/>
          </a:xfrm>
          <a:prstGeom prst="roundRect">
            <a:avLst>
              <a:gd name="adj" fmla="val 3543"/>
            </a:avLst>
          </a:prstGeom>
          <a:solidFill>
            <a:srgbClr val="F1F4F9"/>
          </a:solidFill>
          <a:ln>
            <a:noFill/>
          </a:ln>
        </p:spPr>
        <p:txBody>
          <a:bodyPr wrap="square" lIns="0" tIns="0" rIns="0" bIns="0" rtlCol="0" anchor="t">
            <a:noAutofit/>
          </a:bodyPr>
          <a:lstStyle/>
          <a:p>
            <a:endParaRPr lang="en-US" dirty="0"/>
          </a:p>
        </p:txBody>
      </p:sp>
      <p:sp>
        <p:nvSpPr>
          <p:cNvPr id="203" name="Box"/>
          <p:cNvSpPr/>
          <p:nvPr/>
        </p:nvSpPr>
        <p:spPr>
          <a:xfrm>
            <a:off x="660400" y="1549400"/>
            <a:ext cx="3522133" cy="50800"/>
          </a:xfrm>
          <a:prstGeom prst="rect">
            <a:avLst/>
          </a:prstGeom>
          <a:solidFill>
            <a:srgbClr val="353D98"/>
          </a:solidFill>
          <a:ln>
            <a:noFill/>
          </a:ln>
        </p:spPr>
        <p:txBody>
          <a:bodyPr wrap="square" lIns="0" tIns="0" rIns="0" bIns="0" rtlCol="0" anchor="t">
            <a:noAutofit/>
          </a:bodyPr>
          <a:lstStyle/>
          <a:p>
            <a:endParaRPr lang="en-US" dirty="0"/>
          </a:p>
        </p:txBody>
      </p:sp>
      <p:sp>
        <p:nvSpPr>
          <p:cNvPr id="204" name="Box"/>
          <p:cNvSpPr txBox="1"/>
          <p:nvPr/>
        </p:nvSpPr>
        <p:spPr>
          <a:xfrm>
            <a:off x="838200" y="1752600"/>
            <a:ext cx="3166533" cy="279400"/>
          </a:xfrm>
          <a:prstGeom prst="rect">
            <a:avLst/>
          </a:prstGeom>
          <a:noFill/>
          <a:ln>
            <a:noFill/>
          </a:ln>
        </p:spPr>
        <p:txBody>
          <a:bodyPr wrap="square" lIns="0" tIns="0" rIns="0" bIns="0" rtlCol="0" anchor="t">
            <a:noAutofit/>
          </a:bodyPr>
          <a:lstStyle/>
          <a:p>
            <a:pPr>
              <a:spcBef>
                <a:spcPts val="0"/>
              </a:spcBef>
              <a:spcAft>
                <a:spcPts val="0"/>
              </a:spcAft>
              <a:buNone/>
            </a:pPr>
            <a:r>
              <a:rPr lang="en-US" sz="1100" b="1" spc="60" dirty="0">
                <a:solidFill>
                  <a:srgbClr val="353D98"/>
                </a:solidFill>
              </a:rPr>
              <a:t>Before pregnancy</a:t>
            </a:r>
          </a:p>
        </p:txBody>
      </p:sp>
      <p:sp>
        <p:nvSpPr>
          <p:cNvPr id="205" name="Box"/>
          <p:cNvSpPr txBox="1"/>
          <p:nvPr/>
        </p:nvSpPr>
        <p:spPr>
          <a:xfrm>
            <a:off x="838200" y="2032000"/>
            <a:ext cx="3166533" cy="558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Pre-implantation genetic diagnosis</a:t>
            </a:r>
          </a:p>
        </p:txBody>
      </p:sp>
      <p:sp>
        <p:nvSpPr>
          <p:cNvPr id="206" name="Box"/>
          <p:cNvSpPr txBox="1"/>
          <p:nvPr/>
        </p:nvSpPr>
        <p:spPr>
          <a:xfrm>
            <a:off x="838200" y="2717800"/>
            <a:ext cx="3166533" cy="1905000"/>
          </a:xfrm>
          <a:prstGeom prst="rect">
            <a:avLst/>
          </a:prstGeom>
          <a:noFill/>
          <a:ln>
            <a:noFill/>
          </a:ln>
        </p:spPr>
        <p:txBody>
          <a:bodyPr wrap="square" lIns="0" tIns="0" rIns="0" bIns="0" rtlCol="0" anchor="t">
            <a:noAutofit/>
          </a:bodyPr>
          <a:lstStyle/>
          <a:p>
            <a:pPr marL="142875" indent="-142875">
              <a:spcBef>
                <a:spcPts val="0"/>
              </a:spcBef>
              <a:spcAft>
                <a:spcPts val="0"/>
              </a:spcAft>
              <a:buClr>
                <a:srgbClr val="353D98"/>
              </a:buClr>
              <a:buFont typeface="Arial"/>
              <a:buChar char="•"/>
            </a:pPr>
            <a:r>
              <a:rPr lang="en-US" sz="1400" dirty="0">
                <a:solidFill>
                  <a:srgbClr val="2B2B2B"/>
                </a:solidFill>
              </a:rPr>
              <a:t>Genetic profiling of embryos before implantation, sometimes of eggs before fertilisation</a:t>
            </a:r>
          </a:p>
          <a:p>
            <a:pPr marL="142875" indent="-142875">
              <a:spcBef>
                <a:spcPts val="700"/>
              </a:spcBef>
              <a:spcAft>
                <a:spcPts val="0"/>
              </a:spcAft>
              <a:buClr>
                <a:srgbClr val="353D98"/>
              </a:buClr>
              <a:buFont typeface="Arial"/>
              <a:buChar char="•"/>
            </a:pPr>
            <a:r>
              <a:rPr lang="en-US" sz="1400" dirty="0">
                <a:solidFill>
                  <a:srgbClr val="2B2B2B"/>
                </a:solidFill>
              </a:rPr>
              <a:t>Used like prenatal diagnosis to screen for a specific genetic disease</a:t>
            </a:r>
          </a:p>
          <a:p>
            <a:pPr marL="142875" indent="-142875">
              <a:spcBef>
                <a:spcPts val="700"/>
              </a:spcBef>
              <a:spcAft>
                <a:spcPts val="0"/>
              </a:spcAft>
              <a:buClr>
                <a:srgbClr val="353D98"/>
              </a:buClr>
              <a:buFont typeface="Arial"/>
              <a:buChar char="•"/>
            </a:pPr>
            <a:r>
              <a:rPr lang="en-US" sz="1400" b="1" dirty="0">
                <a:solidFill>
                  <a:srgbClr val="002E56"/>
                </a:solidFill>
              </a:rPr>
              <a:t>Main advantage: </a:t>
            </a:r>
            <a:r>
              <a:rPr lang="en-US" sz="1400" dirty="0">
                <a:solidFill>
                  <a:srgbClr val="2B2B2B"/>
                </a:solidFill>
              </a:rPr>
              <a:t>avoids selective abortion, as the baby is very likely to be free of the disease</a:t>
            </a:r>
          </a:p>
        </p:txBody>
      </p:sp>
      <p:sp>
        <p:nvSpPr>
          <p:cNvPr id="207" name="Box"/>
          <p:cNvSpPr/>
          <p:nvPr/>
        </p:nvSpPr>
        <p:spPr>
          <a:xfrm>
            <a:off x="4334933" y="1549400"/>
            <a:ext cx="3522133" cy="3225800"/>
          </a:xfrm>
          <a:prstGeom prst="roundRect">
            <a:avLst>
              <a:gd name="adj" fmla="val 3543"/>
            </a:avLst>
          </a:prstGeom>
          <a:solidFill>
            <a:srgbClr val="F1F4F9"/>
          </a:solidFill>
          <a:ln>
            <a:noFill/>
          </a:ln>
        </p:spPr>
        <p:txBody>
          <a:bodyPr wrap="square" lIns="0" tIns="0" rIns="0" bIns="0" rtlCol="0" anchor="t">
            <a:noAutofit/>
          </a:bodyPr>
          <a:lstStyle/>
          <a:p>
            <a:endParaRPr lang="en-US" dirty="0"/>
          </a:p>
        </p:txBody>
      </p:sp>
      <p:sp>
        <p:nvSpPr>
          <p:cNvPr id="209" name="Box"/>
          <p:cNvSpPr txBox="1"/>
          <p:nvPr/>
        </p:nvSpPr>
        <p:spPr>
          <a:xfrm>
            <a:off x="4512733" y="1752600"/>
            <a:ext cx="3166533" cy="279400"/>
          </a:xfrm>
          <a:prstGeom prst="rect">
            <a:avLst/>
          </a:prstGeom>
          <a:noFill/>
          <a:ln>
            <a:noFill/>
          </a:ln>
        </p:spPr>
        <p:txBody>
          <a:bodyPr wrap="square" lIns="0" tIns="0" rIns="0" bIns="0" rtlCol="0" anchor="t">
            <a:noAutofit/>
          </a:bodyPr>
          <a:lstStyle/>
          <a:p>
            <a:pPr>
              <a:spcBef>
                <a:spcPts val="0"/>
              </a:spcBef>
              <a:spcAft>
                <a:spcPts val="0"/>
              </a:spcAft>
              <a:buNone/>
            </a:pPr>
            <a:r>
              <a:rPr lang="en-US" sz="1100" b="1" spc="60" dirty="0">
                <a:solidFill>
                  <a:srgbClr val="28509C"/>
                </a:solidFill>
              </a:rPr>
              <a:t>Weeks 10–13</a:t>
            </a:r>
          </a:p>
        </p:txBody>
      </p:sp>
      <p:sp>
        <p:nvSpPr>
          <p:cNvPr id="210" name="Box"/>
          <p:cNvSpPr txBox="1"/>
          <p:nvPr/>
        </p:nvSpPr>
        <p:spPr>
          <a:xfrm>
            <a:off x="4512733" y="2032000"/>
            <a:ext cx="3166533" cy="558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Chorionic villus sampling (CVS)</a:t>
            </a:r>
          </a:p>
        </p:txBody>
      </p:sp>
      <p:sp>
        <p:nvSpPr>
          <p:cNvPr id="211" name="Box"/>
          <p:cNvSpPr txBox="1"/>
          <p:nvPr/>
        </p:nvSpPr>
        <p:spPr>
          <a:xfrm>
            <a:off x="4512733" y="2717800"/>
            <a:ext cx="3166533" cy="1905000"/>
          </a:xfrm>
          <a:prstGeom prst="rect">
            <a:avLst/>
          </a:prstGeom>
          <a:noFill/>
          <a:ln>
            <a:noFill/>
          </a:ln>
        </p:spPr>
        <p:txBody>
          <a:bodyPr wrap="square" lIns="0" tIns="0" rIns="0" bIns="0" rtlCol="0" anchor="t">
            <a:noAutofit/>
          </a:bodyPr>
          <a:lstStyle/>
          <a:p>
            <a:pPr marL="142875" indent="-142875">
              <a:spcBef>
                <a:spcPts val="0"/>
              </a:spcBef>
              <a:spcAft>
                <a:spcPts val="0"/>
              </a:spcAft>
              <a:buClr>
                <a:srgbClr val="28509C"/>
              </a:buClr>
              <a:buFont typeface="Arial"/>
              <a:buChar char="•"/>
            </a:pPr>
            <a:r>
              <a:rPr lang="en-US" sz="1400" dirty="0">
                <a:solidFill>
                  <a:srgbClr val="2B2B2B"/>
                </a:solidFill>
              </a:rPr>
              <a:t>A sample of tissue is taken from the placenta</a:t>
            </a:r>
          </a:p>
          <a:p>
            <a:pPr marL="142875" indent="-142875">
              <a:spcBef>
                <a:spcPts val="700"/>
              </a:spcBef>
              <a:spcAft>
                <a:spcPts val="0"/>
              </a:spcAft>
              <a:buClr>
                <a:srgbClr val="28509C"/>
              </a:buClr>
              <a:buFont typeface="Arial"/>
              <a:buChar char="•"/>
            </a:pPr>
            <a:r>
              <a:rPr lang="en-US" sz="1400" dirty="0">
                <a:solidFill>
                  <a:srgbClr val="2B2B2B"/>
                </a:solidFill>
              </a:rPr>
              <a:t>Done earlier than amniocentesis</a:t>
            </a:r>
          </a:p>
          <a:p>
            <a:pPr marL="142875" indent="-142875">
              <a:spcBef>
                <a:spcPts val="700"/>
              </a:spcBef>
              <a:spcAft>
                <a:spcPts val="0"/>
              </a:spcAft>
              <a:buClr>
                <a:srgbClr val="28509C"/>
              </a:buClr>
              <a:buFont typeface="Arial"/>
              <a:buChar char="•"/>
            </a:pPr>
            <a:r>
              <a:rPr lang="en-US" sz="1400" dirty="0">
                <a:solidFill>
                  <a:srgbClr val="2B2B2B"/>
                </a:solidFill>
              </a:rPr>
              <a:t>Miscarriage risk slightly higher than with amniocentesis</a:t>
            </a:r>
          </a:p>
        </p:txBody>
      </p:sp>
      <p:sp>
        <p:nvSpPr>
          <p:cNvPr id="212" name="Box"/>
          <p:cNvSpPr/>
          <p:nvPr/>
        </p:nvSpPr>
        <p:spPr>
          <a:xfrm>
            <a:off x="8009467" y="1549400"/>
            <a:ext cx="3522133" cy="3225800"/>
          </a:xfrm>
          <a:prstGeom prst="roundRect">
            <a:avLst>
              <a:gd name="adj" fmla="val 3543"/>
            </a:avLst>
          </a:prstGeom>
          <a:solidFill>
            <a:srgbClr val="F1F4F9"/>
          </a:solidFill>
          <a:ln>
            <a:noFill/>
          </a:ln>
        </p:spPr>
        <p:txBody>
          <a:bodyPr wrap="square" lIns="0" tIns="0" rIns="0" bIns="0" rtlCol="0" anchor="t">
            <a:noAutofit/>
          </a:bodyPr>
          <a:lstStyle/>
          <a:p>
            <a:endParaRPr lang="en-US" dirty="0"/>
          </a:p>
        </p:txBody>
      </p:sp>
      <p:sp>
        <p:nvSpPr>
          <p:cNvPr id="214" name="Box"/>
          <p:cNvSpPr txBox="1"/>
          <p:nvPr/>
        </p:nvSpPr>
        <p:spPr>
          <a:xfrm>
            <a:off x="8187267" y="1752600"/>
            <a:ext cx="3166533" cy="279400"/>
          </a:xfrm>
          <a:prstGeom prst="rect">
            <a:avLst/>
          </a:prstGeom>
          <a:noFill/>
          <a:ln>
            <a:noFill/>
          </a:ln>
        </p:spPr>
        <p:txBody>
          <a:bodyPr wrap="square" lIns="0" tIns="0" rIns="0" bIns="0" rtlCol="0" anchor="t">
            <a:noAutofit/>
          </a:bodyPr>
          <a:lstStyle/>
          <a:p>
            <a:pPr>
              <a:spcBef>
                <a:spcPts val="0"/>
              </a:spcBef>
              <a:spcAft>
                <a:spcPts val="0"/>
              </a:spcAft>
              <a:buNone/>
            </a:pPr>
            <a:r>
              <a:rPr lang="en-US" sz="1100" b="1" spc="60" dirty="0">
                <a:solidFill>
                  <a:srgbClr val="A9218E"/>
                </a:solidFill>
              </a:rPr>
              <a:t>Usually weeks 15–20</a:t>
            </a:r>
          </a:p>
        </p:txBody>
      </p:sp>
      <p:sp>
        <p:nvSpPr>
          <p:cNvPr id="215" name="Box"/>
          <p:cNvSpPr txBox="1"/>
          <p:nvPr/>
        </p:nvSpPr>
        <p:spPr>
          <a:xfrm>
            <a:off x="8187267" y="2032000"/>
            <a:ext cx="3166533" cy="558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Amniocentesis</a:t>
            </a:r>
          </a:p>
        </p:txBody>
      </p:sp>
      <p:sp>
        <p:nvSpPr>
          <p:cNvPr id="216" name="Box"/>
          <p:cNvSpPr txBox="1"/>
          <p:nvPr/>
        </p:nvSpPr>
        <p:spPr>
          <a:xfrm>
            <a:off x="8187267" y="2717800"/>
            <a:ext cx="3166533" cy="1905000"/>
          </a:xfrm>
          <a:prstGeom prst="rect">
            <a:avLst/>
          </a:prstGeom>
          <a:noFill/>
          <a:ln>
            <a:noFill/>
          </a:ln>
        </p:spPr>
        <p:txBody>
          <a:bodyPr wrap="square" lIns="0" tIns="0" rIns="0" bIns="0" rtlCol="0" anchor="t">
            <a:noAutofit/>
          </a:bodyPr>
          <a:lstStyle/>
          <a:p>
            <a:pPr marL="142875" indent="-142875">
              <a:spcBef>
                <a:spcPts val="0"/>
              </a:spcBef>
              <a:spcAft>
                <a:spcPts val="0"/>
              </a:spcAft>
              <a:buClr>
                <a:srgbClr val="A9218E"/>
              </a:buClr>
              <a:buFont typeface="Arial"/>
              <a:buChar char="•"/>
            </a:pPr>
            <a:r>
              <a:rPr lang="en-US" sz="1400" dirty="0">
                <a:solidFill>
                  <a:srgbClr val="2B2B2B"/>
                </a:solidFill>
              </a:rPr>
              <a:t>A thin needle, guided by ultrasound, withdraws a small amount of amniotic fluid</a:t>
            </a:r>
          </a:p>
          <a:p>
            <a:pPr marL="142875" indent="-142875">
              <a:spcBef>
                <a:spcPts val="700"/>
              </a:spcBef>
              <a:spcAft>
                <a:spcPts val="0"/>
              </a:spcAft>
              <a:buClr>
                <a:srgbClr val="A9218E"/>
              </a:buClr>
              <a:buFont typeface="Arial"/>
              <a:buChar char="•"/>
            </a:pPr>
            <a:r>
              <a:rPr lang="en-US" sz="1400" dirty="0">
                <a:solidFill>
                  <a:srgbClr val="2B2B2B"/>
                </a:solidFill>
              </a:rPr>
              <a:t>Can be done up until birth</a:t>
            </a:r>
          </a:p>
          <a:p>
            <a:pPr marL="142875" indent="-142875">
              <a:spcBef>
                <a:spcPts val="700"/>
              </a:spcBef>
              <a:spcAft>
                <a:spcPts val="0"/>
              </a:spcAft>
              <a:buClr>
                <a:srgbClr val="A9218E"/>
              </a:buClr>
              <a:buFont typeface="Arial"/>
              <a:buChar char="•"/>
            </a:pPr>
            <a:r>
              <a:rPr lang="en-US" sz="1400" dirty="0">
                <a:solidFill>
                  <a:srgbClr val="2B2B2B"/>
                </a:solidFill>
              </a:rPr>
              <a:t>Results take 1 day to several weeks; very small risk of pregnancy loss</a:t>
            </a:r>
          </a:p>
        </p:txBody>
      </p:sp>
      <p:sp>
        <p:nvSpPr>
          <p:cNvPr id="217" name="Box"/>
          <p:cNvSpPr/>
          <p:nvPr/>
        </p:nvSpPr>
        <p:spPr>
          <a:xfrm>
            <a:off x="660400" y="5130800"/>
            <a:ext cx="10871200" cy="508000"/>
          </a:xfrm>
          <a:prstGeom prst="roundRect">
            <a:avLst>
              <a:gd name="adj" fmla="val 15000"/>
            </a:avLst>
          </a:prstGeom>
          <a:solidFill>
            <a:srgbClr val="E3EAF5"/>
          </a:solidFill>
          <a:ln>
            <a:noFill/>
          </a:ln>
        </p:spPr>
        <p:txBody>
          <a:bodyPr wrap="square" lIns="0" tIns="0" rIns="0" bIns="0" rtlCol="0" anchor="t">
            <a:noAutofit/>
          </a:bodyPr>
          <a:lstStyle/>
          <a:p>
            <a:endParaRPr lang="en-US" dirty="0"/>
          </a:p>
        </p:txBody>
      </p:sp>
      <p:sp>
        <p:nvSpPr>
          <p:cNvPr id="219" name="Box"/>
          <p:cNvSpPr txBox="1"/>
          <p:nvPr/>
        </p:nvSpPr>
        <p:spPr>
          <a:xfrm>
            <a:off x="838200" y="5130800"/>
            <a:ext cx="10541000" cy="508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28509C"/>
                </a:solidFill>
              </a:rPr>
              <a:t>Prenatal diagnostic tests </a:t>
            </a:r>
            <a:r>
              <a:rPr lang="en-US" sz="1400" dirty="0">
                <a:solidFill>
                  <a:srgbClr val="2B2B2B"/>
                </a:solidFill>
              </a:rPr>
              <a:t>use fetal or placental cells from CVS or amniocentesis to show whether the fetus has a specific disorder</a:t>
            </a:r>
          </a:p>
        </p:txBody>
      </p:sp>
      <p:sp>
        <p:nvSpPr>
          <p:cNvPr id="220" name="Abbreviations"/>
          <p:cNvSpPr txBox="1"/>
          <p:nvPr/>
        </p:nvSpPr>
        <p:spPr>
          <a:xfrm>
            <a:off x="660400" y="57912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CVS, chorionic villus sampling; PGD, pre-implantation genetic diagnosis</a:t>
            </a:r>
          </a:p>
        </p:txBody>
      </p:sp>
      <p:sp>
        <p:nvSpPr>
          <p:cNvPr id="221" name="References"/>
          <p:cNvSpPr txBox="1"/>
          <p:nvPr/>
        </p:nvSpPr>
        <p:spPr>
          <a:xfrm>
            <a:off x="660400" y="6070600"/>
            <a:ext cx="10871200" cy="2032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Source: American College of Obstetricians and Gynecologists. Practice Bulletin No. 162: Prenatal diagnostic testing for genetic disorders. Obstet Gynecol 2016;127:e108–22.</a:t>
            </a:r>
          </a:p>
        </p:txBody>
      </p:sp>
    </p:spTree>
    <p:extLst>
      <p:ext uri="{BB962C8B-B14F-4D97-AF65-F5344CB8AC3E}">
        <p14:creationId xmlns:p14="http://schemas.microsoft.com/office/powerpoint/2010/main" val="2411929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Section number"/>
          <p:cNvSpPr txBox="1"/>
          <p:nvPr/>
        </p:nvSpPr>
        <p:spPr>
          <a:xfrm>
            <a:off x="914400" y="1625600"/>
            <a:ext cx="5334000" cy="1219200"/>
          </a:xfrm>
          <a:prstGeom prst="rect">
            <a:avLst/>
          </a:prstGeom>
          <a:noFill/>
          <a:ln>
            <a:noFill/>
          </a:ln>
        </p:spPr>
        <p:txBody>
          <a:bodyPr wrap="square" lIns="0" tIns="0" rIns="0" bIns="0" anchor="b">
            <a:noAutofit/>
          </a:bodyPr>
          <a:lstStyle/>
          <a:p>
            <a:pPr>
              <a:spcBef>
                <a:spcPts val="0"/>
              </a:spcBef>
              <a:buNone/>
            </a:pPr>
            <a:r>
              <a:rPr lang="en-GB" sz="8000" b="1" dirty="0">
                <a:solidFill>
                  <a:srgbClr val="9DB3D9"/>
                </a:solidFill>
              </a:rPr>
              <a:t>04</a:t>
            </a:r>
          </a:p>
        </p:txBody>
      </p:sp>
      <p:sp>
        <p:nvSpPr>
          <p:cNvPr id="403" name="Title"/>
          <p:cNvSpPr>
            <a:spLocks noGrp="1"/>
          </p:cNvSpPr>
          <p:nvPr>
            <p:ph type="title"/>
          </p:nvPr>
        </p:nvSpPr>
        <p:spPr>
          <a:xfrm>
            <a:off x="914400" y="3327400"/>
            <a:ext cx="5842000" cy="812800"/>
          </a:xfrm>
        </p:spPr>
        <p:txBody>
          <a:bodyPr wrap="square" lIns="0" tIns="0" rIns="0" bIns="0" anchor="t">
            <a:normAutofit/>
          </a:bodyPr>
          <a:lstStyle/>
          <a:p>
            <a:pPr algn="l"/>
            <a:r>
              <a:rPr lang="en-GB" sz="4400" b="1" dirty="0">
                <a:solidFill>
                  <a:srgbClr val="FFFFFF"/>
                </a:solidFill>
              </a:rPr>
              <a:t>Starting treatment</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spcBef>
                <a:spcPts val="0"/>
              </a:spcBef>
              <a:buNone/>
            </a:pPr>
            <a:r>
              <a:rPr lang="en-GB" sz="1800" dirty="0">
                <a:solidFill>
                  <a:srgbClr val="C9D5EA"/>
                </a:solidFill>
              </a:rPr>
              <a:t>Care options, baseline tests and what ERT can and cannot do</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6223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Management of MPS</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6223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Baseline assessment before ERT</a:t>
            </a:r>
          </a:p>
        </p:txBody>
      </p:sp>
      <p:cxnSp>
        <p:nvCxnSpPr>
          <p:cNvPr id="410" name="Divider"/>
          <p:cNvCxnSpPr/>
          <p:nvPr/>
        </p:nvCxnSpPr>
        <p:spPr>
          <a:xfrm>
            <a:off x="7620000" y="3302000"/>
            <a:ext cx="4064000" cy="0"/>
          </a:xfrm>
          <a:prstGeom prst="line">
            <a:avLst/>
          </a:prstGeom>
          <a:ln w="9525">
            <a:solidFill>
              <a:srgbClr val="3E5C80"/>
            </a:solidFill>
          </a:ln>
        </p:spPr>
      </p:cxnSp>
      <p:sp>
        <p:nvSpPr>
          <p:cNvPr id="411" name="Item 3"/>
          <p:cNvSpPr txBox="1"/>
          <p:nvPr/>
        </p:nvSpPr>
        <p:spPr>
          <a:xfrm>
            <a:off x="7620000" y="3302000"/>
            <a:ext cx="4064000" cy="6223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Enzyme replacement therapy</a:t>
            </a:r>
          </a:p>
        </p:txBody>
      </p:sp>
      <p:cxnSp>
        <p:nvCxnSpPr>
          <p:cNvPr id="412" name="Divider"/>
          <p:cNvCxnSpPr/>
          <p:nvPr/>
        </p:nvCxnSpPr>
        <p:spPr>
          <a:xfrm>
            <a:off x="7620000" y="3937000"/>
            <a:ext cx="4064000" cy="0"/>
          </a:xfrm>
          <a:prstGeom prst="line">
            <a:avLst/>
          </a:prstGeom>
          <a:ln w="9525">
            <a:solidFill>
              <a:srgbClr val="3E5C80"/>
            </a:solidFill>
          </a:ln>
        </p:spPr>
      </p:cxnSp>
      <p:sp>
        <p:nvSpPr>
          <p:cNvPr id="413" name="Item 4"/>
          <p:cNvSpPr txBox="1"/>
          <p:nvPr/>
        </p:nvSpPr>
        <p:spPr>
          <a:xfrm>
            <a:off x="7620000" y="3937000"/>
            <a:ext cx="4064000" cy="6223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What ERT can achieve</a:t>
            </a:r>
          </a:p>
        </p:txBody>
      </p:sp>
    </p:spTree>
    <p:extLst>
      <p:ext uri="{BB962C8B-B14F-4D97-AF65-F5344CB8AC3E}">
        <p14:creationId xmlns:p14="http://schemas.microsoft.com/office/powerpoint/2010/main" val="2439241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Starting treatment</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Management of MPS</a:t>
            </a:r>
            <a:endParaRPr lang="en-US" dirty="0"/>
          </a:p>
        </p:txBody>
      </p:sp>
      <p:sp>
        <p:nvSpPr>
          <p:cNvPr id="12" name="Shape 12"/>
          <p:cNvSpPr/>
          <p:nvPr/>
        </p:nvSpPr>
        <p:spPr>
          <a:xfrm>
            <a:off x="6604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3" name="Shape 13"/>
          <p:cNvSpPr/>
          <p:nvPr/>
        </p:nvSpPr>
        <p:spPr>
          <a:xfrm>
            <a:off x="660400" y="1549400"/>
            <a:ext cx="345440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Disease-specific therapy</a:t>
            </a:r>
          </a:p>
        </p:txBody>
      </p:sp>
      <p:sp>
        <p:nvSpPr>
          <p:cNvPr id="14" name="Shape 14"/>
          <p:cNvSpPr txBox="1"/>
          <p:nvPr/>
        </p:nvSpPr>
        <p:spPr>
          <a:xfrm>
            <a:off x="660400" y="2133600"/>
            <a:ext cx="3454400" cy="25908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28509C"/>
              </a:buClr>
              <a:buFont typeface="Arial"/>
              <a:buChar char="•"/>
            </a:pPr>
            <a:r>
              <a:rPr lang="en-US" sz="1400" b="1" dirty="0">
                <a:solidFill>
                  <a:srgbClr val="002E56"/>
                </a:solidFill>
              </a:rPr>
              <a:t>Enzyme replacement therapy (ERT)</a:t>
            </a:r>
            <a:r>
              <a:rPr lang="en-US" sz="1400" dirty="0">
                <a:solidFill>
                  <a:srgbClr val="2B2B2B"/>
                </a:solidFill>
              </a:rPr>
              <a:t> is first-line for MPS IVA and MPS VI: a weekly, lifelong intravenous infusion</a:t>
            </a:r>
          </a:p>
          <a:p>
            <a:pPr marL="177800" indent="-177800">
              <a:spcBef>
                <a:spcPts val="0"/>
              </a:spcBef>
              <a:spcAft>
                <a:spcPts val="1000"/>
              </a:spcAft>
              <a:buClr>
                <a:srgbClr val="28509C"/>
              </a:buClr>
              <a:buFont typeface="Arial"/>
              <a:buChar char="•"/>
            </a:pPr>
            <a:r>
              <a:rPr lang="en-US" sz="1400" b="1" dirty="0">
                <a:solidFill>
                  <a:srgbClr val="002E56"/>
                </a:solidFill>
              </a:rPr>
              <a:t>Haematopoietic stem cell transplant</a:t>
            </a:r>
            <a:r>
              <a:rPr lang="en-US" sz="1400" dirty="0">
                <a:solidFill>
                  <a:srgbClr val="2B2B2B"/>
                </a:solidFill>
              </a:rPr>
              <a:t> is standard for severe MPS I; it is investigational in MPS IVA and MPS VI</a:t>
            </a:r>
          </a:p>
        </p:txBody>
      </p:sp>
      <p:sp>
        <p:nvSpPr>
          <p:cNvPr id="15" name="Shape 15"/>
          <p:cNvSpPr/>
          <p:nvPr/>
        </p:nvSpPr>
        <p:spPr>
          <a:xfrm>
            <a:off x="43688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6" name="Shape 16"/>
          <p:cNvSpPr/>
          <p:nvPr/>
        </p:nvSpPr>
        <p:spPr>
          <a:xfrm>
            <a:off x="4368800" y="1549400"/>
            <a:ext cx="3454400" cy="482600"/>
          </a:xfrm>
          <a:prstGeom prst="roundRect">
            <a:avLst>
              <a:gd name="adj" fmla="val 15789"/>
            </a:avLst>
          </a:prstGeom>
          <a:solidFill>
            <a:srgbClr val="646464"/>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Supportive and surgical care</a:t>
            </a:r>
          </a:p>
        </p:txBody>
      </p:sp>
      <p:sp>
        <p:nvSpPr>
          <p:cNvPr id="17" name="Shape 17"/>
          <p:cNvSpPr txBox="1"/>
          <p:nvPr/>
        </p:nvSpPr>
        <p:spPr>
          <a:xfrm>
            <a:off x="4368800" y="2133600"/>
            <a:ext cx="3454400" cy="25908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646464"/>
              </a:buClr>
              <a:buFont typeface="Arial"/>
              <a:buChar char="•"/>
            </a:pPr>
            <a:r>
              <a:rPr lang="en-US" sz="1400" b="1" dirty="0">
                <a:solidFill>
                  <a:srgbClr val="002E56"/>
                </a:solidFill>
              </a:rPr>
              <a:t>Surgery:</a:t>
            </a:r>
            <a:r>
              <a:rPr lang="en-US" sz="1400" dirty="0">
                <a:solidFill>
                  <a:srgbClr val="2B2B2B"/>
                </a:solidFill>
              </a:rPr>
              <a:t> cervical decompression and fusion, hip and knee, ENT, heart valve, cornea</a:t>
            </a:r>
          </a:p>
          <a:p>
            <a:pPr marL="177800" indent="-177800">
              <a:spcBef>
                <a:spcPts val="0"/>
              </a:spcBef>
              <a:spcAft>
                <a:spcPts val="1000"/>
              </a:spcAft>
              <a:buClr>
                <a:srgbClr val="646464"/>
              </a:buClr>
              <a:buFont typeface="Arial"/>
              <a:buChar char="•"/>
            </a:pPr>
            <a:r>
              <a:rPr lang="en-US" sz="1400" b="1" dirty="0">
                <a:solidFill>
                  <a:srgbClr val="002E56"/>
                </a:solidFill>
              </a:rPr>
              <a:t>Breathing support:</a:t>
            </a:r>
            <a:r>
              <a:rPr lang="en-US" sz="1400" dirty="0">
                <a:solidFill>
                  <a:srgbClr val="2B2B2B"/>
                </a:solidFill>
              </a:rPr>
              <a:t> CPAP or BiPAP for sleep apnoea, oxygen when needed</a:t>
            </a:r>
          </a:p>
          <a:p>
            <a:pPr marL="177800" indent="-177800">
              <a:spcBef>
                <a:spcPts val="0"/>
              </a:spcBef>
              <a:spcAft>
                <a:spcPts val="1000"/>
              </a:spcAft>
              <a:buClr>
                <a:srgbClr val="646464"/>
              </a:buClr>
              <a:buFont typeface="Arial"/>
              <a:buChar char="•"/>
            </a:pPr>
            <a:r>
              <a:rPr lang="en-US" sz="1400" b="1" dirty="0">
                <a:solidFill>
                  <a:srgbClr val="002E56"/>
                </a:solidFill>
              </a:rPr>
              <a:t>Daily function:</a:t>
            </a:r>
            <a:r>
              <a:rPr lang="en-US" sz="1400" dirty="0">
                <a:solidFill>
                  <a:srgbClr val="2B2B2B"/>
                </a:solidFill>
              </a:rPr>
              <a:t> pain control, physiotherapy, hearing aids, dental care, psychosocial support</a:t>
            </a:r>
          </a:p>
        </p:txBody>
      </p:sp>
      <p:sp>
        <p:nvSpPr>
          <p:cNvPr id="18" name="Shape 18"/>
          <p:cNvSpPr/>
          <p:nvPr/>
        </p:nvSpPr>
        <p:spPr>
          <a:xfrm>
            <a:off x="80772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9" name="Shape 19"/>
          <p:cNvSpPr/>
          <p:nvPr/>
        </p:nvSpPr>
        <p:spPr>
          <a:xfrm>
            <a:off x="8077200" y="1549400"/>
            <a:ext cx="3454400" cy="482600"/>
          </a:xfrm>
          <a:prstGeom prst="roundRect">
            <a:avLst>
              <a:gd name="adj" fmla="val 15789"/>
            </a:avLst>
          </a:prstGeom>
          <a:solidFill>
            <a:srgbClr val="646464"/>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Under investigation</a:t>
            </a:r>
          </a:p>
        </p:txBody>
      </p:sp>
      <p:sp>
        <p:nvSpPr>
          <p:cNvPr id="20" name="Shape 20"/>
          <p:cNvSpPr txBox="1"/>
          <p:nvPr/>
        </p:nvSpPr>
        <p:spPr>
          <a:xfrm>
            <a:off x="8077200" y="2133600"/>
            <a:ext cx="3454400" cy="25908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646464"/>
              </a:buClr>
              <a:buFont typeface="Arial"/>
              <a:buChar char="•"/>
            </a:pPr>
            <a:r>
              <a:rPr lang="en-US" sz="1400" b="1" dirty="0">
                <a:solidFill>
                  <a:srgbClr val="002E56"/>
                </a:solidFill>
              </a:rPr>
              <a:t>Gene therapy</a:t>
            </a:r>
            <a:r>
              <a:rPr lang="en-US" sz="1400" dirty="0">
                <a:solidFill>
                  <a:srgbClr val="2B2B2B"/>
                </a:solidFill>
              </a:rPr>
              <a:t> and other new approaches are in clinical research</a:t>
            </a:r>
          </a:p>
          <a:p>
            <a:pPr marL="177800" indent="-177800">
              <a:spcBef>
                <a:spcPts val="0"/>
              </a:spcBef>
              <a:spcAft>
                <a:spcPts val="1000"/>
              </a:spcAft>
              <a:buClr>
                <a:srgbClr val="646464"/>
              </a:buClr>
              <a:buFont typeface="Arial"/>
              <a:buChar char="•"/>
            </a:pPr>
            <a:r>
              <a:rPr lang="en-US" sz="1400" b="1" dirty="0">
                <a:solidFill>
                  <a:srgbClr val="002E56"/>
                </a:solidFill>
              </a:rPr>
              <a:t>Not approved</a:t>
            </a:r>
            <a:r>
              <a:rPr lang="en-US" sz="1400" dirty="0">
                <a:solidFill>
                  <a:srgbClr val="2B2B2B"/>
                </a:solidFill>
              </a:rPr>
              <a:t> for MPS IVA or MPS VI; discuss only if the treating physician raises it</a:t>
            </a:r>
          </a:p>
        </p:txBody>
      </p:sp>
      <p:sp>
        <p:nvSpPr>
          <p:cNvPr id="21" name="Shape 21"/>
          <p:cNvSpPr/>
          <p:nvPr/>
        </p:nvSpPr>
        <p:spPr>
          <a:xfrm>
            <a:off x="660400" y="4927600"/>
            <a:ext cx="10871200" cy="635000"/>
          </a:xfrm>
          <a:prstGeom prst="roundRect">
            <a:avLst>
              <a:gd name="adj" fmla="val 18000"/>
            </a:avLst>
          </a:prstGeom>
          <a:solidFill>
            <a:srgbClr val="002E56"/>
          </a:solidFill>
          <a:ln>
            <a:noFill/>
          </a:ln>
        </p:spPr>
        <p:txBody>
          <a:bodyPr wrap="square" lIns="0" tIns="0" rIns="0" bIns="0" rtlCol="0" anchor="t">
            <a:noAutofit/>
          </a:bodyPr>
          <a:lstStyle/>
          <a:p>
            <a:endParaRPr lang="en-US" dirty="0"/>
          </a:p>
        </p:txBody>
      </p:sp>
      <p:sp>
        <p:nvSpPr>
          <p:cNvPr id="22" name="Shape 22"/>
          <p:cNvSpPr txBox="1"/>
          <p:nvPr/>
        </p:nvSpPr>
        <p:spPr>
          <a:xfrm>
            <a:off x="660400" y="4927600"/>
            <a:ext cx="10871200" cy="6350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ERT works alongside supportive care, not instead of it: </a:t>
            </a:r>
            <a:r>
              <a:rPr lang="en-US" sz="1500" dirty="0">
                <a:solidFill>
                  <a:srgbClr val="DCE4F2"/>
                </a:solidFill>
              </a:rPr>
              <a:t>patients on ERT still need regular specialist review and often surgery.</a:t>
            </a:r>
          </a:p>
        </p:txBody>
      </p:sp>
      <p:sp>
        <p:nvSpPr>
          <p:cNvPr id="23"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BiPAP, bilevel positive airway pressure; CPAP, continuous positive airway pressure; ENT, ear, nose and throat; ERT, enzyme replacement therapy; MPS, mucopolysaccharidosis</a:t>
            </a:r>
          </a:p>
        </p:txBody>
      </p:sp>
      <p:sp>
        <p:nvSpPr>
          <p:cNvPr id="24"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Akyol MU et al. Orphanet J Rare Dis 2019;14:137; Akyol MU et al. Orphanet J Rare Dis 2019;14:118; Muenzer J. Rheumatology (Oxford) 2011;50(Suppl 5):v4–12.</a:t>
            </a:r>
          </a:p>
        </p:txBody>
      </p:sp>
    </p:spTree>
    <p:extLst>
      <p:ext uri="{BB962C8B-B14F-4D97-AF65-F5344CB8AC3E}">
        <p14:creationId xmlns:p14="http://schemas.microsoft.com/office/powerpoint/2010/main" val="125035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Ongoing follow-up</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The multidisciplinary team</a:t>
            </a:r>
            <a:endParaRPr lang="en-US" dirty="0"/>
          </a:p>
        </p:txBody>
      </p:sp>
      <p:cxnSp>
        <p:nvCxnSpPr>
          <p:cNvPr id="12" name="Line 12"/>
          <p:cNvCxnSpPr/>
          <p:nvPr/>
        </p:nvCxnSpPr>
        <p:spPr>
          <a:xfrm>
            <a:off x="3860800" y="1828800"/>
            <a:ext cx="2235200" cy="1219200"/>
          </a:xfrm>
          <a:prstGeom prst="line">
            <a:avLst/>
          </a:prstGeom>
          <a:ln w="12700">
            <a:solidFill>
              <a:srgbClr val="C9D5EA"/>
            </a:solidFill>
          </a:ln>
        </p:spPr>
      </p:cxnSp>
      <p:cxnSp>
        <p:nvCxnSpPr>
          <p:cNvPr id="14" name="Line 14"/>
          <p:cNvCxnSpPr/>
          <p:nvPr/>
        </p:nvCxnSpPr>
        <p:spPr>
          <a:xfrm>
            <a:off x="3860800" y="2540000"/>
            <a:ext cx="2235200" cy="508000"/>
          </a:xfrm>
          <a:prstGeom prst="line">
            <a:avLst/>
          </a:prstGeom>
          <a:ln w="12700">
            <a:solidFill>
              <a:srgbClr val="C9D5EA"/>
            </a:solidFill>
          </a:ln>
        </p:spPr>
      </p:cxnSp>
      <p:cxnSp>
        <p:nvCxnSpPr>
          <p:cNvPr id="16" name="Line 16"/>
          <p:cNvCxnSpPr/>
          <p:nvPr/>
        </p:nvCxnSpPr>
        <p:spPr>
          <a:xfrm flipV="1">
            <a:off x="3860800" y="3048000"/>
            <a:ext cx="2235200" cy="203200"/>
          </a:xfrm>
          <a:prstGeom prst="line">
            <a:avLst/>
          </a:prstGeom>
          <a:ln w="12700">
            <a:solidFill>
              <a:srgbClr val="C9D5EA"/>
            </a:solidFill>
          </a:ln>
        </p:spPr>
      </p:cxnSp>
      <p:cxnSp>
        <p:nvCxnSpPr>
          <p:cNvPr id="18" name="Line 18"/>
          <p:cNvCxnSpPr/>
          <p:nvPr/>
        </p:nvCxnSpPr>
        <p:spPr>
          <a:xfrm flipV="1">
            <a:off x="3860800" y="3048000"/>
            <a:ext cx="2235200" cy="914400"/>
          </a:xfrm>
          <a:prstGeom prst="line">
            <a:avLst/>
          </a:prstGeom>
          <a:ln w="12700">
            <a:solidFill>
              <a:srgbClr val="C9D5EA"/>
            </a:solidFill>
          </a:ln>
        </p:spPr>
      </p:cxnSp>
      <p:cxnSp>
        <p:nvCxnSpPr>
          <p:cNvPr id="20" name="Line 20"/>
          <p:cNvCxnSpPr/>
          <p:nvPr/>
        </p:nvCxnSpPr>
        <p:spPr>
          <a:xfrm flipV="1">
            <a:off x="3860800" y="3048000"/>
            <a:ext cx="2235200" cy="1625600"/>
          </a:xfrm>
          <a:prstGeom prst="line">
            <a:avLst/>
          </a:prstGeom>
          <a:ln w="12700">
            <a:solidFill>
              <a:srgbClr val="C9D5EA"/>
            </a:solidFill>
          </a:ln>
        </p:spPr>
      </p:cxnSp>
      <p:cxnSp>
        <p:nvCxnSpPr>
          <p:cNvPr id="22" name="Line 22"/>
          <p:cNvCxnSpPr/>
          <p:nvPr/>
        </p:nvCxnSpPr>
        <p:spPr>
          <a:xfrm flipH="1">
            <a:off x="6096000" y="1828800"/>
            <a:ext cx="2235200" cy="1219200"/>
          </a:xfrm>
          <a:prstGeom prst="line">
            <a:avLst/>
          </a:prstGeom>
          <a:ln w="12700">
            <a:solidFill>
              <a:srgbClr val="C9D5EA"/>
            </a:solidFill>
          </a:ln>
        </p:spPr>
      </p:cxnSp>
      <p:cxnSp>
        <p:nvCxnSpPr>
          <p:cNvPr id="24" name="Line 24"/>
          <p:cNvCxnSpPr/>
          <p:nvPr/>
        </p:nvCxnSpPr>
        <p:spPr>
          <a:xfrm flipH="1">
            <a:off x="6096000" y="2540000"/>
            <a:ext cx="2235200" cy="508000"/>
          </a:xfrm>
          <a:prstGeom prst="line">
            <a:avLst/>
          </a:prstGeom>
          <a:ln w="12700">
            <a:solidFill>
              <a:srgbClr val="C9D5EA"/>
            </a:solidFill>
          </a:ln>
        </p:spPr>
      </p:cxnSp>
      <p:cxnSp>
        <p:nvCxnSpPr>
          <p:cNvPr id="26" name="Line 26"/>
          <p:cNvCxnSpPr/>
          <p:nvPr/>
        </p:nvCxnSpPr>
        <p:spPr>
          <a:xfrm flipH="1" flipV="1">
            <a:off x="6096000" y="3048000"/>
            <a:ext cx="2235200" cy="203200"/>
          </a:xfrm>
          <a:prstGeom prst="line">
            <a:avLst/>
          </a:prstGeom>
          <a:ln w="12700">
            <a:solidFill>
              <a:srgbClr val="C9D5EA"/>
            </a:solidFill>
          </a:ln>
        </p:spPr>
      </p:cxnSp>
      <p:cxnSp>
        <p:nvCxnSpPr>
          <p:cNvPr id="28" name="Line 28"/>
          <p:cNvCxnSpPr/>
          <p:nvPr/>
        </p:nvCxnSpPr>
        <p:spPr>
          <a:xfrm flipH="1" flipV="1">
            <a:off x="6096000" y="3048000"/>
            <a:ext cx="2235200" cy="914400"/>
          </a:xfrm>
          <a:prstGeom prst="line">
            <a:avLst/>
          </a:prstGeom>
          <a:ln w="12700">
            <a:solidFill>
              <a:srgbClr val="C9D5EA"/>
            </a:solidFill>
          </a:ln>
        </p:spPr>
      </p:cxnSp>
      <p:cxnSp>
        <p:nvCxnSpPr>
          <p:cNvPr id="30" name="Line 30"/>
          <p:cNvCxnSpPr/>
          <p:nvPr/>
        </p:nvCxnSpPr>
        <p:spPr>
          <a:xfrm flipH="1" flipV="1">
            <a:off x="6096000" y="3048000"/>
            <a:ext cx="2235200" cy="1625600"/>
          </a:xfrm>
          <a:prstGeom prst="line">
            <a:avLst/>
          </a:prstGeom>
          <a:ln w="12700">
            <a:solidFill>
              <a:srgbClr val="C9D5EA"/>
            </a:solidFill>
          </a:ln>
        </p:spPr>
      </p:cxnSp>
      <p:sp>
        <p:nvSpPr>
          <p:cNvPr id="13" name="Shape 13"/>
          <p:cNvSpPr/>
          <p:nvPr/>
        </p:nvSpPr>
        <p:spPr>
          <a:xfrm>
            <a:off x="660400" y="1574800"/>
            <a:ext cx="3200400" cy="508000"/>
          </a:xfrm>
          <a:prstGeom prst="roundRect">
            <a:avLst>
              <a:gd name="adj" fmla="val 50000"/>
            </a:avLst>
          </a:prstGeom>
          <a:solidFill>
            <a:srgbClr val="FFFFFF"/>
          </a:solidFill>
          <a:ln w="19050">
            <a:solidFill>
              <a:srgbClr val="28509C"/>
            </a:solidFill>
          </a:ln>
        </p:spPr>
        <p:txBody>
          <a:bodyPr wrap="square" lIns="203200" tIns="0" rIns="127000" bIns="0" rtlCol="0" anchor="ctr">
            <a:noAutofit/>
          </a:bodyPr>
          <a:lstStyle/>
          <a:p>
            <a:pPr>
              <a:spcBef>
                <a:spcPts val="0"/>
              </a:spcBef>
              <a:spcAft>
                <a:spcPts val="0"/>
              </a:spcAft>
              <a:buNone/>
            </a:pPr>
            <a:r>
              <a:rPr lang="en-US" sz="1400" b="1" dirty="0">
                <a:solidFill>
                  <a:srgbClr val="002E56"/>
                </a:solidFill>
              </a:rPr>
              <a:t>Metabolic / genetics physician</a:t>
            </a:r>
          </a:p>
        </p:txBody>
      </p:sp>
      <p:sp>
        <p:nvSpPr>
          <p:cNvPr id="15" name="Shape 15"/>
          <p:cNvSpPr/>
          <p:nvPr/>
        </p:nvSpPr>
        <p:spPr>
          <a:xfrm>
            <a:off x="660400" y="22860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b="0" dirty="0">
                <a:solidFill>
                  <a:srgbClr val="002E56"/>
                </a:solidFill>
              </a:rPr>
              <a:t>Orthopaedics and spine surgery</a:t>
            </a:r>
          </a:p>
        </p:txBody>
      </p:sp>
      <p:sp>
        <p:nvSpPr>
          <p:cNvPr id="17" name="Shape 17"/>
          <p:cNvSpPr/>
          <p:nvPr/>
        </p:nvSpPr>
        <p:spPr>
          <a:xfrm>
            <a:off x="660400" y="29972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b="0" dirty="0">
                <a:solidFill>
                  <a:srgbClr val="002E56"/>
                </a:solidFill>
              </a:rPr>
              <a:t>Pulmonology and sleep medicine</a:t>
            </a:r>
          </a:p>
        </p:txBody>
      </p:sp>
      <p:sp>
        <p:nvSpPr>
          <p:cNvPr id="19" name="Shape 19"/>
          <p:cNvSpPr/>
          <p:nvPr/>
        </p:nvSpPr>
        <p:spPr>
          <a:xfrm>
            <a:off x="660400" y="37084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b="0" dirty="0">
                <a:solidFill>
                  <a:srgbClr val="002E56"/>
                </a:solidFill>
              </a:rPr>
              <a:t>Cardiology</a:t>
            </a:r>
          </a:p>
        </p:txBody>
      </p:sp>
      <p:sp>
        <p:nvSpPr>
          <p:cNvPr id="21" name="Shape 21"/>
          <p:cNvSpPr/>
          <p:nvPr/>
        </p:nvSpPr>
        <p:spPr>
          <a:xfrm>
            <a:off x="660400" y="44196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b="0" dirty="0">
                <a:solidFill>
                  <a:srgbClr val="002E56"/>
                </a:solidFill>
              </a:rPr>
              <a:t>ENT and audiology</a:t>
            </a:r>
          </a:p>
        </p:txBody>
      </p:sp>
      <p:sp>
        <p:nvSpPr>
          <p:cNvPr id="23" name="Shape 23"/>
          <p:cNvSpPr/>
          <p:nvPr/>
        </p:nvSpPr>
        <p:spPr>
          <a:xfrm>
            <a:off x="8331200" y="15748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dirty="0">
                <a:solidFill>
                  <a:srgbClr val="002E56"/>
                </a:solidFill>
              </a:rPr>
              <a:t>Ophthalmology</a:t>
            </a:r>
          </a:p>
        </p:txBody>
      </p:sp>
      <p:sp>
        <p:nvSpPr>
          <p:cNvPr id="25" name="Shape 25"/>
          <p:cNvSpPr/>
          <p:nvPr/>
        </p:nvSpPr>
        <p:spPr>
          <a:xfrm>
            <a:off x="8331200" y="22860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dirty="0">
                <a:solidFill>
                  <a:srgbClr val="002E56"/>
                </a:solidFill>
              </a:rPr>
              <a:t>Anaesthesia</a:t>
            </a:r>
          </a:p>
        </p:txBody>
      </p:sp>
      <p:sp>
        <p:nvSpPr>
          <p:cNvPr id="27" name="Shape 27"/>
          <p:cNvSpPr/>
          <p:nvPr/>
        </p:nvSpPr>
        <p:spPr>
          <a:xfrm>
            <a:off x="8331200" y="29972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dirty="0">
                <a:solidFill>
                  <a:srgbClr val="002E56"/>
                </a:solidFill>
              </a:rPr>
              <a:t>Physiotherapy and rehabilitation</a:t>
            </a:r>
          </a:p>
        </p:txBody>
      </p:sp>
      <p:sp>
        <p:nvSpPr>
          <p:cNvPr id="29" name="Shape 29"/>
          <p:cNvSpPr/>
          <p:nvPr/>
        </p:nvSpPr>
        <p:spPr>
          <a:xfrm>
            <a:off x="8331200" y="37084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dirty="0">
                <a:solidFill>
                  <a:srgbClr val="002E56"/>
                </a:solidFill>
              </a:rPr>
              <a:t>Psychology and social work</a:t>
            </a:r>
          </a:p>
        </p:txBody>
      </p:sp>
      <p:sp>
        <p:nvSpPr>
          <p:cNvPr id="31" name="Shape 31"/>
          <p:cNvSpPr/>
          <p:nvPr/>
        </p:nvSpPr>
        <p:spPr>
          <a:xfrm>
            <a:off x="8331200" y="4419600"/>
            <a:ext cx="3200400" cy="508000"/>
          </a:xfrm>
          <a:prstGeom prst="roundRect">
            <a:avLst>
              <a:gd name="adj" fmla="val 50000"/>
            </a:avLst>
          </a:prstGeom>
          <a:solidFill>
            <a:srgbClr val="FFFFFF"/>
          </a:solidFill>
          <a:ln w="12700">
            <a:solidFill>
              <a:srgbClr val="C9D5EA"/>
            </a:solidFill>
          </a:ln>
        </p:spPr>
        <p:txBody>
          <a:bodyPr wrap="square" lIns="203200" tIns="0" rIns="127000" bIns="0" rtlCol="0" anchor="ctr">
            <a:noAutofit/>
          </a:bodyPr>
          <a:lstStyle/>
          <a:p>
            <a:pPr>
              <a:spcBef>
                <a:spcPts val="0"/>
              </a:spcBef>
              <a:spcAft>
                <a:spcPts val="0"/>
              </a:spcAft>
              <a:buNone/>
            </a:pPr>
            <a:r>
              <a:rPr lang="en-US" sz="1400" dirty="0">
                <a:solidFill>
                  <a:srgbClr val="002E56"/>
                </a:solidFill>
              </a:rPr>
              <a:t>Infusion nursing</a:t>
            </a:r>
          </a:p>
        </p:txBody>
      </p:sp>
      <p:sp>
        <p:nvSpPr>
          <p:cNvPr id="32" name="Shape 32"/>
          <p:cNvSpPr/>
          <p:nvPr/>
        </p:nvSpPr>
        <p:spPr>
          <a:xfrm>
            <a:off x="5207000" y="2159000"/>
            <a:ext cx="1778000" cy="1778000"/>
          </a:xfrm>
          <a:prstGeom prst="ellipse">
            <a:avLst/>
          </a:prstGeom>
          <a:solidFill>
            <a:srgbClr val="002E56"/>
          </a:solidFill>
          <a:ln>
            <a:noFill/>
          </a:ln>
        </p:spPr>
        <p:txBody>
          <a:bodyPr wrap="square" lIns="177800" tIns="0" rIns="177800" bIns="0" rtlCol="0" anchor="ctr">
            <a:noAutofit/>
          </a:bodyPr>
          <a:lstStyle/>
          <a:p>
            <a:pPr algn="ctr">
              <a:spcBef>
                <a:spcPts val="0"/>
              </a:spcBef>
              <a:spcAft>
                <a:spcPts val="0"/>
              </a:spcAft>
              <a:buNone/>
            </a:pPr>
            <a:r>
              <a:rPr lang="en-US" sz="1700" b="1" dirty="0">
                <a:solidFill>
                  <a:srgbClr val="FFFFFF"/>
                </a:solidFill>
              </a:rPr>
              <a:t>Patient and family</a:t>
            </a:r>
          </a:p>
        </p:txBody>
      </p:sp>
      <p:cxnSp>
        <p:nvCxnSpPr>
          <p:cNvPr id="33" name="Line 33"/>
          <p:cNvCxnSpPr/>
          <p:nvPr/>
        </p:nvCxnSpPr>
        <p:spPr>
          <a:xfrm>
            <a:off x="6096000" y="3937000"/>
            <a:ext cx="0" cy="787400"/>
          </a:xfrm>
          <a:prstGeom prst="line">
            <a:avLst/>
          </a:prstGeom>
          <a:ln w="19050">
            <a:solidFill>
              <a:srgbClr val="28509C"/>
            </a:solidFill>
          </a:ln>
        </p:spPr>
      </p:cxnSp>
      <p:sp>
        <p:nvSpPr>
          <p:cNvPr id="34" name="Shape 34"/>
          <p:cNvSpPr/>
          <p:nvPr/>
        </p:nvSpPr>
        <p:spPr>
          <a:xfrm>
            <a:off x="4267200" y="4724400"/>
            <a:ext cx="3657600" cy="711200"/>
          </a:xfrm>
          <a:prstGeom prst="roundRect">
            <a:avLst>
              <a:gd name="adj" fmla="val 18000"/>
            </a:avLst>
          </a:prstGeom>
          <a:solidFill>
            <a:srgbClr val="28509C"/>
          </a:solidFill>
          <a:ln>
            <a:noFill/>
          </a:ln>
        </p:spPr>
        <p:txBody>
          <a:bodyPr wrap="square" lIns="152400" tIns="50800" rIns="152400" bIns="50800" rtlCol="0" anchor="ctr">
            <a:noAutofit/>
          </a:bodyPr>
          <a:lstStyle/>
          <a:p>
            <a:pPr algn="ctr">
              <a:spcBef>
                <a:spcPts val="0"/>
              </a:spcBef>
              <a:spcAft>
                <a:spcPts val="0"/>
              </a:spcAft>
              <a:buNone/>
            </a:pPr>
            <a:r>
              <a:rPr lang="en-US" sz="1500" b="1" dirty="0">
                <a:solidFill>
                  <a:srgbClr val="FFFFFF"/>
                </a:solidFill>
              </a:rPr>
              <a:t>Patient educator</a:t>
            </a:r>
          </a:p>
          <a:p>
            <a:pPr algn="ctr">
              <a:spcBef>
                <a:spcPts val="0"/>
              </a:spcBef>
              <a:spcAft>
                <a:spcPts val="0"/>
              </a:spcAft>
              <a:buNone/>
            </a:pPr>
            <a:r>
              <a:rPr lang="en-US" sz="1300" dirty="0">
                <a:solidFill>
                  <a:srgbClr val="E3EAF5"/>
                </a:solidFill>
              </a:rPr>
              <a:t>Reminders, adherence checks, education and escalation of warning signs</a:t>
            </a:r>
          </a:p>
        </p:txBody>
      </p:sp>
      <p:sp>
        <p:nvSpPr>
          <p:cNvPr id="35"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ENT, ear, nose and throat; MPS, mucopolysaccharidosis</a:t>
            </a:r>
          </a:p>
        </p:txBody>
      </p:sp>
      <p:sp>
        <p:nvSpPr>
          <p:cNvPr id="36"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Akyol MU et al. Orphanet J Rare Dis 2019;14:137; Akyol MU et al. Orphanet J Rare Dis 2019;14:118.</a:t>
            </a:r>
          </a:p>
        </p:txBody>
      </p:sp>
    </p:spTree>
    <p:extLst>
      <p:ext uri="{BB962C8B-B14F-4D97-AF65-F5344CB8AC3E}">
        <p14:creationId xmlns:p14="http://schemas.microsoft.com/office/powerpoint/2010/main" val="20590286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Starting treatment</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Enzyme replacement therapy (ERT)</a:t>
            </a:r>
            <a:endParaRPr lang="en-US" dirty="0"/>
          </a:p>
        </p:txBody>
      </p:sp>
      <p:graphicFrame>
        <p:nvGraphicFramePr>
          <p:cNvPr id="60" name="ERT comparison table"/>
          <p:cNvGraphicFramePr>
            <a:graphicFrameLocks noGrp="1"/>
          </p:cNvGraphicFramePr>
          <p:nvPr/>
        </p:nvGraphicFramePr>
        <p:xfrm>
          <a:off x="660400" y="1498600"/>
          <a:ext cx="10871200" cy="3606800"/>
        </p:xfrm>
        <a:graphic>
          <a:graphicData uri="http://schemas.openxmlformats.org/drawingml/2006/table">
            <a:tbl>
              <a:tblPr firstRow="1"/>
              <a:tblGrid>
                <a:gridCol w="24892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06400">
                <a:tc>
                  <a:txBody>
                    <a:bodyPr/>
                    <a:lstStyle/>
                    <a:p>
                      <a:endParaRPr lang="en-US" dirty="0"/>
                    </a:p>
                  </a:txBody>
                  <a:tcPr marL="101600" marR="101600" marT="50800" marB="50800" anchor="ctr">
                    <a:lnL w="0">
                      <a:noFill/>
                    </a:lnL>
                    <a:lnR w="0">
                      <a:noFill/>
                    </a:lnR>
                    <a:lnT w="0">
                      <a:noFill/>
                    </a:lnT>
                    <a:lnB w="15875">
                      <a:solidFill>
                        <a:srgbClr val="002E56"/>
                      </a:solidFill>
                    </a:lnB>
                    <a:noFill/>
                  </a:tcPr>
                </a:tc>
                <a:tc>
                  <a:txBody>
                    <a:bodyPr/>
                    <a:lstStyle/>
                    <a:p>
                      <a:r>
                        <a:rPr lang="en-US" sz="1600" b="1" dirty="0">
                          <a:solidFill>
                            <a:srgbClr val="28509C"/>
                          </a:solidFill>
                        </a:rPr>
                        <a:t>Elosulfase alfa</a:t>
                      </a:r>
                    </a:p>
                  </a:txBody>
                  <a:tcPr marL="101600" marR="101600" marT="50800" marB="50800" anchor="ctr">
                    <a:lnL w="0">
                      <a:noFill/>
                    </a:lnL>
                    <a:lnR w="0">
                      <a:noFill/>
                    </a:lnR>
                    <a:lnT w="0">
                      <a:noFill/>
                    </a:lnT>
                    <a:lnB w="15875">
                      <a:solidFill>
                        <a:srgbClr val="002E56"/>
                      </a:solidFill>
                    </a:lnB>
                    <a:noFill/>
                  </a:tcPr>
                </a:tc>
                <a:tc>
                  <a:txBody>
                    <a:bodyPr/>
                    <a:lstStyle/>
                    <a:p>
                      <a:r>
                        <a:rPr lang="en-US" sz="1600" b="1" dirty="0">
                          <a:solidFill>
                            <a:srgbClr val="28509C"/>
                          </a:solidFill>
                        </a:rPr>
                        <a:t>Galsulfase</a:t>
                      </a:r>
                    </a:p>
                  </a:txBody>
                  <a:tcPr marL="101600" marR="101600" marT="50800" marB="50800" anchor="ctr">
                    <a:lnL w="0">
                      <a:noFill/>
                    </a:lnL>
                    <a:lnR w="0">
                      <a:noFill/>
                    </a:lnR>
                    <a:lnT w="0">
                      <a:noFill/>
                    </a:lnT>
                    <a:lnB w="15875">
                      <a:solidFill>
                        <a:srgbClr val="002E56"/>
                      </a:solidFill>
                    </a:lnB>
                    <a:noFill/>
                  </a:tcPr>
                </a:tc>
                <a:extLst>
                  <a:ext uri="{0D108BD9-81ED-4DB2-BD59-A6C34878D82A}">
                    <a16:rowId xmlns:a16="http://schemas.microsoft.com/office/drawing/2014/main" val="10000"/>
                  </a:ext>
                </a:extLst>
              </a:tr>
              <a:tr h="431800">
                <a:tc>
                  <a:txBody>
                    <a:bodyPr/>
                    <a:lstStyle/>
                    <a:p>
                      <a:r>
                        <a:rPr lang="en-US" sz="1400" b="1" dirty="0">
                          <a:solidFill>
                            <a:srgbClr val="002E56"/>
                          </a:solidFill>
                        </a:rPr>
                        <a:t>Treats</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MPS IVA (Morquio A)</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MPS VI (Maroteaux-Lamy)</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431800">
                <a:tc>
                  <a:txBody>
                    <a:bodyPr/>
                    <a:lstStyle/>
                    <a:p>
                      <a:r>
                        <a:rPr lang="en-US" sz="1400" b="1" dirty="0">
                          <a:solidFill>
                            <a:srgbClr val="002E56"/>
                          </a:solidFill>
                        </a:rPr>
                        <a:t>Replaces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GALNS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ARSB</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431800">
                <a:tc>
                  <a:txBody>
                    <a:bodyPr/>
                    <a:lstStyle/>
                    <a:p>
                      <a:r>
                        <a:rPr lang="en-US" sz="1400" b="1" dirty="0">
                          <a:solidFill>
                            <a:srgbClr val="002E56"/>
                          </a:solidFill>
                        </a:rPr>
                        <a:t>Dose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2 mg/kg body weight, once weekly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1 mg/kg body weight, once weekly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431800">
                <a:tc>
                  <a:txBody>
                    <a:bodyPr/>
                    <a:lstStyle/>
                    <a:p>
                      <a:r>
                        <a:rPr lang="en-US" sz="1400" b="1" dirty="0">
                          <a:solidFill>
                            <a:srgbClr val="002E56"/>
                          </a:solidFill>
                        </a:rPr>
                        <a:t>Infusion time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About 4 hours (3.5–4.5 h, by volume)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At least 4 hours, slower in the first hour</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4"/>
                  </a:ext>
                </a:extLst>
              </a:tr>
              <a:tr h="431800">
                <a:tc>
                  <a:txBody>
                    <a:bodyPr/>
                    <a:lstStyle/>
                    <a:p>
                      <a:r>
                        <a:rPr lang="en-US" sz="1400" b="1" dirty="0">
                          <a:solidFill>
                            <a:srgbClr val="002E56"/>
                          </a:solidFill>
                        </a:rPr>
                        <a:t>Premedication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gridSpan="2">
                  <a:txBody>
                    <a:bodyPr/>
                    <a:lstStyle/>
                    <a:p>
                      <a:r>
                        <a:rPr lang="en-US" sz="1400" dirty="0">
                          <a:solidFill>
                            <a:srgbClr val="2B2B2B"/>
                          </a:solidFill>
                        </a:rPr>
                        <a:t>Antihistamine, with or without antipyretic, 30–60 minutes before the infusion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1F4F9"/>
                    </a:solidFill>
                  </a:tcPr>
                </a:tc>
                <a:tc hMerge="1">
                  <a:txBody>
                    <a:bodyPr/>
                    <a:lstStyle/>
                    <a:p>
                      <a:endParaRPr lang="en-US" dirty="0"/>
                    </a:p>
                  </a:txBody>
                  <a:tcPr marL="101600" marR="101600" marT="50800" marB="50800" anchor="ctr">
                    <a:lnL w="0">
                      <a:noFill/>
                    </a:lnL>
                    <a:lnR w="0">
                      <a:noFill/>
                    </a:lnR>
                    <a:lnT w="0">
                      <a:noFill/>
                    </a:lnT>
                    <a:lnB w="9525">
                      <a:solidFill>
                        <a:srgbClr val="E0E0E0"/>
                      </a:solidFill>
                    </a:lnB>
                    <a:noFill/>
                  </a:tcPr>
                </a:tc>
                <a:extLst>
                  <a:ext uri="{0D108BD9-81ED-4DB2-BD59-A6C34878D82A}">
                    <a16:rowId xmlns:a16="http://schemas.microsoft.com/office/drawing/2014/main" val="10005"/>
                  </a:ext>
                </a:extLst>
              </a:tr>
              <a:tr h="609600">
                <a:tc>
                  <a:txBody>
                    <a:bodyPr/>
                    <a:lstStyle/>
                    <a:p>
                      <a:r>
                        <a:rPr lang="en-US" sz="1400" b="1" dirty="0">
                          <a:solidFill>
                            <a:srgbClr val="002E56"/>
                          </a:solidFill>
                        </a:rPr>
                        <a:t>Preparation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gridSpan="2">
                  <a:txBody>
                    <a:bodyPr/>
                    <a:lstStyle/>
                    <a:p>
                      <a:r>
                        <a:rPr lang="en-US" sz="1400" dirty="0">
                          <a:solidFill>
                            <a:srgbClr val="2B2B2B"/>
                          </a:solidFill>
                        </a:rPr>
                        <a:t>Dilute in 0.9% sodium chloride (100 or 250 mL by weight); rotate gently, never shake; infuse via a low-protein-binding 0.2 µm filter</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1F4F9"/>
                    </a:solidFill>
                  </a:tcPr>
                </a:tc>
                <a:tc hMerge="1">
                  <a:txBody>
                    <a:bodyPr/>
                    <a:lstStyle/>
                    <a:p>
                      <a:endParaRPr lang="en-US" dirty="0"/>
                    </a:p>
                  </a:txBody>
                  <a:tcPr marL="101600" marR="101600" marT="50800" marB="50800" anchor="ctr">
                    <a:lnL w="0">
                      <a:noFill/>
                    </a:lnL>
                    <a:lnR w="0">
                      <a:noFill/>
                    </a:lnR>
                    <a:lnT w="0">
                      <a:noFill/>
                    </a:lnT>
                    <a:lnB w="9525">
                      <a:solidFill>
                        <a:srgbClr val="E0E0E0"/>
                      </a:solidFill>
                    </a:lnB>
                    <a:noFill/>
                  </a:tcPr>
                </a:tc>
                <a:extLst>
                  <a:ext uri="{0D108BD9-81ED-4DB2-BD59-A6C34878D82A}">
                    <a16:rowId xmlns:a16="http://schemas.microsoft.com/office/drawing/2014/main" val="10006"/>
                  </a:ext>
                </a:extLst>
              </a:tr>
              <a:tr h="431800">
                <a:tc>
                  <a:txBody>
                    <a:bodyPr/>
                    <a:lstStyle/>
                    <a:p>
                      <a:r>
                        <a:rPr lang="en-US" sz="1400" b="1" dirty="0">
                          <a:solidFill>
                            <a:srgbClr val="002E56"/>
                          </a:solidFill>
                        </a:rPr>
                        <a:t>Storage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gridSpan="2">
                  <a:txBody>
                    <a:bodyPr/>
                    <a:lstStyle/>
                    <a:p>
                      <a:r>
                        <a:rPr lang="en-US" sz="1400" dirty="0">
                          <a:solidFill>
                            <a:srgbClr val="2B2B2B"/>
                          </a:solidFill>
                        </a:rPr>
                        <a:t>Unopened vials at 2–8 °C; do not freeze; use the diluted solution promptly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1F4F9"/>
                    </a:solidFill>
                  </a:tcPr>
                </a:tc>
                <a:tc hMerge="1">
                  <a:txBody>
                    <a:bodyPr/>
                    <a:lstStyle/>
                    <a:p>
                      <a:endParaRPr lang="en-US" dirty="0"/>
                    </a:p>
                  </a:txBody>
                  <a:tcPr marL="101600" marR="101600" marT="50800" marB="50800" anchor="ctr">
                    <a:lnL w="0">
                      <a:noFill/>
                    </a:lnL>
                    <a:lnR w="0">
                      <a:noFill/>
                    </a:lnR>
                    <a:lnT w="0">
                      <a:noFill/>
                    </a:lnT>
                    <a:lnB w="9525">
                      <a:solidFill>
                        <a:srgbClr val="E0E0E0"/>
                      </a:solidFill>
                    </a:lnB>
                    <a:noFill/>
                  </a:tcPr>
                </a:tc>
                <a:extLst>
                  <a:ext uri="{0D108BD9-81ED-4DB2-BD59-A6C34878D82A}">
                    <a16:rowId xmlns:a16="http://schemas.microsoft.com/office/drawing/2014/main" val="10007"/>
                  </a:ext>
                </a:extLst>
              </a:tr>
            </a:tbl>
          </a:graphicData>
        </a:graphic>
      </p:graphicFrame>
      <p:sp>
        <p:nvSpPr>
          <p:cNvPr id="12" name="Shape 12"/>
          <p:cNvSpPr txBox="1"/>
          <p:nvPr/>
        </p:nvSpPr>
        <p:spPr>
          <a:xfrm>
            <a:off x="660400" y="5308600"/>
            <a:ext cx="10871200" cy="304800"/>
          </a:xfrm>
          <a:prstGeom prst="rect">
            <a:avLst/>
          </a:prstGeom>
          <a:noFill/>
          <a:ln>
            <a:noFill/>
          </a:ln>
        </p:spPr>
        <p:txBody>
          <a:bodyPr wrap="square" lIns="0" tIns="0" rIns="0" bIns="0" rtlCol="0" anchor="t">
            <a:noAutofit/>
          </a:bodyPr>
          <a:lstStyle/>
          <a:p>
            <a:pPr>
              <a:spcBef>
                <a:spcPts val="0"/>
              </a:spcBef>
              <a:spcAft>
                <a:spcPts val="0"/>
              </a:spcAft>
              <a:buNone/>
            </a:pPr>
            <a:r>
              <a:rPr lang="en-US" sz="1400" i="1" dirty="0">
                <a:solidFill>
                  <a:srgbClr val="646464"/>
                </a:solidFill>
              </a:rPr>
              <a:t>Doses, rates and equipment always follow the local prescribing information and the treating centre’s infusion protocol.</a:t>
            </a:r>
          </a:p>
        </p:txBody>
      </p:sp>
      <p:sp>
        <p:nvSpPr>
          <p:cNvPr id="13"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ARSB, arylsulfatase B; ERT, enzyme replacement therapy; GALNS, N-acetylgalactosamine-6-sulfatase; MPS, mucopolysaccharidosis</a:t>
            </a:r>
          </a:p>
        </p:txBody>
      </p:sp>
      <p:sp>
        <p:nvSpPr>
          <p:cNvPr id="14"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Elosulfase alfa Summary of Product Characteristics (EMA); Galsulfase Summary of Product Characteristics (EMA); Concolino D et al. Ital J Pediatr 2018;44(Suppl 2):120.</a:t>
            </a:r>
          </a:p>
        </p:txBody>
      </p:sp>
    </p:spTree>
    <p:extLst>
      <p:ext uri="{BB962C8B-B14F-4D97-AF65-F5344CB8AC3E}">
        <p14:creationId xmlns:p14="http://schemas.microsoft.com/office/powerpoint/2010/main" val="2987773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buNone/>
            </a:pPr>
            <a:r>
              <a:rPr lang="en-GB" sz="1050" b="1" spc="100" dirty="0">
                <a:solidFill>
                  <a:srgbClr val="28509C"/>
                </a:solidFill>
              </a:rPr>
              <a:t>Management  |  SmPC: elosulfase alfa and galsulfase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SmPC: presentation and dosing</a:t>
            </a:r>
            <a:endParaRPr lang="en-GB" dirty="0"/>
          </a:p>
        </p:txBody>
      </p:sp>
      <p:graphicFrame>
        <p:nvGraphicFramePr>
          <p:cNvPr id="302" name="SmPC table"/>
          <p:cNvGraphicFramePr>
            <a:graphicFrameLocks noGrp="1"/>
          </p:cNvGraphicFramePr>
          <p:nvPr/>
        </p:nvGraphicFramePr>
        <p:xfrm>
          <a:off x="660400" y="1447800"/>
          <a:ext cx="10871200" cy="3357880"/>
        </p:xfrm>
        <a:graphic>
          <a:graphicData uri="http://schemas.openxmlformats.org/drawingml/2006/table">
            <a:tbl>
              <a:tblPr firstRow="1"/>
              <a:tblGrid>
                <a:gridCol w="21590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gridCol w="4356100">
                  <a:extLst>
                    <a:ext uri="{9D8B030D-6E8A-4147-A177-3AD203B41FA5}">
                      <a16:colId xmlns:a16="http://schemas.microsoft.com/office/drawing/2014/main" val="20002"/>
                    </a:ext>
                  </a:extLst>
                </a:gridCol>
              </a:tblGrid>
              <a:tr h="381000">
                <a:tc>
                  <a:txBody>
                    <a:bodyPr/>
                    <a:lstStyle/>
                    <a:p>
                      <a:endParaRPr/>
                    </a:p>
                  </a:txBody>
                  <a:tcPr marL="76200" marR="101600" marT="63500" marB="63500" anchor="ctr">
                    <a:lnL w="12700">
                      <a:noFill/>
                    </a:lnL>
                    <a:lnR w="12700">
                      <a:noFill/>
                    </a:lnR>
                    <a:lnT w="12700">
                      <a:noFill/>
                    </a:lnT>
                    <a:lnB w="19050">
                      <a:solidFill>
                        <a:srgbClr val="A0A0A0"/>
                      </a:solidFill>
                    </a:lnB>
                    <a:noFill/>
                  </a:tcPr>
                </a:tc>
                <a:tc>
                  <a:txBody>
                    <a:bodyPr/>
                    <a:lstStyle/>
                    <a:p>
                      <a:r>
                        <a:rPr lang="en-GB" sz="1400" b="1" dirty="0">
                          <a:solidFill>
                            <a:srgbClr val="28509C"/>
                          </a:solidFill>
                        </a:rPr>
                        <a:t>Elosulfase alfa</a:t>
                      </a:r>
                      <a:r>
                        <a:rPr lang="en-GB" sz="1300" dirty="0">
                          <a:solidFill>
                            <a:srgbClr val="646464"/>
                          </a:solidFill>
                        </a:rPr>
                        <a:t> · MPS IVA</a:t>
                      </a:r>
                    </a:p>
                  </a:txBody>
                  <a:tcPr marL="76200" marR="101600" marT="63500" marB="63500" anchor="ctr">
                    <a:lnL w="12700">
                      <a:noFill/>
                    </a:lnL>
                    <a:lnR w="12700">
                      <a:noFill/>
                    </a:lnR>
                    <a:lnT w="12700">
                      <a:noFill/>
                    </a:lnT>
                    <a:lnB w="19050">
                      <a:solidFill>
                        <a:srgbClr val="28509C"/>
                      </a:solidFill>
                    </a:lnB>
                    <a:noFill/>
                  </a:tcPr>
                </a:tc>
                <a:tc>
                  <a:txBody>
                    <a:bodyPr/>
                    <a:lstStyle/>
                    <a:p>
                      <a:r>
                        <a:rPr lang="en-GB" sz="1400" b="1" dirty="0">
                          <a:solidFill>
                            <a:srgbClr val="A9218E"/>
                          </a:solidFill>
                        </a:rPr>
                        <a:t>Galsulfase</a:t>
                      </a:r>
                      <a:r>
                        <a:rPr lang="en-GB" sz="1300" dirty="0">
                          <a:solidFill>
                            <a:srgbClr val="646464"/>
                          </a:solidFill>
                        </a:rPr>
                        <a:t> · MPS VI</a:t>
                      </a:r>
                    </a:p>
                  </a:txBody>
                  <a:tcPr marL="76200" marR="101600" marT="63500" marB="63500" anchor="ctr">
                    <a:lnL w="12700">
                      <a:noFill/>
                    </a:lnL>
                    <a:lnR w="12700">
                      <a:noFill/>
                    </a:lnR>
                    <a:lnT w="12700">
                      <a:noFill/>
                    </a:lnT>
                    <a:lnB w="19050">
                      <a:solidFill>
                        <a:srgbClr val="A9218E"/>
                      </a:solidFill>
                    </a:lnB>
                    <a:noFill/>
                  </a:tcPr>
                </a:tc>
                <a:extLst>
                  <a:ext uri="{0D108BD9-81ED-4DB2-BD59-A6C34878D82A}">
                    <a16:rowId xmlns:a16="http://schemas.microsoft.com/office/drawing/2014/main" val="10000"/>
                  </a:ext>
                </a:extLst>
              </a:tr>
              <a:tr h="431800">
                <a:tc>
                  <a:txBody>
                    <a:bodyPr/>
                    <a:lstStyle/>
                    <a:p>
                      <a:r>
                        <a:rPr lang="en-GB" sz="1400" b="1" dirty="0">
                          <a:solidFill>
                            <a:srgbClr val="002E56"/>
                          </a:solidFill>
                        </a:rPr>
                        <a:t>Presentation</a:t>
                      </a:r>
                    </a:p>
                  </a:txBody>
                  <a:tcPr marL="76200" marR="101600" marT="63500" marB="63500" anchor="ctr">
                    <a:lnL w="12700">
                      <a:noFill/>
                    </a:lnL>
                    <a:lnR w="12700">
                      <a:noFill/>
                    </a:lnR>
                    <a:lnT w="19050" cap="flat" cmpd="sng" algn="ctr">
                      <a:solidFill>
                        <a:srgbClr val="A0A0A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1 mg/ml concentrate for solution for infusion; 5 ml vial contains 5 mg elosulfase alfa</a:t>
                      </a:r>
                    </a:p>
                  </a:txBody>
                  <a:tcPr marL="76200" marR="101600" marT="63500" marB="63500" anchor="ctr">
                    <a:lnL w="12700">
                      <a:noFill/>
                    </a:lnL>
                    <a:lnR w="12700">
                      <a:noFill/>
                    </a:lnR>
                    <a:lnT w="19050" cap="flat" cmpd="sng" algn="ctr">
                      <a:solidFill>
                        <a:srgbClr val="28509C"/>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1 mg/ml concentrate for solution for infusion; 5 ml vial contains 5 mg galsulfase</a:t>
                      </a:r>
                    </a:p>
                  </a:txBody>
                  <a:tcPr marL="76200" marR="101600" marT="63500" marB="63500" anchor="ctr">
                    <a:lnL w="12700">
                      <a:noFill/>
                    </a:lnL>
                    <a:lnR w="12700">
                      <a:noFill/>
                    </a:lnR>
                    <a:lnT w="19050" cap="flat" cmpd="sng" algn="ctr">
                      <a:solidFill>
                        <a:srgbClr val="A9218E"/>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431800">
                <a:tc>
                  <a:txBody>
                    <a:bodyPr/>
                    <a:lstStyle/>
                    <a:p>
                      <a:r>
                        <a:rPr lang="en-GB" sz="1400" b="1" dirty="0">
                          <a:solidFill>
                            <a:srgbClr val="002E56"/>
                          </a:solidFill>
                        </a:rPr>
                        <a:t>Active substance</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Recombinant human N-acetylgalactosamine-6-sulfatase (rhGALNS), made in CHO cells</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Recombinant human N-acetylgalactosamine-4-sulfatase, made in CHO cells</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431800">
                <a:tc>
                  <a:txBody>
                    <a:bodyPr/>
                    <a:lstStyle/>
                    <a:p>
                      <a:r>
                        <a:rPr lang="en-GB" sz="1400" b="1" dirty="0">
                          <a:solidFill>
                            <a:srgbClr val="002E56"/>
                          </a:solidFill>
                        </a:rPr>
                        <a:t>Appearance</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Clear to slightly opalescent, colourless to pale yellow</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Clear to slightly opalescent, colourless to pale yellow</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431800">
                <a:tc>
                  <a:txBody>
                    <a:bodyPr/>
                    <a:lstStyle/>
                    <a:p>
                      <a:r>
                        <a:rPr lang="en-GB" sz="1400" b="1" dirty="0">
                          <a:solidFill>
                            <a:srgbClr val="002E56"/>
                          </a:solidFill>
                        </a:rPr>
                        <a:t>Recommended dose</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28509C"/>
                          </a:solidFill>
                        </a:rPr>
                        <a:t>2 mg/kg</a:t>
                      </a:r>
                      <a:r>
                        <a:rPr lang="en-GB" sz="1400" dirty="0">
                          <a:solidFill>
                            <a:srgbClr val="2B2B2B"/>
                          </a:solidFill>
                        </a:rPr>
                        <a:t> body weight once a week, IV</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A9218E"/>
                          </a:solidFill>
                        </a:rPr>
                        <a:t>1 mg/kg</a:t>
                      </a:r>
                      <a:r>
                        <a:rPr lang="en-GB" sz="1400" dirty="0">
                          <a:solidFill>
                            <a:srgbClr val="2B2B2B"/>
                          </a:solidFill>
                        </a:rPr>
                        <a:t> body weight once a week, IV</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4"/>
                  </a:ext>
                </a:extLst>
              </a:tr>
              <a:tr h="431800">
                <a:tc>
                  <a:txBody>
                    <a:bodyPr/>
                    <a:lstStyle/>
                    <a:p>
                      <a:r>
                        <a:rPr lang="en-GB" sz="1400" b="1" dirty="0">
                          <a:solidFill>
                            <a:srgbClr val="002E56"/>
                          </a:solidFill>
                        </a:rPr>
                        <a:t>Infusion time</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3.5 to 4.5 hours, depending on infusion volume</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Over 4 hours</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5"/>
                  </a:ext>
                </a:extLst>
              </a:tr>
              <a:tr h="431800">
                <a:tc>
                  <a:txBody>
                    <a:bodyPr/>
                    <a:lstStyle/>
                    <a:p>
                      <a:r>
                        <a:rPr lang="en-GB" sz="1400" b="1" dirty="0">
                          <a:solidFill>
                            <a:srgbClr val="002E56"/>
                          </a:solidFill>
                        </a:rPr>
                        <a:t>Pretreatment</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Antihistamines, with or without antipyretics, 30–60 min before infusion</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Antihistamines, with or without antipyretics, 30–60 min before infusion</a:t>
                      </a:r>
                    </a:p>
                  </a:txBody>
                  <a:tcPr marL="76200" marR="1016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6"/>
                  </a:ext>
                </a:extLst>
              </a:tr>
            </a:tbl>
          </a:graphicData>
        </a:graphic>
      </p:graphicFrame>
      <p:sp>
        <p:nvSpPr>
          <p:cNvPr id="303" name="Abbreviations"/>
          <p:cNvSpPr txBox="1"/>
          <p:nvPr/>
        </p:nvSpPr>
        <p:spPr>
          <a:xfrm>
            <a:off x="660400" y="5715000"/>
            <a:ext cx="10871200" cy="203200"/>
          </a:xfrm>
          <a:prstGeom prst="rect">
            <a:avLst/>
          </a:prstGeom>
          <a:noFill/>
        </p:spPr>
        <p:txBody>
          <a:bodyPr wrap="square" lIns="0" tIns="0" rIns="0" bIns="0" anchor="b">
            <a:noAutofit/>
          </a:bodyPr>
          <a:lstStyle/>
          <a:p>
            <a:pPr>
              <a:buNone/>
            </a:pPr>
            <a:r>
              <a:rPr lang="en-GB" sz="1100" i="1" dirty="0">
                <a:solidFill>
                  <a:srgbClr val="404040"/>
                </a:solidFill>
              </a:rPr>
              <a:t>CHO, Chinese hamster ovary; ERT, enzyme replacement therapy; IV, intravenous; SmPC, Summary of Product Characteristics</a:t>
            </a:r>
          </a:p>
        </p:txBody>
      </p:sp>
      <p:sp>
        <p:nvSpPr>
          <p:cNvPr id="304" name="References"/>
          <p:cNvSpPr txBox="1"/>
          <p:nvPr/>
        </p:nvSpPr>
        <p:spPr>
          <a:xfrm>
            <a:off x="660400" y="6019800"/>
            <a:ext cx="10871200" cy="381000"/>
          </a:xfrm>
          <a:prstGeom prst="rect">
            <a:avLst/>
          </a:prstGeom>
          <a:noFill/>
        </p:spPr>
        <p:txBody>
          <a:bodyPr wrap="square" lIns="0" tIns="0" rIns="0" bIns="0" anchor="t">
            <a:noAutofit/>
          </a:bodyPr>
          <a:lstStyle/>
          <a:p>
            <a:pPr>
              <a:buNone/>
            </a:pPr>
            <a:r>
              <a:rPr lang="en-GB" sz="900" dirty="0">
                <a:solidFill>
                  <a:srgbClr val="646464"/>
                </a:solidFill>
              </a:rPr>
              <a:t>1. Elosulfase alfa Summary of Product Characteristics. 2. Galsulfase Summary of Product Characteristics.</a:t>
            </a:r>
          </a:p>
        </p:txBody>
      </p:sp>
    </p:spTree>
    <p:extLst>
      <p:ext uri="{BB962C8B-B14F-4D97-AF65-F5344CB8AC3E}">
        <p14:creationId xmlns:p14="http://schemas.microsoft.com/office/powerpoint/2010/main" val="1078813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SmPC: elosulfase alfa and galsulfase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SmPC: storage, dilution and preparation</a:t>
            </a:r>
            <a:endParaRPr lang="en-GB" dirty="0"/>
          </a:p>
        </p:txBody>
      </p:sp>
      <p:graphicFrame>
        <p:nvGraphicFramePr>
          <p:cNvPr id="302" name="SmPC table"/>
          <p:cNvGraphicFramePr>
            <a:graphicFrameLocks noGrp="1"/>
          </p:cNvGraphicFramePr>
          <p:nvPr/>
        </p:nvGraphicFramePr>
        <p:xfrm>
          <a:off x="660400" y="1371600"/>
          <a:ext cx="10871200" cy="1666240"/>
        </p:xfrm>
        <a:graphic>
          <a:graphicData uri="http://schemas.openxmlformats.org/drawingml/2006/table">
            <a:tbl>
              <a:tblPr firstRow="1"/>
              <a:tblGrid>
                <a:gridCol w="1651000">
                  <a:extLst>
                    <a:ext uri="{9D8B030D-6E8A-4147-A177-3AD203B41FA5}">
                      <a16:colId xmlns:a16="http://schemas.microsoft.com/office/drawing/2014/main" val="20000"/>
                    </a:ext>
                  </a:extLst>
                </a:gridCol>
                <a:gridCol w="4610100">
                  <a:extLst>
                    <a:ext uri="{9D8B030D-6E8A-4147-A177-3AD203B41FA5}">
                      <a16:colId xmlns:a16="http://schemas.microsoft.com/office/drawing/2014/main" val="20001"/>
                    </a:ext>
                  </a:extLst>
                </a:gridCol>
                <a:gridCol w="4610100">
                  <a:extLst>
                    <a:ext uri="{9D8B030D-6E8A-4147-A177-3AD203B41FA5}">
                      <a16:colId xmlns:a16="http://schemas.microsoft.com/office/drawing/2014/main" val="20002"/>
                    </a:ext>
                  </a:extLst>
                </a:gridCol>
              </a:tblGrid>
              <a:tr h="330200">
                <a:tc>
                  <a:txBody>
                    <a:bodyPr/>
                    <a:lstStyle/>
                    <a:p>
                      <a:endParaRPr/>
                    </a:p>
                  </a:txBody>
                  <a:tcPr marL="76200" marR="101600" marT="38100" marB="38100" anchor="ctr">
                    <a:lnL w="12700">
                      <a:noFill/>
                    </a:lnL>
                    <a:lnR w="12700">
                      <a:noFill/>
                    </a:lnR>
                    <a:lnT w="12700">
                      <a:noFill/>
                    </a:lnT>
                    <a:lnB w="19050">
                      <a:solidFill>
                        <a:srgbClr val="A0A0A0"/>
                      </a:solidFill>
                    </a:lnB>
                    <a:noFill/>
                  </a:tcPr>
                </a:tc>
                <a:tc>
                  <a:txBody>
                    <a:bodyPr/>
                    <a:lstStyle/>
                    <a:p>
                      <a:r>
                        <a:rPr lang="en-GB" sz="1400" b="1" dirty="0">
                          <a:solidFill>
                            <a:srgbClr val="28509C"/>
                          </a:solidFill>
                        </a:rPr>
                        <a:t>Elosulfase alfa</a:t>
                      </a:r>
                      <a:r>
                        <a:rPr lang="en-GB" sz="1300" dirty="0">
                          <a:solidFill>
                            <a:srgbClr val="646464"/>
                          </a:solidFill>
                        </a:rPr>
                        <a:t>  MPS IVA</a:t>
                      </a:r>
                    </a:p>
                  </a:txBody>
                  <a:tcPr marL="76200" marR="101600" marT="38100" marB="38100" anchor="ctr">
                    <a:lnL w="12700">
                      <a:noFill/>
                    </a:lnL>
                    <a:lnR w="12700">
                      <a:noFill/>
                    </a:lnR>
                    <a:lnT w="12700">
                      <a:noFill/>
                    </a:lnT>
                    <a:lnB w="19050">
                      <a:solidFill>
                        <a:srgbClr val="28509C"/>
                      </a:solidFill>
                    </a:lnB>
                    <a:noFill/>
                  </a:tcPr>
                </a:tc>
                <a:tc>
                  <a:txBody>
                    <a:bodyPr/>
                    <a:lstStyle/>
                    <a:p>
                      <a:r>
                        <a:rPr lang="en-GB" sz="1400" b="1" dirty="0">
                          <a:solidFill>
                            <a:srgbClr val="A9218E"/>
                          </a:solidFill>
                        </a:rPr>
                        <a:t>Galsulfase</a:t>
                      </a:r>
                      <a:r>
                        <a:rPr lang="en-GB" sz="1300" dirty="0">
                          <a:solidFill>
                            <a:srgbClr val="646464"/>
                          </a:solidFill>
                        </a:rPr>
                        <a:t>  MPS VI</a:t>
                      </a:r>
                    </a:p>
                  </a:txBody>
                  <a:tcPr marL="76200" marR="101600" marT="38100" marB="38100" anchor="ctr">
                    <a:lnL w="12700">
                      <a:noFill/>
                    </a:lnL>
                    <a:lnR w="12700">
                      <a:noFill/>
                    </a:lnR>
                    <a:lnT w="12700">
                      <a:noFill/>
                    </a:lnT>
                    <a:lnB w="19050">
                      <a:solidFill>
                        <a:srgbClr val="A9218E"/>
                      </a:solidFill>
                    </a:lnB>
                    <a:noFill/>
                  </a:tcPr>
                </a:tc>
                <a:extLst>
                  <a:ext uri="{0D108BD9-81ED-4DB2-BD59-A6C34878D82A}">
                    <a16:rowId xmlns:a16="http://schemas.microsoft.com/office/drawing/2014/main" val="10000"/>
                  </a:ext>
                </a:extLst>
              </a:tr>
              <a:tr h="406400">
                <a:tc>
                  <a:txBody>
                    <a:bodyPr/>
                    <a:lstStyle/>
                    <a:p>
                      <a:r>
                        <a:rPr lang="en-GB" sz="1400" b="1" dirty="0">
                          <a:solidFill>
                            <a:srgbClr val="002E56"/>
                          </a:solidFill>
                        </a:rPr>
                        <a:t>Storage</a:t>
                      </a:r>
                    </a:p>
                  </a:txBody>
                  <a:tcPr marL="76200" marR="101600" marT="38100" marB="38100" anchor="ctr">
                    <a:lnL w="12700">
                      <a:noFill/>
                    </a:lnL>
                    <a:lnR w="12700">
                      <a:noFill/>
                    </a:lnR>
                    <a:lnT w="19050" cap="flat" cmpd="sng" algn="ctr">
                      <a:solidFill>
                        <a:srgbClr val="A0A0A0"/>
                      </a:solidFill>
                      <a:prstDash val="solid"/>
                      <a:round/>
                      <a:headEnd type="none" w="med" len="med"/>
                      <a:tailEnd type="none" w="med" len="med"/>
                    </a:lnT>
                    <a:lnB w="9525">
                      <a:solidFill>
                        <a:srgbClr val="E0E0E0"/>
                      </a:solidFill>
                    </a:lnB>
                    <a:noFill/>
                  </a:tcPr>
                </a:tc>
                <a:tc gridSpan="2">
                  <a:txBody>
                    <a:bodyPr/>
                    <a:lstStyle/>
                    <a:p>
                      <a:r>
                        <a:rPr lang="en-GB" sz="1400" dirty="0">
                          <a:solidFill>
                            <a:srgbClr val="2B2B2B"/>
                          </a:solidFill>
                        </a:rPr>
                        <a:t>2–8 °C; do not freeze or shake; protect from light; no preservatives, so use diluted product within 48 hours</a:t>
                      </a:r>
                    </a:p>
                  </a:txBody>
                  <a:tcPr marL="76200" marR="101600" marT="38100" marB="38100" anchor="ctr">
                    <a:lnL w="12700">
                      <a:noFill/>
                    </a:lnL>
                    <a:lnR w="12700">
                      <a:noFill/>
                    </a:lnR>
                    <a:lnT w="19050" cap="flat" cmpd="sng" algn="ctr">
                      <a:solidFill>
                        <a:srgbClr val="28509C"/>
                      </a:solidFill>
                      <a:prstDash val="solid"/>
                      <a:round/>
                      <a:headEnd type="none" w="med" len="med"/>
                      <a:tailEnd type="none" w="med" len="med"/>
                    </a:lnT>
                    <a:lnB w="9525">
                      <a:solidFill>
                        <a:srgbClr val="E0E0E0"/>
                      </a:solidFill>
                    </a:lnB>
                    <a:noFill/>
                  </a:tcPr>
                </a:tc>
                <a:tc hMerge="1">
                  <a:txBody>
                    <a:bodyPr/>
                    <a:lstStyle/>
                    <a:p>
                      <a:endParaRPr/>
                    </a:p>
                  </a:txBody>
                  <a:tcPr marL="76200" marR="101600" marT="38100" marB="38100" anchor="ctr">
                    <a:lnL w="12700">
                      <a:noFill/>
                    </a:lnL>
                    <a:lnR w="12700">
                      <a:noFill/>
                    </a:lnR>
                    <a:lnT w="12700">
                      <a:noFill/>
                    </a:lnT>
                    <a:lnB w="9525">
                      <a:solidFill>
                        <a:srgbClr val="E0E0E0"/>
                      </a:solidFill>
                    </a:lnB>
                    <a:noFill/>
                  </a:tcPr>
                </a:tc>
                <a:extLst>
                  <a:ext uri="{0D108BD9-81ED-4DB2-BD59-A6C34878D82A}">
                    <a16:rowId xmlns:a16="http://schemas.microsoft.com/office/drawing/2014/main" val="10001"/>
                  </a:ext>
                </a:extLst>
              </a:tr>
              <a:tr h="406400">
                <a:tc>
                  <a:txBody>
                    <a:bodyPr/>
                    <a:lstStyle/>
                    <a:p>
                      <a:r>
                        <a:rPr lang="en-GB" sz="1400" b="1" dirty="0">
                          <a:solidFill>
                            <a:srgbClr val="002E56"/>
                          </a:solidFill>
                        </a:rPr>
                        <a:t>Supplies</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5 ml vials; 0.9% saline bag (100 or 250 ml); low-protein-binding set with 0.2 µm filter</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5 ml vials; 0.9% saline bag (100 or 250 ml); syringes for dilution</a:t>
                      </a:r>
                    </a:p>
                  </a:txBody>
                  <a:tcPr marL="76200" marR="101600" marT="38100" marB="38100" anchor="ctr">
                    <a:lnL w="12700">
                      <a:noFill/>
                    </a:lnL>
                    <a:lnR w="12700">
                      <a:noFill/>
                    </a:lnR>
                    <a:lnT w="12700">
                      <a:noFill/>
                    </a:lnT>
                    <a:lnB w="9525">
                      <a:solidFill>
                        <a:srgbClr val="E0E0E0"/>
                      </a:solidFill>
                    </a:lnB>
                    <a:noFill/>
                  </a:tcPr>
                </a:tc>
                <a:extLst>
                  <a:ext uri="{0D108BD9-81ED-4DB2-BD59-A6C34878D82A}">
                    <a16:rowId xmlns:a16="http://schemas.microsoft.com/office/drawing/2014/main" val="10002"/>
                  </a:ext>
                </a:extLst>
              </a:tr>
              <a:tr h="406400">
                <a:tc>
                  <a:txBody>
                    <a:bodyPr/>
                    <a:lstStyle/>
                    <a:p>
                      <a:r>
                        <a:rPr lang="en-GB" sz="1400" b="1" dirty="0">
                          <a:solidFill>
                            <a:srgbClr val="002E56"/>
                          </a:solidFill>
                        </a:rPr>
                        <a:t>Bag size</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2B2B2B"/>
                          </a:solidFill>
                        </a:rPr>
                        <a:t>&lt;25 kg: </a:t>
                      </a:r>
                      <a:r>
                        <a:rPr lang="en-GB" sz="1400" dirty="0">
                          <a:solidFill>
                            <a:srgbClr val="2B2B2B"/>
                          </a:solidFill>
                        </a:rPr>
                        <a:t>100 ml;  </a:t>
                      </a:r>
                      <a:r>
                        <a:rPr lang="en-GB" sz="1400" b="1" dirty="0">
                          <a:solidFill>
                            <a:srgbClr val="2B2B2B"/>
                          </a:solidFill>
                        </a:rPr>
                        <a:t>≥25 kg: </a:t>
                      </a:r>
                      <a:r>
                        <a:rPr lang="en-GB" sz="1400" dirty="0">
                          <a:solidFill>
                            <a:srgbClr val="2B2B2B"/>
                          </a:solidFill>
                        </a:rPr>
                        <a:t>250 ml</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2B2B2B"/>
                          </a:solidFill>
                        </a:rPr>
                        <a:t>250 ml; </a:t>
                      </a:r>
                      <a:r>
                        <a:rPr lang="en-GB" sz="1400" dirty="0">
                          <a:solidFill>
                            <a:srgbClr val="2B2B2B"/>
                          </a:solidFill>
                        </a:rPr>
                        <a:t>100 ml if ≤20 kg or at risk of fluid overload</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bl>
          </a:graphicData>
        </a:graphic>
      </p:graphicFrame>
      <p:sp>
        <p:nvSpPr>
          <p:cNvPr id="303" name="Sub"/>
          <p:cNvSpPr txBox="1"/>
          <p:nvPr/>
        </p:nvSpPr>
        <p:spPr>
          <a:xfrm>
            <a:off x="660400" y="3352800"/>
            <a:ext cx="108712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Preparation: the same six steps for both products</a:t>
            </a:r>
          </a:p>
        </p:txBody>
      </p:sp>
      <p:sp>
        <p:nvSpPr>
          <p:cNvPr id="304" name="Step 1"/>
          <p:cNvSpPr/>
          <p:nvPr/>
        </p:nvSpPr>
        <p:spPr>
          <a:xfrm>
            <a:off x="660400" y="3657600"/>
            <a:ext cx="3471333" cy="812800"/>
          </a:xfrm>
          <a:prstGeom prst="roundRect">
            <a:avLst>
              <a:gd name="adj" fmla="val 8000"/>
            </a:avLst>
          </a:prstGeom>
          <a:solidFill>
            <a:srgbClr val="F1F4F9"/>
          </a:solidFill>
          <a:ln>
            <a:noFill/>
          </a:ln>
        </p:spPr>
        <p:txBody>
          <a:bodyPr wrap="square" lIns="127000" tIns="127000" rIns="127000" bIns="127000" anchor="ctr">
            <a:noAutofit/>
          </a:bodyPr>
          <a:lstStyle/>
          <a:p>
            <a:pPr>
              <a:buNone/>
            </a:pPr>
            <a:r>
              <a:rPr lang="en-GB" sz="1600" b="1" dirty="0">
                <a:solidFill>
                  <a:srgbClr val="28509C"/>
                </a:solidFill>
              </a:rPr>
              <a:t>01  </a:t>
            </a:r>
            <a:r>
              <a:rPr lang="en-GB" sz="1400" b="1" dirty="0">
                <a:solidFill>
                  <a:srgbClr val="002E56"/>
                </a:solidFill>
              </a:rPr>
              <a:t>Inspect: </a:t>
            </a:r>
            <a:r>
              <a:rPr lang="en-GB" sz="1400" dirty="0">
                <a:solidFill>
                  <a:srgbClr val="2B2B2B"/>
                </a:solidFill>
              </a:rPr>
              <a:t>clear to pale yellow; no particles or discolouration</a:t>
            </a:r>
          </a:p>
        </p:txBody>
      </p:sp>
      <p:sp>
        <p:nvSpPr>
          <p:cNvPr id="305" name="Step 2"/>
          <p:cNvSpPr/>
          <p:nvPr/>
        </p:nvSpPr>
        <p:spPr>
          <a:xfrm>
            <a:off x="4360333" y="3657600"/>
            <a:ext cx="3471333" cy="812800"/>
          </a:xfrm>
          <a:prstGeom prst="roundRect">
            <a:avLst>
              <a:gd name="adj" fmla="val 8000"/>
            </a:avLst>
          </a:prstGeom>
          <a:solidFill>
            <a:srgbClr val="F1F4F9"/>
          </a:solidFill>
          <a:ln>
            <a:noFill/>
          </a:ln>
        </p:spPr>
        <p:txBody>
          <a:bodyPr wrap="square" lIns="127000" tIns="127000" rIns="127000" bIns="127000" anchor="ctr">
            <a:noAutofit/>
          </a:bodyPr>
          <a:lstStyle/>
          <a:p>
            <a:pPr>
              <a:buNone/>
            </a:pPr>
            <a:r>
              <a:rPr lang="en-GB" sz="1600" b="1" dirty="0">
                <a:solidFill>
                  <a:srgbClr val="28509C"/>
                </a:solidFill>
              </a:rPr>
              <a:t>02  </a:t>
            </a:r>
            <a:r>
              <a:rPr lang="en-GB" sz="1400" b="1" dirty="0">
                <a:solidFill>
                  <a:srgbClr val="002E56"/>
                </a:solidFill>
              </a:rPr>
              <a:t>Make room: </a:t>
            </a:r>
            <a:r>
              <a:rPr lang="en-GB" sz="1400" dirty="0">
                <a:solidFill>
                  <a:srgbClr val="2B2B2B"/>
                </a:solidFill>
              </a:rPr>
              <a:t>remove saline equal to the concentrate volume</a:t>
            </a:r>
          </a:p>
        </p:txBody>
      </p:sp>
      <p:sp>
        <p:nvSpPr>
          <p:cNvPr id="306" name="Step 3"/>
          <p:cNvSpPr/>
          <p:nvPr/>
        </p:nvSpPr>
        <p:spPr>
          <a:xfrm>
            <a:off x="8060266" y="3657600"/>
            <a:ext cx="3471333" cy="812800"/>
          </a:xfrm>
          <a:prstGeom prst="roundRect">
            <a:avLst>
              <a:gd name="adj" fmla="val 8000"/>
            </a:avLst>
          </a:prstGeom>
          <a:solidFill>
            <a:srgbClr val="F1F4F9"/>
          </a:solidFill>
          <a:ln>
            <a:noFill/>
          </a:ln>
        </p:spPr>
        <p:txBody>
          <a:bodyPr wrap="square" lIns="127000" tIns="127000" rIns="127000" bIns="127000" anchor="ctr">
            <a:noAutofit/>
          </a:bodyPr>
          <a:lstStyle/>
          <a:p>
            <a:pPr>
              <a:buNone/>
            </a:pPr>
            <a:r>
              <a:rPr lang="en-GB" sz="1600" b="1" dirty="0">
                <a:solidFill>
                  <a:srgbClr val="28509C"/>
                </a:solidFill>
              </a:rPr>
              <a:t>03  </a:t>
            </a:r>
            <a:r>
              <a:rPr lang="en-GB" sz="1400" b="1" dirty="0">
                <a:solidFill>
                  <a:srgbClr val="002E56"/>
                </a:solidFill>
              </a:rPr>
              <a:t>Add: </a:t>
            </a:r>
            <a:r>
              <a:rPr lang="en-GB" sz="1400" dirty="0">
                <a:solidFill>
                  <a:srgbClr val="2B2B2B"/>
                </a:solidFill>
              </a:rPr>
              <a:t>slowly add the calculated volume to the bag</a:t>
            </a:r>
          </a:p>
        </p:txBody>
      </p:sp>
      <p:sp>
        <p:nvSpPr>
          <p:cNvPr id="307" name="Step 4"/>
          <p:cNvSpPr/>
          <p:nvPr/>
        </p:nvSpPr>
        <p:spPr>
          <a:xfrm>
            <a:off x="660400" y="4673600"/>
            <a:ext cx="3471333" cy="812800"/>
          </a:xfrm>
          <a:prstGeom prst="roundRect">
            <a:avLst>
              <a:gd name="adj" fmla="val 8000"/>
            </a:avLst>
          </a:prstGeom>
          <a:solidFill>
            <a:srgbClr val="F1F4F9"/>
          </a:solidFill>
          <a:ln>
            <a:noFill/>
          </a:ln>
        </p:spPr>
        <p:txBody>
          <a:bodyPr wrap="square" lIns="127000" tIns="127000" rIns="127000" bIns="127000" anchor="ctr">
            <a:noAutofit/>
          </a:bodyPr>
          <a:lstStyle/>
          <a:p>
            <a:pPr>
              <a:buNone/>
            </a:pPr>
            <a:r>
              <a:rPr lang="en-GB" sz="1600" b="1" dirty="0">
                <a:solidFill>
                  <a:srgbClr val="28509C"/>
                </a:solidFill>
              </a:rPr>
              <a:t>04  </a:t>
            </a:r>
            <a:r>
              <a:rPr lang="en-GB" sz="1400" b="1" dirty="0">
                <a:solidFill>
                  <a:srgbClr val="002E56"/>
                </a:solidFill>
              </a:rPr>
              <a:t>Mix gently: </a:t>
            </a:r>
            <a:r>
              <a:rPr lang="en-GB" sz="1400" dirty="0">
                <a:solidFill>
                  <a:srgbClr val="2B2B2B"/>
                </a:solidFill>
              </a:rPr>
              <a:t>rotate, do not shake; slight flocculation is acceptable</a:t>
            </a:r>
          </a:p>
        </p:txBody>
      </p:sp>
      <p:sp>
        <p:nvSpPr>
          <p:cNvPr id="308" name="Step 5"/>
          <p:cNvSpPr/>
          <p:nvPr/>
        </p:nvSpPr>
        <p:spPr>
          <a:xfrm>
            <a:off x="4360333" y="4673600"/>
            <a:ext cx="3471333" cy="812800"/>
          </a:xfrm>
          <a:prstGeom prst="roundRect">
            <a:avLst>
              <a:gd name="adj" fmla="val 8000"/>
            </a:avLst>
          </a:prstGeom>
          <a:solidFill>
            <a:srgbClr val="F1F4F9"/>
          </a:solidFill>
          <a:ln>
            <a:noFill/>
          </a:ln>
        </p:spPr>
        <p:txBody>
          <a:bodyPr wrap="square" lIns="127000" tIns="127000" rIns="127000" bIns="127000" anchor="ctr">
            <a:noAutofit/>
          </a:bodyPr>
          <a:lstStyle/>
          <a:p>
            <a:pPr>
              <a:buNone/>
            </a:pPr>
            <a:r>
              <a:rPr lang="en-GB" sz="1600" b="1" dirty="0">
                <a:solidFill>
                  <a:srgbClr val="28509C"/>
                </a:solidFill>
              </a:rPr>
              <a:t>05  </a:t>
            </a:r>
            <a:r>
              <a:rPr lang="en-GB" sz="1400" b="1" dirty="0">
                <a:solidFill>
                  <a:srgbClr val="002E56"/>
                </a:solidFill>
              </a:rPr>
              <a:t>Label: </a:t>
            </a:r>
            <a:r>
              <a:rPr lang="en-GB" sz="1400" dirty="0">
                <a:solidFill>
                  <a:srgbClr val="2B2B2B"/>
                </a:solidFill>
              </a:rPr>
              <a:t>per institution policy; do not mix with other drugs</a:t>
            </a:r>
          </a:p>
        </p:txBody>
      </p:sp>
      <p:sp>
        <p:nvSpPr>
          <p:cNvPr id="309" name="Step 6"/>
          <p:cNvSpPr/>
          <p:nvPr/>
        </p:nvSpPr>
        <p:spPr>
          <a:xfrm>
            <a:off x="8060266" y="4673600"/>
            <a:ext cx="3471333" cy="812800"/>
          </a:xfrm>
          <a:prstGeom prst="roundRect">
            <a:avLst>
              <a:gd name="adj" fmla="val 8000"/>
            </a:avLst>
          </a:prstGeom>
          <a:solidFill>
            <a:srgbClr val="F1F4F9"/>
          </a:solidFill>
          <a:ln>
            <a:noFill/>
          </a:ln>
        </p:spPr>
        <p:txBody>
          <a:bodyPr wrap="square" lIns="127000" tIns="127000" rIns="127000" bIns="127000" anchor="ctr">
            <a:noAutofit/>
          </a:bodyPr>
          <a:lstStyle/>
          <a:p>
            <a:pPr>
              <a:buNone/>
            </a:pPr>
            <a:r>
              <a:rPr lang="en-GB" sz="1600" b="1" dirty="0">
                <a:solidFill>
                  <a:srgbClr val="28509C"/>
                </a:solidFill>
              </a:rPr>
              <a:t>06  </a:t>
            </a:r>
            <a:r>
              <a:rPr lang="en-GB" sz="1400" b="1" dirty="0">
                <a:solidFill>
                  <a:srgbClr val="002E56"/>
                </a:solidFill>
              </a:rPr>
              <a:t>Infuse: </a:t>
            </a:r>
            <a:r>
              <a:rPr lang="en-GB" sz="1400" dirty="0">
                <a:solidFill>
                  <a:srgbClr val="2B2B2B"/>
                </a:solidFill>
              </a:rPr>
              <a:t>through a 0.2 µm in-line filter; discard unused product</a:t>
            </a:r>
          </a:p>
        </p:txBody>
      </p:sp>
      <p:sp>
        <p:nvSpPr>
          <p:cNvPr id="310" name="References"/>
          <p:cNvSpPr txBox="1"/>
          <p:nvPr/>
        </p:nvSpPr>
        <p:spPr>
          <a:xfrm>
            <a:off x="660400" y="6019800"/>
            <a:ext cx="10871200" cy="381000"/>
          </a:xfrm>
          <a:prstGeom prst="rect">
            <a:avLst/>
          </a:prstGeom>
          <a:noFill/>
        </p:spPr>
        <p:txBody>
          <a:bodyPr wrap="square" lIns="0" tIns="0" rIns="0" bIns="0" anchor="t">
            <a:noAutofit/>
          </a:bodyPr>
          <a:lstStyle/>
          <a:p>
            <a:pPr>
              <a:spcBef>
                <a:spcPts val="0"/>
              </a:spcBef>
              <a:buNone/>
            </a:pPr>
            <a:r>
              <a:rPr lang="en-GB" sz="900" dirty="0">
                <a:solidFill>
                  <a:srgbClr val="646464"/>
                </a:solidFill>
              </a:rPr>
              <a:t>1. Elosulfase alfa Summary of Product Characteristics. 2. Galsulfase Summary of Product Characteristics.</a:t>
            </a:r>
          </a:p>
        </p:txBody>
      </p:sp>
    </p:spTree>
    <p:extLst>
      <p:ext uri="{BB962C8B-B14F-4D97-AF65-F5344CB8AC3E}">
        <p14:creationId xmlns:p14="http://schemas.microsoft.com/office/powerpoint/2010/main" val="2093717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buNone/>
            </a:pPr>
            <a:r>
              <a:rPr lang="en-GB" sz="1050" b="1" spc="100" dirty="0">
                <a:solidFill>
                  <a:srgbClr val="28509C"/>
                </a:solidFill>
              </a:rPr>
              <a:t>Management  |  SmPC: elosulfase alfa and galsulfase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SmPC: infusion rates</a:t>
            </a:r>
            <a:endParaRPr lang="en-GB" dirty="0"/>
          </a:p>
        </p:txBody>
      </p:sp>
      <p:graphicFrame>
        <p:nvGraphicFramePr>
          <p:cNvPr id="302" name="Rates table"/>
          <p:cNvGraphicFramePr>
            <a:graphicFrameLocks noGrp="1"/>
          </p:cNvGraphicFramePr>
          <p:nvPr>
            <p:extLst>
              <p:ext uri="{D42A27DB-BD31-4B8C-83A1-F6EECF244321}">
                <p14:modId xmlns:p14="http://schemas.microsoft.com/office/powerpoint/2010/main" val="2019392233"/>
              </p:ext>
            </p:extLst>
          </p:nvPr>
        </p:nvGraphicFramePr>
        <p:xfrm>
          <a:off x="660400" y="1498600"/>
          <a:ext cx="10871200" cy="2946400"/>
        </p:xfrm>
        <a:graphic>
          <a:graphicData uri="http://schemas.openxmlformats.org/drawingml/2006/table">
            <a:tbl>
              <a:tblPr firstRow="1"/>
              <a:tblGrid>
                <a:gridCol w="1905000">
                  <a:extLst>
                    <a:ext uri="{9D8B030D-6E8A-4147-A177-3AD203B41FA5}">
                      <a16:colId xmlns:a16="http://schemas.microsoft.com/office/drawing/2014/main" val="20000"/>
                    </a:ext>
                  </a:extLst>
                </a:gridCol>
                <a:gridCol w="4483100">
                  <a:extLst>
                    <a:ext uri="{9D8B030D-6E8A-4147-A177-3AD203B41FA5}">
                      <a16:colId xmlns:a16="http://schemas.microsoft.com/office/drawing/2014/main" val="20001"/>
                    </a:ext>
                  </a:extLst>
                </a:gridCol>
                <a:gridCol w="4483100">
                  <a:extLst>
                    <a:ext uri="{9D8B030D-6E8A-4147-A177-3AD203B41FA5}">
                      <a16:colId xmlns:a16="http://schemas.microsoft.com/office/drawing/2014/main" val="20002"/>
                    </a:ext>
                  </a:extLst>
                </a:gridCol>
              </a:tblGrid>
              <a:tr h="381000">
                <a:tc>
                  <a:txBody>
                    <a:bodyPr/>
                    <a:lstStyle/>
                    <a:p>
                      <a:endParaRPr/>
                    </a:p>
                  </a:txBody>
                  <a:tcPr marL="76200" marR="101600" marT="76200" marB="76200" anchor="ctr">
                    <a:lnL w="12700">
                      <a:noFill/>
                    </a:lnL>
                    <a:lnR w="12700">
                      <a:noFill/>
                    </a:lnR>
                    <a:lnT w="12700">
                      <a:noFill/>
                    </a:lnT>
                    <a:lnB w="19050">
                      <a:solidFill>
                        <a:srgbClr val="A0A0A0"/>
                      </a:solidFill>
                    </a:lnB>
                    <a:noFill/>
                  </a:tcPr>
                </a:tc>
                <a:tc>
                  <a:txBody>
                    <a:bodyPr/>
                    <a:lstStyle/>
                    <a:p>
                      <a:r>
                        <a:rPr lang="en-GB" sz="1400" b="1" dirty="0">
                          <a:solidFill>
                            <a:srgbClr val="28509C"/>
                          </a:solidFill>
                        </a:rPr>
                        <a:t>Elosulfase alfa</a:t>
                      </a:r>
                    </a:p>
                  </a:txBody>
                  <a:tcPr marL="76200" marR="101600" marT="76200" marB="76200" anchor="ctr">
                    <a:lnL w="12700">
                      <a:noFill/>
                    </a:lnL>
                    <a:lnR w="12700">
                      <a:noFill/>
                    </a:lnR>
                    <a:lnT w="12700">
                      <a:noFill/>
                    </a:lnT>
                    <a:lnB w="19050">
                      <a:solidFill>
                        <a:srgbClr val="28509C"/>
                      </a:solidFill>
                    </a:lnB>
                    <a:noFill/>
                  </a:tcPr>
                </a:tc>
                <a:tc>
                  <a:txBody>
                    <a:bodyPr/>
                    <a:lstStyle/>
                    <a:p>
                      <a:r>
                        <a:rPr lang="en-GB" sz="1400" b="1" dirty="0">
                          <a:solidFill>
                            <a:srgbClr val="A9218E"/>
                          </a:solidFill>
                        </a:rPr>
                        <a:t>Galsulfase</a:t>
                      </a:r>
                    </a:p>
                  </a:txBody>
                  <a:tcPr marL="76200" marR="101600" marT="76200" marB="76200" anchor="ctr">
                    <a:lnL w="12700">
                      <a:noFill/>
                    </a:lnL>
                    <a:lnR w="12700">
                      <a:noFill/>
                    </a:lnR>
                    <a:lnT w="12700">
                      <a:noFill/>
                    </a:lnT>
                    <a:lnB w="19050">
                      <a:solidFill>
                        <a:srgbClr val="A9218E"/>
                      </a:solidFill>
                    </a:lnB>
                    <a:noFill/>
                  </a:tcPr>
                </a:tc>
                <a:extLst>
                  <a:ext uri="{0D108BD9-81ED-4DB2-BD59-A6C34878D82A}">
                    <a16:rowId xmlns:a16="http://schemas.microsoft.com/office/drawing/2014/main" val="10000"/>
                  </a:ext>
                </a:extLst>
              </a:tr>
              <a:tr h="508000">
                <a:tc>
                  <a:txBody>
                    <a:bodyPr/>
                    <a:lstStyle/>
                    <a:p>
                      <a:r>
                        <a:rPr lang="en-GB" sz="1400" b="1" dirty="0">
                          <a:solidFill>
                            <a:srgbClr val="002E56"/>
                          </a:solidFill>
                        </a:rPr>
                        <a:t>100 ml bag</a:t>
                      </a:r>
                    </a:p>
                  </a:txBody>
                  <a:tcPr marL="76200" marR="101600" marT="76200" marB="76200" anchor="ctr">
                    <a:lnL w="12700">
                      <a:noFill/>
                    </a:lnL>
                    <a:lnR w="12700">
                      <a:noFill/>
                    </a:lnR>
                    <a:lnT w="19050" cap="flat" cmpd="sng" algn="ctr">
                      <a:solidFill>
                        <a:srgbClr val="A0A0A0"/>
                      </a:solidFill>
                      <a:prstDash val="solid"/>
                      <a:round/>
                      <a:headEnd type="none" w="med" len="med"/>
                      <a:tailEnd type="none" w="med" len="med"/>
                    </a:lnT>
                    <a:lnB w="9525">
                      <a:solidFill>
                        <a:srgbClr val="E0E0E0"/>
                      </a:solidFill>
                    </a:lnB>
                    <a:noFill/>
                  </a:tcPr>
                </a:tc>
                <a:tc>
                  <a:txBody>
                    <a:bodyPr/>
                    <a:lstStyle/>
                    <a:p>
                      <a:r>
                        <a:rPr lang="en-GB" sz="1400" b="1" dirty="0">
                          <a:solidFill>
                            <a:srgbClr val="28509C"/>
                          </a:solidFill>
                        </a:rPr>
                        <a:t>Start: </a:t>
                      </a:r>
                      <a:r>
                        <a:rPr lang="en-GB" sz="1400" dirty="0">
                          <a:solidFill>
                            <a:srgbClr val="2B2B2B"/>
                          </a:solidFill>
                        </a:rPr>
                        <a:t>3 ml/h</a:t>
                      </a:r>
                    </a:p>
                    <a:p>
                      <a:r>
                        <a:rPr lang="en-GB" sz="1400" b="1" dirty="0">
                          <a:solidFill>
                            <a:srgbClr val="28509C"/>
                          </a:solidFill>
                        </a:rPr>
                        <a:t>Increase: </a:t>
                      </a:r>
                      <a:r>
                        <a:rPr lang="en-GB" sz="1400" dirty="0">
                          <a:solidFill>
                            <a:srgbClr val="2B2B2B"/>
                          </a:solidFill>
                        </a:rPr>
                        <a:t>to 6 ml/h, then +6 ml/h every 15 min as tolerated</a:t>
                      </a:r>
                    </a:p>
                    <a:p>
                      <a:r>
                        <a:rPr lang="en-GB" sz="1400" b="1" dirty="0">
                          <a:solidFill>
                            <a:srgbClr val="28509C"/>
                          </a:solidFill>
                        </a:rPr>
                        <a:t>Maximum: </a:t>
                      </a:r>
                      <a:r>
                        <a:rPr lang="en-GB" sz="1400" dirty="0">
                          <a:solidFill>
                            <a:srgbClr val="2B2B2B"/>
                          </a:solidFill>
                        </a:rPr>
                        <a:t>36 ml/h</a:t>
                      </a:r>
                    </a:p>
                  </a:txBody>
                  <a:tcPr marL="76200" marR="101600" marT="76200" marB="76200" anchor="ctr">
                    <a:lnL w="12700">
                      <a:noFill/>
                    </a:lnL>
                    <a:lnR w="12700">
                      <a:noFill/>
                    </a:lnR>
                    <a:lnT w="19050" cap="flat" cmpd="sng" algn="ctr">
                      <a:solidFill>
                        <a:srgbClr val="28509C"/>
                      </a:solidFill>
                      <a:prstDash val="solid"/>
                      <a:round/>
                      <a:headEnd type="none" w="med" len="med"/>
                      <a:tailEnd type="none" w="med" len="med"/>
                    </a:lnT>
                    <a:lnB w="9525">
                      <a:solidFill>
                        <a:srgbClr val="E0E0E0"/>
                      </a:solidFill>
                    </a:lnB>
                    <a:noFill/>
                  </a:tcPr>
                </a:tc>
                <a:tc>
                  <a:txBody>
                    <a:bodyPr/>
                    <a:lstStyle/>
                    <a:p>
                      <a:r>
                        <a:rPr lang="en-GB" sz="1400" b="1" dirty="0">
                          <a:solidFill>
                            <a:srgbClr val="A9218E"/>
                          </a:solidFill>
                        </a:rPr>
                        <a:t>First hour: </a:t>
                      </a:r>
                      <a:r>
                        <a:rPr lang="en-GB" sz="1400" dirty="0">
                          <a:solidFill>
                            <a:srgbClr val="2B2B2B"/>
                          </a:solidFill>
                        </a:rPr>
                        <a:t>3 ml/h</a:t>
                      </a:r>
                    </a:p>
                    <a:p>
                      <a:r>
                        <a:rPr lang="en-GB" sz="1400" b="1" dirty="0">
                          <a:solidFill>
                            <a:srgbClr val="A9218E"/>
                          </a:solidFill>
                        </a:rPr>
                        <a:t>Then: </a:t>
                      </a:r>
                      <a:r>
                        <a:rPr lang="en-GB" sz="1400" dirty="0">
                          <a:solidFill>
                            <a:srgbClr val="2B2B2B"/>
                          </a:solidFill>
                        </a:rPr>
                        <a:t>up to 39 ml/h for about 3 hours, if well tolerated</a:t>
                      </a:r>
                    </a:p>
                  </a:txBody>
                  <a:tcPr marL="76200" marR="101600" marT="76200" marB="76200" anchor="ctr">
                    <a:lnL w="12700">
                      <a:noFill/>
                    </a:lnL>
                    <a:lnR w="12700">
                      <a:noFill/>
                    </a:lnR>
                    <a:lnT w="19050" cap="flat" cmpd="sng" algn="ctr">
                      <a:solidFill>
                        <a:srgbClr val="A9218E"/>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508000">
                <a:tc>
                  <a:txBody>
                    <a:bodyPr/>
                    <a:lstStyle/>
                    <a:p>
                      <a:r>
                        <a:rPr lang="en-GB" sz="1400" b="1" dirty="0">
                          <a:solidFill>
                            <a:srgbClr val="002E56"/>
                          </a:solidFill>
                        </a:rPr>
                        <a:t>250 ml bag</a:t>
                      </a:r>
                    </a:p>
                  </a:txBody>
                  <a:tcPr marL="76200" marR="101600" marT="76200" marB="762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28509C"/>
                          </a:solidFill>
                        </a:rPr>
                        <a:t>Start: </a:t>
                      </a:r>
                      <a:r>
                        <a:rPr lang="en-GB" sz="1400" dirty="0">
                          <a:solidFill>
                            <a:srgbClr val="2B2B2B"/>
                          </a:solidFill>
                        </a:rPr>
                        <a:t>6 ml/h</a:t>
                      </a:r>
                    </a:p>
                    <a:p>
                      <a:r>
                        <a:rPr lang="en-GB" sz="1400" b="1" dirty="0">
                          <a:solidFill>
                            <a:srgbClr val="28509C"/>
                          </a:solidFill>
                        </a:rPr>
                        <a:t>Increase: </a:t>
                      </a:r>
                      <a:r>
                        <a:rPr lang="en-GB" sz="1400" dirty="0">
                          <a:solidFill>
                            <a:srgbClr val="2B2B2B"/>
                          </a:solidFill>
                        </a:rPr>
                        <a:t>to 12 ml/h, then +12 ml/h every 15 min as tolerated</a:t>
                      </a:r>
                    </a:p>
                    <a:p>
                      <a:r>
                        <a:rPr lang="en-GB" sz="1400" b="1" dirty="0">
                          <a:solidFill>
                            <a:srgbClr val="28509C"/>
                          </a:solidFill>
                        </a:rPr>
                        <a:t>Maximum: </a:t>
                      </a:r>
                      <a:r>
                        <a:rPr lang="en-GB" sz="1400" dirty="0">
                          <a:solidFill>
                            <a:srgbClr val="2B2B2B"/>
                          </a:solidFill>
                        </a:rPr>
                        <a:t>72 ml/h</a:t>
                      </a:r>
                    </a:p>
                  </a:txBody>
                  <a:tcPr marL="76200" marR="101600" marT="76200" marB="762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b="1" dirty="0">
                          <a:solidFill>
                            <a:srgbClr val="A9218E"/>
                          </a:solidFill>
                        </a:rPr>
                        <a:t>First hour: </a:t>
                      </a:r>
                      <a:r>
                        <a:rPr lang="en-GB" sz="1400" dirty="0">
                          <a:solidFill>
                            <a:srgbClr val="2B2B2B"/>
                          </a:solidFill>
                        </a:rPr>
                        <a:t>6 ml/h</a:t>
                      </a:r>
                    </a:p>
                    <a:p>
                      <a:r>
                        <a:rPr lang="en-GB" sz="1400" b="1" dirty="0">
                          <a:solidFill>
                            <a:srgbClr val="A9218E"/>
                          </a:solidFill>
                        </a:rPr>
                        <a:t>Then: </a:t>
                      </a:r>
                      <a:r>
                        <a:rPr lang="en-GB" sz="1400" dirty="0">
                          <a:solidFill>
                            <a:srgbClr val="2B2B2B"/>
                          </a:solidFill>
                        </a:rPr>
                        <a:t>up to 81 ml/h for about 3 hours, if well tolerated</a:t>
                      </a:r>
                    </a:p>
                  </a:txBody>
                  <a:tcPr marL="76200" marR="101600" marT="76200" marB="762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508000">
                <a:tc>
                  <a:txBody>
                    <a:bodyPr/>
                    <a:lstStyle/>
                    <a:p>
                      <a:r>
                        <a:rPr lang="en-GB" sz="1400" b="1" dirty="0">
                          <a:solidFill>
                            <a:srgbClr val="002E56"/>
                          </a:solidFill>
                        </a:rPr>
                        <a:t>Total duration</a:t>
                      </a:r>
                    </a:p>
                  </a:txBody>
                  <a:tcPr marL="76200" marR="101600" marT="76200" marB="762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At least 3.5 hours (100 ml) or 4.5 hours (250 ml)</a:t>
                      </a:r>
                    </a:p>
                  </a:txBody>
                  <a:tcPr marL="76200" marR="101600" marT="76200" marB="762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About 4 hours</a:t>
                      </a:r>
                    </a:p>
                  </a:txBody>
                  <a:tcPr marL="76200" marR="101600" marT="76200" marB="762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bl>
          </a:graphicData>
        </a:graphic>
      </p:graphicFrame>
      <p:sp>
        <p:nvSpPr>
          <p:cNvPr id="303" name="Abbreviations"/>
          <p:cNvSpPr txBox="1"/>
          <p:nvPr/>
        </p:nvSpPr>
        <p:spPr>
          <a:xfrm>
            <a:off x="660400" y="5715000"/>
            <a:ext cx="10871200" cy="203200"/>
          </a:xfrm>
          <a:prstGeom prst="rect">
            <a:avLst/>
          </a:prstGeom>
          <a:noFill/>
        </p:spPr>
        <p:txBody>
          <a:bodyPr wrap="square" lIns="0" tIns="0" rIns="0" bIns="0" anchor="b">
            <a:noAutofit/>
          </a:bodyPr>
          <a:lstStyle/>
          <a:p>
            <a:pPr>
              <a:buNone/>
            </a:pPr>
            <a:r>
              <a:rPr lang="en-GB" sz="1100" i="1" dirty="0">
                <a:solidFill>
                  <a:srgbClr val="404040"/>
                </a:solidFill>
              </a:rPr>
              <a:t>Infusion rates by total infusion volume, per each product's SmPC</a:t>
            </a:r>
          </a:p>
        </p:txBody>
      </p:sp>
      <p:sp>
        <p:nvSpPr>
          <p:cNvPr id="304" name="References"/>
          <p:cNvSpPr txBox="1"/>
          <p:nvPr/>
        </p:nvSpPr>
        <p:spPr>
          <a:xfrm>
            <a:off x="660400" y="6019800"/>
            <a:ext cx="10871200" cy="381000"/>
          </a:xfrm>
          <a:prstGeom prst="rect">
            <a:avLst/>
          </a:prstGeom>
          <a:noFill/>
        </p:spPr>
        <p:txBody>
          <a:bodyPr wrap="square" lIns="0" tIns="0" rIns="0" bIns="0" anchor="t">
            <a:noAutofit/>
          </a:bodyPr>
          <a:lstStyle/>
          <a:p>
            <a:pPr>
              <a:buNone/>
            </a:pPr>
            <a:r>
              <a:rPr lang="en-GB" sz="900" dirty="0">
                <a:solidFill>
                  <a:srgbClr val="646464"/>
                </a:solidFill>
              </a:rPr>
              <a:t>1. Elosulfase alfa Summary of Product Characteristics. 2. Galsulfase Summary of Product Characteristics.</a:t>
            </a:r>
          </a:p>
        </p:txBody>
      </p:sp>
    </p:spTree>
    <p:extLst>
      <p:ext uri="{BB962C8B-B14F-4D97-AF65-F5344CB8AC3E}">
        <p14:creationId xmlns:p14="http://schemas.microsoft.com/office/powerpoint/2010/main" val="47280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buNone/>
            </a:pPr>
            <a:r>
              <a:rPr lang="en-GB" sz="1050" b="1" spc="100" dirty="0">
                <a:solidFill>
                  <a:srgbClr val="28509C"/>
                </a:solidFill>
              </a:rPr>
              <a:t>Management  |  SmPC: elosulfase alfa and galsulfase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SmPC: warnings and special populations</a:t>
            </a:r>
            <a:endParaRPr lang="en-GB" dirty="0"/>
          </a:p>
        </p:txBody>
      </p:sp>
      <p:graphicFrame>
        <p:nvGraphicFramePr>
          <p:cNvPr id="302" name="Warnings table"/>
          <p:cNvGraphicFramePr>
            <a:graphicFrameLocks noGrp="1"/>
          </p:cNvGraphicFramePr>
          <p:nvPr>
            <p:extLst>
              <p:ext uri="{D42A27DB-BD31-4B8C-83A1-F6EECF244321}">
                <p14:modId xmlns:p14="http://schemas.microsoft.com/office/powerpoint/2010/main" val="3036145070"/>
              </p:ext>
            </p:extLst>
          </p:nvPr>
        </p:nvGraphicFramePr>
        <p:xfrm>
          <a:off x="660400" y="1371600"/>
          <a:ext cx="10871200" cy="3799840"/>
        </p:xfrm>
        <a:graphic>
          <a:graphicData uri="http://schemas.openxmlformats.org/drawingml/2006/table">
            <a:tbl>
              <a:tblPr firstRow="1"/>
              <a:tblGrid>
                <a:gridCol w="1905000">
                  <a:extLst>
                    <a:ext uri="{9D8B030D-6E8A-4147-A177-3AD203B41FA5}">
                      <a16:colId xmlns:a16="http://schemas.microsoft.com/office/drawing/2014/main" val="20000"/>
                    </a:ext>
                  </a:extLst>
                </a:gridCol>
                <a:gridCol w="4483100">
                  <a:extLst>
                    <a:ext uri="{9D8B030D-6E8A-4147-A177-3AD203B41FA5}">
                      <a16:colId xmlns:a16="http://schemas.microsoft.com/office/drawing/2014/main" val="20001"/>
                    </a:ext>
                  </a:extLst>
                </a:gridCol>
                <a:gridCol w="4483100">
                  <a:extLst>
                    <a:ext uri="{9D8B030D-6E8A-4147-A177-3AD203B41FA5}">
                      <a16:colId xmlns:a16="http://schemas.microsoft.com/office/drawing/2014/main" val="20002"/>
                    </a:ext>
                  </a:extLst>
                </a:gridCol>
              </a:tblGrid>
              <a:tr h="330200">
                <a:tc>
                  <a:txBody>
                    <a:bodyPr/>
                    <a:lstStyle/>
                    <a:p>
                      <a:endParaRPr/>
                    </a:p>
                  </a:txBody>
                  <a:tcPr marL="76200" marR="101600" marT="38100" marB="38100" anchor="ctr">
                    <a:lnL w="12700">
                      <a:noFill/>
                    </a:lnL>
                    <a:lnR w="12700">
                      <a:noFill/>
                    </a:lnR>
                    <a:lnT w="12700">
                      <a:noFill/>
                    </a:lnT>
                    <a:lnB w="19050">
                      <a:solidFill>
                        <a:srgbClr val="A0A0A0"/>
                      </a:solidFill>
                    </a:lnB>
                    <a:noFill/>
                  </a:tcPr>
                </a:tc>
                <a:tc>
                  <a:txBody>
                    <a:bodyPr/>
                    <a:lstStyle/>
                    <a:p>
                      <a:r>
                        <a:rPr lang="en-GB" sz="1400" b="1" dirty="0">
                          <a:solidFill>
                            <a:srgbClr val="28509C"/>
                          </a:solidFill>
                        </a:rPr>
                        <a:t>Elosulfase alfa</a:t>
                      </a:r>
                    </a:p>
                  </a:txBody>
                  <a:tcPr marL="76200" marR="101600" marT="38100" marB="38100" anchor="ctr">
                    <a:lnL w="12700">
                      <a:noFill/>
                    </a:lnL>
                    <a:lnR w="12700">
                      <a:noFill/>
                    </a:lnR>
                    <a:lnT w="12700">
                      <a:noFill/>
                    </a:lnT>
                    <a:lnB w="19050">
                      <a:solidFill>
                        <a:srgbClr val="28509C"/>
                      </a:solidFill>
                    </a:lnB>
                    <a:noFill/>
                  </a:tcPr>
                </a:tc>
                <a:tc>
                  <a:txBody>
                    <a:bodyPr/>
                    <a:lstStyle/>
                    <a:p>
                      <a:r>
                        <a:rPr lang="en-GB" sz="1400" b="1" dirty="0">
                          <a:solidFill>
                            <a:srgbClr val="A9218E"/>
                          </a:solidFill>
                        </a:rPr>
                        <a:t>Galsulfase</a:t>
                      </a:r>
                    </a:p>
                  </a:txBody>
                  <a:tcPr marL="76200" marR="101600" marT="38100" marB="38100" anchor="ctr">
                    <a:lnL w="12700">
                      <a:noFill/>
                    </a:lnL>
                    <a:lnR w="12700">
                      <a:noFill/>
                    </a:lnR>
                    <a:lnT w="12700">
                      <a:noFill/>
                    </a:lnT>
                    <a:lnB w="19050">
                      <a:solidFill>
                        <a:srgbClr val="A9218E"/>
                      </a:solidFill>
                    </a:lnB>
                    <a:noFill/>
                  </a:tcPr>
                </a:tc>
                <a:extLst>
                  <a:ext uri="{0D108BD9-81ED-4DB2-BD59-A6C34878D82A}">
                    <a16:rowId xmlns:a16="http://schemas.microsoft.com/office/drawing/2014/main" val="10000"/>
                  </a:ext>
                </a:extLst>
              </a:tr>
              <a:tr h="431800">
                <a:tc>
                  <a:txBody>
                    <a:bodyPr/>
                    <a:lstStyle/>
                    <a:p>
                      <a:r>
                        <a:rPr lang="en-GB" sz="1400" b="1" dirty="0">
                          <a:solidFill>
                            <a:srgbClr val="002E56"/>
                          </a:solidFill>
                        </a:rPr>
                        <a:t>Warnings</a:t>
                      </a:r>
                    </a:p>
                  </a:txBody>
                  <a:tcPr marL="76200" marR="101600" marT="38100" marB="38100" anchor="ctr">
                    <a:lnL w="12700">
                      <a:noFill/>
                    </a:lnL>
                    <a:lnR w="12700">
                      <a:noFill/>
                    </a:lnR>
                    <a:lnT w="19050" cap="flat" cmpd="sng" algn="ctr">
                      <a:solidFill>
                        <a:srgbClr val="A0A0A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Infusion reactions; spinal or cervical cord compression; 8 mg sodium per vial; contains sorbitol (avoid in hereditary fructose intolerance)</a:t>
                      </a:r>
                    </a:p>
                  </a:txBody>
                  <a:tcPr marL="76200" marR="101600" marT="38100" marB="38100" anchor="ctr">
                    <a:lnL w="12700">
                      <a:noFill/>
                    </a:lnL>
                    <a:lnR w="12700">
                      <a:noFill/>
                    </a:lnR>
                    <a:lnT w="19050" cap="flat" cmpd="sng" algn="ctr">
                      <a:solidFill>
                        <a:srgbClr val="28509C"/>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Infusion-associated reactions</a:t>
                      </a:r>
                    </a:p>
                  </a:txBody>
                  <a:tcPr marL="76200" marR="101600" marT="38100" marB="38100" anchor="ctr">
                    <a:lnL w="12700">
                      <a:noFill/>
                    </a:lnL>
                    <a:lnR w="12700">
                      <a:noFill/>
                    </a:lnR>
                    <a:lnT w="19050" cap="flat" cmpd="sng" algn="ctr">
                      <a:solidFill>
                        <a:srgbClr val="A9218E"/>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431800">
                <a:tc>
                  <a:txBody>
                    <a:bodyPr/>
                    <a:lstStyle/>
                    <a:p>
                      <a:r>
                        <a:rPr lang="en-GB" sz="1400" b="1" dirty="0">
                          <a:solidFill>
                            <a:srgbClr val="002E56"/>
                          </a:solidFill>
                        </a:rPr>
                        <a:t>Pregnancy</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No data in pregnant women</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Do not use unless clearly necessary</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431800">
                <a:tc>
                  <a:txBody>
                    <a:bodyPr/>
                    <a:lstStyle/>
                    <a:p>
                      <a:r>
                        <a:rPr lang="en-GB" sz="1400" b="1" dirty="0">
                          <a:solidFill>
                            <a:srgbClr val="002E56"/>
                          </a:solidFill>
                        </a:rPr>
                        <a:t>Breast-feeding</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Only if benefit outweighs the risk to the infant</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Stop breast-feeding during treatment</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431800">
                <a:tc>
                  <a:txBody>
                    <a:bodyPr/>
                    <a:lstStyle/>
                    <a:p>
                      <a:r>
                        <a:rPr lang="en-GB" sz="1400" b="1" dirty="0">
                          <a:solidFill>
                            <a:srgbClr val="002E56"/>
                          </a:solidFill>
                        </a:rPr>
                        <a:t>Fertility</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No impairment in nonclinical studies</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No impaired fertility or fetal harm in rats and rabbits</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4"/>
                  </a:ext>
                </a:extLst>
              </a:tr>
              <a:tr h="431800">
                <a:tc>
                  <a:txBody>
                    <a:bodyPr/>
                    <a:lstStyle/>
                    <a:p>
                      <a:r>
                        <a:rPr lang="en-GB" sz="1400" b="1" dirty="0">
                          <a:solidFill>
                            <a:srgbClr val="002E56"/>
                          </a:solidFill>
                        </a:rPr>
                        <a:t>Age ≥65 years</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Safety and efficacy not established; no alternative dose</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Safety and efficacy not established; no alternative dose</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5"/>
                  </a:ext>
                </a:extLst>
              </a:tr>
              <a:tr h="431800">
                <a:tc>
                  <a:txBody>
                    <a:bodyPr/>
                    <a:lstStyle/>
                    <a:p>
                      <a:r>
                        <a:rPr lang="en-GB" sz="1400" b="1" dirty="0">
                          <a:solidFill>
                            <a:srgbClr val="002E56"/>
                          </a:solidFill>
                        </a:rPr>
                        <a:t>Renal or hepatic impairment</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Not evaluated; no alternative dose</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6"/>
                  </a:ext>
                </a:extLst>
              </a:tr>
              <a:tr h="431800">
                <a:tc>
                  <a:txBody>
                    <a:bodyPr/>
                    <a:lstStyle/>
                    <a:p>
                      <a:r>
                        <a:rPr lang="en-GB" sz="1400" b="1" dirty="0">
                          <a:solidFill>
                            <a:srgbClr val="002E56"/>
                          </a:solidFill>
                        </a:rPr>
                        <a:t>Young children and higher doses</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&lt;5 years at 2 mg/kg/week: safety as in older children. Doses up to 4 mg/kg/week: no specific signs</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GB" sz="1400" dirty="0">
                          <a:solidFill>
                            <a:srgbClr val="2B2B2B"/>
                          </a:solidFill>
                        </a:rPr>
                        <a:t>&lt;1 year at 2 mg/kg/week (n=4): safety did not differ meaningfully from 1 mg/kg/week</a:t>
                      </a:r>
                    </a:p>
                  </a:txBody>
                  <a:tcPr marL="76200" marR="1016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7"/>
                  </a:ext>
                </a:extLst>
              </a:tr>
            </a:tbl>
          </a:graphicData>
        </a:graphic>
      </p:graphicFrame>
      <p:sp>
        <p:nvSpPr>
          <p:cNvPr id="303" name="References"/>
          <p:cNvSpPr txBox="1"/>
          <p:nvPr/>
        </p:nvSpPr>
        <p:spPr>
          <a:xfrm>
            <a:off x="660400" y="6019800"/>
            <a:ext cx="10871200" cy="381000"/>
          </a:xfrm>
          <a:prstGeom prst="rect">
            <a:avLst/>
          </a:prstGeom>
          <a:noFill/>
        </p:spPr>
        <p:txBody>
          <a:bodyPr wrap="square" lIns="0" tIns="0" rIns="0" bIns="0" anchor="t">
            <a:noAutofit/>
          </a:bodyPr>
          <a:lstStyle/>
          <a:p>
            <a:pPr>
              <a:buNone/>
            </a:pPr>
            <a:r>
              <a:rPr lang="en-GB" sz="900" dirty="0">
                <a:solidFill>
                  <a:srgbClr val="646464"/>
                </a:solidFill>
              </a:rPr>
              <a:t>1. Elosulfase alfa Summary of Product Characteristics. 2. Galsulfase Summary of Product Characteristics.</a:t>
            </a:r>
          </a:p>
        </p:txBody>
      </p:sp>
    </p:spTree>
    <p:extLst>
      <p:ext uri="{BB962C8B-B14F-4D97-AF65-F5344CB8AC3E}">
        <p14:creationId xmlns:p14="http://schemas.microsoft.com/office/powerpoint/2010/main" val="26144311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clinical programme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Morquio A clinical programme</a:t>
            </a:r>
            <a:endParaRPr lang="en-GB" dirty="0"/>
          </a:p>
        </p:txBody>
      </p:sp>
      <p:graphicFrame>
        <p:nvGraphicFramePr>
          <p:cNvPr id="302" name="Trial table"/>
          <p:cNvGraphicFramePr>
            <a:graphicFrameLocks noGrp="1"/>
          </p:cNvGraphicFramePr>
          <p:nvPr/>
        </p:nvGraphicFramePr>
        <p:xfrm>
          <a:off x="660400" y="1447800"/>
          <a:ext cx="10871200" cy="4008120"/>
        </p:xfrm>
        <a:graphic>
          <a:graphicData uri="http://schemas.openxmlformats.org/drawingml/2006/table">
            <a:tbl>
              <a:tblPr firstRow="1"/>
              <a:tblGrid>
                <a:gridCol w="1498600">
                  <a:extLst>
                    <a:ext uri="{9D8B030D-6E8A-4147-A177-3AD203B41FA5}">
                      <a16:colId xmlns:a16="http://schemas.microsoft.com/office/drawing/2014/main" val="20000"/>
                    </a:ext>
                  </a:extLst>
                </a:gridCol>
                <a:gridCol w="59690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330200">
                <a:tc>
                  <a:txBody>
                    <a:bodyPr/>
                    <a:lstStyle/>
                    <a:p>
                      <a:pPr algn="l"/>
                      <a:r>
                        <a:rPr lang="en-GB" sz="1400" b="1" dirty="0">
                          <a:solidFill>
                            <a:srgbClr val="002E56"/>
                          </a:solidFill>
                        </a:rPr>
                        <a:t>Study</a:t>
                      </a:r>
                    </a:p>
                  </a:txBody>
                  <a:tcPr marL="76200" marR="76200" marT="50800" marB="50800" anchor="ctr">
                    <a:lnL w="12700">
                      <a:noFill/>
                    </a:lnL>
                    <a:lnR w="12700">
                      <a:noFill/>
                    </a:lnR>
                    <a:lnT w="12700">
                      <a:noFill/>
                    </a:lnT>
                    <a:lnB w="12700">
                      <a:solidFill>
                        <a:srgbClr val="28509C"/>
                      </a:solidFill>
                    </a:lnB>
                    <a:noFill/>
                  </a:tcPr>
                </a:tc>
                <a:tc>
                  <a:txBody>
                    <a:bodyPr/>
                    <a:lstStyle/>
                    <a:p>
                      <a:pPr algn="l"/>
                      <a:r>
                        <a:rPr lang="en-GB" sz="1400" b="1" dirty="0">
                          <a:solidFill>
                            <a:srgbClr val="002E56"/>
                          </a:solidFill>
                        </a:rPr>
                        <a:t>Design</a:t>
                      </a:r>
                    </a:p>
                  </a:txBody>
                  <a:tcPr marL="76200" marR="76200" marT="50800" marB="50800" anchor="ctr">
                    <a:lnL w="12700">
                      <a:noFill/>
                    </a:lnL>
                    <a:lnR w="12700">
                      <a:noFill/>
                    </a:lnR>
                    <a:lnT w="12700">
                      <a:noFill/>
                    </a:lnT>
                    <a:lnB w="12700">
                      <a:solidFill>
                        <a:srgbClr val="28509C"/>
                      </a:solidFill>
                    </a:lnB>
                    <a:noFill/>
                  </a:tcPr>
                </a:tc>
                <a:tc>
                  <a:txBody>
                    <a:bodyPr/>
                    <a:lstStyle/>
                    <a:p>
                      <a:pPr algn="r"/>
                      <a:r>
                        <a:rPr lang="en-GB" sz="1400" b="1" dirty="0">
                          <a:solidFill>
                            <a:srgbClr val="002E56"/>
                          </a:solidFill>
                        </a:rPr>
                        <a:t>n</a:t>
                      </a:r>
                    </a:p>
                  </a:txBody>
                  <a:tcPr marL="76200" marR="76200" marT="50800" marB="50800" anchor="ctr">
                    <a:lnL w="12700">
                      <a:noFill/>
                    </a:lnL>
                    <a:lnR w="12700">
                      <a:noFill/>
                    </a:lnR>
                    <a:lnT w="12700">
                      <a:noFill/>
                    </a:lnT>
                    <a:lnB w="12700">
                      <a:solidFill>
                        <a:srgbClr val="28509C"/>
                      </a:solidFill>
                    </a:lnB>
                    <a:noFill/>
                  </a:tcPr>
                </a:tc>
                <a:tc>
                  <a:txBody>
                    <a:bodyPr/>
                    <a:lstStyle/>
                    <a:p>
                      <a:pPr algn="r"/>
                      <a:r>
                        <a:rPr lang="en-GB" sz="1400" b="1" dirty="0">
                          <a:solidFill>
                            <a:srgbClr val="002E56"/>
                          </a:solidFill>
                        </a:rPr>
                        <a:t>Start</a:t>
                      </a:r>
                    </a:p>
                  </a:txBody>
                  <a:tcPr marL="76200" marR="76200" marT="50800" marB="50800" anchor="ctr">
                    <a:lnL w="12700">
                      <a:noFill/>
                    </a:lnL>
                    <a:lnR w="12700">
                      <a:noFill/>
                    </a:lnR>
                    <a:lnT w="12700">
                      <a:noFill/>
                    </a:lnT>
                    <a:lnB w="12700">
                      <a:solidFill>
                        <a:srgbClr val="28509C"/>
                      </a:solidFill>
                    </a:lnB>
                    <a:noFill/>
                  </a:tcPr>
                </a:tc>
                <a:tc>
                  <a:txBody>
                    <a:bodyPr/>
                    <a:lstStyle/>
                    <a:p>
                      <a:pPr algn="r"/>
                      <a:r>
                        <a:rPr lang="en-GB" sz="1400" b="1" dirty="0">
                          <a:solidFill>
                            <a:srgbClr val="002E56"/>
                          </a:solidFill>
                        </a:rPr>
                        <a:t>Duration</a:t>
                      </a:r>
                    </a:p>
                  </a:txBody>
                  <a:tcPr marL="76200" marR="76200" marT="50800" marB="50800" anchor="ctr">
                    <a:lnL w="12700">
                      <a:noFill/>
                    </a:lnL>
                    <a:lnR w="12700">
                      <a:noFill/>
                    </a:lnR>
                    <a:lnT w="12700">
                      <a:noFill/>
                    </a:lnT>
                    <a:lnB w="12700">
                      <a:solidFill>
                        <a:srgbClr val="28509C"/>
                      </a:solidFill>
                    </a:lnB>
                    <a:noFill/>
                  </a:tcPr>
                </a:tc>
                <a:extLst>
                  <a:ext uri="{0D108BD9-81ED-4DB2-BD59-A6C34878D82A}">
                    <a16:rowId xmlns:a16="http://schemas.microsoft.com/office/drawing/2014/main" val="10000"/>
                  </a:ext>
                </a:extLst>
              </a:tr>
              <a:tr h="393700">
                <a:tc>
                  <a:txBody>
                    <a:bodyPr/>
                    <a:lstStyle/>
                    <a:p>
                      <a:pPr algn="l"/>
                      <a:r>
                        <a:rPr lang="en-GB" sz="1400" b="1" dirty="0">
                          <a:solidFill>
                            <a:srgbClr val="28509C"/>
                          </a:solidFill>
                        </a:rPr>
                        <a:t>MOR-001</a:t>
                      </a:r>
                      <a:r>
                        <a:rPr lang="en-GB" sz="1400" b="1" baseline="30000" dirty="0">
                          <a:solidFill>
                            <a:srgbClr val="28509C"/>
                          </a:solidFill>
                        </a:rPr>
                        <a:t>1,2</a:t>
                      </a:r>
                    </a:p>
                  </a:txBody>
                  <a:tcPr marL="76200" marR="76200" marT="50800" marB="508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Observational, longitudinal, untreated natural history (registry): MorCAP</a:t>
                      </a:r>
                    </a:p>
                  </a:txBody>
                  <a:tcPr marL="76200" marR="76200" marT="50800" marB="508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325</a:t>
                      </a:r>
                    </a:p>
                  </a:txBody>
                  <a:tcPr marL="76200" marR="76200" marT="50800" marB="508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2008</a:t>
                      </a:r>
                    </a:p>
                  </a:txBody>
                  <a:tcPr marL="76200" marR="76200" marT="50800" marB="508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Up to 10 years</a:t>
                      </a:r>
                    </a:p>
                  </a:txBody>
                  <a:tcPr marL="76200" marR="76200" marT="50800" marB="508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393700">
                <a:tc>
                  <a:txBody>
                    <a:bodyPr/>
                    <a:lstStyle/>
                    <a:p>
                      <a:pPr algn="l"/>
                      <a:r>
                        <a:rPr lang="en-GB" sz="1400" b="1" dirty="0">
                          <a:solidFill>
                            <a:srgbClr val="28509C"/>
                          </a:solidFill>
                        </a:rPr>
                        <a:t>MOR-002</a:t>
                      </a:r>
                      <a:r>
                        <a:rPr lang="en-GB" sz="1400" b="1" baseline="30000" dirty="0">
                          <a:solidFill>
                            <a:srgbClr val="28509C"/>
                          </a:solidFill>
                        </a:rPr>
                        <a:t>1,3</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Phase I/II, open-label, dose-escalation: safety and efficacy</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20</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2010</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72 weeks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393700">
                <a:tc>
                  <a:txBody>
                    <a:bodyPr/>
                    <a:lstStyle/>
                    <a:p>
                      <a:pPr algn="l"/>
                      <a:r>
                        <a:rPr lang="en-GB" sz="1400" b="1" dirty="0">
                          <a:solidFill>
                            <a:srgbClr val="28509C"/>
                          </a:solidFill>
                        </a:rPr>
                        <a:t>MOR-100</a:t>
                      </a:r>
                      <a:r>
                        <a:rPr lang="en-GB" sz="1400" b="1" baseline="30000" dirty="0">
                          <a:solidFill>
                            <a:srgbClr val="28509C"/>
                          </a:solidFill>
                        </a:rPr>
                        <a:t>3</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Extension of MOR-002: long-term safety and efficacy</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17</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192 weeks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393700">
                <a:tc>
                  <a:txBody>
                    <a:bodyPr/>
                    <a:lstStyle/>
                    <a:p>
                      <a:pPr algn="l"/>
                      <a:r>
                        <a:rPr lang="en-GB" sz="1400" b="1" dirty="0">
                          <a:solidFill>
                            <a:srgbClr val="28509C"/>
                          </a:solidFill>
                        </a:rPr>
                        <a:t>MOR-004</a:t>
                      </a:r>
                      <a:r>
                        <a:rPr lang="en-GB" sz="1400" b="1" baseline="30000" dirty="0">
                          <a:solidFill>
                            <a:srgbClr val="28509C"/>
                          </a:solidFill>
                        </a:rPr>
                        <a:t>1,4</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Phase III, randomised, double-blind, placebo-controlled: efficacy and safety</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176</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2010</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24 weeks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4"/>
                  </a:ext>
                </a:extLst>
              </a:tr>
              <a:tr h="393700">
                <a:tc>
                  <a:txBody>
                    <a:bodyPr/>
                    <a:lstStyle/>
                    <a:p>
                      <a:pPr algn="l"/>
                      <a:r>
                        <a:rPr lang="en-GB" sz="1400" b="1" dirty="0">
                          <a:solidFill>
                            <a:srgbClr val="28509C"/>
                          </a:solidFill>
                        </a:rPr>
                        <a:t>MOR-005</a:t>
                      </a:r>
                      <a:r>
                        <a:rPr lang="en-GB" sz="1400" b="1" baseline="30000" dirty="0">
                          <a:solidFill>
                            <a:srgbClr val="28509C"/>
                          </a:solidFill>
                        </a:rPr>
                        <a:t>5</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Extension of MOR-004: long-term efficacy and safety</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173</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96 weeks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5"/>
                  </a:ext>
                </a:extLst>
              </a:tr>
              <a:tr h="393700">
                <a:tc>
                  <a:txBody>
                    <a:bodyPr/>
                    <a:lstStyle/>
                    <a:p>
                      <a:pPr algn="l"/>
                      <a:r>
                        <a:rPr lang="en-GB" sz="1400" b="1" dirty="0">
                          <a:solidFill>
                            <a:srgbClr val="28509C"/>
                          </a:solidFill>
                        </a:rPr>
                        <a:t>MOR-006</a:t>
                      </a:r>
                      <a:r>
                        <a:rPr lang="en-GB" sz="1400" b="1" baseline="30000" dirty="0">
                          <a:solidFill>
                            <a:srgbClr val="28509C"/>
                          </a:solidFill>
                        </a:rPr>
                        <a:t>1</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Phase II, open-label: safety and efficacy in patients with limited ambulation</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13</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2012</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48 weeks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6"/>
                  </a:ext>
                </a:extLst>
              </a:tr>
              <a:tr h="393700">
                <a:tc>
                  <a:txBody>
                    <a:bodyPr/>
                    <a:lstStyle/>
                    <a:p>
                      <a:pPr algn="l"/>
                      <a:r>
                        <a:rPr lang="en-GB" sz="1400" b="1" dirty="0">
                          <a:solidFill>
                            <a:srgbClr val="28509C"/>
                          </a:solidFill>
                        </a:rPr>
                        <a:t>MOR-007</a:t>
                      </a:r>
                      <a:r>
                        <a:rPr lang="en-GB" sz="1400" b="1" baseline="30000" dirty="0">
                          <a:solidFill>
                            <a:srgbClr val="28509C"/>
                          </a:solidFill>
                        </a:rPr>
                        <a:t>1,6</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Phase II, open-label: safety and efficacy in patients &lt;5 years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15</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2011</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52 weeks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7"/>
                  </a:ext>
                </a:extLst>
              </a:tr>
              <a:tr h="393700">
                <a:tc>
                  <a:txBody>
                    <a:bodyPr/>
                    <a:lstStyle/>
                    <a:p>
                      <a:pPr algn="l"/>
                      <a:r>
                        <a:rPr lang="en-GB" sz="1400" b="1" dirty="0">
                          <a:solidFill>
                            <a:srgbClr val="28509C"/>
                          </a:solidFill>
                        </a:rPr>
                        <a:t>MOR-008</a:t>
                      </a:r>
                      <a:r>
                        <a:rPr lang="en-GB" sz="1400" b="1" baseline="30000" dirty="0">
                          <a:solidFill>
                            <a:srgbClr val="28509C"/>
                          </a:solidFill>
                        </a:rPr>
                        <a:t>1,7</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Phase II, randomised, double-blind: safety and physiological effects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25</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2012</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27 weeks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8"/>
                  </a:ext>
                </a:extLst>
              </a:tr>
              <a:tr h="393700">
                <a:tc>
                  <a:txBody>
                    <a:bodyPr/>
                    <a:lstStyle/>
                    <a:p>
                      <a:pPr algn="l"/>
                      <a:r>
                        <a:rPr lang="en-GB" sz="1400" b="1" dirty="0">
                          <a:solidFill>
                            <a:srgbClr val="28509C"/>
                          </a:solidFill>
                        </a:rPr>
                        <a:t>MARS</a:t>
                      </a:r>
                      <a:r>
                        <a:rPr lang="en-GB" sz="1400" b="1" baseline="30000" dirty="0">
                          <a:solidFill>
                            <a:srgbClr val="28509C"/>
                          </a:solidFill>
                        </a:rPr>
                        <a:t>1</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400" dirty="0">
                          <a:solidFill>
                            <a:srgbClr val="2B2B2B"/>
                          </a:solidFill>
                        </a:rPr>
                        <a:t>Observational, longitudinal (registry)</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Recruiting</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2014</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Up to 10 years</a:t>
                      </a:r>
                    </a:p>
                  </a:txBody>
                  <a:tcPr marL="76200" marR="76200" marT="50800" marB="508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9"/>
                  </a:ext>
                </a:extLst>
              </a:tr>
            </a:tbl>
          </a:graphicData>
        </a:graphic>
      </p:graphicFrame>
      <p:sp>
        <p:nvSpPr>
          <p:cNvPr id="303" name="Abbreviations"/>
          <p:cNvSpPr txBox="1"/>
          <p:nvPr/>
        </p:nvSpPr>
        <p:spPr>
          <a:xfrm>
            <a:off x="660400" y="5486400"/>
            <a:ext cx="10871200" cy="203200"/>
          </a:xfrm>
          <a:prstGeom prst="rect">
            <a:avLst/>
          </a:prstGeom>
          <a:noFill/>
        </p:spPr>
        <p:txBody>
          <a:bodyPr wrap="square" lIns="0" tIns="0" rIns="0" bIns="0" anchor="t">
            <a:noAutofit/>
          </a:bodyPr>
          <a:lstStyle/>
          <a:p>
            <a:pPr>
              <a:spcBef>
                <a:spcPts val="0"/>
              </a:spcBef>
              <a:buNone/>
            </a:pPr>
            <a:r>
              <a:rPr lang="en-GB" sz="1100" i="1" dirty="0">
                <a:solidFill>
                  <a:srgbClr val="404040"/>
                </a:solidFill>
              </a:rPr>
              <a:t>ERT, enzyme replacement therapy (MOR-002 to MOR-008 study elosulfase alfa); MARS, Morquio A Registry Study; MorCAP, Morquio A Clinical Assessment Program</a:t>
            </a:r>
          </a:p>
        </p:txBody>
      </p:sp>
      <p:sp>
        <p:nvSpPr>
          <p:cNvPr id="304" name="References"/>
          <p:cNvSpPr txBox="1"/>
          <p:nvPr/>
        </p:nvSpPr>
        <p:spPr>
          <a:xfrm>
            <a:off x="660400" y="5816600"/>
            <a:ext cx="10871200" cy="609600"/>
          </a:xfrm>
          <a:prstGeom prst="rect">
            <a:avLst/>
          </a:prstGeom>
          <a:noFill/>
        </p:spPr>
        <p:txBody>
          <a:bodyPr wrap="square" lIns="0" tIns="0" rIns="0" bIns="0" anchor="t">
            <a:noAutofit/>
          </a:bodyPr>
          <a:lstStyle/>
          <a:p>
            <a:pPr>
              <a:spcBef>
                <a:spcPts val="0"/>
              </a:spcBef>
              <a:buNone/>
            </a:pPr>
            <a:r>
              <a:rPr lang="en-GB" sz="900" dirty="0">
                <a:solidFill>
                  <a:srgbClr val="646464"/>
                </a:solidFill>
              </a:rPr>
              <a:t>1. ClinicalTrials.gov. 2. Harmatz P et al. Mol Genet Metab 2013;109:54–61. 3. Hendriksz CJ et al. Mol Genet Metab 2012;105:S35. 4. Hendriksz CJ et al. J Inherit Metab Dis 2014;37:979–90. 5. Hendriksz CJ et al. Mol Genet Metab 2016;119:131–43. 6. Jones SA et al. Pediatr Res 2015;78:717–22. 7. Burton BK et al. Am J Med Genet A 2015;167A:2272–81.</a:t>
            </a:r>
          </a:p>
        </p:txBody>
      </p:sp>
    </p:spTree>
    <p:extLst>
      <p:ext uri="{BB962C8B-B14F-4D97-AF65-F5344CB8AC3E}">
        <p14:creationId xmlns:p14="http://schemas.microsoft.com/office/powerpoint/2010/main" val="3569176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Starting treatment  |  What ERT can achieve</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ERT efficacy versus placebo at 24 weeks</a:t>
            </a:r>
            <a:endParaRPr lang="en-US" dirty="0"/>
          </a:p>
        </p:txBody>
      </p:sp>
      <p:sp>
        <p:nvSpPr>
          <p:cNvPr id="12" name="Shape 12"/>
          <p:cNvSpPr/>
          <p:nvPr/>
        </p:nvSpPr>
        <p:spPr>
          <a:xfrm>
            <a:off x="660400" y="1549400"/>
            <a:ext cx="5308600" cy="2336800"/>
          </a:xfrm>
          <a:prstGeom prst="roundRect">
            <a:avLst>
              <a:gd name="adj" fmla="val 4891"/>
            </a:avLst>
          </a:prstGeom>
          <a:solidFill>
            <a:srgbClr val="E8EEF7"/>
          </a:solidFill>
          <a:ln>
            <a:noFill/>
          </a:ln>
        </p:spPr>
        <p:txBody>
          <a:bodyPr wrap="square" lIns="0" tIns="0" rIns="0" bIns="0" rtlCol="0" anchor="t">
            <a:noAutofit/>
          </a:bodyPr>
          <a:lstStyle/>
          <a:p>
            <a:endParaRPr lang="en-US" dirty="0"/>
          </a:p>
        </p:txBody>
      </p:sp>
      <p:sp>
        <p:nvSpPr>
          <p:cNvPr id="14" name="Shape 14"/>
          <p:cNvSpPr txBox="1"/>
          <p:nvPr/>
        </p:nvSpPr>
        <p:spPr>
          <a:xfrm>
            <a:off x="965200" y="1727200"/>
            <a:ext cx="4826000" cy="254000"/>
          </a:xfrm>
          <a:prstGeom prst="rect">
            <a:avLst/>
          </a:prstGeom>
          <a:noFill/>
          <a:ln>
            <a:noFill/>
          </a:ln>
        </p:spPr>
        <p:txBody>
          <a:bodyPr wrap="square" lIns="0" tIns="0" rIns="0" bIns="0" rtlCol="0" anchor="t">
            <a:noAutofit/>
          </a:bodyPr>
          <a:lstStyle/>
          <a:p>
            <a:pPr>
              <a:spcBef>
                <a:spcPts val="0"/>
              </a:spcBef>
              <a:spcAft>
                <a:spcPts val="0"/>
              </a:spcAft>
              <a:buNone/>
            </a:pPr>
            <a:r>
              <a:rPr lang="en-US" sz="1200" b="1" spc="80" dirty="0">
                <a:solidFill>
                  <a:srgbClr val="1F4180"/>
                </a:solidFill>
              </a:rPr>
              <a:t>Elosulfase alfa  |  MPS IVA</a:t>
            </a:r>
          </a:p>
        </p:txBody>
      </p:sp>
      <p:sp>
        <p:nvSpPr>
          <p:cNvPr id="15" name="Shape 15"/>
          <p:cNvSpPr txBox="1"/>
          <p:nvPr/>
        </p:nvSpPr>
        <p:spPr>
          <a:xfrm>
            <a:off x="965200" y="2032000"/>
            <a:ext cx="4826000" cy="939800"/>
          </a:xfrm>
          <a:prstGeom prst="rect">
            <a:avLst/>
          </a:prstGeom>
          <a:noFill/>
          <a:ln>
            <a:noFill/>
          </a:ln>
        </p:spPr>
        <p:txBody>
          <a:bodyPr wrap="square" lIns="0" tIns="0" rIns="0" bIns="0" rtlCol="0" anchor="ctr">
            <a:noAutofit/>
          </a:bodyPr>
          <a:lstStyle/>
          <a:p>
            <a:pPr>
              <a:spcBef>
                <a:spcPts val="0"/>
              </a:spcBef>
              <a:spcAft>
                <a:spcPts val="0"/>
              </a:spcAft>
              <a:buNone/>
            </a:pPr>
            <a:r>
              <a:rPr lang="en-US" sz="5400" b="1" dirty="0">
                <a:solidFill>
                  <a:srgbClr val="002E56"/>
                </a:solidFill>
              </a:rPr>
              <a:t>+22.5 m</a:t>
            </a:r>
          </a:p>
        </p:txBody>
      </p:sp>
      <p:sp>
        <p:nvSpPr>
          <p:cNvPr id="16" name="Shape 16"/>
          <p:cNvSpPr txBox="1"/>
          <p:nvPr/>
        </p:nvSpPr>
        <p:spPr>
          <a:xfrm>
            <a:off x="965200" y="2971800"/>
            <a:ext cx="4826000" cy="838200"/>
          </a:xfrm>
          <a:prstGeom prst="rect">
            <a:avLst/>
          </a:prstGeom>
          <a:noFill/>
          <a:ln>
            <a:noFill/>
          </a:ln>
        </p:spPr>
        <p:txBody>
          <a:bodyPr wrap="square" lIns="0" tIns="0" rIns="0" bIns="0" rtlCol="0" anchor="t">
            <a:noAutofit/>
          </a:bodyPr>
          <a:lstStyle/>
          <a:p>
            <a:pPr>
              <a:spcBef>
                <a:spcPts val="0"/>
              </a:spcBef>
              <a:spcAft>
                <a:spcPts val="0"/>
              </a:spcAft>
              <a:buNone/>
            </a:pPr>
            <a:r>
              <a:rPr lang="en-US" sz="1500" dirty="0">
                <a:solidFill>
                  <a:srgbClr val="2B2B2B"/>
                </a:solidFill>
              </a:rPr>
              <a:t>more distance walked in 6 minutes than with placebo at week 24 (phase 3, n=176)</a:t>
            </a:r>
            <a:r>
              <a:rPr lang="en-US" sz="1500" baseline="30000" dirty="0">
                <a:solidFill>
                  <a:srgbClr val="2B2B2B"/>
                </a:solidFill>
              </a:rPr>
              <a:t>1</a:t>
            </a:r>
          </a:p>
        </p:txBody>
      </p:sp>
      <p:sp>
        <p:nvSpPr>
          <p:cNvPr id="17" name="Shape 17"/>
          <p:cNvSpPr/>
          <p:nvPr/>
        </p:nvSpPr>
        <p:spPr>
          <a:xfrm>
            <a:off x="6223000" y="1549400"/>
            <a:ext cx="5308600" cy="2336800"/>
          </a:xfrm>
          <a:prstGeom prst="roundRect">
            <a:avLst>
              <a:gd name="adj" fmla="val 4891"/>
            </a:avLst>
          </a:prstGeom>
          <a:solidFill>
            <a:srgbClr val="E8EEF7"/>
          </a:solidFill>
          <a:ln>
            <a:noFill/>
          </a:ln>
        </p:spPr>
        <p:txBody>
          <a:bodyPr wrap="square" lIns="0" tIns="0" rIns="0" bIns="0" rtlCol="0" anchor="t">
            <a:noAutofit/>
          </a:bodyPr>
          <a:lstStyle/>
          <a:p>
            <a:endParaRPr lang="en-US" dirty="0"/>
          </a:p>
        </p:txBody>
      </p:sp>
      <p:sp>
        <p:nvSpPr>
          <p:cNvPr id="19" name="Shape 19"/>
          <p:cNvSpPr txBox="1"/>
          <p:nvPr/>
        </p:nvSpPr>
        <p:spPr>
          <a:xfrm>
            <a:off x="6527800" y="1727200"/>
            <a:ext cx="4826000" cy="254000"/>
          </a:xfrm>
          <a:prstGeom prst="rect">
            <a:avLst/>
          </a:prstGeom>
          <a:noFill/>
          <a:ln>
            <a:noFill/>
          </a:ln>
        </p:spPr>
        <p:txBody>
          <a:bodyPr wrap="square" lIns="0" tIns="0" rIns="0" bIns="0" rtlCol="0" anchor="t">
            <a:noAutofit/>
          </a:bodyPr>
          <a:lstStyle/>
          <a:p>
            <a:pPr>
              <a:spcBef>
                <a:spcPts val="0"/>
              </a:spcBef>
              <a:spcAft>
                <a:spcPts val="0"/>
              </a:spcAft>
              <a:buNone/>
            </a:pPr>
            <a:r>
              <a:rPr lang="en-US" sz="1200" b="1" spc="80" dirty="0">
                <a:solidFill>
                  <a:srgbClr val="1F4180"/>
                </a:solidFill>
              </a:rPr>
              <a:t>Galsulfase  |  MPS VI</a:t>
            </a:r>
          </a:p>
        </p:txBody>
      </p:sp>
      <p:sp>
        <p:nvSpPr>
          <p:cNvPr id="20" name="Shape 20"/>
          <p:cNvSpPr txBox="1"/>
          <p:nvPr/>
        </p:nvSpPr>
        <p:spPr>
          <a:xfrm>
            <a:off x="6527800" y="2032000"/>
            <a:ext cx="4826000" cy="939800"/>
          </a:xfrm>
          <a:prstGeom prst="rect">
            <a:avLst/>
          </a:prstGeom>
          <a:noFill/>
          <a:ln>
            <a:noFill/>
          </a:ln>
        </p:spPr>
        <p:txBody>
          <a:bodyPr wrap="square" lIns="0" tIns="0" rIns="0" bIns="0" rtlCol="0" anchor="ctr">
            <a:noAutofit/>
          </a:bodyPr>
          <a:lstStyle/>
          <a:p>
            <a:pPr>
              <a:spcBef>
                <a:spcPts val="0"/>
              </a:spcBef>
              <a:spcAft>
                <a:spcPts val="0"/>
              </a:spcAft>
              <a:buNone/>
            </a:pPr>
            <a:r>
              <a:rPr lang="en-US" sz="5400" b="1" dirty="0">
                <a:solidFill>
                  <a:srgbClr val="002E56"/>
                </a:solidFill>
              </a:rPr>
              <a:t>+92 m</a:t>
            </a:r>
          </a:p>
        </p:txBody>
      </p:sp>
      <p:sp>
        <p:nvSpPr>
          <p:cNvPr id="21" name="Shape 21"/>
          <p:cNvSpPr txBox="1"/>
          <p:nvPr/>
        </p:nvSpPr>
        <p:spPr>
          <a:xfrm>
            <a:off x="6527800" y="2971800"/>
            <a:ext cx="4826000" cy="838200"/>
          </a:xfrm>
          <a:prstGeom prst="rect">
            <a:avLst/>
          </a:prstGeom>
          <a:noFill/>
          <a:ln>
            <a:noFill/>
          </a:ln>
        </p:spPr>
        <p:txBody>
          <a:bodyPr wrap="square" lIns="0" tIns="0" rIns="0" bIns="0" rtlCol="0" anchor="t">
            <a:noAutofit/>
          </a:bodyPr>
          <a:lstStyle/>
          <a:p>
            <a:pPr>
              <a:spcBef>
                <a:spcPts val="0"/>
              </a:spcBef>
              <a:spcAft>
                <a:spcPts val="0"/>
              </a:spcAft>
              <a:buNone/>
            </a:pPr>
            <a:r>
              <a:rPr lang="en-US" sz="1500" dirty="0">
                <a:solidFill>
                  <a:srgbClr val="2B2B2B"/>
                </a:solidFill>
              </a:rPr>
              <a:t>more distance walked in 12 minutes than with placebo at week 24 (phase 3, n=39); urinary GAGs fell by about 75%</a:t>
            </a:r>
            <a:r>
              <a:rPr lang="en-US" sz="1500" baseline="30000" dirty="0">
                <a:solidFill>
                  <a:srgbClr val="2B2B2B"/>
                </a:solidFill>
              </a:rPr>
              <a:t>2</a:t>
            </a:r>
          </a:p>
        </p:txBody>
      </p:sp>
      <p:sp>
        <p:nvSpPr>
          <p:cNvPr id="22" name="Shape 22"/>
          <p:cNvSpPr/>
          <p:nvPr/>
        </p:nvSpPr>
        <p:spPr>
          <a:xfrm>
            <a:off x="660400" y="4114800"/>
            <a:ext cx="10871200" cy="1219200"/>
          </a:xfrm>
          <a:prstGeom prst="roundRect">
            <a:avLst>
              <a:gd name="adj" fmla="val 9375"/>
            </a:avLst>
          </a:prstGeom>
          <a:solidFill>
            <a:srgbClr val="002E56"/>
          </a:solidFill>
          <a:ln>
            <a:noFill/>
          </a:ln>
        </p:spPr>
        <p:txBody>
          <a:bodyPr wrap="square" lIns="0" tIns="0" rIns="0" bIns="0" rtlCol="0" anchor="t">
            <a:noAutofit/>
          </a:bodyPr>
          <a:lstStyle/>
          <a:p>
            <a:endParaRPr lang="en-US" dirty="0"/>
          </a:p>
        </p:txBody>
      </p:sp>
      <p:sp>
        <p:nvSpPr>
          <p:cNvPr id="23" name="Shape 23"/>
          <p:cNvSpPr txBox="1"/>
          <p:nvPr/>
        </p:nvSpPr>
        <p:spPr>
          <a:xfrm>
            <a:off x="965200" y="4241800"/>
            <a:ext cx="2286000" cy="965200"/>
          </a:xfrm>
          <a:prstGeom prst="rect">
            <a:avLst/>
          </a:prstGeom>
          <a:noFill/>
          <a:ln>
            <a:noFill/>
          </a:ln>
        </p:spPr>
        <p:txBody>
          <a:bodyPr wrap="square" lIns="0" tIns="0" rIns="0" bIns="0" rtlCol="0" anchor="ctr">
            <a:noAutofit/>
          </a:bodyPr>
          <a:lstStyle/>
          <a:p>
            <a:pPr>
              <a:spcBef>
                <a:spcPts val="0"/>
              </a:spcBef>
              <a:spcAft>
                <a:spcPts val="0"/>
              </a:spcAft>
              <a:buNone/>
            </a:pPr>
            <a:r>
              <a:rPr lang="en-US" sz="1600" b="1" dirty="0">
                <a:solidFill>
                  <a:srgbClr val="FFFFFF"/>
                </a:solidFill>
              </a:rPr>
              <a:t>Long-term data</a:t>
            </a:r>
          </a:p>
        </p:txBody>
      </p:sp>
      <p:cxnSp>
        <p:nvCxnSpPr>
          <p:cNvPr id="24" name="Line 24"/>
          <p:cNvCxnSpPr/>
          <p:nvPr/>
        </p:nvCxnSpPr>
        <p:spPr>
          <a:xfrm>
            <a:off x="3327400" y="4343400"/>
            <a:ext cx="0" cy="762000"/>
          </a:xfrm>
          <a:prstGeom prst="line">
            <a:avLst/>
          </a:prstGeom>
          <a:ln w="9525">
            <a:solidFill>
              <a:srgbClr val="646464"/>
            </a:solidFill>
          </a:ln>
        </p:spPr>
      </p:cxnSp>
      <p:sp>
        <p:nvSpPr>
          <p:cNvPr id="25" name="Shape 25"/>
          <p:cNvSpPr txBox="1"/>
          <p:nvPr/>
        </p:nvSpPr>
        <p:spPr>
          <a:xfrm>
            <a:off x="3556000" y="4191000"/>
            <a:ext cx="7747000" cy="1066800"/>
          </a:xfrm>
          <a:prstGeom prst="rect">
            <a:avLst/>
          </a:prstGeom>
          <a:noFill/>
          <a:ln>
            <a:noFill/>
          </a:ln>
        </p:spPr>
        <p:txBody>
          <a:bodyPr wrap="square" lIns="0" tIns="0" rIns="0" bIns="0" rtlCol="0" anchor="ctr">
            <a:noAutofit/>
          </a:bodyPr>
          <a:lstStyle/>
          <a:p>
            <a:pPr>
              <a:spcBef>
                <a:spcPts val="0"/>
              </a:spcBef>
              <a:spcAft>
                <a:spcPts val="0"/>
              </a:spcAft>
              <a:buNone/>
            </a:pPr>
            <a:r>
              <a:rPr lang="en-US" sz="1500" dirty="0">
                <a:solidFill>
                  <a:srgbClr val="DCE4F2"/>
                </a:solidFill>
              </a:rPr>
              <a:t>Registries following patients for up to 10 years (MPS IVA) and 15 years (MPS VI) report sustained falls in urinary GAGs and maintained endurance on continued weekly ERT.</a:t>
            </a:r>
            <a:r>
              <a:rPr lang="en-US" sz="1500" baseline="30000" dirty="0">
                <a:solidFill>
                  <a:srgbClr val="DCE4F2"/>
                </a:solidFill>
              </a:rPr>
              <a:t>3,4</a:t>
            </a:r>
          </a:p>
        </p:txBody>
      </p:sp>
      <p:sp>
        <p:nvSpPr>
          <p:cNvPr id="26"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ERT, enzyme replacement therapy; GAG, glycosaminoglycan; MPS, mucopolysaccharidosis</a:t>
            </a:r>
          </a:p>
        </p:txBody>
      </p:sp>
      <p:sp>
        <p:nvSpPr>
          <p:cNvPr id="27"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Hendriksz CJ et al. J Inherit Metab Dis 2014;37:979–90. 2. Harmatz P et al. J Pediatr 2006;148:533–9. 3. Mitchell JJ et al. MARS 10-year data. WORLDSymposium 2025, poster. 4. Burton BK et al. Mol Genet Metab 2025;145:109135.</a:t>
            </a:r>
          </a:p>
        </p:txBody>
      </p:sp>
    </p:spTree>
    <p:extLst>
      <p:ext uri="{BB962C8B-B14F-4D97-AF65-F5344CB8AC3E}">
        <p14:creationId xmlns:p14="http://schemas.microsoft.com/office/powerpoint/2010/main" val="2690340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Kicker"/>
          <p:cNvSpPr txBox="1"/>
          <p:nvPr/>
        </p:nvSpPr>
        <p:spPr>
          <a:xfrm>
            <a:off x="660400" y="190500"/>
            <a:ext cx="10871200" cy="203200"/>
          </a:xfrm>
          <a:prstGeom prst="rect">
            <a:avLst/>
          </a:prstGeom>
          <a:noFill/>
          <a:ln>
            <a:noFill/>
          </a:ln>
        </p:spPr>
        <p:txBody>
          <a:bodyPr wrap="square" lIns="0" tIns="0" rIns="0" bIns="0" anchor="t">
            <a:noAutofit/>
          </a:bodyPr>
          <a:lstStyle/>
          <a:p>
            <a:pPr>
              <a:buNone/>
            </a:pPr>
            <a:r>
              <a:rPr lang="en-US" sz="1100" b="1" spc="100" dirty="0">
                <a:solidFill>
                  <a:srgbClr val="28509C"/>
                </a:solidFill>
              </a:rPr>
              <a:t>Management  |  Elosulfase alfa efficacy</a:t>
            </a:r>
          </a:p>
        </p:txBody>
      </p:sp>
      <p:sp>
        <p:nvSpPr>
          <p:cNvPr id="2" name="Title 1"/>
          <p:cNvSpPr>
            <a:spLocks noGrp="1"/>
          </p:cNvSpPr>
          <p:nvPr>
            <p:ph type="title"/>
          </p:nvPr>
        </p:nvSpPr>
        <p:spPr/>
        <p:txBody>
          <a:bodyPr/>
          <a:lstStyle/>
          <a:p>
            <a:r>
              <a:rPr lang="en-US"/>
              <a:t>MOR-004: study design and results</a:t>
            </a:r>
            <a:endParaRPr lang="en-US" dirty="0"/>
          </a:p>
        </p:txBody>
      </p:sp>
      <p:sp>
        <p:nvSpPr>
          <p:cNvPr id="23" name="Shape 24"/>
          <p:cNvSpPr txBox="1"/>
          <p:nvPr/>
        </p:nvSpPr>
        <p:spPr>
          <a:xfrm>
            <a:off x="5384800" y="1422400"/>
            <a:ext cx="6146800" cy="3937000"/>
          </a:xfrm>
          <a:prstGeom prst="rect">
            <a:avLst/>
          </a:prstGeom>
          <a:noFill/>
          <a:ln>
            <a:noFill/>
          </a:ln>
        </p:spPr>
        <p:txBody>
          <a:bodyPr wrap="square" lIns="0" tIns="0" rIns="0" bIns="0" anchor="t">
            <a:noAutofit/>
          </a:bodyPr>
          <a:lstStyle/>
          <a:p>
            <a:pPr>
              <a:buNone/>
            </a:pPr>
            <a:r>
              <a:rPr lang="en-US" sz="1100" b="1" spc="60" dirty="0">
                <a:solidFill>
                  <a:srgbClr val="28509C"/>
                </a:solidFill>
              </a:rPr>
              <a:t>Study design</a:t>
            </a:r>
          </a:p>
          <a:p>
            <a:pPr marL="177800" indent="-177800">
              <a:spcBef>
                <a:spcPts val="300"/>
              </a:spcBef>
              <a:buClr>
                <a:srgbClr val="28509C"/>
              </a:buClr>
              <a:buFont typeface="Arial"/>
              <a:buChar char="•"/>
            </a:pPr>
            <a:r>
              <a:rPr lang="en-US" sz="1400" dirty="0">
                <a:solidFill>
                  <a:srgbClr val="2B2B2B"/>
                </a:solidFill>
              </a:rPr>
              <a:t>Phase 3, randomised, double-blind, placebo-controlled; 176 patients aged ≥5 years with MPS IVA</a:t>
            </a:r>
          </a:p>
          <a:p>
            <a:pPr marL="177800" indent="-177800">
              <a:spcBef>
                <a:spcPts val="300"/>
              </a:spcBef>
              <a:buClr>
                <a:srgbClr val="28509C"/>
              </a:buClr>
              <a:buFont typeface="Arial"/>
              <a:buChar char="•"/>
            </a:pPr>
            <a:r>
              <a:rPr lang="en-US" sz="1400" dirty="0">
                <a:solidFill>
                  <a:srgbClr val="2B2B2B"/>
                </a:solidFill>
              </a:rPr>
              <a:t>2 mg/kg weekly, 2 mg/kg every other week, or placebo for 24 weeks</a:t>
            </a:r>
          </a:p>
          <a:p>
            <a:pPr marL="177800" indent="-177800">
              <a:spcBef>
                <a:spcPts val="300"/>
              </a:spcBef>
              <a:buClr>
                <a:srgbClr val="28509C"/>
              </a:buClr>
              <a:buFont typeface="Arial"/>
              <a:buChar char="•"/>
            </a:pPr>
            <a:r>
              <a:rPr lang="en-US" sz="1400" dirty="0">
                <a:solidFill>
                  <a:srgbClr val="2B2B2B"/>
                </a:solidFill>
              </a:rPr>
              <a:t>Primary endpoint: 6MWT; secondary: 3MSCT, urinary KS, lung function</a:t>
            </a:r>
          </a:p>
          <a:p>
            <a:pPr>
              <a:spcBef>
                <a:spcPts val="1200"/>
              </a:spcBef>
              <a:buNone/>
            </a:pPr>
            <a:r>
              <a:rPr lang="en-US" sz="1100" b="1" spc="60" dirty="0">
                <a:solidFill>
                  <a:srgbClr val="28509C"/>
                </a:solidFill>
              </a:rPr>
              <a:t>Result</a:t>
            </a:r>
          </a:p>
          <a:p>
            <a:pPr marL="177800" indent="-177800">
              <a:spcBef>
                <a:spcPts val="300"/>
              </a:spcBef>
              <a:buClr>
                <a:srgbClr val="28509C"/>
              </a:buClr>
              <a:buFont typeface="Arial"/>
              <a:buChar char="•"/>
            </a:pPr>
            <a:r>
              <a:rPr lang="en-US" sz="1400" b="1" dirty="0">
                <a:solidFill>
                  <a:srgbClr val="002E56"/>
                </a:solidFill>
              </a:rPr>
              <a:t>Weekly dosing</a:t>
            </a:r>
            <a:r>
              <a:rPr lang="en-US" sz="1400" dirty="0">
                <a:solidFill>
                  <a:srgbClr val="2B2B2B"/>
                </a:solidFill>
              </a:rPr>
              <a:t> walked 22.5 m further than placebo at week 24 (P=0.017)</a:t>
            </a:r>
          </a:p>
          <a:p>
            <a:pPr marL="177800" indent="-177800">
              <a:spcBef>
                <a:spcPts val="300"/>
              </a:spcBef>
              <a:buClr>
                <a:srgbClr val="28509C"/>
              </a:buClr>
              <a:buFont typeface="Arial"/>
              <a:buChar char="•"/>
            </a:pPr>
            <a:r>
              <a:rPr lang="en-US" sz="1400" dirty="0">
                <a:solidFill>
                  <a:srgbClr val="2B2B2B"/>
                </a:solidFill>
              </a:rPr>
              <a:t>Every-other-week dosing did not differ from placebo, which is why 2 mg/kg weekly is the approved dose</a:t>
            </a:r>
          </a:p>
        </p:txBody>
      </p:sp>
      <p:sp>
        <p:nvSpPr>
          <p:cNvPr id="24" name="Shape 25"/>
          <p:cNvSpPr txBox="1"/>
          <p:nvPr/>
        </p:nvSpPr>
        <p:spPr>
          <a:xfrm>
            <a:off x="660400" y="5676900"/>
            <a:ext cx="10871200" cy="203200"/>
          </a:xfrm>
          <a:prstGeom prst="rect">
            <a:avLst/>
          </a:prstGeom>
          <a:noFill/>
          <a:ln>
            <a:noFill/>
          </a:ln>
        </p:spPr>
        <p:txBody>
          <a:bodyPr wrap="square" lIns="0" tIns="0" rIns="0" bIns="0" anchor="t">
            <a:noAutofit/>
          </a:bodyPr>
          <a:lstStyle/>
          <a:p>
            <a:pPr>
              <a:buNone/>
            </a:pPr>
            <a:r>
              <a:rPr lang="en-US" sz="1100" i="1" dirty="0">
                <a:solidFill>
                  <a:srgbClr val="404040"/>
                </a:solidFill>
              </a:rPr>
              <a:t>3MSCT, 3-minute stair climb test; 6MWT, 6-minute walk test; KS, keratan sulfate; MPS, mucopolysaccharidosis</a:t>
            </a:r>
          </a:p>
        </p:txBody>
      </p:sp>
      <p:sp>
        <p:nvSpPr>
          <p:cNvPr id="25" name="Shape 26"/>
          <p:cNvSpPr txBox="1"/>
          <p:nvPr/>
        </p:nvSpPr>
        <p:spPr>
          <a:xfrm>
            <a:off x="660400" y="5943600"/>
            <a:ext cx="10871200" cy="330200"/>
          </a:xfrm>
          <a:prstGeom prst="rect">
            <a:avLst/>
          </a:prstGeom>
          <a:noFill/>
          <a:ln>
            <a:noFill/>
          </a:ln>
        </p:spPr>
        <p:txBody>
          <a:bodyPr wrap="square" lIns="0" tIns="0" rIns="0" bIns="0" anchor="t">
            <a:noAutofit/>
          </a:bodyPr>
          <a:lstStyle/>
          <a:p>
            <a:pPr>
              <a:buNone/>
            </a:pPr>
            <a:r>
              <a:rPr lang="en-US" sz="900" dirty="0">
                <a:solidFill>
                  <a:srgbClr val="646464"/>
                </a:solidFill>
              </a:rPr>
              <a:t>Hendriksz CJ et al. J Inherit Metab Dis 2014;37:979–90.</a:t>
            </a:r>
          </a:p>
        </p:txBody>
      </p:sp>
      <p:sp>
        <p:nvSpPr>
          <p:cNvPr id="400" name="Design header"/>
          <p:cNvSpPr/>
          <p:nvPr/>
        </p:nvSpPr>
        <p:spPr>
          <a:xfrm>
            <a:off x="1905000" y="1371600"/>
            <a:ext cx="2794000" cy="965200"/>
          </a:xfrm>
          <a:prstGeom prst="rect">
            <a:avLst/>
          </a:prstGeom>
          <a:noFill/>
          <a:ln>
            <a:noFill/>
          </a:ln>
        </p:spPr>
        <p:txBody>
          <a:bodyPr wrap="square" lIns="0" tIns="0" rIns="0" bIns="0" anchor="b">
            <a:noAutofit/>
          </a:bodyPr>
          <a:lstStyle/>
          <a:p>
            <a:pPr algn="l">
              <a:spcBef>
                <a:spcPts val="0"/>
              </a:spcBef>
              <a:buNone/>
            </a:pPr>
            <a:r>
              <a:rPr lang="en-GB" sz="1600" b="1" dirty="0">
                <a:solidFill>
                  <a:srgbClr val="002E56"/>
                </a:solidFill>
              </a:rPr>
              <a:t>MOR-004</a:t>
            </a:r>
          </a:p>
          <a:p>
            <a:pPr algn="l">
              <a:spcBef>
                <a:spcPts val="0"/>
              </a:spcBef>
              <a:buNone/>
            </a:pPr>
            <a:r>
              <a:rPr lang="en-GB" sz="1400" dirty="0">
                <a:solidFill>
                  <a:srgbClr val="002E56"/>
                </a:solidFill>
              </a:rPr>
              <a:t>Phase III</a:t>
            </a:r>
          </a:p>
          <a:p>
            <a:pPr algn="l">
              <a:spcBef>
                <a:spcPts val="0"/>
              </a:spcBef>
              <a:buNone/>
            </a:pPr>
            <a:r>
              <a:rPr lang="en-GB" sz="1400" dirty="0">
                <a:solidFill>
                  <a:srgbClr val="002E56"/>
                </a:solidFill>
              </a:rPr>
              <a:t>Double-blind</a:t>
            </a:r>
          </a:p>
          <a:p>
            <a:pPr algn="l">
              <a:spcBef>
                <a:spcPts val="0"/>
              </a:spcBef>
              <a:buNone/>
            </a:pPr>
            <a:r>
              <a:rPr lang="en-GB" sz="1400" dirty="0">
                <a:solidFill>
                  <a:srgbClr val="002E56"/>
                </a:solidFill>
              </a:rPr>
              <a:t>Randomised</a:t>
            </a:r>
          </a:p>
        </p:txBody>
      </p:sp>
      <p:sp>
        <p:nvSpPr>
          <p:cNvPr id="401" name="Arm"/>
          <p:cNvSpPr/>
          <p:nvPr/>
        </p:nvSpPr>
        <p:spPr>
          <a:xfrm>
            <a:off x="1905000" y="2489200"/>
            <a:ext cx="2794000" cy="584200"/>
          </a:xfrm>
          <a:prstGeom prst="rect">
            <a:avLst/>
          </a:prstGeom>
          <a:solidFill>
            <a:srgbClr val="A9218E"/>
          </a:solidFill>
          <a:ln>
            <a:noFill/>
          </a:ln>
        </p:spPr>
        <p:txBody>
          <a:bodyPr wrap="square" lIns="0" tIns="0" rIns="0" bIns="0" anchor="ctr">
            <a:noAutofit/>
          </a:bodyPr>
          <a:lstStyle/>
          <a:p>
            <a:pPr algn="ctr">
              <a:spcBef>
                <a:spcPts val="0"/>
              </a:spcBef>
              <a:buNone/>
            </a:pPr>
            <a:r>
              <a:rPr lang="en-GB" sz="1400" b="1" dirty="0">
                <a:solidFill>
                  <a:srgbClr val="FFFFFF"/>
                </a:solidFill>
              </a:rPr>
              <a:t>Elosulfase alfa</a:t>
            </a:r>
          </a:p>
          <a:p>
            <a:pPr algn="ctr">
              <a:spcBef>
                <a:spcPts val="0"/>
              </a:spcBef>
              <a:buNone/>
            </a:pPr>
            <a:r>
              <a:rPr lang="en-GB" sz="1300" dirty="0">
                <a:solidFill>
                  <a:srgbClr val="FFFFFF"/>
                </a:solidFill>
              </a:rPr>
              <a:t>2.0 mg/kg weekly (n=58)</a:t>
            </a:r>
          </a:p>
        </p:txBody>
      </p:sp>
      <p:sp>
        <p:nvSpPr>
          <p:cNvPr id="402" name="Arm"/>
          <p:cNvSpPr/>
          <p:nvPr/>
        </p:nvSpPr>
        <p:spPr>
          <a:xfrm>
            <a:off x="1905000" y="3251200"/>
            <a:ext cx="2794000" cy="660400"/>
          </a:xfrm>
          <a:prstGeom prst="rect">
            <a:avLst/>
          </a:prstGeom>
          <a:solidFill>
            <a:srgbClr val="002E56"/>
          </a:solidFill>
          <a:ln>
            <a:noFill/>
          </a:ln>
        </p:spPr>
        <p:txBody>
          <a:bodyPr wrap="square" lIns="0" tIns="0" rIns="0" bIns="0" anchor="ctr">
            <a:noAutofit/>
          </a:bodyPr>
          <a:lstStyle/>
          <a:p>
            <a:pPr algn="ctr">
              <a:spcBef>
                <a:spcPts val="0"/>
              </a:spcBef>
              <a:buNone/>
            </a:pPr>
            <a:r>
              <a:rPr lang="en-GB" sz="1400" b="1" dirty="0">
                <a:solidFill>
                  <a:srgbClr val="FFFFFF"/>
                </a:solidFill>
              </a:rPr>
              <a:t>Elosulfase alfa</a:t>
            </a:r>
          </a:p>
          <a:p>
            <a:pPr algn="ctr">
              <a:spcBef>
                <a:spcPts val="0"/>
              </a:spcBef>
              <a:buNone/>
            </a:pPr>
            <a:r>
              <a:rPr lang="en-GB" sz="1300" dirty="0">
                <a:solidFill>
                  <a:srgbClr val="FFFFFF"/>
                </a:solidFill>
              </a:rPr>
              <a:t>2.0 mg/kg every other week</a:t>
            </a:r>
          </a:p>
          <a:p>
            <a:pPr algn="ctr">
              <a:spcBef>
                <a:spcPts val="0"/>
              </a:spcBef>
              <a:buNone/>
            </a:pPr>
            <a:r>
              <a:rPr lang="en-GB" sz="1300" dirty="0">
                <a:solidFill>
                  <a:srgbClr val="FFFFFF"/>
                </a:solidFill>
              </a:rPr>
              <a:t>(n=59)</a:t>
            </a:r>
          </a:p>
        </p:txBody>
      </p:sp>
      <p:sp>
        <p:nvSpPr>
          <p:cNvPr id="403" name="Arm"/>
          <p:cNvSpPr/>
          <p:nvPr/>
        </p:nvSpPr>
        <p:spPr>
          <a:xfrm>
            <a:off x="1905000" y="4089400"/>
            <a:ext cx="2794000" cy="584200"/>
          </a:xfrm>
          <a:prstGeom prst="rect">
            <a:avLst/>
          </a:prstGeom>
          <a:solidFill>
            <a:srgbClr val="F1F4F9"/>
          </a:solidFill>
          <a:ln w="12700">
            <a:solidFill>
              <a:srgbClr val="A0A0A0"/>
            </a:solidFill>
          </a:ln>
        </p:spPr>
        <p:txBody>
          <a:bodyPr wrap="square" lIns="0" tIns="0" rIns="0" bIns="0" anchor="ctr">
            <a:noAutofit/>
          </a:bodyPr>
          <a:lstStyle/>
          <a:p>
            <a:pPr algn="ctr">
              <a:spcBef>
                <a:spcPts val="0"/>
              </a:spcBef>
              <a:buNone/>
            </a:pPr>
            <a:r>
              <a:rPr lang="en-GB" sz="1400" b="1" dirty="0">
                <a:solidFill>
                  <a:srgbClr val="002E56"/>
                </a:solidFill>
              </a:rPr>
              <a:t>Placebo</a:t>
            </a:r>
          </a:p>
          <a:p>
            <a:pPr algn="ctr">
              <a:spcBef>
                <a:spcPts val="0"/>
              </a:spcBef>
              <a:buNone/>
            </a:pPr>
            <a:r>
              <a:rPr lang="en-GB" sz="1300" dirty="0">
                <a:solidFill>
                  <a:srgbClr val="002E56"/>
                </a:solidFill>
              </a:rPr>
              <a:t>(n=59)</a:t>
            </a:r>
          </a:p>
        </p:txBody>
      </p:sp>
      <p:cxnSp>
        <p:nvCxnSpPr>
          <p:cNvPr id="404" name="Design line"/>
          <p:cNvCxnSpPr/>
          <p:nvPr/>
        </p:nvCxnSpPr>
        <p:spPr>
          <a:xfrm>
            <a:off x="1625600" y="2781300"/>
            <a:ext cx="0" cy="1600200"/>
          </a:xfrm>
          <a:prstGeom prst="line">
            <a:avLst/>
          </a:prstGeom>
          <a:ln w="15875">
            <a:solidFill>
              <a:srgbClr val="002E56"/>
            </a:solidFill>
          </a:ln>
        </p:spPr>
      </p:cxnSp>
      <p:cxnSp>
        <p:nvCxnSpPr>
          <p:cNvPr id="405" name="Design line"/>
          <p:cNvCxnSpPr/>
          <p:nvPr/>
        </p:nvCxnSpPr>
        <p:spPr>
          <a:xfrm>
            <a:off x="1625600" y="2781300"/>
            <a:ext cx="279400" cy="0"/>
          </a:xfrm>
          <a:prstGeom prst="line">
            <a:avLst/>
          </a:prstGeom>
          <a:ln w="15875">
            <a:solidFill>
              <a:srgbClr val="002E56"/>
            </a:solidFill>
          </a:ln>
        </p:spPr>
      </p:cxnSp>
      <p:cxnSp>
        <p:nvCxnSpPr>
          <p:cNvPr id="406" name="Design line"/>
          <p:cNvCxnSpPr/>
          <p:nvPr/>
        </p:nvCxnSpPr>
        <p:spPr>
          <a:xfrm>
            <a:off x="1625600" y="3581400"/>
            <a:ext cx="279400" cy="0"/>
          </a:xfrm>
          <a:prstGeom prst="line">
            <a:avLst/>
          </a:prstGeom>
          <a:ln w="15875">
            <a:solidFill>
              <a:srgbClr val="002E56"/>
            </a:solidFill>
          </a:ln>
        </p:spPr>
      </p:cxnSp>
      <p:cxnSp>
        <p:nvCxnSpPr>
          <p:cNvPr id="407" name="Design line"/>
          <p:cNvCxnSpPr/>
          <p:nvPr/>
        </p:nvCxnSpPr>
        <p:spPr>
          <a:xfrm>
            <a:off x="1625600" y="4381500"/>
            <a:ext cx="279400" cy="0"/>
          </a:xfrm>
          <a:prstGeom prst="line">
            <a:avLst/>
          </a:prstGeom>
          <a:ln w="15875">
            <a:solidFill>
              <a:srgbClr val="002E56"/>
            </a:solidFill>
          </a:ln>
        </p:spPr>
      </p:cxnSp>
      <p:cxnSp>
        <p:nvCxnSpPr>
          <p:cNvPr id="408" name="Design line"/>
          <p:cNvCxnSpPr/>
          <p:nvPr/>
        </p:nvCxnSpPr>
        <p:spPr>
          <a:xfrm>
            <a:off x="1270000" y="3581400"/>
            <a:ext cx="355600" cy="0"/>
          </a:xfrm>
          <a:prstGeom prst="line">
            <a:avLst/>
          </a:prstGeom>
          <a:ln w="15875">
            <a:solidFill>
              <a:srgbClr val="002E56"/>
            </a:solidFill>
          </a:ln>
        </p:spPr>
      </p:cxnSp>
      <p:sp>
        <p:nvSpPr>
          <p:cNvPr id="409" name="Screening label"/>
          <p:cNvSpPr/>
          <p:nvPr/>
        </p:nvSpPr>
        <p:spPr>
          <a:xfrm rot="-5400000">
            <a:off x="457200" y="3441700"/>
            <a:ext cx="1397000" cy="279400"/>
          </a:xfrm>
          <a:prstGeom prst="rect">
            <a:avLst/>
          </a:prstGeom>
          <a:noFill/>
          <a:ln>
            <a:noFill/>
          </a:ln>
        </p:spPr>
        <p:txBody>
          <a:bodyPr wrap="square" lIns="0" tIns="0" rIns="0" bIns="0" anchor="ctr">
            <a:noAutofit/>
          </a:bodyPr>
          <a:lstStyle/>
          <a:p>
            <a:pPr algn="ctr">
              <a:spcBef>
                <a:spcPts val="0"/>
              </a:spcBef>
              <a:buNone/>
            </a:pPr>
            <a:r>
              <a:rPr lang="en-GB" sz="1400" b="1" dirty="0">
                <a:solidFill>
                  <a:srgbClr val="002E56"/>
                </a:solidFill>
              </a:rPr>
              <a:t>Screening</a:t>
            </a:r>
          </a:p>
        </p:txBody>
      </p:sp>
      <p:cxnSp>
        <p:nvCxnSpPr>
          <p:cNvPr id="410" name="Design line"/>
          <p:cNvCxnSpPr/>
          <p:nvPr/>
        </p:nvCxnSpPr>
        <p:spPr>
          <a:xfrm>
            <a:off x="1905000" y="5054600"/>
            <a:ext cx="2794000" cy="0"/>
          </a:xfrm>
          <a:prstGeom prst="line">
            <a:avLst/>
          </a:prstGeom>
          <a:ln w="15875">
            <a:solidFill>
              <a:srgbClr val="002E56"/>
            </a:solidFill>
          </a:ln>
        </p:spPr>
      </p:cxnSp>
      <p:cxnSp>
        <p:nvCxnSpPr>
          <p:cNvPr id="411" name="Design line"/>
          <p:cNvCxnSpPr/>
          <p:nvPr/>
        </p:nvCxnSpPr>
        <p:spPr>
          <a:xfrm>
            <a:off x="1905000" y="4978400"/>
            <a:ext cx="0" cy="152400"/>
          </a:xfrm>
          <a:prstGeom prst="line">
            <a:avLst/>
          </a:prstGeom>
          <a:ln w="15875">
            <a:solidFill>
              <a:srgbClr val="002E56"/>
            </a:solidFill>
          </a:ln>
        </p:spPr>
      </p:cxnSp>
      <p:cxnSp>
        <p:nvCxnSpPr>
          <p:cNvPr id="412" name="Design line"/>
          <p:cNvCxnSpPr/>
          <p:nvPr/>
        </p:nvCxnSpPr>
        <p:spPr>
          <a:xfrm>
            <a:off x="4699000" y="4978400"/>
            <a:ext cx="0" cy="152400"/>
          </a:xfrm>
          <a:prstGeom prst="line">
            <a:avLst/>
          </a:prstGeom>
          <a:ln w="15875">
            <a:solidFill>
              <a:srgbClr val="002E56"/>
            </a:solidFill>
          </a:ln>
        </p:spPr>
      </p:cxnSp>
      <p:sp>
        <p:nvSpPr>
          <p:cNvPr id="413" name="Time 0"/>
          <p:cNvSpPr/>
          <p:nvPr/>
        </p:nvSpPr>
        <p:spPr>
          <a:xfrm>
            <a:off x="1397000" y="5181600"/>
            <a:ext cx="1016000" cy="228600"/>
          </a:xfrm>
          <a:prstGeom prst="rect">
            <a:avLst/>
          </a:prstGeom>
          <a:noFill/>
          <a:ln>
            <a:noFill/>
          </a:ln>
        </p:spPr>
        <p:txBody>
          <a:bodyPr wrap="square" lIns="0" tIns="0" rIns="0" bIns="0" anchor="ctr">
            <a:noAutofit/>
          </a:bodyPr>
          <a:lstStyle/>
          <a:p>
            <a:pPr algn="ctr">
              <a:spcBef>
                <a:spcPts val="0"/>
              </a:spcBef>
              <a:buNone/>
            </a:pPr>
            <a:r>
              <a:rPr lang="en-GB" sz="1300" dirty="0">
                <a:solidFill>
                  <a:srgbClr val="404040"/>
                </a:solidFill>
              </a:rPr>
              <a:t>0 weeks</a:t>
            </a:r>
          </a:p>
        </p:txBody>
      </p:sp>
      <p:sp>
        <p:nvSpPr>
          <p:cNvPr id="414" name="Time 24"/>
          <p:cNvSpPr/>
          <p:nvPr/>
        </p:nvSpPr>
        <p:spPr>
          <a:xfrm>
            <a:off x="4191000" y="5181600"/>
            <a:ext cx="1016000" cy="228600"/>
          </a:xfrm>
          <a:prstGeom prst="rect">
            <a:avLst/>
          </a:prstGeom>
          <a:noFill/>
          <a:ln>
            <a:noFill/>
          </a:ln>
        </p:spPr>
        <p:txBody>
          <a:bodyPr wrap="square" lIns="0" tIns="0" rIns="0" bIns="0" anchor="ctr">
            <a:noAutofit/>
          </a:bodyPr>
          <a:lstStyle/>
          <a:p>
            <a:pPr algn="ctr">
              <a:spcBef>
                <a:spcPts val="0"/>
              </a:spcBef>
              <a:buNone/>
            </a:pPr>
            <a:r>
              <a:rPr lang="en-GB" sz="1300" dirty="0">
                <a:solidFill>
                  <a:srgbClr val="404040"/>
                </a:solidFill>
              </a:rPr>
              <a:t>24 weeks</a:t>
            </a:r>
          </a:p>
        </p:txBody>
      </p:sp>
    </p:spTree>
    <p:extLst>
      <p:ext uri="{BB962C8B-B14F-4D97-AF65-F5344CB8AC3E}">
        <p14:creationId xmlns:p14="http://schemas.microsoft.com/office/powerpoint/2010/main" val="3154714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MOR-004: 6-minute walk test at week 24</a:t>
            </a:r>
          </a:p>
        </p:txBody>
      </p:sp>
      <p:sp>
        <p:nvSpPr>
          <p:cNvPr id="302" name="Stat"/>
          <p:cNvSpPr/>
          <p:nvPr/>
        </p:nvSpPr>
        <p:spPr>
          <a:xfrm>
            <a:off x="660400" y="1422400"/>
            <a:ext cx="4826000" cy="1752600"/>
          </a:xfrm>
          <a:prstGeom prst="roundRect">
            <a:avLst>
              <a:gd name="adj" fmla="val 8000"/>
            </a:avLst>
          </a:prstGeom>
          <a:solidFill>
            <a:srgbClr val="E3EAF5"/>
          </a:solidFill>
          <a:ln>
            <a:noFill/>
          </a:ln>
        </p:spPr>
        <p:txBody>
          <a:bodyPr wrap="square" lIns="177800" tIns="177800" rIns="177800" bIns="177800" anchor="t">
            <a:noAutofit/>
          </a:bodyPr>
          <a:lstStyle/>
          <a:p>
            <a:pPr>
              <a:spcBef>
                <a:spcPts val="0"/>
              </a:spcBef>
              <a:buNone/>
            </a:pPr>
            <a:r>
              <a:rPr lang="en-GB" sz="1100" b="1" spc="60" dirty="0">
                <a:solidFill>
                  <a:srgbClr val="28509C"/>
                </a:solidFill>
              </a:rPr>
              <a:t>Weekly dosing versus placebo</a:t>
            </a:r>
          </a:p>
          <a:p>
            <a:pPr>
              <a:spcBef>
                <a:spcPts val="300"/>
              </a:spcBef>
              <a:buNone/>
            </a:pPr>
            <a:r>
              <a:rPr lang="en-GB" sz="3600" b="1" dirty="0">
                <a:solidFill>
                  <a:srgbClr val="28509C"/>
                </a:solidFill>
              </a:rPr>
              <a:t>+22.5 m</a:t>
            </a:r>
          </a:p>
          <a:p>
            <a:pPr>
              <a:spcBef>
                <a:spcPts val="200"/>
              </a:spcBef>
              <a:buNone/>
            </a:pPr>
            <a:r>
              <a:rPr lang="en-GB" sz="1400" dirty="0">
                <a:solidFill>
                  <a:srgbClr val="2B2B2B"/>
                </a:solidFill>
              </a:rPr>
              <a:t>in the 6MWT at week 24 with elosulfase alfa 2 mg/kg weekly (P=0.0174)</a:t>
            </a:r>
            <a:r>
              <a:rPr lang="en-GB" sz="1400" baseline="30000" dirty="0">
                <a:solidFill>
                  <a:srgbClr val="2B2B2B"/>
                </a:solidFill>
              </a:rPr>
              <a:t>1,2</a:t>
            </a:r>
          </a:p>
        </p:txBody>
      </p:sp>
      <p:sp>
        <p:nvSpPr>
          <p:cNvPr id="303" name="QOW"/>
          <p:cNvSpPr/>
          <p:nvPr/>
        </p:nvSpPr>
        <p:spPr>
          <a:xfrm>
            <a:off x="660400" y="3302000"/>
            <a:ext cx="4826000" cy="914400"/>
          </a:xfrm>
          <a:prstGeom prst="roundRect">
            <a:avLst>
              <a:gd name="adj" fmla="val 8000"/>
            </a:avLst>
          </a:prstGeom>
          <a:solidFill>
            <a:srgbClr val="F1F4F9"/>
          </a:solidFill>
          <a:ln>
            <a:noFill/>
          </a:ln>
        </p:spPr>
        <p:txBody>
          <a:bodyPr wrap="square" lIns="152400" tIns="152400" rIns="152400" bIns="152400" anchor="ctr">
            <a:noAutofit/>
          </a:bodyPr>
          <a:lstStyle/>
          <a:p>
            <a:pPr>
              <a:spcBef>
                <a:spcPts val="0"/>
              </a:spcBef>
              <a:buNone/>
            </a:pPr>
            <a:r>
              <a:rPr lang="en-GB" sz="1400" b="1" dirty="0">
                <a:solidFill>
                  <a:srgbClr val="002E56"/>
                </a:solidFill>
              </a:rPr>
              <a:t>Every other week: </a:t>
            </a:r>
            <a:r>
              <a:rPr lang="en-GB" sz="1400" dirty="0">
                <a:solidFill>
                  <a:srgbClr val="2B2B2B"/>
                </a:solidFill>
              </a:rPr>
              <a:t>2 mg/kg every other week did not differ significantly from placebo</a:t>
            </a:r>
            <a:r>
              <a:rPr lang="en-GB" sz="1400" baseline="30000" dirty="0">
                <a:solidFill>
                  <a:srgbClr val="2B2B2B"/>
                </a:solidFill>
              </a:rPr>
              <a:t>1</a:t>
            </a:r>
          </a:p>
        </p:txBody>
      </p:sp>
      <p:sp>
        <p:nvSpPr>
          <p:cNvPr id="304" name="Extension"/>
          <p:cNvSpPr/>
          <p:nvPr/>
        </p:nvSpPr>
        <p:spPr>
          <a:xfrm>
            <a:off x="660400" y="4343400"/>
            <a:ext cx="4826000" cy="1168400"/>
          </a:xfrm>
          <a:prstGeom prst="roundRect">
            <a:avLst>
              <a:gd name="adj" fmla="val 8000"/>
            </a:avLst>
          </a:prstGeom>
          <a:solidFill>
            <a:srgbClr val="F1F4F9"/>
          </a:solidFill>
          <a:ln>
            <a:noFill/>
          </a:ln>
        </p:spPr>
        <p:txBody>
          <a:bodyPr wrap="square" lIns="152400" tIns="152400" rIns="152400" bIns="152400" anchor="ctr">
            <a:noAutofit/>
          </a:bodyPr>
          <a:lstStyle/>
          <a:p>
            <a:pPr>
              <a:spcBef>
                <a:spcPts val="0"/>
              </a:spcBef>
              <a:buNone/>
            </a:pPr>
            <a:r>
              <a:rPr lang="en-GB" sz="1400" b="1" dirty="0">
                <a:solidFill>
                  <a:srgbClr val="002E56"/>
                </a:solidFill>
              </a:rPr>
              <a:t>Extension trials: </a:t>
            </a:r>
            <a:r>
              <a:rPr lang="en-GB" sz="1400" dirty="0">
                <a:solidFill>
                  <a:srgbClr val="2B2B2B"/>
                </a:solidFill>
              </a:rPr>
              <a:t>on 2 mg/kg weekly, endurance gains were maintained and urinary KS stayed reduced up to 156 weeks</a:t>
            </a:r>
            <a:r>
              <a:rPr lang="en-GB" sz="1400" baseline="30000" dirty="0">
                <a:solidFill>
                  <a:srgbClr val="2B2B2B"/>
                </a:solidFill>
              </a:rPr>
              <a:t>1</a:t>
            </a:r>
          </a:p>
        </p:txBody>
      </p:sp>
      <p:sp>
        <p:nvSpPr>
          <p:cNvPr id="305" name="Chart label"/>
          <p:cNvSpPr txBox="1"/>
          <p:nvPr/>
        </p:nvSpPr>
        <p:spPr>
          <a:xfrm>
            <a:off x="5791200" y="1422400"/>
            <a:ext cx="57404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Change in 6MWT from baseline, metres (mean ± SE)</a:t>
            </a:r>
          </a:p>
        </p:txBody>
      </p:sp>
      <p:graphicFrame>
        <p:nvGraphicFramePr>
          <p:cNvPr id="306" name="N table"/>
          <p:cNvGraphicFramePr>
            <a:graphicFrameLocks noGrp="1"/>
          </p:cNvGraphicFramePr>
          <p:nvPr/>
        </p:nvGraphicFramePr>
        <p:xfrm>
          <a:off x="5791200" y="4495800"/>
          <a:ext cx="5740400" cy="1016000"/>
        </p:xfrm>
        <a:graphic>
          <a:graphicData uri="http://schemas.openxmlformats.org/drawingml/2006/table">
            <a:tbl>
              <a:tblPr firstRow="1"/>
              <a:tblGrid>
                <a:gridCol w="19304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254000">
                <a:tc>
                  <a:txBody>
                    <a:bodyPr/>
                    <a:lstStyle/>
                    <a:p>
                      <a:pPr algn="l"/>
                      <a:r>
                        <a:rPr lang="en-GB" sz="1300" b="1" dirty="0">
                          <a:solidFill>
                            <a:srgbClr val="002E56"/>
                          </a:solidFill>
                        </a:rPr>
                        <a:t>Patients (n)</a:t>
                      </a:r>
                    </a:p>
                  </a:txBody>
                  <a:tcPr marL="50800" marR="76200" marT="25400" marB="25400" anchor="ctr">
                    <a:lnL w="12700">
                      <a:noFill/>
                    </a:lnL>
                    <a:lnR w="12700">
                      <a:noFill/>
                    </a:lnR>
                    <a:lnT w="12700">
                      <a:noFill/>
                    </a:lnT>
                    <a:lnB w="9525">
                      <a:solidFill>
                        <a:srgbClr val="A0A0A0"/>
                      </a:solidFill>
                    </a:lnB>
                    <a:noFill/>
                  </a:tcPr>
                </a:tc>
                <a:tc>
                  <a:txBody>
                    <a:bodyPr/>
                    <a:lstStyle/>
                    <a:p>
                      <a:pPr algn="r"/>
                      <a:r>
                        <a:rPr lang="en-GB" sz="1300" b="1" dirty="0">
                          <a:solidFill>
                            <a:srgbClr val="002E56"/>
                          </a:solidFill>
                        </a:rPr>
                        <a:t>Baseline</a:t>
                      </a:r>
                    </a:p>
                  </a:txBody>
                  <a:tcPr marL="50800" marR="76200" marT="25400" marB="25400" anchor="ctr">
                    <a:lnL w="12700">
                      <a:noFill/>
                    </a:lnL>
                    <a:lnR w="12700">
                      <a:noFill/>
                    </a:lnR>
                    <a:lnT w="12700">
                      <a:noFill/>
                    </a:lnT>
                    <a:lnB w="9525">
                      <a:solidFill>
                        <a:srgbClr val="A0A0A0"/>
                      </a:solidFill>
                    </a:lnB>
                    <a:noFill/>
                  </a:tcPr>
                </a:tc>
                <a:tc>
                  <a:txBody>
                    <a:bodyPr/>
                    <a:lstStyle/>
                    <a:p>
                      <a:pPr algn="r"/>
                      <a:r>
                        <a:rPr lang="en-GB" sz="1300" b="1" dirty="0">
                          <a:solidFill>
                            <a:srgbClr val="002E56"/>
                          </a:solidFill>
                        </a:rPr>
                        <a:t>Week 12</a:t>
                      </a:r>
                    </a:p>
                  </a:txBody>
                  <a:tcPr marL="50800" marR="76200" marT="25400" marB="25400" anchor="ctr">
                    <a:lnL w="12700">
                      <a:noFill/>
                    </a:lnL>
                    <a:lnR w="12700">
                      <a:noFill/>
                    </a:lnR>
                    <a:lnT w="12700">
                      <a:noFill/>
                    </a:lnT>
                    <a:lnB w="9525">
                      <a:solidFill>
                        <a:srgbClr val="A0A0A0"/>
                      </a:solidFill>
                    </a:lnB>
                    <a:noFill/>
                  </a:tcPr>
                </a:tc>
                <a:tc>
                  <a:txBody>
                    <a:bodyPr/>
                    <a:lstStyle/>
                    <a:p>
                      <a:pPr algn="r"/>
                      <a:r>
                        <a:rPr lang="en-GB" sz="1300" b="1" dirty="0">
                          <a:solidFill>
                            <a:srgbClr val="002E56"/>
                          </a:solidFill>
                        </a:rPr>
                        <a:t>Week 24</a:t>
                      </a:r>
                    </a:p>
                  </a:txBody>
                  <a:tcPr marL="50800" marR="76200" marT="25400" marB="2540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254000">
                <a:tc>
                  <a:txBody>
                    <a:bodyPr/>
                    <a:lstStyle/>
                    <a:p>
                      <a:pPr algn="l"/>
                      <a:r>
                        <a:rPr lang="en-GB" sz="1300" b="1" dirty="0">
                          <a:solidFill>
                            <a:srgbClr val="28509C"/>
                          </a:solidFill>
                        </a:rPr>
                        <a:t>Weekly</a:t>
                      </a:r>
                    </a:p>
                  </a:txBody>
                  <a:tcPr marL="50800" marR="76200" marT="25400" marB="25400" anchor="ctr">
                    <a:lnL w="12700">
                      <a:noFill/>
                    </a:lnL>
                    <a:lnR w="12700">
                      <a:noFill/>
                    </a:lnR>
                    <a:lnT w="9525" cap="flat" cmpd="sng" algn="ctr">
                      <a:solidFill>
                        <a:srgbClr val="A0A0A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58</a:t>
                      </a:r>
                    </a:p>
                  </a:txBody>
                  <a:tcPr marL="50800" marR="76200" marT="25400" marB="25400" anchor="ctr">
                    <a:lnL w="12700">
                      <a:noFill/>
                    </a:lnL>
                    <a:lnR w="12700">
                      <a:noFill/>
                    </a:lnR>
                    <a:lnT w="9525" cap="flat" cmpd="sng" algn="ctr">
                      <a:solidFill>
                        <a:srgbClr val="A0A0A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58</a:t>
                      </a:r>
                    </a:p>
                  </a:txBody>
                  <a:tcPr marL="50800" marR="76200" marT="25400" marB="25400" anchor="ctr">
                    <a:lnL w="12700">
                      <a:noFill/>
                    </a:lnL>
                    <a:lnR w="12700">
                      <a:noFill/>
                    </a:lnR>
                    <a:lnT w="9525" cap="flat" cmpd="sng" algn="ctr">
                      <a:solidFill>
                        <a:srgbClr val="A0A0A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57</a:t>
                      </a:r>
                    </a:p>
                  </a:txBody>
                  <a:tcPr marL="50800" marR="76200" marT="25400" marB="25400" anchor="ctr">
                    <a:lnL w="12700">
                      <a:noFill/>
                    </a:lnL>
                    <a:lnR w="12700">
                      <a:noFill/>
                    </a:lnR>
                    <a:lnT w="9525" cap="flat" cmpd="sng" algn="ctr">
                      <a:solidFill>
                        <a:srgbClr val="A0A0A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254000">
                <a:tc>
                  <a:txBody>
                    <a:bodyPr/>
                    <a:lstStyle/>
                    <a:p>
                      <a:pPr algn="l"/>
                      <a:r>
                        <a:rPr lang="en-GB" sz="1300" b="1" dirty="0">
                          <a:solidFill>
                            <a:srgbClr val="A9218E"/>
                          </a:solidFill>
                        </a:rPr>
                        <a:t>Every other week</a:t>
                      </a:r>
                    </a:p>
                  </a:txBody>
                  <a:tcPr marL="50800" marR="76200" marT="25400" marB="254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59</a:t>
                      </a:r>
                    </a:p>
                  </a:txBody>
                  <a:tcPr marL="50800" marR="76200" marT="25400" marB="254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59</a:t>
                      </a:r>
                    </a:p>
                  </a:txBody>
                  <a:tcPr marL="50800" marR="76200" marT="25400" marB="254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58</a:t>
                      </a:r>
                    </a:p>
                  </a:txBody>
                  <a:tcPr marL="50800" marR="76200" marT="25400" marB="254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254000">
                <a:tc>
                  <a:txBody>
                    <a:bodyPr/>
                    <a:lstStyle/>
                    <a:p>
                      <a:pPr algn="l"/>
                      <a:r>
                        <a:rPr lang="en-GB" sz="1300" b="1" dirty="0">
                          <a:solidFill>
                            <a:srgbClr val="404040"/>
                          </a:solidFill>
                        </a:rPr>
                        <a:t>Placebo</a:t>
                      </a:r>
                    </a:p>
                  </a:txBody>
                  <a:tcPr marL="50800" marR="76200" marT="25400" marB="254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59</a:t>
                      </a:r>
                    </a:p>
                  </a:txBody>
                  <a:tcPr marL="50800" marR="76200" marT="25400" marB="254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59</a:t>
                      </a:r>
                    </a:p>
                  </a:txBody>
                  <a:tcPr marL="50800" marR="76200" marT="25400" marB="254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300" dirty="0">
                          <a:solidFill>
                            <a:srgbClr val="2B2B2B"/>
                          </a:solidFill>
                        </a:rPr>
                        <a:t>59</a:t>
                      </a:r>
                    </a:p>
                  </a:txBody>
                  <a:tcPr marL="50800" marR="76200" marT="25400" marB="254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bl>
          </a:graphicData>
        </a:graphic>
      </p:graphicFrame>
      <p:sp>
        <p:nvSpPr>
          <p:cNvPr id="307" name="Abbreviations"/>
          <p:cNvSpPr txBox="1"/>
          <p:nvPr/>
        </p:nvSpPr>
        <p:spPr>
          <a:xfrm>
            <a:off x="660400" y="55880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6MWT, 6-minute walk test: a validated measure of endurance reflecting pulmonary, cardiovascular, circulatory and neuromuscular function. KS, keratan sulfate; SE, standard error</a:t>
            </a:r>
          </a:p>
        </p:txBody>
      </p:sp>
      <p:sp>
        <p:nvSpPr>
          <p:cNvPr id="308"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Elosulfase alfa Summary of Product Characteristics. 2. Hendriksz CJ et al. J Inherit Metab Dis 2014;37:979–90. 3. ATS Committee on Proficiency Standards. Am J Respir Crit Care Med 2002;166:111–7. 4. McDonald A et al. J Pediatr Rehab Med 2010;3:119–27.</a:t>
            </a:r>
          </a:p>
        </p:txBody>
      </p:sp>
      <p:graphicFrame>
        <p:nvGraphicFramePr>
          <p:cNvPr id="309" name="Chart"/>
          <p:cNvGraphicFramePr/>
          <p:nvPr/>
        </p:nvGraphicFramePr>
        <p:xfrm>
          <a:off x="5791200" y="1676400"/>
          <a:ext cx="5740400" cy="2768600"/>
        </p:xfrm>
        <a:graphic>
          <a:graphicData uri="http://schemas.openxmlformats.org/drawingml/2006/chart">
            <c:chart xmlns:c="http://schemas.openxmlformats.org/drawingml/2006/chart" xmlns:r="http://schemas.openxmlformats.org/officeDocument/2006/relationships" r:id="rId2"/>
          </a:graphicData>
        </a:graphic>
      </p:graphicFrame>
      <p:sp>
        <p:nvSpPr>
          <p:cNvPr id="700" name="Grey labels"/>
          <p:cNvSpPr txBox="1"/>
          <p:nvPr/>
        </p:nvSpPr>
        <p:spPr>
          <a:xfrm>
            <a:off x="10033000" y="3098800"/>
            <a:ext cx="1574800" cy="558800"/>
          </a:xfrm>
          <a:prstGeom prst="rect">
            <a:avLst/>
          </a:prstGeom>
          <a:noFill/>
        </p:spPr>
        <p:txBody>
          <a:bodyPr wrap="square" lIns="0" tIns="0" rIns="0" bIns="0" anchor="t">
            <a:noAutofit/>
          </a:bodyPr>
          <a:lstStyle/>
          <a:p>
            <a:pPr>
              <a:spcBef>
                <a:spcPts val="0"/>
              </a:spcBef>
              <a:buNone/>
            </a:pPr>
            <a:r>
              <a:rPr lang="en-GB" sz="1200" dirty="0">
                <a:solidFill>
                  <a:srgbClr val="A9218E"/>
                </a:solidFill>
              </a:rPr>
              <a:t>14.3 m Every other wk</a:t>
            </a:r>
          </a:p>
          <a:p>
            <a:pPr>
              <a:spcBef>
                <a:spcPts val="0"/>
              </a:spcBef>
              <a:buNone/>
            </a:pPr>
            <a:r>
              <a:rPr lang="en-GB" sz="1200" dirty="0">
                <a:solidFill>
                  <a:srgbClr val="646464"/>
                </a:solidFill>
              </a:rPr>
              <a:t>13.5 m Placebo</a:t>
            </a:r>
          </a:p>
        </p:txBody>
      </p:sp>
    </p:spTree>
    <p:extLst>
      <p:ext uri="{BB962C8B-B14F-4D97-AF65-F5344CB8AC3E}">
        <p14:creationId xmlns:p14="http://schemas.microsoft.com/office/powerpoint/2010/main" val="3820646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MOR-005: study design</a:t>
            </a:r>
            <a:endParaRPr lang="en-GB" dirty="0"/>
          </a:p>
        </p:txBody>
      </p:sp>
      <p:sp>
        <p:nvSpPr>
          <p:cNvPr id="302" name="Text"/>
          <p:cNvSpPr/>
          <p:nvPr/>
        </p:nvSpPr>
        <p:spPr>
          <a:xfrm>
            <a:off x="7823200" y="1574800"/>
            <a:ext cx="3708400" cy="1270000"/>
          </a:xfrm>
          <a:prstGeom prst="roundRect">
            <a:avLst>
              <a:gd name="adj" fmla="val 8000"/>
            </a:avLst>
          </a:prstGeom>
          <a:solidFill>
            <a:srgbClr val="F1F4F9"/>
          </a:solidFill>
          <a:ln>
            <a:noFill/>
          </a:ln>
        </p:spPr>
        <p:txBody>
          <a:bodyPr wrap="square" lIns="177800" tIns="177800" rIns="177800" bIns="177800" anchor="ctr">
            <a:noAutofit/>
          </a:bodyPr>
          <a:lstStyle/>
          <a:p>
            <a:pPr>
              <a:spcBef>
                <a:spcPts val="0"/>
              </a:spcBef>
              <a:buNone/>
            </a:pPr>
            <a:r>
              <a:rPr lang="en-GB" sz="1100" b="1" spc="60" dirty="0">
                <a:solidFill>
                  <a:srgbClr val="28509C"/>
                </a:solidFill>
              </a:rPr>
              <a:t>MOR-004, weeks 0–24</a:t>
            </a:r>
          </a:p>
          <a:p>
            <a:pPr>
              <a:spcBef>
                <a:spcPts val="400"/>
              </a:spcBef>
              <a:buNone/>
            </a:pPr>
            <a:r>
              <a:rPr lang="en-GB" sz="1400" dirty="0">
                <a:solidFill>
                  <a:srgbClr val="2B2B2B"/>
                </a:solidFill>
              </a:rPr>
              <a:t>176 patients randomised to weekly (n=58), every-other-week (n=59) dosing or placebo (n=59)</a:t>
            </a:r>
          </a:p>
        </p:txBody>
      </p:sp>
      <p:sp>
        <p:nvSpPr>
          <p:cNvPr id="303" name="Text"/>
          <p:cNvSpPr/>
          <p:nvPr/>
        </p:nvSpPr>
        <p:spPr>
          <a:xfrm>
            <a:off x="7823200" y="2971800"/>
            <a:ext cx="3708400" cy="1270000"/>
          </a:xfrm>
          <a:prstGeom prst="roundRect">
            <a:avLst>
              <a:gd name="adj" fmla="val 8000"/>
            </a:avLst>
          </a:prstGeom>
          <a:solidFill>
            <a:srgbClr val="F1F4F9"/>
          </a:solidFill>
          <a:ln>
            <a:noFill/>
          </a:ln>
        </p:spPr>
        <p:txBody>
          <a:bodyPr wrap="square" lIns="177800" tIns="177800" rIns="177800" bIns="177800" anchor="ctr">
            <a:noAutofit/>
          </a:bodyPr>
          <a:lstStyle/>
          <a:p>
            <a:pPr>
              <a:spcBef>
                <a:spcPts val="0"/>
              </a:spcBef>
              <a:buNone/>
            </a:pPr>
            <a:r>
              <a:rPr lang="en-GB" sz="1100" b="1" spc="60" dirty="0">
                <a:solidFill>
                  <a:srgbClr val="28509C"/>
                </a:solidFill>
              </a:rPr>
              <a:t>MOR-005 part 1</a:t>
            </a:r>
          </a:p>
          <a:p>
            <a:pPr>
              <a:spcBef>
                <a:spcPts val="400"/>
              </a:spcBef>
              <a:buNone/>
            </a:pPr>
            <a:r>
              <a:rPr lang="en-GB" sz="1400" dirty="0">
                <a:solidFill>
                  <a:srgbClr val="2B2B2B"/>
                </a:solidFill>
              </a:rPr>
              <a:t>Placebo patients re-randomised to weekly (n=29) or every-other-week (n=29) dosing</a:t>
            </a:r>
          </a:p>
        </p:txBody>
      </p:sp>
      <p:sp>
        <p:nvSpPr>
          <p:cNvPr id="304" name="Text"/>
          <p:cNvSpPr/>
          <p:nvPr/>
        </p:nvSpPr>
        <p:spPr>
          <a:xfrm>
            <a:off x="7823200" y="4368800"/>
            <a:ext cx="3708400" cy="1295400"/>
          </a:xfrm>
          <a:prstGeom prst="roundRect">
            <a:avLst>
              <a:gd name="adj" fmla="val 8000"/>
            </a:avLst>
          </a:prstGeom>
          <a:solidFill>
            <a:srgbClr val="F1F4F9"/>
          </a:solidFill>
          <a:ln>
            <a:noFill/>
          </a:ln>
        </p:spPr>
        <p:txBody>
          <a:bodyPr wrap="square" lIns="177800" tIns="177800" rIns="177800" bIns="177800" anchor="ctr">
            <a:noAutofit/>
          </a:bodyPr>
          <a:lstStyle/>
          <a:p>
            <a:pPr>
              <a:spcBef>
                <a:spcPts val="0"/>
              </a:spcBef>
              <a:buNone/>
            </a:pPr>
            <a:r>
              <a:rPr lang="en-GB" sz="1100" b="1" spc="60" dirty="0">
                <a:solidFill>
                  <a:srgbClr val="28509C"/>
                </a:solidFill>
              </a:rPr>
              <a:t>MOR-005 part 2</a:t>
            </a:r>
          </a:p>
          <a:p>
            <a:pPr>
              <a:spcBef>
                <a:spcPts val="400"/>
              </a:spcBef>
              <a:buNone/>
            </a:pPr>
            <a:r>
              <a:rPr lang="en-GB" sz="1400" dirty="0">
                <a:solidFill>
                  <a:srgbClr val="2B2B2B"/>
                </a:solidFill>
              </a:rPr>
              <a:t>All 173 patients on 2.0 mg/kg weekly; Part 2 began on a set date, not a study visit</a:t>
            </a:r>
          </a:p>
        </p:txBody>
      </p:sp>
      <p:sp>
        <p:nvSpPr>
          <p:cNvPr id="305" name="Abbreviations"/>
          <p:cNvSpPr txBox="1"/>
          <p:nvPr/>
        </p:nvSpPr>
        <p:spPr>
          <a:xfrm>
            <a:off x="660400" y="5816600"/>
            <a:ext cx="10871200" cy="203200"/>
          </a:xfrm>
          <a:prstGeom prst="rect">
            <a:avLst/>
          </a:prstGeom>
          <a:noFill/>
        </p:spPr>
        <p:txBody>
          <a:bodyPr wrap="square" lIns="0" tIns="0" rIns="0" bIns="0" anchor="t">
            <a:noAutofit/>
          </a:bodyPr>
          <a:lstStyle/>
          <a:p>
            <a:pPr>
              <a:spcBef>
                <a:spcPts val="0"/>
              </a:spcBef>
              <a:buNone/>
            </a:pPr>
            <a:r>
              <a:rPr lang="en-GB" sz="1100" i="1" dirty="0">
                <a:solidFill>
                  <a:srgbClr val="404040"/>
                </a:solidFill>
              </a:rPr>
              <a:t>Weekly and every-other-week doses are 2.0 mg/kg elosulfase alfa</a:t>
            </a:r>
          </a:p>
        </p:txBody>
      </p:sp>
      <p:sp>
        <p:nvSpPr>
          <p:cNvPr id="306" name="References"/>
          <p:cNvSpPr txBox="1"/>
          <p:nvPr/>
        </p:nvSpPr>
        <p:spPr>
          <a:xfrm>
            <a:off x="660400" y="6070600"/>
            <a:ext cx="10871200" cy="3810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Mol Genet Metab 2016;119:131–43.</a:t>
            </a:r>
          </a:p>
        </p:txBody>
      </p:sp>
      <p:sp>
        <p:nvSpPr>
          <p:cNvPr id="500" name="Header 004"/>
          <p:cNvSpPr/>
          <p:nvPr/>
        </p:nvSpPr>
        <p:spPr>
          <a:xfrm>
            <a:off x="1219200" y="1574800"/>
            <a:ext cx="2032000" cy="787400"/>
          </a:xfrm>
          <a:prstGeom prst="rect">
            <a:avLst/>
          </a:prstGeom>
          <a:noFill/>
          <a:ln>
            <a:noFill/>
          </a:ln>
        </p:spPr>
        <p:txBody>
          <a:bodyPr wrap="square" lIns="0" tIns="0" rIns="0" bIns="0" anchor="b">
            <a:noAutofit/>
          </a:bodyPr>
          <a:lstStyle/>
          <a:p>
            <a:pPr algn="ctr">
              <a:spcBef>
                <a:spcPts val="0"/>
              </a:spcBef>
              <a:buNone/>
            </a:pPr>
            <a:r>
              <a:rPr lang="en-GB" sz="1300" b="1" dirty="0">
                <a:solidFill>
                  <a:srgbClr val="002E56"/>
                </a:solidFill>
              </a:rPr>
              <a:t>MOR-004</a:t>
            </a:r>
          </a:p>
          <a:p>
            <a:pPr algn="ctr">
              <a:spcBef>
                <a:spcPts val="0"/>
              </a:spcBef>
              <a:buNone/>
            </a:pPr>
            <a:r>
              <a:rPr lang="en-GB" sz="1200" dirty="0">
                <a:solidFill>
                  <a:srgbClr val="002E56"/>
                </a:solidFill>
              </a:rPr>
              <a:t>Phase III</a:t>
            </a:r>
          </a:p>
          <a:p>
            <a:pPr algn="ctr">
              <a:spcBef>
                <a:spcPts val="0"/>
              </a:spcBef>
              <a:buNone/>
            </a:pPr>
            <a:r>
              <a:rPr lang="en-GB" sz="1200" dirty="0">
                <a:solidFill>
                  <a:srgbClr val="002E56"/>
                </a:solidFill>
              </a:rPr>
              <a:t>Double-blind</a:t>
            </a:r>
          </a:p>
          <a:p>
            <a:pPr algn="ctr">
              <a:spcBef>
                <a:spcPts val="0"/>
              </a:spcBef>
              <a:buNone/>
            </a:pPr>
            <a:r>
              <a:rPr lang="en-GB" sz="1200" dirty="0">
                <a:solidFill>
                  <a:srgbClr val="002E56"/>
                </a:solidFill>
              </a:rPr>
              <a:t>Randomised</a:t>
            </a:r>
          </a:p>
        </p:txBody>
      </p:sp>
      <p:sp>
        <p:nvSpPr>
          <p:cNvPr id="501" name="Header 005"/>
          <p:cNvSpPr/>
          <p:nvPr/>
        </p:nvSpPr>
        <p:spPr>
          <a:xfrm>
            <a:off x="3606800" y="1574800"/>
            <a:ext cx="2032000" cy="787400"/>
          </a:xfrm>
          <a:prstGeom prst="rect">
            <a:avLst/>
          </a:prstGeom>
          <a:noFill/>
          <a:ln>
            <a:noFill/>
          </a:ln>
        </p:spPr>
        <p:txBody>
          <a:bodyPr wrap="square" lIns="0" tIns="0" rIns="0" bIns="0" anchor="b">
            <a:noAutofit/>
          </a:bodyPr>
          <a:lstStyle/>
          <a:p>
            <a:pPr algn="ctr">
              <a:spcBef>
                <a:spcPts val="0"/>
              </a:spcBef>
              <a:buNone/>
            </a:pPr>
            <a:r>
              <a:rPr lang="en-GB" sz="1300" b="1" dirty="0">
                <a:solidFill>
                  <a:srgbClr val="002E56"/>
                </a:solidFill>
              </a:rPr>
              <a:t>MOR-005</a:t>
            </a:r>
          </a:p>
          <a:p>
            <a:pPr algn="ctr">
              <a:spcBef>
                <a:spcPts val="0"/>
              </a:spcBef>
              <a:buNone/>
            </a:pPr>
            <a:r>
              <a:rPr lang="en-GB" sz="1200" dirty="0">
                <a:solidFill>
                  <a:srgbClr val="002E56"/>
                </a:solidFill>
              </a:rPr>
              <a:t>Phase III</a:t>
            </a:r>
          </a:p>
          <a:p>
            <a:pPr algn="ctr">
              <a:spcBef>
                <a:spcPts val="0"/>
              </a:spcBef>
              <a:buNone/>
            </a:pPr>
            <a:r>
              <a:rPr lang="en-GB" sz="1200" dirty="0">
                <a:solidFill>
                  <a:srgbClr val="002E56"/>
                </a:solidFill>
              </a:rPr>
              <a:t>Open-label</a:t>
            </a:r>
          </a:p>
          <a:p>
            <a:pPr algn="ctr">
              <a:spcBef>
                <a:spcPts val="0"/>
              </a:spcBef>
              <a:buNone/>
            </a:pPr>
            <a:r>
              <a:rPr lang="en-GB" sz="1200" b="1" dirty="0">
                <a:solidFill>
                  <a:srgbClr val="002E56"/>
                </a:solidFill>
              </a:rPr>
              <a:t>Part 1</a:t>
            </a:r>
          </a:p>
        </p:txBody>
      </p:sp>
      <p:sp>
        <p:nvSpPr>
          <p:cNvPr id="502" name="Header part 2"/>
          <p:cNvSpPr/>
          <p:nvPr/>
        </p:nvSpPr>
        <p:spPr>
          <a:xfrm>
            <a:off x="5943600" y="1574800"/>
            <a:ext cx="1676400" cy="787400"/>
          </a:xfrm>
          <a:prstGeom prst="rect">
            <a:avLst/>
          </a:prstGeom>
          <a:noFill/>
          <a:ln>
            <a:noFill/>
          </a:ln>
        </p:spPr>
        <p:txBody>
          <a:bodyPr wrap="square" lIns="0" tIns="0" rIns="0" bIns="0" anchor="b">
            <a:noAutofit/>
          </a:bodyPr>
          <a:lstStyle/>
          <a:p>
            <a:pPr algn="ctr">
              <a:spcBef>
                <a:spcPts val="0"/>
              </a:spcBef>
              <a:buNone/>
            </a:pPr>
            <a:r>
              <a:rPr lang="en-GB" sz="1200" b="1" dirty="0">
                <a:solidFill>
                  <a:srgbClr val="002E56"/>
                </a:solidFill>
              </a:rPr>
              <a:t>Part 2</a:t>
            </a:r>
          </a:p>
          <a:p>
            <a:pPr algn="ctr">
              <a:spcBef>
                <a:spcPts val="0"/>
              </a:spcBef>
              <a:buNone/>
            </a:pPr>
            <a:r>
              <a:rPr lang="en-GB" sz="1100" i="1" dirty="0">
                <a:solidFill>
                  <a:srgbClr val="646464"/>
                </a:solidFill>
              </a:rPr>
              <a:t>(began at a set date, not a study visit)</a:t>
            </a:r>
          </a:p>
        </p:txBody>
      </p:sp>
      <p:sp>
        <p:nvSpPr>
          <p:cNvPr id="503" name="Arm"/>
          <p:cNvSpPr/>
          <p:nvPr/>
        </p:nvSpPr>
        <p:spPr>
          <a:xfrm>
            <a:off x="1219200" y="2413000"/>
            <a:ext cx="2032000" cy="609600"/>
          </a:xfrm>
          <a:prstGeom prst="rect">
            <a:avLst/>
          </a:prstGeom>
          <a:solidFill>
            <a:srgbClr val="A9218E"/>
          </a:solidFill>
          <a:ln>
            <a:noFill/>
          </a:ln>
        </p:spPr>
        <p:txBody>
          <a:bodyPr wrap="square" lIns="0" tIns="0" rIns="0" bIns="0" anchor="ctr">
            <a:noAutofit/>
          </a:bodyPr>
          <a:lstStyle/>
          <a:p>
            <a:pPr algn="ctr">
              <a:spcBef>
                <a:spcPts val="0"/>
              </a:spcBef>
              <a:buNone/>
            </a:pPr>
            <a:r>
              <a:rPr lang="en-GB" sz="1200" b="1" dirty="0">
                <a:solidFill>
                  <a:srgbClr val="FFFFFF"/>
                </a:solidFill>
              </a:rPr>
              <a:t>Elosulfase alfa</a:t>
            </a:r>
          </a:p>
          <a:p>
            <a:pPr algn="ctr">
              <a:spcBef>
                <a:spcPts val="0"/>
              </a:spcBef>
              <a:buNone/>
            </a:pPr>
            <a:r>
              <a:rPr lang="en-GB" sz="1200" dirty="0">
                <a:solidFill>
                  <a:srgbClr val="FFFFFF"/>
                </a:solidFill>
              </a:rPr>
              <a:t>2.0 mg/kg weekly</a:t>
            </a:r>
          </a:p>
          <a:p>
            <a:pPr algn="ctr">
              <a:spcBef>
                <a:spcPts val="0"/>
              </a:spcBef>
              <a:buNone/>
            </a:pPr>
            <a:r>
              <a:rPr lang="en-GB" sz="1200" dirty="0">
                <a:solidFill>
                  <a:srgbClr val="FFFFFF"/>
                </a:solidFill>
              </a:rPr>
              <a:t>(n=58)</a:t>
            </a:r>
          </a:p>
        </p:txBody>
      </p:sp>
      <p:sp>
        <p:nvSpPr>
          <p:cNvPr id="504" name="Arm"/>
          <p:cNvSpPr/>
          <p:nvPr/>
        </p:nvSpPr>
        <p:spPr>
          <a:xfrm>
            <a:off x="1219200" y="3098800"/>
            <a:ext cx="2032000" cy="609600"/>
          </a:xfrm>
          <a:prstGeom prst="rect">
            <a:avLst/>
          </a:prstGeom>
          <a:solidFill>
            <a:srgbClr val="002E56"/>
          </a:solidFill>
          <a:ln>
            <a:noFill/>
          </a:ln>
        </p:spPr>
        <p:txBody>
          <a:bodyPr wrap="square" lIns="0" tIns="0" rIns="0" bIns="0" anchor="ctr">
            <a:noAutofit/>
          </a:bodyPr>
          <a:lstStyle/>
          <a:p>
            <a:pPr algn="ctr">
              <a:spcBef>
                <a:spcPts val="0"/>
              </a:spcBef>
              <a:buNone/>
            </a:pPr>
            <a:r>
              <a:rPr lang="en-GB" sz="1200" b="1" dirty="0">
                <a:solidFill>
                  <a:srgbClr val="FFFFFF"/>
                </a:solidFill>
              </a:rPr>
              <a:t>Elosulfase alfa</a:t>
            </a:r>
          </a:p>
          <a:p>
            <a:pPr algn="ctr">
              <a:spcBef>
                <a:spcPts val="0"/>
              </a:spcBef>
              <a:buNone/>
            </a:pPr>
            <a:r>
              <a:rPr lang="en-GB" sz="1200" dirty="0">
                <a:solidFill>
                  <a:srgbClr val="FFFFFF"/>
                </a:solidFill>
              </a:rPr>
              <a:t>2.0 mg/kg every other wk</a:t>
            </a:r>
          </a:p>
          <a:p>
            <a:pPr algn="ctr">
              <a:spcBef>
                <a:spcPts val="0"/>
              </a:spcBef>
              <a:buNone/>
            </a:pPr>
            <a:r>
              <a:rPr lang="en-GB" sz="1200" dirty="0">
                <a:solidFill>
                  <a:srgbClr val="FFFFFF"/>
                </a:solidFill>
              </a:rPr>
              <a:t>(n=59)</a:t>
            </a:r>
          </a:p>
        </p:txBody>
      </p:sp>
      <p:sp>
        <p:nvSpPr>
          <p:cNvPr id="505" name="Arm"/>
          <p:cNvSpPr/>
          <p:nvPr/>
        </p:nvSpPr>
        <p:spPr>
          <a:xfrm>
            <a:off x="1219200" y="4127500"/>
            <a:ext cx="2032000" cy="609600"/>
          </a:xfrm>
          <a:prstGeom prst="rect">
            <a:avLst/>
          </a:prstGeom>
          <a:solidFill>
            <a:srgbClr val="F1F4F9"/>
          </a:solidFill>
          <a:ln w="12700">
            <a:solidFill>
              <a:srgbClr val="A0A0A0"/>
            </a:solidFill>
          </a:ln>
        </p:spPr>
        <p:txBody>
          <a:bodyPr wrap="square" lIns="0" tIns="0" rIns="0" bIns="0" anchor="ctr">
            <a:noAutofit/>
          </a:bodyPr>
          <a:lstStyle/>
          <a:p>
            <a:pPr algn="ctr">
              <a:spcBef>
                <a:spcPts val="0"/>
              </a:spcBef>
              <a:buNone/>
            </a:pPr>
            <a:r>
              <a:rPr lang="en-GB" sz="1200" b="1" dirty="0">
                <a:solidFill>
                  <a:srgbClr val="002E56"/>
                </a:solidFill>
              </a:rPr>
              <a:t>Placebo</a:t>
            </a:r>
          </a:p>
          <a:p>
            <a:pPr algn="ctr">
              <a:spcBef>
                <a:spcPts val="0"/>
              </a:spcBef>
              <a:buNone/>
            </a:pPr>
            <a:r>
              <a:rPr lang="en-GB" sz="1200" dirty="0">
                <a:solidFill>
                  <a:srgbClr val="002E56"/>
                </a:solidFill>
              </a:rPr>
              <a:t>(n=59)</a:t>
            </a:r>
          </a:p>
        </p:txBody>
      </p:sp>
      <p:sp>
        <p:nvSpPr>
          <p:cNvPr id="506" name="Arm"/>
          <p:cNvSpPr/>
          <p:nvPr/>
        </p:nvSpPr>
        <p:spPr>
          <a:xfrm>
            <a:off x="3606800" y="2413000"/>
            <a:ext cx="2032000" cy="609600"/>
          </a:xfrm>
          <a:prstGeom prst="rect">
            <a:avLst/>
          </a:prstGeom>
          <a:solidFill>
            <a:srgbClr val="A9218E"/>
          </a:solidFill>
          <a:ln>
            <a:noFill/>
          </a:ln>
        </p:spPr>
        <p:txBody>
          <a:bodyPr wrap="square" lIns="0" tIns="0" rIns="0" bIns="0" anchor="ctr">
            <a:noAutofit/>
          </a:bodyPr>
          <a:lstStyle/>
          <a:p>
            <a:pPr algn="ctr">
              <a:spcBef>
                <a:spcPts val="0"/>
              </a:spcBef>
              <a:buNone/>
            </a:pPr>
            <a:r>
              <a:rPr lang="en-GB" sz="1200" b="1" dirty="0">
                <a:solidFill>
                  <a:srgbClr val="FFFFFF"/>
                </a:solidFill>
              </a:rPr>
              <a:t>Elosulfase alfa</a:t>
            </a:r>
          </a:p>
          <a:p>
            <a:pPr algn="ctr">
              <a:spcBef>
                <a:spcPts val="0"/>
              </a:spcBef>
              <a:buNone/>
            </a:pPr>
            <a:r>
              <a:rPr lang="en-GB" sz="1200" dirty="0">
                <a:solidFill>
                  <a:srgbClr val="FFFFFF"/>
                </a:solidFill>
              </a:rPr>
              <a:t>2.0 mg/kg weekly</a:t>
            </a:r>
          </a:p>
          <a:p>
            <a:pPr algn="ctr">
              <a:spcBef>
                <a:spcPts val="0"/>
              </a:spcBef>
              <a:buNone/>
            </a:pPr>
            <a:r>
              <a:rPr lang="en-GB" sz="1200" dirty="0">
                <a:solidFill>
                  <a:srgbClr val="FFFFFF"/>
                </a:solidFill>
              </a:rPr>
              <a:t>(n=56)</a:t>
            </a:r>
          </a:p>
        </p:txBody>
      </p:sp>
      <p:sp>
        <p:nvSpPr>
          <p:cNvPr id="507" name="Arm"/>
          <p:cNvSpPr/>
          <p:nvPr/>
        </p:nvSpPr>
        <p:spPr>
          <a:xfrm>
            <a:off x="3606800" y="3098800"/>
            <a:ext cx="2032000" cy="609600"/>
          </a:xfrm>
          <a:prstGeom prst="rect">
            <a:avLst/>
          </a:prstGeom>
          <a:solidFill>
            <a:srgbClr val="002E56"/>
          </a:solidFill>
          <a:ln>
            <a:noFill/>
          </a:ln>
        </p:spPr>
        <p:txBody>
          <a:bodyPr wrap="square" lIns="0" tIns="0" rIns="0" bIns="0" anchor="ctr">
            <a:noAutofit/>
          </a:bodyPr>
          <a:lstStyle/>
          <a:p>
            <a:pPr algn="ctr">
              <a:spcBef>
                <a:spcPts val="0"/>
              </a:spcBef>
              <a:buNone/>
            </a:pPr>
            <a:r>
              <a:rPr lang="en-GB" sz="1200" b="1" dirty="0">
                <a:solidFill>
                  <a:srgbClr val="FFFFFF"/>
                </a:solidFill>
              </a:rPr>
              <a:t>Elosulfase alfa</a:t>
            </a:r>
          </a:p>
          <a:p>
            <a:pPr algn="ctr">
              <a:spcBef>
                <a:spcPts val="0"/>
              </a:spcBef>
              <a:buNone/>
            </a:pPr>
            <a:r>
              <a:rPr lang="en-GB" sz="1200" dirty="0">
                <a:solidFill>
                  <a:srgbClr val="FFFFFF"/>
                </a:solidFill>
              </a:rPr>
              <a:t>2.0 mg/kg every other wk</a:t>
            </a:r>
          </a:p>
          <a:p>
            <a:pPr algn="ctr">
              <a:spcBef>
                <a:spcPts val="0"/>
              </a:spcBef>
              <a:buNone/>
            </a:pPr>
            <a:r>
              <a:rPr lang="en-GB" sz="1200" dirty="0">
                <a:solidFill>
                  <a:srgbClr val="FFFFFF"/>
                </a:solidFill>
              </a:rPr>
              <a:t>(n=59)</a:t>
            </a:r>
          </a:p>
        </p:txBody>
      </p:sp>
      <p:sp>
        <p:nvSpPr>
          <p:cNvPr id="508" name="Arm"/>
          <p:cNvSpPr/>
          <p:nvPr/>
        </p:nvSpPr>
        <p:spPr>
          <a:xfrm>
            <a:off x="3606800" y="3784600"/>
            <a:ext cx="2032000" cy="609600"/>
          </a:xfrm>
          <a:prstGeom prst="rect">
            <a:avLst/>
          </a:prstGeom>
          <a:solidFill>
            <a:srgbClr val="A9218E"/>
          </a:solidFill>
          <a:ln>
            <a:noFill/>
          </a:ln>
        </p:spPr>
        <p:txBody>
          <a:bodyPr wrap="square" lIns="0" tIns="0" rIns="0" bIns="0" anchor="ctr">
            <a:noAutofit/>
          </a:bodyPr>
          <a:lstStyle/>
          <a:p>
            <a:pPr algn="ctr">
              <a:spcBef>
                <a:spcPts val="0"/>
              </a:spcBef>
              <a:buNone/>
            </a:pPr>
            <a:r>
              <a:rPr lang="en-GB" sz="1200" b="1" dirty="0">
                <a:solidFill>
                  <a:srgbClr val="FFFFFF"/>
                </a:solidFill>
              </a:rPr>
              <a:t>Elosulfase alfa</a:t>
            </a:r>
          </a:p>
          <a:p>
            <a:pPr algn="ctr">
              <a:spcBef>
                <a:spcPts val="0"/>
              </a:spcBef>
              <a:buNone/>
            </a:pPr>
            <a:r>
              <a:rPr lang="en-GB" sz="1200" dirty="0">
                <a:solidFill>
                  <a:srgbClr val="FFFFFF"/>
                </a:solidFill>
              </a:rPr>
              <a:t>2.0 mg/kg weekly</a:t>
            </a:r>
          </a:p>
          <a:p>
            <a:pPr algn="ctr">
              <a:spcBef>
                <a:spcPts val="0"/>
              </a:spcBef>
              <a:buNone/>
            </a:pPr>
            <a:r>
              <a:rPr lang="en-GB" sz="1200" dirty="0">
                <a:solidFill>
                  <a:srgbClr val="FFFFFF"/>
                </a:solidFill>
              </a:rPr>
              <a:t>(n=29)</a:t>
            </a:r>
          </a:p>
        </p:txBody>
      </p:sp>
      <p:sp>
        <p:nvSpPr>
          <p:cNvPr id="509" name="Arm"/>
          <p:cNvSpPr/>
          <p:nvPr/>
        </p:nvSpPr>
        <p:spPr>
          <a:xfrm>
            <a:off x="3606800" y="4470400"/>
            <a:ext cx="2032000" cy="609600"/>
          </a:xfrm>
          <a:prstGeom prst="rect">
            <a:avLst/>
          </a:prstGeom>
          <a:solidFill>
            <a:srgbClr val="002E56"/>
          </a:solidFill>
          <a:ln>
            <a:noFill/>
          </a:ln>
        </p:spPr>
        <p:txBody>
          <a:bodyPr wrap="square" lIns="0" tIns="0" rIns="0" bIns="0" anchor="ctr">
            <a:noAutofit/>
          </a:bodyPr>
          <a:lstStyle/>
          <a:p>
            <a:pPr algn="ctr">
              <a:spcBef>
                <a:spcPts val="0"/>
              </a:spcBef>
              <a:buNone/>
            </a:pPr>
            <a:r>
              <a:rPr lang="en-GB" sz="1200" b="1" dirty="0">
                <a:solidFill>
                  <a:srgbClr val="FFFFFF"/>
                </a:solidFill>
              </a:rPr>
              <a:t>Elosulfase alfa</a:t>
            </a:r>
          </a:p>
          <a:p>
            <a:pPr algn="ctr">
              <a:spcBef>
                <a:spcPts val="0"/>
              </a:spcBef>
              <a:buNone/>
            </a:pPr>
            <a:r>
              <a:rPr lang="en-GB" sz="1200" dirty="0">
                <a:solidFill>
                  <a:srgbClr val="FFFFFF"/>
                </a:solidFill>
              </a:rPr>
              <a:t>2.0 mg/kg every other wk</a:t>
            </a:r>
          </a:p>
          <a:p>
            <a:pPr algn="ctr">
              <a:spcBef>
                <a:spcPts val="0"/>
              </a:spcBef>
              <a:buNone/>
            </a:pPr>
            <a:r>
              <a:rPr lang="en-GB" sz="1200" dirty="0">
                <a:solidFill>
                  <a:srgbClr val="FFFFFF"/>
                </a:solidFill>
              </a:rPr>
              <a:t>(n=29)</a:t>
            </a:r>
          </a:p>
        </p:txBody>
      </p:sp>
      <p:sp>
        <p:nvSpPr>
          <p:cNvPr id="510" name="Arm"/>
          <p:cNvSpPr/>
          <p:nvPr/>
        </p:nvSpPr>
        <p:spPr>
          <a:xfrm>
            <a:off x="6045200" y="3441700"/>
            <a:ext cx="1473200" cy="609600"/>
          </a:xfrm>
          <a:prstGeom prst="rect">
            <a:avLst/>
          </a:prstGeom>
          <a:solidFill>
            <a:srgbClr val="A9218E"/>
          </a:solidFill>
          <a:ln>
            <a:noFill/>
          </a:ln>
        </p:spPr>
        <p:txBody>
          <a:bodyPr wrap="square" lIns="0" tIns="0" rIns="0" bIns="0" anchor="ctr">
            <a:noAutofit/>
          </a:bodyPr>
          <a:lstStyle/>
          <a:p>
            <a:pPr algn="ctr">
              <a:spcBef>
                <a:spcPts val="0"/>
              </a:spcBef>
              <a:buNone/>
            </a:pPr>
            <a:r>
              <a:rPr lang="en-GB" sz="1200" b="1" dirty="0">
                <a:solidFill>
                  <a:srgbClr val="FFFFFF"/>
                </a:solidFill>
              </a:rPr>
              <a:t>Elosulfase alfa</a:t>
            </a:r>
          </a:p>
          <a:p>
            <a:pPr algn="ctr">
              <a:spcBef>
                <a:spcPts val="0"/>
              </a:spcBef>
              <a:buNone/>
            </a:pPr>
            <a:r>
              <a:rPr lang="en-GB" sz="1200" dirty="0">
                <a:solidFill>
                  <a:srgbClr val="FFFFFF"/>
                </a:solidFill>
              </a:rPr>
              <a:t>2.0 mg/kg weekly</a:t>
            </a:r>
          </a:p>
          <a:p>
            <a:pPr algn="ctr">
              <a:spcBef>
                <a:spcPts val="0"/>
              </a:spcBef>
              <a:buNone/>
            </a:pPr>
            <a:r>
              <a:rPr lang="en-GB" sz="1200" dirty="0">
                <a:solidFill>
                  <a:srgbClr val="FFFFFF"/>
                </a:solidFill>
              </a:rPr>
              <a:t>(n=173)</a:t>
            </a:r>
          </a:p>
        </p:txBody>
      </p:sp>
      <p:cxnSp>
        <p:nvCxnSpPr>
          <p:cNvPr id="511" name="Design line"/>
          <p:cNvCxnSpPr/>
          <p:nvPr/>
        </p:nvCxnSpPr>
        <p:spPr>
          <a:xfrm>
            <a:off x="1092200" y="2717800"/>
            <a:ext cx="0" cy="1714500"/>
          </a:xfrm>
          <a:prstGeom prst="line">
            <a:avLst/>
          </a:prstGeom>
          <a:ln w="15875">
            <a:solidFill>
              <a:srgbClr val="002E56"/>
            </a:solidFill>
          </a:ln>
        </p:spPr>
      </p:cxnSp>
      <p:cxnSp>
        <p:nvCxnSpPr>
          <p:cNvPr id="512" name="Design line"/>
          <p:cNvCxnSpPr/>
          <p:nvPr/>
        </p:nvCxnSpPr>
        <p:spPr>
          <a:xfrm>
            <a:off x="1092200" y="2717800"/>
            <a:ext cx="127000" cy="0"/>
          </a:xfrm>
          <a:prstGeom prst="line">
            <a:avLst/>
          </a:prstGeom>
          <a:ln w="15875">
            <a:solidFill>
              <a:srgbClr val="002E56"/>
            </a:solidFill>
          </a:ln>
        </p:spPr>
      </p:cxnSp>
      <p:cxnSp>
        <p:nvCxnSpPr>
          <p:cNvPr id="513" name="Design line"/>
          <p:cNvCxnSpPr/>
          <p:nvPr/>
        </p:nvCxnSpPr>
        <p:spPr>
          <a:xfrm>
            <a:off x="1092200" y="3403600"/>
            <a:ext cx="127000" cy="0"/>
          </a:xfrm>
          <a:prstGeom prst="line">
            <a:avLst/>
          </a:prstGeom>
          <a:ln w="15875">
            <a:solidFill>
              <a:srgbClr val="002E56"/>
            </a:solidFill>
          </a:ln>
        </p:spPr>
      </p:cxnSp>
      <p:cxnSp>
        <p:nvCxnSpPr>
          <p:cNvPr id="514" name="Design line"/>
          <p:cNvCxnSpPr/>
          <p:nvPr/>
        </p:nvCxnSpPr>
        <p:spPr>
          <a:xfrm>
            <a:off x="1092200" y="4432300"/>
            <a:ext cx="127000" cy="0"/>
          </a:xfrm>
          <a:prstGeom prst="line">
            <a:avLst/>
          </a:prstGeom>
          <a:ln w="15875">
            <a:solidFill>
              <a:srgbClr val="002E56"/>
            </a:solidFill>
          </a:ln>
        </p:spPr>
      </p:cxnSp>
      <p:sp>
        <p:nvSpPr>
          <p:cNvPr id="515" name="Screening label"/>
          <p:cNvSpPr/>
          <p:nvPr/>
        </p:nvSpPr>
        <p:spPr>
          <a:xfrm rot="-5400000">
            <a:off x="190500" y="3448050"/>
            <a:ext cx="1397000" cy="254000"/>
          </a:xfrm>
          <a:prstGeom prst="rect">
            <a:avLst/>
          </a:prstGeom>
          <a:noFill/>
          <a:ln>
            <a:noFill/>
          </a:ln>
        </p:spPr>
        <p:txBody>
          <a:bodyPr wrap="square" lIns="0" tIns="0" rIns="0" bIns="0" anchor="ctr">
            <a:noAutofit/>
          </a:bodyPr>
          <a:lstStyle/>
          <a:p>
            <a:pPr algn="ctr">
              <a:spcBef>
                <a:spcPts val="0"/>
              </a:spcBef>
              <a:buNone/>
            </a:pPr>
            <a:r>
              <a:rPr lang="en-GB" sz="1300" b="1" dirty="0">
                <a:solidFill>
                  <a:srgbClr val="002E56"/>
                </a:solidFill>
              </a:rPr>
              <a:t>Screening</a:t>
            </a:r>
          </a:p>
        </p:txBody>
      </p:sp>
      <p:cxnSp>
        <p:nvCxnSpPr>
          <p:cNvPr id="516" name="Design line"/>
          <p:cNvCxnSpPr/>
          <p:nvPr/>
        </p:nvCxnSpPr>
        <p:spPr>
          <a:xfrm>
            <a:off x="3251200" y="2717800"/>
            <a:ext cx="355600" cy="0"/>
          </a:xfrm>
          <a:prstGeom prst="line">
            <a:avLst/>
          </a:prstGeom>
          <a:ln w="15875">
            <a:solidFill>
              <a:srgbClr val="002E56"/>
            </a:solidFill>
          </a:ln>
        </p:spPr>
      </p:cxnSp>
      <p:cxnSp>
        <p:nvCxnSpPr>
          <p:cNvPr id="517" name="Design line"/>
          <p:cNvCxnSpPr/>
          <p:nvPr/>
        </p:nvCxnSpPr>
        <p:spPr>
          <a:xfrm>
            <a:off x="3251200" y="3403600"/>
            <a:ext cx="355600" cy="0"/>
          </a:xfrm>
          <a:prstGeom prst="line">
            <a:avLst/>
          </a:prstGeom>
          <a:ln w="15875">
            <a:solidFill>
              <a:srgbClr val="002E56"/>
            </a:solidFill>
          </a:ln>
        </p:spPr>
      </p:cxnSp>
      <p:cxnSp>
        <p:nvCxnSpPr>
          <p:cNvPr id="518" name="Design line"/>
          <p:cNvCxnSpPr/>
          <p:nvPr/>
        </p:nvCxnSpPr>
        <p:spPr>
          <a:xfrm>
            <a:off x="3251200" y="4432300"/>
            <a:ext cx="177800" cy="0"/>
          </a:xfrm>
          <a:prstGeom prst="line">
            <a:avLst/>
          </a:prstGeom>
          <a:ln w="15875">
            <a:solidFill>
              <a:srgbClr val="002E56"/>
            </a:solidFill>
          </a:ln>
        </p:spPr>
      </p:cxnSp>
      <p:cxnSp>
        <p:nvCxnSpPr>
          <p:cNvPr id="519" name="Design line"/>
          <p:cNvCxnSpPr/>
          <p:nvPr/>
        </p:nvCxnSpPr>
        <p:spPr>
          <a:xfrm>
            <a:off x="3429000" y="4089400"/>
            <a:ext cx="0" cy="685800"/>
          </a:xfrm>
          <a:prstGeom prst="line">
            <a:avLst/>
          </a:prstGeom>
          <a:ln w="15875">
            <a:solidFill>
              <a:srgbClr val="002E56"/>
            </a:solidFill>
          </a:ln>
        </p:spPr>
      </p:cxnSp>
      <p:cxnSp>
        <p:nvCxnSpPr>
          <p:cNvPr id="520" name="Design line"/>
          <p:cNvCxnSpPr/>
          <p:nvPr/>
        </p:nvCxnSpPr>
        <p:spPr>
          <a:xfrm>
            <a:off x="3429000" y="4089400"/>
            <a:ext cx="177800" cy="0"/>
          </a:xfrm>
          <a:prstGeom prst="line">
            <a:avLst/>
          </a:prstGeom>
          <a:ln w="15875">
            <a:solidFill>
              <a:srgbClr val="002E56"/>
            </a:solidFill>
          </a:ln>
        </p:spPr>
      </p:cxnSp>
      <p:cxnSp>
        <p:nvCxnSpPr>
          <p:cNvPr id="521" name="Design line"/>
          <p:cNvCxnSpPr/>
          <p:nvPr/>
        </p:nvCxnSpPr>
        <p:spPr>
          <a:xfrm>
            <a:off x="3429000" y="4775200"/>
            <a:ext cx="177800" cy="0"/>
          </a:xfrm>
          <a:prstGeom prst="line">
            <a:avLst/>
          </a:prstGeom>
          <a:ln w="15875">
            <a:solidFill>
              <a:srgbClr val="002E56"/>
            </a:solidFill>
          </a:ln>
        </p:spPr>
      </p:cxnSp>
      <p:cxnSp>
        <p:nvCxnSpPr>
          <p:cNvPr id="522" name="Design line"/>
          <p:cNvCxnSpPr/>
          <p:nvPr/>
        </p:nvCxnSpPr>
        <p:spPr>
          <a:xfrm>
            <a:off x="5638800" y="2717800"/>
            <a:ext cx="203200" cy="0"/>
          </a:xfrm>
          <a:prstGeom prst="line">
            <a:avLst/>
          </a:prstGeom>
          <a:ln w="15875">
            <a:solidFill>
              <a:srgbClr val="002E56"/>
            </a:solidFill>
          </a:ln>
        </p:spPr>
      </p:cxnSp>
      <p:cxnSp>
        <p:nvCxnSpPr>
          <p:cNvPr id="523" name="Design line"/>
          <p:cNvCxnSpPr/>
          <p:nvPr/>
        </p:nvCxnSpPr>
        <p:spPr>
          <a:xfrm>
            <a:off x="5638800" y="3403600"/>
            <a:ext cx="203200" cy="0"/>
          </a:xfrm>
          <a:prstGeom prst="line">
            <a:avLst/>
          </a:prstGeom>
          <a:ln w="15875">
            <a:solidFill>
              <a:srgbClr val="002E56"/>
            </a:solidFill>
          </a:ln>
        </p:spPr>
      </p:cxnSp>
      <p:cxnSp>
        <p:nvCxnSpPr>
          <p:cNvPr id="524" name="Design line"/>
          <p:cNvCxnSpPr/>
          <p:nvPr/>
        </p:nvCxnSpPr>
        <p:spPr>
          <a:xfrm>
            <a:off x="5638800" y="4089400"/>
            <a:ext cx="203200" cy="0"/>
          </a:xfrm>
          <a:prstGeom prst="line">
            <a:avLst/>
          </a:prstGeom>
          <a:ln w="15875">
            <a:solidFill>
              <a:srgbClr val="002E56"/>
            </a:solidFill>
          </a:ln>
        </p:spPr>
      </p:cxnSp>
      <p:cxnSp>
        <p:nvCxnSpPr>
          <p:cNvPr id="525" name="Design line"/>
          <p:cNvCxnSpPr/>
          <p:nvPr/>
        </p:nvCxnSpPr>
        <p:spPr>
          <a:xfrm>
            <a:off x="5638800" y="4775200"/>
            <a:ext cx="203200" cy="0"/>
          </a:xfrm>
          <a:prstGeom prst="line">
            <a:avLst/>
          </a:prstGeom>
          <a:ln w="15875">
            <a:solidFill>
              <a:srgbClr val="002E56"/>
            </a:solidFill>
          </a:ln>
        </p:spPr>
      </p:cxnSp>
      <p:cxnSp>
        <p:nvCxnSpPr>
          <p:cNvPr id="526" name="Design line"/>
          <p:cNvCxnSpPr/>
          <p:nvPr/>
        </p:nvCxnSpPr>
        <p:spPr>
          <a:xfrm>
            <a:off x="5842000" y="2717800"/>
            <a:ext cx="0" cy="2057400"/>
          </a:xfrm>
          <a:prstGeom prst="line">
            <a:avLst/>
          </a:prstGeom>
          <a:ln w="15875">
            <a:solidFill>
              <a:srgbClr val="002E56"/>
            </a:solidFill>
          </a:ln>
        </p:spPr>
      </p:cxnSp>
      <p:cxnSp>
        <p:nvCxnSpPr>
          <p:cNvPr id="527" name="Design line"/>
          <p:cNvCxnSpPr/>
          <p:nvPr/>
        </p:nvCxnSpPr>
        <p:spPr>
          <a:xfrm>
            <a:off x="5842000" y="3746500"/>
            <a:ext cx="203200" cy="0"/>
          </a:xfrm>
          <a:prstGeom prst="line">
            <a:avLst/>
          </a:prstGeom>
          <a:ln w="15875">
            <a:solidFill>
              <a:srgbClr val="002E56"/>
            </a:solidFill>
          </a:ln>
        </p:spPr>
      </p:cxnSp>
      <p:cxnSp>
        <p:nvCxnSpPr>
          <p:cNvPr id="528" name="Design line"/>
          <p:cNvCxnSpPr/>
          <p:nvPr/>
        </p:nvCxnSpPr>
        <p:spPr>
          <a:xfrm>
            <a:off x="1092200" y="5257800"/>
            <a:ext cx="6426200" cy="0"/>
          </a:xfrm>
          <a:prstGeom prst="line">
            <a:avLst/>
          </a:prstGeom>
          <a:ln w="15875">
            <a:solidFill>
              <a:srgbClr val="002E56"/>
            </a:solidFill>
            <a:tailEnd type="triangle"/>
          </a:ln>
        </p:spPr>
      </p:cxnSp>
      <p:sp>
        <p:nvSpPr>
          <p:cNvPr id="529" name="T0"/>
          <p:cNvSpPr/>
          <p:nvPr/>
        </p:nvSpPr>
        <p:spPr>
          <a:xfrm>
            <a:off x="838200" y="5334000"/>
            <a:ext cx="1016000" cy="203200"/>
          </a:xfrm>
          <a:prstGeom prst="rect">
            <a:avLst/>
          </a:prstGeom>
          <a:noFill/>
          <a:ln>
            <a:noFill/>
          </a:ln>
        </p:spPr>
        <p:txBody>
          <a:bodyPr wrap="square" lIns="0" tIns="0" rIns="0" bIns="0" anchor="ctr">
            <a:noAutofit/>
          </a:bodyPr>
          <a:lstStyle/>
          <a:p>
            <a:pPr algn="ctr">
              <a:spcBef>
                <a:spcPts val="0"/>
              </a:spcBef>
              <a:buNone/>
            </a:pPr>
            <a:r>
              <a:rPr lang="en-GB" sz="1200" dirty="0">
                <a:solidFill>
                  <a:srgbClr val="404040"/>
                </a:solidFill>
              </a:rPr>
              <a:t>0 weeks</a:t>
            </a:r>
          </a:p>
        </p:txBody>
      </p:sp>
      <p:sp>
        <p:nvSpPr>
          <p:cNvPr id="530" name="T24"/>
          <p:cNvSpPr/>
          <p:nvPr/>
        </p:nvSpPr>
        <p:spPr>
          <a:xfrm>
            <a:off x="1905000" y="5334000"/>
            <a:ext cx="3048000" cy="406400"/>
          </a:xfrm>
          <a:prstGeom prst="rect">
            <a:avLst/>
          </a:prstGeom>
          <a:noFill/>
          <a:ln>
            <a:noFill/>
          </a:ln>
        </p:spPr>
        <p:txBody>
          <a:bodyPr wrap="square" lIns="0" tIns="0" rIns="0" bIns="0" anchor="ctr">
            <a:noAutofit/>
          </a:bodyPr>
          <a:lstStyle/>
          <a:p>
            <a:pPr algn="ctr">
              <a:spcBef>
                <a:spcPts val="0"/>
              </a:spcBef>
              <a:buNone/>
            </a:pPr>
            <a:r>
              <a:rPr lang="en-GB" sz="1200" dirty="0">
                <a:solidFill>
                  <a:srgbClr val="404040"/>
                </a:solidFill>
              </a:rPr>
              <a:t>24 weeks</a:t>
            </a:r>
          </a:p>
          <a:p>
            <a:pPr algn="ctr">
              <a:spcBef>
                <a:spcPts val="0"/>
              </a:spcBef>
              <a:buNone/>
            </a:pPr>
            <a:r>
              <a:rPr lang="en-GB" sz="1100" dirty="0">
                <a:solidFill>
                  <a:srgbClr val="646464"/>
                </a:solidFill>
              </a:rPr>
              <a:t>Re-randomisation of placebo group</a:t>
            </a:r>
          </a:p>
        </p:txBody>
      </p:sp>
      <p:sp>
        <p:nvSpPr>
          <p:cNvPr id="531" name="T120"/>
          <p:cNvSpPr/>
          <p:nvPr/>
        </p:nvSpPr>
        <p:spPr>
          <a:xfrm>
            <a:off x="6756400" y="5334000"/>
            <a:ext cx="1016000" cy="203200"/>
          </a:xfrm>
          <a:prstGeom prst="rect">
            <a:avLst/>
          </a:prstGeom>
          <a:noFill/>
          <a:ln>
            <a:noFill/>
          </a:ln>
        </p:spPr>
        <p:txBody>
          <a:bodyPr wrap="square" lIns="0" tIns="0" rIns="0" bIns="0" anchor="ctr">
            <a:noAutofit/>
          </a:bodyPr>
          <a:lstStyle/>
          <a:p>
            <a:pPr algn="ctr">
              <a:spcBef>
                <a:spcPts val="0"/>
              </a:spcBef>
              <a:buNone/>
            </a:pPr>
            <a:r>
              <a:rPr lang="en-GB" sz="1200" dirty="0">
                <a:solidFill>
                  <a:srgbClr val="404040"/>
                </a:solidFill>
              </a:rPr>
              <a:t>120 weeks</a:t>
            </a:r>
          </a:p>
        </p:txBody>
      </p:sp>
    </p:spTree>
    <p:extLst>
      <p:ext uri="{BB962C8B-B14F-4D97-AF65-F5344CB8AC3E}">
        <p14:creationId xmlns:p14="http://schemas.microsoft.com/office/powerpoint/2010/main" val="13270947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MOR-005: populations, efficacy variables and time frame</a:t>
            </a:r>
          </a:p>
        </p:txBody>
      </p:sp>
      <p:sp>
        <p:nvSpPr>
          <p:cNvPr id="302" name="ITT"/>
          <p:cNvSpPr/>
          <p:nvPr/>
        </p:nvSpPr>
        <p:spPr>
          <a:xfrm>
            <a:off x="660400" y="1422400"/>
            <a:ext cx="5346700" cy="11430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2000" b="1" dirty="0">
                <a:solidFill>
                  <a:srgbClr val="28509C"/>
                </a:solidFill>
              </a:rPr>
              <a:t>ITT</a:t>
            </a:r>
          </a:p>
          <a:p>
            <a:pPr>
              <a:spcBef>
                <a:spcPts val="200"/>
              </a:spcBef>
              <a:buNone/>
            </a:pPr>
            <a:r>
              <a:rPr lang="en-GB" sz="1400" dirty="0">
                <a:solidFill>
                  <a:srgbClr val="2B2B2B"/>
                </a:solidFill>
              </a:rPr>
              <a:t>All patients from the 24-week phase III study who received at least one dose of elosulfase alfa</a:t>
            </a:r>
          </a:p>
        </p:txBody>
      </p:sp>
      <p:sp>
        <p:nvSpPr>
          <p:cNvPr id="303" name="MPP"/>
          <p:cNvSpPr/>
          <p:nvPr/>
        </p:nvSpPr>
        <p:spPr>
          <a:xfrm>
            <a:off x="660400" y="2692400"/>
            <a:ext cx="5346700" cy="15748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2000" b="1" dirty="0">
                <a:solidFill>
                  <a:srgbClr val="A9218E"/>
                </a:solidFill>
              </a:rPr>
              <a:t>MPP</a:t>
            </a:r>
          </a:p>
          <a:p>
            <a:pPr>
              <a:spcBef>
                <a:spcPts val="200"/>
              </a:spcBef>
              <a:buNone/>
            </a:pPr>
            <a:r>
              <a:rPr lang="en-GB" sz="1400" dirty="0">
                <a:solidFill>
                  <a:srgbClr val="2B2B2B"/>
                </a:solidFill>
              </a:rPr>
              <a:t>Excluded patients who:</a:t>
            </a:r>
          </a:p>
          <a:p>
            <a:pPr marL="177800" indent="-177800">
              <a:spcBef>
                <a:spcPts val="200"/>
              </a:spcBef>
              <a:buClr>
                <a:srgbClr val="A9218E"/>
              </a:buClr>
              <a:buFont typeface="Arial"/>
              <a:buChar char="•"/>
            </a:pPr>
            <a:r>
              <a:rPr lang="en-GB" sz="1400" dirty="0">
                <a:solidFill>
                  <a:srgbClr val="2B2B2B"/>
                </a:solidFill>
              </a:rPr>
              <a:t>had orthopaedic surgery during the study (</a:t>
            </a:r>
            <a:r>
              <a:rPr lang="en-GB" sz="1400" b="1" dirty="0">
                <a:solidFill>
                  <a:srgbClr val="2B2B2B"/>
                </a:solidFill>
              </a:rPr>
              <a:t>n=38</a:t>
            </a:r>
            <a:r>
              <a:rPr lang="en-GB" sz="1400" dirty="0">
                <a:solidFill>
                  <a:srgbClr val="2B2B2B"/>
                </a:solidFill>
              </a:rPr>
              <a:t>)</a:t>
            </a:r>
          </a:p>
          <a:p>
            <a:pPr marL="177800" indent="-177800">
              <a:spcBef>
                <a:spcPts val="200"/>
              </a:spcBef>
              <a:buClr>
                <a:srgbClr val="A9218E"/>
              </a:buClr>
              <a:buFont typeface="Arial"/>
              <a:buChar char="•"/>
            </a:pPr>
            <a:r>
              <a:rPr lang="en-GB" sz="1400" dirty="0">
                <a:solidFill>
                  <a:srgbClr val="2B2B2B"/>
                </a:solidFill>
              </a:rPr>
              <a:t>missed ≥20% of scheduled infusions (</a:t>
            </a:r>
            <a:r>
              <a:rPr lang="en-GB" sz="1400" b="1" dirty="0">
                <a:solidFill>
                  <a:srgbClr val="2B2B2B"/>
                </a:solidFill>
              </a:rPr>
              <a:t>n=14</a:t>
            </a:r>
            <a:r>
              <a:rPr lang="en-GB" sz="1400" dirty="0">
                <a:solidFill>
                  <a:srgbClr val="2B2B2B"/>
                </a:solidFill>
              </a:rPr>
              <a:t>)</a:t>
            </a:r>
          </a:p>
        </p:txBody>
      </p:sp>
      <p:sp>
        <p:nvSpPr>
          <p:cNvPr id="304" name="Variables"/>
          <p:cNvSpPr/>
          <p:nvPr/>
        </p:nvSpPr>
        <p:spPr>
          <a:xfrm>
            <a:off x="6184900" y="1422400"/>
            <a:ext cx="5346700" cy="16510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1100" b="1" spc="60" dirty="0">
                <a:solidFill>
                  <a:srgbClr val="28509C"/>
                </a:solidFill>
              </a:rPr>
              <a:t>Efficacy variables</a:t>
            </a:r>
          </a:p>
          <a:p>
            <a:pPr marL="177800" indent="-177800">
              <a:spcBef>
                <a:spcPts val="500"/>
              </a:spcBef>
              <a:buClr>
                <a:srgbClr val="28509C"/>
              </a:buClr>
              <a:buFont typeface="Arial"/>
              <a:buChar char="•"/>
            </a:pPr>
            <a:r>
              <a:rPr lang="en-GB" sz="1400" dirty="0">
                <a:solidFill>
                  <a:srgbClr val="2B2B2B"/>
                </a:solidFill>
              </a:rPr>
              <a:t>Safety</a:t>
            </a:r>
            <a:r>
              <a:rPr lang="en-GB" sz="1400" baseline="30000" dirty="0">
                <a:solidFill>
                  <a:srgbClr val="2B2B2B"/>
                </a:solidFill>
              </a:rPr>
              <a:t>1</a:t>
            </a:r>
          </a:p>
          <a:p>
            <a:pPr marL="177800" indent="-177800">
              <a:spcBef>
                <a:spcPts val="300"/>
              </a:spcBef>
              <a:buClr>
                <a:srgbClr val="28509C"/>
              </a:buClr>
              <a:buFont typeface="Arial"/>
              <a:buChar char="•"/>
            </a:pPr>
            <a:r>
              <a:rPr lang="en-GB" sz="1400" dirty="0">
                <a:solidFill>
                  <a:srgbClr val="2B2B2B"/>
                </a:solidFill>
              </a:rPr>
              <a:t>Endurance (6MWT, 3MSCT) and urinary KS</a:t>
            </a:r>
            <a:r>
              <a:rPr lang="en-GB" sz="1400" baseline="30000" dirty="0">
                <a:solidFill>
                  <a:srgbClr val="2B2B2B"/>
                </a:solidFill>
              </a:rPr>
              <a:t>1</a:t>
            </a:r>
          </a:p>
          <a:p>
            <a:pPr marL="177800" indent="-177800">
              <a:spcBef>
                <a:spcPts val="300"/>
              </a:spcBef>
              <a:buClr>
                <a:srgbClr val="28509C"/>
              </a:buClr>
              <a:buFont typeface="Arial"/>
              <a:buChar char="•"/>
            </a:pPr>
            <a:r>
              <a:rPr lang="en-GB" sz="1400" dirty="0">
                <a:solidFill>
                  <a:srgbClr val="2B2B2B"/>
                </a:solidFill>
              </a:rPr>
              <a:t>Respiratory function</a:t>
            </a:r>
            <a:r>
              <a:rPr lang="en-GB" sz="1400" baseline="30000" dirty="0">
                <a:solidFill>
                  <a:srgbClr val="2B2B2B"/>
                </a:solidFill>
              </a:rPr>
              <a:t>2</a:t>
            </a:r>
          </a:p>
        </p:txBody>
      </p:sp>
      <p:sp>
        <p:nvSpPr>
          <p:cNvPr id="305" name="Time"/>
          <p:cNvSpPr/>
          <p:nvPr/>
        </p:nvSpPr>
        <p:spPr>
          <a:xfrm>
            <a:off x="6184900" y="3200400"/>
            <a:ext cx="5346700" cy="10668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1100" b="1" spc="60" dirty="0">
                <a:solidFill>
                  <a:srgbClr val="28509C"/>
                </a:solidFill>
              </a:rPr>
              <a:t>Time frame</a:t>
            </a:r>
          </a:p>
          <a:p>
            <a:pPr>
              <a:spcBef>
                <a:spcPts val="300"/>
              </a:spcBef>
              <a:buNone/>
            </a:pPr>
            <a:r>
              <a:rPr lang="en-GB" sz="2400" b="1" dirty="0">
                <a:solidFill>
                  <a:srgbClr val="28509C"/>
                </a:solidFill>
              </a:rPr>
              <a:t>120 weeks</a:t>
            </a:r>
            <a:r>
              <a:rPr lang="en-GB" sz="1300" dirty="0">
                <a:solidFill>
                  <a:srgbClr val="404040"/>
                </a:solidFill>
              </a:rPr>
              <a:t>   24 weeks MOR-004 + 96 weeks MOR-005</a:t>
            </a:r>
          </a:p>
        </p:txBody>
      </p:sp>
      <p:sp>
        <p:nvSpPr>
          <p:cNvPr id="306" name="Comparison"/>
          <p:cNvSpPr/>
          <p:nvPr/>
        </p:nvSpPr>
        <p:spPr>
          <a:xfrm>
            <a:off x="660400" y="4419600"/>
            <a:ext cx="10871200" cy="660400"/>
          </a:xfrm>
          <a:prstGeom prst="roundRect">
            <a:avLst>
              <a:gd name="adj" fmla="val 8000"/>
            </a:avLst>
          </a:prstGeom>
          <a:solidFill>
            <a:srgbClr val="E3EAF5"/>
          </a:solidFill>
          <a:ln>
            <a:noFill/>
          </a:ln>
        </p:spPr>
        <p:txBody>
          <a:bodyPr wrap="square" lIns="177800" tIns="177800" rIns="177800" bIns="177800" anchor="ctr">
            <a:noAutofit/>
          </a:bodyPr>
          <a:lstStyle/>
          <a:p>
            <a:pPr>
              <a:spcBef>
                <a:spcPts val="0"/>
              </a:spcBef>
              <a:buNone/>
            </a:pPr>
            <a:r>
              <a:rPr lang="en-GB" sz="1400" b="1" dirty="0">
                <a:solidFill>
                  <a:srgbClr val="002E56"/>
                </a:solidFill>
              </a:rPr>
              <a:t>Long-term outcomes were compared with those of untreated patients from MorCAP</a:t>
            </a:r>
          </a:p>
        </p:txBody>
      </p:sp>
      <p:sp>
        <p:nvSpPr>
          <p:cNvPr id="307" name="Abbreviations"/>
          <p:cNvSpPr txBox="1"/>
          <p:nvPr/>
        </p:nvSpPr>
        <p:spPr>
          <a:xfrm>
            <a:off x="660400" y="54610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3MSCT, 3-minute stair climb test; 6MWT, 6-minute walk test; ITT, intention to treat; KS, keratan sulfate; MorCAP, Morquio A Clinical Assessment Program; MPP, modified per protocol</a:t>
            </a:r>
          </a:p>
        </p:txBody>
      </p:sp>
      <p:sp>
        <p:nvSpPr>
          <p:cNvPr id="308"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Mol Genet Metab 2016;119:131–43. 2. Hendriksz CJ et al. J Inherit Metab Dis 2016;39:839–47.</a:t>
            </a:r>
          </a:p>
        </p:txBody>
      </p:sp>
    </p:spTree>
    <p:extLst>
      <p:ext uri="{BB962C8B-B14F-4D97-AF65-F5344CB8AC3E}">
        <p14:creationId xmlns:p14="http://schemas.microsoft.com/office/powerpoint/2010/main" val="7384989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MOR-005: 6-minute walk test to week 120</a:t>
            </a:r>
            <a:endParaRPr lang="en-GB" dirty="0"/>
          </a:p>
        </p:txBody>
      </p:sp>
      <p:sp>
        <p:nvSpPr>
          <p:cNvPr id="302" name="Stat card"/>
          <p:cNvSpPr/>
          <p:nvPr/>
        </p:nvSpPr>
        <p:spPr>
          <a:xfrm>
            <a:off x="8331200" y="1727200"/>
            <a:ext cx="3200400" cy="1422400"/>
          </a:xfrm>
          <a:prstGeom prst="roundRect">
            <a:avLst>
              <a:gd name="adj" fmla="val 8000"/>
            </a:avLst>
          </a:prstGeom>
          <a:solidFill>
            <a:srgbClr val="E3EAF5"/>
          </a:solidFill>
          <a:ln>
            <a:noFill/>
          </a:ln>
        </p:spPr>
        <p:txBody>
          <a:bodyPr wrap="square" lIns="203200" tIns="203200" rIns="203200" bIns="203200" anchor="ctr">
            <a:noAutofit/>
          </a:bodyPr>
          <a:lstStyle/>
          <a:p>
            <a:pPr>
              <a:spcBef>
                <a:spcPts val="0"/>
              </a:spcBef>
              <a:buNone/>
            </a:pPr>
            <a:r>
              <a:rPr lang="en-GB" sz="3200" b="1" dirty="0">
                <a:solidFill>
                  <a:srgbClr val="28509C"/>
                </a:solidFill>
              </a:rPr>
              <a:t>+15.1 m</a:t>
            </a:r>
          </a:p>
          <a:p>
            <a:pPr>
              <a:spcBef>
                <a:spcPts val="400"/>
              </a:spcBef>
              <a:buNone/>
            </a:pPr>
            <a:r>
              <a:rPr lang="en-GB" sz="1400" dirty="0">
                <a:solidFill>
                  <a:srgbClr val="2B2B2B"/>
                </a:solidFill>
              </a:rPr>
              <a:t>ITT: mean 6MWT increase from baseline to week 120</a:t>
            </a:r>
          </a:p>
        </p:txBody>
      </p:sp>
      <p:sp>
        <p:nvSpPr>
          <p:cNvPr id="303" name="Stat card"/>
          <p:cNvSpPr/>
          <p:nvPr/>
        </p:nvSpPr>
        <p:spPr>
          <a:xfrm>
            <a:off x="8331200" y="3327400"/>
            <a:ext cx="3200400" cy="1422400"/>
          </a:xfrm>
          <a:prstGeom prst="roundRect">
            <a:avLst>
              <a:gd name="adj" fmla="val 8000"/>
            </a:avLst>
          </a:prstGeom>
          <a:solidFill>
            <a:srgbClr val="F1F4F9"/>
          </a:solidFill>
          <a:ln>
            <a:noFill/>
          </a:ln>
        </p:spPr>
        <p:txBody>
          <a:bodyPr wrap="square" lIns="203200" tIns="203200" rIns="203200" bIns="203200" anchor="ctr">
            <a:noAutofit/>
          </a:bodyPr>
          <a:lstStyle/>
          <a:p>
            <a:pPr>
              <a:spcBef>
                <a:spcPts val="0"/>
              </a:spcBef>
              <a:buNone/>
            </a:pPr>
            <a:r>
              <a:rPr lang="en-GB" sz="3200" b="1" dirty="0">
                <a:solidFill>
                  <a:srgbClr val="28509C"/>
                </a:solidFill>
              </a:rPr>
              <a:t>+31.7 m</a:t>
            </a:r>
          </a:p>
          <a:p>
            <a:pPr>
              <a:spcBef>
                <a:spcPts val="400"/>
              </a:spcBef>
              <a:buNone/>
            </a:pPr>
            <a:r>
              <a:rPr lang="en-GB" sz="1400" dirty="0">
                <a:solidFill>
                  <a:srgbClr val="2B2B2B"/>
                </a:solidFill>
              </a:rPr>
              <a:t>MPP: mean 6MWT increase from baseline to week 120</a:t>
            </a:r>
          </a:p>
        </p:txBody>
      </p:sp>
      <p:sp>
        <p:nvSpPr>
          <p:cNvPr id="305" name="References"/>
          <p:cNvSpPr txBox="1"/>
          <p:nvPr/>
        </p:nvSpPr>
        <p:spPr>
          <a:xfrm>
            <a:off x="660400" y="6070600"/>
            <a:ext cx="10871200" cy="2032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Mol Genet Metab 2016;119:131–43.</a:t>
            </a:r>
          </a:p>
        </p:txBody>
      </p:sp>
      <p:sp>
        <p:nvSpPr>
          <p:cNvPr id="600" name="Chart label"/>
          <p:cNvSpPr txBox="1"/>
          <p:nvPr/>
        </p:nvSpPr>
        <p:spPr>
          <a:xfrm>
            <a:off x="660400" y="1422400"/>
            <a:ext cx="73660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Change in 6MWT from baseline, metres (mean)</a:t>
            </a:r>
            <a:r>
              <a:rPr lang="en-GB" sz="1100" dirty="0">
                <a:solidFill>
                  <a:srgbClr val="646464"/>
                </a:solidFill>
              </a:rPr>
              <a:t>   weeks 0–24 MOR-004, 24–120 MOR-005</a:t>
            </a:r>
          </a:p>
        </p:txBody>
      </p:sp>
      <p:graphicFrame>
        <p:nvGraphicFramePr>
          <p:cNvPr id="601" name="N table"/>
          <p:cNvGraphicFramePr>
            <a:graphicFrameLocks noGrp="1"/>
          </p:cNvGraphicFramePr>
          <p:nvPr/>
        </p:nvGraphicFramePr>
        <p:xfrm>
          <a:off x="660400" y="4267200"/>
          <a:ext cx="7366000" cy="1219200"/>
        </p:xfrm>
        <a:graphic>
          <a:graphicData uri="http://schemas.openxmlformats.org/drawingml/2006/table">
            <a:tbl>
              <a:tblPr firstRow="1"/>
              <a:tblGrid>
                <a:gridCol w="2413000">
                  <a:extLst>
                    <a:ext uri="{9D8B030D-6E8A-4147-A177-3AD203B41FA5}">
                      <a16:colId xmlns:a16="http://schemas.microsoft.com/office/drawing/2014/main" val="20000"/>
                    </a:ext>
                  </a:extLst>
                </a:gridCol>
                <a:gridCol w="825500">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gridCol w="825500">
                  <a:extLst>
                    <a:ext uri="{9D8B030D-6E8A-4147-A177-3AD203B41FA5}">
                      <a16:colId xmlns:a16="http://schemas.microsoft.com/office/drawing/2014/main" val="20004"/>
                    </a:ext>
                  </a:extLst>
                </a:gridCol>
                <a:gridCol w="825500">
                  <a:extLst>
                    <a:ext uri="{9D8B030D-6E8A-4147-A177-3AD203B41FA5}">
                      <a16:colId xmlns:a16="http://schemas.microsoft.com/office/drawing/2014/main" val="20005"/>
                    </a:ext>
                  </a:extLst>
                </a:gridCol>
                <a:gridCol w="825500">
                  <a:extLst>
                    <a:ext uri="{9D8B030D-6E8A-4147-A177-3AD203B41FA5}">
                      <a16:colId xmlns:a16="http://schemas.microsoft.com/office/drawing/2014/main" val="20006"/>
                    </a:ext>
                  </a:extLst>
                </a:gridCol>
              </a:tblGrid>
              <a:tr h="203200">
                <a:tc>
                  <a:txBody>
                    <a:bodyPr/>
                    <a:lstStyle/>
                    <a:p>
                      <a:pPr algn="l"/>
                      <a:r>
                        <a:rPr lang="en-GB" sz="1100" b="1" dirty="0">
                          <a:solidFill>
                            <a:srgbClr val="002E56"/>
                          </a:solidFill>
                        </a:rPr>
                        <a:t>Patients (n), week</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0</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12</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24</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36</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72</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120</a:t>
                      </a:r>
                    </a:p>
                  </a:txBody>
                  <a:tcPr marL="50800" marR="50800" marT="12700" marB="1270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203200">
                <a:tc>
                  <a:txBody>
                    <a:bodyPr/>
                    <a:lstStyle/>
                    <a:p>
                      <a:pPr algn="l"/>
                      <a:r>
                        <a:rPr lang="en-GB" sz="1100" b="1" dirty="0">
                          <a:solidFill>
                            <a:srgbClr val="28509C"/>
                          </a:solidFill>
                        </a:rPr>
                        <a:t>MOR-004 weekly</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58</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58</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57</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1"/>
                  </a:ext>
                </a:extLst>
              </a:tr>
              <a:tr h="203200">
                <a:tc>
                  <a:txBody>
                    <a:bodyPr/>
                    <a:lstStyle/>
                    <a:p>
                      <a:pPr algn="l"/>
                      <a:r>
                        <a:rPr lang="en-GB" sz="1100" b="1" dirty="0">
                          <a:solidFill>
                            <a:srgbClr val="A9218E"/>
                          </a:solidFill>
                        </a:rPr>
                        <a:t>MOR-004 every other week</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58</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2"/>
                  </a:ext>
                </a:extLst>
              </a:tr>
              <a:tr h="203200">
                <a:tc>
                  <a:txBody>
                    <a:bodyPr/>
                    <a:lstStyle/>
                    <a:p>
                      <a:pPr algn="l"/>
                      <a:r>
                        <a:rPr lang="en-GB" sz="1100" b="1" dirty="0">
                          <a:solidFill>
                            <a:srgbClr val="404040"/>
                          </a:solidFill>
                        </a:rPr>
                        <a:t>MOR-004 placebo</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3"/>
                  </a:ext>
                </a:extLst>
              </a:tr>
              <a:tr h="203200">
                <a:tc>
                  <a:txBody>
                    <a:bodyPr/>
                    <a:lstStyle/>
                    <a:p>
                      <a:pPr algn="l"/>
                      <a:r>
                        <a:rPr lang="en-GB" sz="1100" b="1" dirty="0">
                          <a:solidFill>
                            <a:srgbClr val="D25D5D"/>
                          </a:solidFill>
                        </a:rPr>
                        <a:t>MOR-005 MPP pooled</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123</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122</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123</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117</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4"/>
                  </a:ext>
                </a:extLst>
              </a:tr>
              <a:tr h="203200">
                <a:tc>
                  <a:txBody>
                    <a:bodyPr/>
                    <a:lstStyle/>
                    <a:p>
                      <a:pPr algn="l"/>
                      <a:r>
                        <a:rPr lang="en-GB" sz="1100" b="1" dirty="0">
                          <a:solidFill>
                            <a:srgbClr val="002E56"/>
                          </a:solidFill>
                        </a:rPr>
                        <a:t>MOR-005 ITT pooled</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172</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168</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166</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154</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5"/>
                  </a:ext>
                </a:extLst>
              </a:tr>
            </a:tbl>
          </a:graphicData>
        </a:graphic>
      </p:graphicFrame>
      <p:sp>
        <p:nvSpPr>
          <p:cNvPr id="602" name="Abbreviations"/>
          <p:cNvSpPr txBox="1"/>
          <p:nvPr/>
        </p:nvSpPr>
        <p:spPr>
          <a:xfrm>
            <a:off x="660400" y="5613400"/>
            <a:ext cx="10871200" cy="304800"/>
          </a:xfrm>
          <a:prstGeom prst="rect">
            <a:avLst/>
          </a:prstGeom>
          <a:noFill/>
        </p:spPr>
        <p:txBody>
          <a:bodyPr wrap="square" lIns="0" tIns="0" rIns="0" bIns="0" anchor="b">
            <a:noAutofit/>
          </a:bodyPr>
          <a:lstStyle/>
          <a:p>
            <a:pPr>
              <a:spcBef>
                <a:spcPts val="0"/>
              </a:spcBef>
              <a:buNone/>
            </a:pPr>
            <a:r>
              <a:rPr lang="en-GB" sz="1100" i="1" dirty="0">
                <a:solidFill>
                  <a:srgbClr val="404040"/>
                </a:solidFill>
              </a:rPr>
              <a:t>6MWT, 6-minute walk test; ITT, intention to treat; MPP, modified per protocol; pooled, weekly and every-other-week groups combined. No P values given</a:t>
            </a:r>
          </a:p>
        </p:txBody>
      </p:sp>
      <p:graphicFrame>
        <p:nvGraphicFramePr>
          <p:cNvPr id="603" name="Chart"/>
          <p:cNvGraphicFramePr/>
          <p:nvPr/>
        </p:nvGraphicFramePr>
        <p:xfrm>
          <a:off x="660400" y="1676400"/>
          <a:ext cx="7366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92318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MOR-005: 3-minute stair climb test to week 120</a:t>
            </a:r>
            <a:endParaRPr lang="en-GB" dirty="0"/>
          </a:p>
        </p:txBody>
      </p:sp>
      <p:sp>
        <p:nvSpPr>
          <p:cNvPr id="302" name="Stat card"/>
          <p:cNvSpPr/>
          <p:nvPr/>
        </p:nvSpPr>
        <p:spPr>
          <a:xfrm>
            <a:off x="8331200" y="1689100"/>
            <a:ext cx="3200400" cy="1638300"/>
          </a:xfrm>
          <a:prstGeom prst="roundRect">
            <a:avLst>
              <a:gd name="adj" fmla="val 8000"/>
            </a:avLst>
          </a:prstGeom>
          <a:solidFill>
            <a:srgbClr val="E3EAF5"/>
          </a:solidFill>
          <a:ln>
            <a:noFill/>
          </a:ln>
        </p:spPr>
        <p:txBody>
          <a:bodyPr wrap="square" lIns="203200" tIns="203200" rIns="203200" bIns="203200" anchor="ctr">
            <a:noAutofit/>
          </a:bodyPr>
          <a:lstStyle/>
          <a:p>
            <a:pPr>
              <a:spcBef>
                <a:spcPts val="0"/>
              </a:spcBef>
              <a:buNone/>
            </a:pPr>
            <a:r>
              <a:rPr lang="en-GB" sz="3200" b="1" dirty="0">
                <a:solidFill>
                  <a:srgbClr val="28509C"/>
                </a:solidFill>
              </a:rPr>
              <a:t>+4.3</a:t>
            </a:r>
          </a:p>
          <a:p>
            <a:pPr>
              <a:spcBef>
                <a:spcPts val="400"/>
              </a:spcBef>
              <a:buNone/>
            </a:pPr>
            <a:r>
              <a:rPr lang="en-GB" sz="1400" dirty="0">
                <a:solidFill>
                  <a:srgbClr val="2B2B2B"/>
                </a:solidFill>
              </a:rPr>
              <a:t>stairs/min, ITT: mean 3MSCT increase from baseline to week 120</a:t>
            </a:r>
          </a:p>
        </p:txBody>
      </p:sp>
      <p:sp>
        <p:nvSpPr>
          <p:cNvPr id="303" name="Stat card"/>
          <p:cNvSpPr/>
          <p:nvPr/>
        </p:nvSpPr>
        <p:spPr>
          <a:xfrm>
            <a:off x="8331200" y="3505200"/>
            <a:ext cx="3200400" cy="1638300"/>
          </a:xfrm>
          <a:prstGeom prst="roundRect">
            <a:avLst>
              <a:gd name="adj" fmla="val 8000"/>
            </a:avLst>
          </a:prstGeom>
          <a:solidFill>
            <a:srgbClr val="F1F4F9"/>
          </a:solidFill>
          <a:ln>
            <a:noFill/>
          </a:ln>
        </p:spPr>
        <p:txBody>
          <a:bodyPr wrap="square" lIns="203200" tIns="203200" rIns="203200" bIns="203200" anchor="ctr">
            <a:noAutofit/>
          </a:bodyPr>
          <a:lstStyle/>
          <a:p>
            <a:pPr>
              <a:spcBef>
                <a:spcPts val="0"/>
              </a:spcBef>
              <a:buNone/>
            </a:pPr>
            <a:r>
              <a:rPr lang="en-GB" sz="3200" b="1" dirty="0">
                <a:solidFill>
                  <a:srgbClr val="28509C"/>
                </a:solidFill>
              </a:rPr>
              <a:t>+6.8</a:t>
            </a:r>
          </a:p>
          <a:p>
            <a:pPr>
              <a:spcBef>
                <a:spcPts val="400"/>
              </a:spcBef>
              <a:buNone/>
            </a:pPr>
            <a:r>
              <a:rPr lang="en-GB" sz="1400" dirty="0">
                <a:solidFill>
                  <a:srgbClr val="2B2B2B"/>
                </a:solidFill>
              </a:rPr>
              <a:t>stairs/min, MPP: mean 3MSCT increase from baseline to week 120</a:t>
            </a:r>
          </a:p>
        </p:txBody>
      </p:sp>
      <p:sp>
        <p:nvSpPr>
          <p:cNvPr id="305" name="References"/>
          <p:cNvSpPr txBox="1"/>
          <p:nvPr/>
        </p:nvSpPr>
        <p:spPr>
          <a:xfrm>
            <a:off x="660400" y="6070600"/>
            <a:ext cx="10871200" cy="2032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Mol Genet Metab 2016;119:131–43.</a:t>
            </a:r>
          </a:p>
        </p:txBody>
      </p:sp>
      <p:sp>
        <p:nvSpPr>
          <p:cNvPr id="600" name="Chart label"/>
          <p:cNvSpPr txBox="1"/>
          <p:nvPr/>
        </p:nvSpPr>
        <p:spPr>
          <a:xfrm>
            <a:off x="660400" y="1422400"/>
            <a:ext cx="73660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Change in 3MSCT from baseline, stairs/min (mean)</a:t>
            </a:r>
            <a:r>
              <a:rPr lang="en-GB" sz="1100" dirty="0">
                <a:solidFill>
                  <a:srgbClr val="646464"/>
                </a:solidFill>
              </a:rPr>
              <a:t>   weeks 0–24 MOR-004, 24–120 MOR-005</a:t>
            </a:r>
          </a:p>
        </p:txBody>
      </p:sp>
      <p:graphicFrame>
        <p:nvGraphicFramePr>
          <p:cNvPr id="601" name="N table"/>
          <p:cNvGraphicFramePr>
            <a:graphicFrameLocks noGrp="1"/>
          </p:cNvGraphicFramePr>
          <p:nvPr/>
        </p:nvGraphicFramePr>
        <p:xfrm>
          <a:off x="660400" y="4267200"/>
          <a:ext cx="7366000" cy="1219200"/>
        </p:xfrm>
        <a:graphic>
          <a:graphicData uri="http://schemas.openxmlformats.org/drawingml/2006/table">
            <a:tbl>
              <a:tblPr firstRow="1"/>
              <a:tblGrid>
                <a:gridCol w="2413000">
                  <a:extLst>
                    <a:ext uri="{9D8B030D-6E8A-4147-A177-3AD203B41FA5}">
                      <a16:colId xmlns:a16="http://schemas.microsoft.com/office/drawing/2014/main" val="20000"/>
                    </a:ext>
                  </a:extLst>
                </a:gridCol>
                <a:gridCol w="825500">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gridCol w="825500">
                  <a:extLst>
                    <a:ext uri="{9D8B030D-6E8A-4147-A177-3AD203B41FA5}">
                      <a16:colId xmlns:a16="http://schemas.microsoft.com/office/drawing/2014/main" val="20004"/>
                    </a:ext>
                  </a:extLst>
                </a:gridCol>
                <a:gridCol w="825500">
                  <a:extLst>
                    <a:ext uri="{9D8B030D-6E8A-4147-A177-3AD203B41FA5}">
                      <a16:colId xmlns:a16="http://schemas.microsoft.com/office/drawing/2014/main" val="20005"/>
                    </a:ext>
                  </a:extLst>
                </a:gridCol>
                <a:gridCol w="825500">
                  <a:extLst>
                    <a:ext uri="{9D8B030D-6E8A-4147-A177-3AD203B41FA5}">
                      <a16:colId xmlns:a16="http://schemas.microsoft.com/office/drawing/2014/main" val="20006"/>
                    </a:ext>
                  </a:extLst>
                </a:gridCol>
              </a:tblGrid>
              <a:tr h="203200">
                <a:tc>
                  <a:txBody>
                    <a:bodyPr/>
                    <a:lstStyle/>
                    <a:p>
                      <a:pPr algn="l"/>
                      <a:r>
                        <a:rPr lang="en-GB" sz="1100" b="1" dirty="0">
                          <a:solidFill>
                            <a:srgbClr val="002E56"/>
                          </a:solidFill>
                        </a:rPr>
                        <a:t>Patients (n), week</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0</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12</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24</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36</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72</a:t>
                      </a:r>
                    </a:p>
                  </a:txBody>
                  <a:tcPr marL="50800" marR="508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120</a:t>
                      </a:r>
                    </a:p>
                  </a:txBody>
                  <a:tcPr marL="50800" marR="50800" marT="12700" marB="1270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203200">
                <a:tc>
                  <a:txBody>
                    <a:bodyPr/>
                    <a:lstStyle/>
                    <a:p>
                      <a:pPr algn="l"/>
                      <a:r>
                        <a:rPr lang="en-GB" sz="1100" b="1" dirty="0">
                          <a:solidFill>
                            <a:srgbClr val="28509C"/>
                          </a:solidFill>
                        </a:rPr>
                        <a:t>MOR-004 weekly</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58</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58</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57</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1"/>
                  </a:ext>
                </a:extLst>
              </a:tr>
              <a:tr h="203200">
                <a:tc>
                  <a:txBody>
                    <a:bodyPr/>
                    <a:lstStyle/>
                    <a:p>
                      <a:pPr algn="l"/>
                      <a:r>
                        <a:rPr lang="en-GB" sz="1100" b="1" dirty="0">
                          <a:solidFill>
                            <a:srgbClr val="A9218E"/>
                          </a:solidFill>
                        </a:rPr>
                        <a:t>MOR-004 every other week</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58</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2"/>
                  </a:ext>
                </a:extLst>
              </a:tr>
              <a:tr h="203200">
                <a:tc>
                  <a:txBody>
                    <a:bodyPr/>
                    <a:lstStyle/>
                    <a:p>
                      <a:pPr algn="l"/>
                      <a:r>
                        <a:rPr lang="en-GB" sz="1100" b="1" dirty="0">
                          <a:solidFill>
                            <a:srgbClr val="404040"/>
                          </a:solidFill>
                        </a:rPr>
                        <a:t>MOR-004 placebo</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59</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3"/>
                  </a:ext>
                </a:extLst>
              </a:tr>
              <a:tr h="203200">
                <a:tc>
                  <a:txBody>
                    <a:bodyPr/>
                    <a:lstStyle/>
                    <a:p>
                      <a:pPr algn="l"/>
                      <a:r>
                        <a:rPr lang="en-GB" sz="1100" b="1" dirty="0">
                          <a:solidFill>
                            <a:srgbClr val="D25D5D"/>
                          </a:solidFill>
                        </a:rPr>
                        <a:t>MOR-005 MPP pooled</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123</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122</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123</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117</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4"/>
                  </a:ext>
                </a:extLst>
              </a:tr>
              <a:tr h="203200">
                <a:tc>
                  <a:txBody>
                    <a:bodyPr/>
                    <a:lstStyle/>
                    <a:p>
                      <a:pPr algn="l"/>
                      <a:r>
                        <a:rPr lang="en-GB" sz="1100" b="1" dirty="0">
                          <a:solidFill>
                            <a:srgbClr val="002E56"/>
                          </a:solidFill>
                        </a:rPr>
                        <a:t>MOR-005 ITT pooled</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A0A0A0"/>
                          </a:solidFill>
                        </a:rPr>
                        <a:t>–</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172</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168</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166</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154</a:t>
                      </a:r>
                    </a:p>
                  </a:txBody>
                  <a:tcPr marL="50800" marR="508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5"/>
                  </a:ext>
                </a:extLst>
              </a:tr>
            </a:tbl>
          </a:graphicData>
        </a:graphic>
      </p:graphicFrame>
      <p:sp>
        <p:nvSpPr>
          <p:cNvPr id="602" name="Abbreviations"/>
          <p:cNvSpPr txBox="1"/>
          <p:nvPr/>
        </p:nvSpPr>
        <p:spPr>
          <a:xfrm>
            <a:off x="660400" y="5613400"/>
            <a:ext cx="10871200" cy="304800"/>
          </a:xfrm>
          <a:prstGeom prst="rect">
            <a:avLst/>
          </a:prstGeom>
          <a:noFill/>
        </p:spPr>
        <p:txBody>
          <a:bodyPr wrap="square" lIns="0" tIns="0" rIns="0" bIns="0" anchor="b">
            <a:noAutofit/>
          </a:bodyPr>
          <a:lstStyle/>
          <a:p>
            <a:pPr>
              <a:spcBef>
                <a:spcPts val="0"/>
              </a:spcBef>
              <a:buNone/>
            </a:pPr>
            <a:r>
              <a:rPr lang="en-GB" sz="1100" i="1" dirty="0">
                <a:solidFill>
                  <a:srgbClr val="404040"/>
                </a:solidFill>
              </a:rPr>
              <a:t>3MSCT, 3-minute stair climb test; ITT, intention to treat; MPP, modified per protocol; pooled, weekly and every-other-week groups combined. No P values given</a:t>
            </a:r>
          </a:p>
        </p:txBody>
      </p:sp>
      <p:graphicFrame>
        <p:nvGraphicFramePr>
          <p:cNvPr id="603" name="Chart"/>
          <p:cNvGraphicFramePr/>
          <p:nvPr/>
        </p:nvGraphicFramePr>
        <p:xfrm>
          <a:off x="660400" y="1676400"/>
          <a:ext cx="7366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969084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MOR-005: urinary KS to week 120</a:t>
            </a:r>
            <a:endParaRPr lang="en-GB" dirty="0"/>
          </a:p>
        </p:txBody>
      </p:sp>
      <p:sp>
        <p:nvSpPr>
          <p:cNvPr id="302" name="Stat card"/>
          <p:cNvSpPr/>
          <p:nvPr/>
        </p:nvSpPr>
        <p:spPr>
          <a:xfrm>
            <a:off x="8331200" y="1790700"/>
            <a:ext cx="3200400" cy="1536700"/>
          </a:xfrm>
          <a:prstGeom prst="roundRect">
            <a:avLst>
              <a:gd name="adj" fmla="val 8000"/>
            </a:avLst>
          </a:prstGeom>
          <a:solidFill>
            <a:srgbClr val="E3EAF5"/>
          </a:solidFill>
          <a:ln>
            <a:noFill/>
          </a:ln>
        </p:spPr>
        <p:txBody>
          <a:bodyPr wrap="square" lIns="203200" tIns="203200" rIns="203200" bIns="203200" anchor="ctr">
            <a:noAutofit/>
          </a:bodyPr>
          <a:lstStyle/>
          <a:p>
            <a:pPr>
              <a:spcBef>
                <a:spcPts val="0"/>
              </a:spcBef>
              <a:buNone/>
            </a:pPr>
            <a:r>
              <a:rPr lang="en-GB" sz="3200" b="1" dirty="0">
                <a:solidFill>
                  <a:srgbClr val="28509C"/>
                </a:solidFill>
              </a:rPr>
              <a:t>−59.4%</a:t>
            </a:r>
          </a:p>
          <a:p>
            <a:pPr>
              <a:spcBef>
                <a:spcPts val="400"/>
              </a:spcBef>
              <a:buNone/>
            </a:pPr>
            <a:r>
              <a:rPr lang="en-GB" sz="1400" dirty="0">
                <a:solidFill>
                  <a:srgbClr val="2B2B2B"/>
                </a:solidFill>
              </a:rPr>
              <a:t>ITT: mean reduction in urinary KS from baseline to week 120</a:t>
            </a:r>
          </a:p>
        </p:txBody>
      </p:sp>
      <p:sp>
        <p:nvSpPr>
          <p:cNvPr id="303" name="Stat card"/>
          <p:cNvSpPr/>
          <p:nvPr/>
        </p:nvSpPr>
        <p:spPr>
          <a:xfrm>
            <a:off x="8331200" y="3505200"/>
            <a:ext cx="3200400" cy="1536700"/>
          </a:xfrm>
          <a:prstGeom prst="roundRect">
            <a:avLst>
              <a:gd name="adj" fmla="val 8000"/>
            </a:avLst>
          </a:prstGeom>
          <a:solidFill>
            <a:srgbClr val="F1F4F9"/>
          </a:solidFill>
          <a:ln>
            <a:noFill/>
          </a:ln>
        </p:spPr>
        <p:txBody>
          <a:bodyPr wrap="square" lIns="203200" tIns="203200" rIns="203200" bIns="203200" anchor="ctr">
            <a:noAutofit/>
          </a:bodyPr>
          <a:lstStyle/>
          <a:p>
            <a:pPr>
              <a:spcBef>
                <a:spcPts val="0"/>
              </a:spcBef>
              <a:buNone/>
            </a:pPr>
            <a:r>
              <a:rPr lang="en-GB" sz="3200" b="1" dirty="0">
                <a:solidFill>
                  <a:srgbClr val="28509C"/>
                </a:solidFill>
              </a:rPr>
              <a:t>−62.3%</a:t>
            </a:r>
          </a:p>
          <a:p>
            <a:pPr>
              <a:spcBef>
                <a:spcPts val="400"/>
              </a:spcBef>
              <a:buNone/>
            </a:pPr>
            <a:r>
              <a:rPr lang="en-GB" sz="1400" dirty="0">
                <a:solidFill>
                  <a:srgbClr val="2B2B2B"/>
                </a:solidFill>
              </a:rPr>
              <a:t>MPP: mean reduction in urinary KS from baseline to week 120</a:t>
            </a:r>
          </a:p>
        </p:txBody>
      </p:sp>
      <p:sp>
        <p:nvSpPr>
          <p:cNvPr id="305" name="References"/>
          <p:cNvSpPr txBox="1"/>
          <p:nvPr/>
        </p:nvSpPr>
        <p:spPr>
          <a:xfrm>
            <a:off x="660400" y="6070600"/>
            <a:ext cx="10871200" cy="2032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Mol Genet Metab 2016;119:131–43.</a:t>
            </a:r>
          </a:p>
        </p:txBody>
      </p:sp>
      <p:sp>
        <p:nvSpPr>
          <p:cNvPr id="600" name="Chart label"/>
          <p:cNvSpPr txBox="1"/>
          <p:nvPr/>
        </p:nvSpPr>
        <p:spPr>
          <a:xfrm>
            <a:off x="660400" y="1371600"/>
            <a:ext cx="73660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Change in urinary KS from baseline, % (mean)</a:t>
            </a:r>
            <a:r>
              <a:rPr lang="en-GB" sz="1100" dirty="0">
                <a:solidFill>
                  <a:srgbClr val="646464"/>
                </a:solidFill>
              </a:rPr>
              <a:t>   weeks 0–24 MOR-004, 24–120 MOR-005</a:t>
            </a:r>
          </a:p>
        </p:txBody>
      </p:sp>
      <p:graphicFrame>
        <p:nvGraphicFramePr>
          <p:cNvPr id="601" name="N table"/>
          <p:cNvGraphicFramePr>
            <a:graphicFrameLocks noGrp="1"/>
          </p:cNvGraphicFramePr>
          <p:nvPr/>
        </p:nvGraphicFramePr>
        <p:xfrm>
          <a:off x="660400" y="4038600"/>
          <a:ext cx="7366000" cy="1422400"/>
        </p:xfrm>
        <a:graphic>
          <a:graphicData uri="http://schemas.openxmlformats.org/drawingml/2006/table">
            <a:tbl>
              <a:tblPr firstRow="1"/>
              <a:tblGrid>
                <a:gridCol w="29210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6350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635000">
                  <a:extLst>
                    <a:ext uri="{9D8B030D-6E8A-4147-A177-3AD203B41FA5}">
                      <a16:colId xmlns:a16="http://schemas.microsoft.com/office/drawing/2014/main" val="20006"/>
                    </a:ext>
                  </a:extLst>
                </a:gridCol>
                <a:gridCol w="635000">
                  <a:extLst>
                    <a:ext uri="{9D8B030D-6E8A-4147-A177-3AD203B41FA5}">
                      <a16:colId xmlns:a16="http://schemas.microsoft.com/office/drawing/2014/main" val="20007"/>
                    </a:ext>
                  </a:extLst>
                </a:gridCol>
              </a:tblGrid>
              <a:tr h="177800">
                <a:tc>
                  <a:txBody>
                    <a:bodyPr/>
                    <a:lstStyle/>
                    <a:p>
                      <a:pPr algn="l"/>
                      <a:r>
                        <a:rPr lang="en-GB" sz="1000" b="1" dirty="0">
                          <a:solidFill>
                            <a:srgbClr val="002E56"/>
                          </a:solidFill>
                        </a:rPr>
                        <a:t>Patients (n), week</a:t>
                      </a:r>
                    </a:p>
                  </a:txBody>
                  <a:tcPr marL="50800" marR="50800" marT="0" marB="0" anchor="ctr">
                    <a:lnL w="12700">
                      <a:noFill/>
                    </a:lnL>
                    <a:lnR w="12700">
                      <a:noFill/>
                    </a:lnR>
                    <a:lnT w="12700">
                      <a:noFill/>
                    </a:lnT>
                    <a:lnB w="9525">
                      <a:solidFill>
                        <a:srgbClr val="A0A0A0"/>
                      </a:solidFill>
                    </a:lnB>
                    <a:noFill/>
                  </a:tcPr>
                </a:tc>
                <a:tc>
                  <a:txBody>
                    <a:bodyPr/>
                    <a:lstStyle/>
                    <a:p>
                      <a:pPr algn="r"/>
                      <a:r>
                        <a:rPr lang="en-GB" sz="1000" b="1" dirty="0">
                          <a:solidFill>
                            <a:srgbClr val="002E56"/>
                          </a:solidFill>
                        </a:rPr>
                        <a:t>0</a:t>
                      </a:r>
                    </a:p>
                  </a:txBody>
                  <a:tcPr marL="50800" marR="50800" marT="0" marB="0" anchor="ctr">
                    <a:lnL w="12700">
                      <a:noFill/>
                    </a:lnL>
                    <a:lnR w="12700">
                      <a:noFill/>
                    </a:lnR>
                    <a:lnT w="12700">
                      <a:noFill/>
                    </a:lnT>
                    <a:lnB w="9525">
                      <a:solidFill>
                        <a:srgbClr val="A0A0A0"/>
                      </a:solidFill>
                    </a:lnB>
                    <a:noFill/>
                  </a:tcPr>
                </a:tc>
                <a:tc>
                  <a:txBody>
                    <a:bodyPr/>
                    <a:lstStyle/>
                    <a:p>
                      <a:pPr algn="r"/>
                      <a:r>
                        <a:rPr lang="en-GB" sz="1000" b="1" dirty="0">
                          <a:solidFill>
                            <a:srgbClr val="002E56"/>
                          </a:solidFill>
                        </a:rPr>
                        <a:t>12</a:t>
                      </a:r>
                    </a:p>
                  </a:txBody>
                  <a:tcPr marL="50800" marR="50800" marT="0" marB="0" anchor="ctr">
                    <a:lnL w="12700">
                      <a:noFill/>
                    </a:lnL>
                    <a:lnR w="12700">
                      <a:noFill/>
                    </a:lnR>
                    <a:lnT w="12700">
                      <a:noFill/>
                    </a:lnT>
                    <a:lnB w="9525">
                      <a:solidFill>
                        <a:srgbClr val="A0A0A0"/>
                      </a:solidFill>
                    </a:lnB>
                    <a:noFill/>
                  </a:tcPr>
                </a:tc>
                <a:tc>
                  <a:txBody>
                    <a:bodyPr/>
                    <a:lstStyle/>
                    <a:p>
                      <a:pPr algn="r"/>
                      <a:r>
                        <a:rPr lang="en-GB" sz="1000" b="1" dirty="0">
                          <a:solidFill>
                            <a:srgbClr val="002E56"/>
                          </a:solidFill>
                        </a:rPr>
                        <a:t>24</a:t>
                      </a:r>
                    </a:p>
                  </a:txBody>
                  <a:tcPr marL="50800" marR="50800" marT="0" marB="0" anchor="ctr">
                    <a:lnL w="12700">
                      <a:noFill/>
                    </a:lnL>
                    <a:lnR w="12700">
                      <a:noFill/>
                    </a:lnR>
                    <a:lnT w="12700">
                      <a:noFill/>
                    </a:lnT>
                    <a:lnB w="9525">
                      <a:solidFill>
                        <a:srgbClr val="A0A0A0"/>
                      </a:solidFill>
                    </a:lnB>
                    <a:noFill/>
                  </a:tcPr>
                </a:tc>
                <a:tc>
                  <a:txBody>
                    <a:bodyPr/>
                    <a:lstStyle/>
                    <a:p>
                      <a:pPr algn="r"/>
                      <a:r>
                        <a:rPr lang="en-GB" sz="1000" b="1" dirty="0">
                          <a:solidFill>
                            <a:srgbClr val="002E56"/>
                          </a:solidFill>
                        </a:rPr>
                        <a:t>36</a:t>
                      </a:r>
                    </a:p>
                  </a:txBody>
                  <a:tcPr marL="50800" marR="50800" marT="0" marB="0" anchor="ctr">
                    <a:lnL w="12700">
                      <a:noFill/>
                    </a:lnL>
                    <a:lnR w="12700">
                      <a:noFill/>
                    </a:lnR>
                    <a:lnT w="12700">
                      <a:noFill/>
                    </a:lnT>
                    <a:lnB w="9525">
                      <a:solidFill>
                        <a:srgbClr val="A0A0A0"/>
                      </a:solidFill>
                    </a:lnB>
                    <a:noFill/>
                  </a:tcPr>
                </a:tc>
                <a:tc>
                  <a:txBody>
                    <a:bodyPr/>
                    <a:lstStyle/>
                    <a:p>
                      <a:pPr algn="r"/>
                      <a:r>
                        <a:rPr lang="en-GB" sz="1000" b="1" dirty="0">
                          <a:solidFill>
                            <a:srgbClr val="002E56"/>
                          </a:solidFill>
                        </a:rPr>
                        <a:t>48</a:t>
                      </a:r>
                    </a:p>
                  </a:txBody>
                  <a:tcPr marL="50800" marR="50800" marT="0" marB="0" anchor="ctr">
                    <a:lnL w="12700">
                      <a:noFill/>
                    </a:lnL>
                    <a:lnR w="12700">
                      <a:noFill/>
                    </a:lnR>
                    <a:lnT w="12700">
                      <a:noFill/>
                    </a:lnT>
                    <a:lnB w="9525">
                      <a:solidFill>
                        <a:srgbClr val="A0A0A0"/>
                      </a:solidFill>
                    </a:lnB>
                    <a:noFill/>
                  </a:tcPr>
                </a:tc>
                <a:tc>
                  <a:txBody>
                    <a:bodyPr/>
                    <a:lstStyle/>
                    <a:p>
                      <a:pPr algn="r"/>
                      <a:r>
                        <a:rPr lang="en-GB" sz="1000" b="1" dirty="0">
                          <a:solidFill>
                            <a:srgbClr val="002E56"/>
                          </a:solidFill>
                        </a:rPr>
                        <a:t>72</a:t>
                      </a:r>
                    </a:p>
                  </a:txBody>
                  <a:tcPr marL="50800" marR="50800" marT="0" marB="0" anchor="ctr">
                    <a:lnL w="12700">
                      <a:noFill/>
                    </a:lnL>
                    <a:lnR w="12700">
                      <a:noFill/>
                    </a:lnR>
                    <a:lnT w="12700">
                      <a:noFill/>
                    </a:lnT>
                    <a:lnB w="9525">
                      <a:solidFill>
                        <a:srgbClr val="A0A0A0"/>
                      </a:solidFill>
                    </a:lnB>
                    <a:noFill/>
                  </a:tcPr>
                </a:tc>
                <a:tc>
                  <a:txBody>
                    <a:bodyPr/>
                    <a:lstStyle/>
                    <a:p>
                      <a:pPr algn="r"/>
                      <a:r>
                        <a:rPr lang="en-GB" sz="1000" b="1" dirty="0">
                          <a:solidFill>
                            <a:srgbClr val="002E56"/>
                          </a:solidFill>
                        </a:rPr>
                        <a:t>120</a:t>
                      </a:r>
                    </a:p>
                  </a:txBody>
                  <a:tcPr marL="50800" marR="50800" marT="0" marB="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177800">
                <a:tc>
                  <a:txBody>
                    <a:bodyPr/>
                    <a:lstStyle/>
                    <a:p>
                      <a:pPr algn="l"/>
                      <a:r>
                        <a:rPr lang="en-GB" sz="1000" b="1" dirty="0">
                          <a:solidFill>
                            <a:srgbClr val="28509C"/>
                          </a:solidFill>
                        </a:rPr>
                        <a:t>MOR-004 weekly</a:t>
                      </a:r>
                    </a:p>
                  </a:txBody>
                  <a:tcPr marL="50800" marR="508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58</a:t>
                      </a:r>
                    </a:p>
                  </a:txBody>
                  <a:tcPr marL="50800" marR="508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55</a:t>
                      </a:r>
                    </a:p>
                  </a:txBody>
                  <a:tcPr marL="50800" marR="508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54</a:t>
                      </a:r>
                    </a:p>
                  </a:txBody>
                  <a:tcPr marL="50800" marR="508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1"/>
                  </a:ext>
                </a:extLst>
              </a:tr>
              <a:tr h="177800">
                <a:tc>
                  <a:txBody>
                    <a:bodyPr/>
                    <a:lstStyle/>
                    <a:p>
                      <a:pPr algn="l"/>
                      <a:r>
                        <a:rPr lang="en-GB" sz="1000" b="1" dirty="0">
                          <a:solidFill>
                            <a:srgbClr val="A9218E"/>
                          </a:solidFill>
                        </a:rPr>
                        <a:t>MOR-004 every other week</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59</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58</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57</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2"/>
                  </a:ext>
                </a:extLst>
              </a:tr>
              <a:tr h="177800">
                <a:tc>
                  <a:txBody>
                    <a:bodyPr/>
                    <a:lstStyle/>
                    <a:p>
                      <a:pPr algn="l"/>
                      <a:r>
                        <a:rPr lang="en-GB" sz="1000" b="1" dirty="0">
                          <a:solidFill>
                            <a:srgbClr val="404040"/>
                          </a:solidFill>
                        </a:rPr>
                        <a:t>MOR-004 placebo</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58</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56</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55</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3"/>
                  </a:ext>
                </a:extLst>
              </a:tr>
              <a:tr h="177800">
                <a:tc>
                  <a:txBody>
                    <a:bodyPr/>
                    <a:lstStyle/>
                    <a:p>
                      <a:pPr algn="l"/>
                      <a:r>
                        <a:rPr lang="en-GB" sz="1000" b="1" dirty="0">
                          <a:solidFill>
                            <a:srgbClr val="002E56"/>
                          </a:solidFill>
                        </a:rPr>
                        <a:t>MOR-005 weekly → weekly</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53</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52</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52</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51</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47</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4"/>
                  </a:ext>
                </a:extLst>
              </a:tr>
              <a:tr h="177800">
                <a:tc>
                  <a:txBody>
                    <a:bodyPr/>
                    <a:lstStyle/>
                    <a:p>
                      <a:pPr algn="l"/>
                      <a:r>
                        <a:rPr lang="en-GB" sz="1000" b="1" dirty="0">
                          <a:solidFill>
                            <a:srgbClr val="C266B2"/>
                          </a:solidFill>
                        </a:rPr>
                        <a:t>MOR-005 every other wk → every other wk</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57</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56</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56</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56</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49</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5"/>
                  </a:ext>
                </a:extLst>
              </a:tr>
              <a:tr h="177800">
                <a:tc>
                  <a:txBody>
                    <a:bodyPr/>
                    <a:lstStyle/>
                    <a:p>
                      <a:pPr algn="l"/>
                      <a:r>
                        <a:rPr lang="en-GB" sz="1000" b="1" dirty="0">
                          <a:solidFill>
                            <a:srgbClr val="D25D5D"/>
                          </a:solidFill>
                        </a:rPr>
                        <a:t>MOR-005 placebo → weekly</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28</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28</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27</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28</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24</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6"/>
                  </a:ext>
                </a:extLst>
              </a:tr>
              <a:tr h="177800">
                <a:tc>
                  <a:txBody>
                    <a:bodyPr/>
                    <a:lstStyle/>
                    <a:p>
                      <a:pPr algn="l"/>
                      <a:r>
                        <a:rPr lang="en-GB" sz="1000" b="1" dirty="0">
                          <a:solidFill>
                            <a:srgbClr val="E8A33D"/>
                          </a:solidFill>
                        </a:rPr>
                        <a:t>MOR-005 placebo → every other wk</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A0A0A0"/>
                          </a:solidFill>
                        </a:rPr>
                        <a:t>–</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26</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27</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28</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25</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000" dirty="0">
                          <a:solidFill>
                            <a:srgbClr val="2B2B2B"/>
                          </a:solidFill>
                        </a:rPr>
                        <a:t>22</a:t>
                      </a:r>
                    </a:p>
                  </a:txBody>
                  <a:tcPr marL="50800" marR="508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7"/>
                  </a:ext>
                </a:extLst>
              </a:tr>
            </a:tbl>
          </a:graphicData>
        </a:graphic>
      </p:graphicFrame>
      <p:sp>
        <p:nvSpPr>
          <p:cNvPr id="602" name="Abbreviations"/>
          <p:cNvSpPr txBox="1"/>
          <p:nvPr/>
        </p:nvSpPr>
        <p:spPr>
          <a:xfrm>
            <a:off x="660400" y="5613400"/>
            <a:ext cx="10871200" cy="304800"/>
          </a:xfrm>
          <a:prstGeom prst="rect">
            <a:avLst/>
          </a:prstGeom>
          <a:noFill/>
        </p:spPr>
        <p:txBody>
          <a:bodyPr wrap="square" lIns="0" tIns="0" rIns="0" bIns="0" anchor="b">
            <a:noAutofit/>
          </a:bodyPr>
          <a:lstStyle/>
          <a:p>
            <a:pPr>
              <a:spcBef>
                <a:spcPts val="0"/>
              </a:spcBef>
              <a:buNone/>
            </a:pPr>
            <a:r>
              <a:rPr lang="en-GB" sz="1100" i="1" dirty="0">
                <a:solidFill>
                  <a:srgbClr val="404040"/>
                </a:solidFill>
              </a:rPr>
              <a:t>ITT, intention to treat; KS, keratan sulfate; MPP, modified per protocol. MOR-005 groups named by MOR-004 dose → MOR-005 dose. No P values given</a:t>
            </a:r>
          </a:p>
        </p:txBody>
      </p:sp>
      <p:graphicFrame>
        <p:nvGraphicFramePr>
          <p:cNvPr id="603" name="Chart"/>
          <p:cNvGraphicFramePr/>
          <p:nvPr/>
        </p:nvGraphicFramePr>
        <p:xfrm>
          <a:off x="660400" y="1600200"/>
          <a:ext cx="7366000" cy="2362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63104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MOR-005: lung function to week 120</a:t>
            </a:r>
            <a:endParaRPr lang="en-GB" dirty="0"/>
          </a:p>
        </p:txBody>
      </p:sp>
      <p:sp>
        <p:nvSpPr>
          <p:cNvPr id="302" name="Abbreviations"/>
          <p:cNvSpPr txBox="1"/>
          <p:nvPr/>
        </p:nvSpPr>
        <p:spPr>
          <a:xfrm>
            <a:off x="660400" y="5588000"/>
            <a:ext cx="10871200" cy="381000"/>
          </a:xfrm>
          <a:prstGeom prst="rect">
            <a:avLst/>
          </a:prstGeom>
          <a:noFill/>
        </p:spPr>
        <p:txBody>
          <a:bodyPr wrap="square" lIns="0" tIns="0" rIns="0" bIns="0" anchor="b">
            <a:noAutofit/>
          </a:bodyPr>
          <a:lstStyle/>
          <a:p>
            <a:pPr>
              <a:spcBef>
                <a:spcPts val="0"/>
              </a:spcBef>
              <a:buNone/>
            </a:pPr>
            <a:r>
              <a:rPr lang="en-GB" sz="1100" i="1" dirty="0">
                <a:solidFill>
                  <a:srgbClr val="404040"/>
                </a:solidFill>
              </a:rPr>
              <a:t>FEV1, forced expiratory volume in 1 second; FVC, forced vital capacity; ITT, intention to treat; MPP, modified per protocol; MVV, maximum voluntary ventilation</a:t>
            </a:r>
          </a:p>
        </p:txBody>
      </p:sp>
      <p:sp>
        <p:nvSpPr>
          <p:cNvPr id="303" name="References"/>
          <p:cNvSpPr txBox="1"/>
          <p:nvPr/>
        </p:nvSpPr>
        <p:spPr>
          <a:xfrm>
            <a:off x="660400" y="6070600"/>
            <a:ext cx="10871200" cy="2032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Mol Genet Metab 2016;119:131–43.</a:t>
            </a:r>
          </a:p>
        </p:txBody>
      </p:sp>
      <p:sp>
        <p:nvSpPr>
          <p:cNvPr id="600" name="Chart label"/>
          <p:cNvSpPr txBox="1"/>
          <p:nvPr/>
        </p:nvSpPr>
        <p:spPr>
          <a:xfrm>
            <a:off x="660400" y="1371600"/>
            <a:ext cx="108712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Mean % change from baseline, MOR-004/005 combined study week</a:t>
            </a:r>
          </a:p>
        </p:txBody>
      </p:sp>
      <p:sp>
        <p:nvSpPr>
          <p:cNvPr id="601" name="Panel FVC"/>
          <p:cNvSpPr txBox="1"/>
          <p:nvPr/>
        </p:nvSpPr>
        <p:spPr>
          <a:xfrm>
            <a:off x="660400" y="1651000"/>
            <a:ext cx="3454400" cy="228600"/>
          </a:xfrm>
          <a:prstGeom prst="rect">
            <a:avLst/>
          </a:prstGeom>
          <a:noFill/>
        </p:spPr>
        <p:txBody>
          <a:bodyPr wrap="square" lIns="0" tIns="0" rIns="0" bIns="0" anchor="t">
            <a:noAutofit/>
          </a:bodyPr>
          <a:lstStyle/>
          <a:p>
            <a:pPr>
              <a:spcBef>
                <a:spcPts val="0"/>
              </a:spcBef>
              <a:buNone/>
            </a:pPr>
            <a:r>
              <a:rPr lang="en-GB" sz="1400" b="1" dirty="0">
                <a:solidFill>
                  <a:srgbClr val="002E56"/>
                </a:solidFill>
              </a:rPr>
              <a:t>FVC</a:t>
            </a:r>
          </a:p>
        </p:txBody>
      </p:sp>
      <p:graphicFrame>
        <p:nvGraphicFramePr>
          <p:cNvPr id="602" name="N table FVC"/>
          <p:cNvGraphicFramePr>
            <a:graphicFrameLocks noGrp="1"/>
          </p:cNvGraphicFramePr>
          <p:nvPr/>
        </p:nvGraphicFramePr>
        <p:xfrm>
          <a:off x="660400" y="4724400"/>
          <a:ext cx="3454400" cy="609600"/>
        </p:xfrm>
        <a:graphic>
          <a:graphicData uri="http://schemas.openxmlformats.org/drawingml/2006/table">
            <a:tbl>
              <a:tblPr firstRow="1"/>
              <a:tblGrid>
                <a:gridCol w="6604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203200">
                <a:tc>
                  <a:txBody>
                    <a:bodyPr/>
                    <a:lstStyle/>
                    <a:p>
                      <a:pPr algn="l"/>
                      <a:r>
                        <a:rPr lang="en-GB" sz="1100" b="1" dirty="0">
                          <a:solidFill>
                            <a:srgbClr val="002E56"/>
                          </a:solidFill>
                        </a:rPr>
                        <a:t>n</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0</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24</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72</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120</a:t>
                      </a:r>
                    </a:p>
                  </a:txBody>
                  <a:tcPr marL="38100" marR="38100" marT="12700" marB="1270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203200">
                <a:tc>
                  <a:txBody>
                    <a:bodyPr/>
                    <a:lstStyle/>
                    <a:p>
                      <a:pPr algn="l"/>
                      <a:r>
                        <a:rPr lang="en-GB" sz="1100" b="1" dirty="0">
                          <a:solidFill>
                            <a:srgbClr val="002E56"/>
                          </a:solidFill>
                        </a:rPr>
                        <a:t>ITT</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162</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160</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157</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142</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1"/>
                  </a:ext>
                </a:extLst>
              </a:tr>
              <a:tr h="203200">
                <a:tc>
                  <a:txBody>
                    <a:bodyPr/>
                    <a:lstStyle/>
                    <a:p>
                      <a:pPr algn="l"/>
                      <a:r>
                        <a:rPr lang="en-GB" sz="1100" b="1" dirty="0">
                          <a:solidFill>
                            <a:srgbClr val="D25D5D"/>
                          </a:solidFill>
                        </a:rPr>
                        <a:t>MPP</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118</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116</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118</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112</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2"/>
                  </a:ext>
                </a:extLst>
              </a:tr>
            </a:tbl>
          </a:graphicData>
        </a:graphic>
      </p:graphicFrame>
      <p:sp>
        <p:nvSpPr>
          <p:cNvPr id="603" name="Panel FEV1"/>
          <p:cNvSpPr txBox="1"/>
          <p:nvPr/>
        </p:nvSpPr>
        <p:spPr>
          <a:xfrm>
            <a:off x="4368800" y="1651000"/>
            <a:ext cx="3454400" cy="228600"/>
          </a:xfrm>
          <a:prstGeom prst="rect">
            <a:avLst/>
          </a:prstGeom>
          <a:noFill/>
        </p:spPr>
        <p:txBody>
          <a:bodyPr wrap="square" lIns="0" tIns="0" rIns="0" bIns="0" anchor="t">
            <a:noAutofit/>
          </a:bodyPr>
          <a:lstStyle/>
          <a:p>
            <a:pPr>
              <a:spcBef>
                <a:spcPts val="0"/>
              </a:spcBef>
              <a:buNone/>
            </a:pPr>
            <a:r>
              <a:rPr lang="en-GB" sz="1400" b="1" dirty="0">
                <a:solidFill>
                  <a:srgbClr val="002E56"/>
                </a:solidFill>
              </a:rPr>
              <a:t>FEV1</a:t>
            </a:r>
          </a:p>
        </p:txBody>
      </p:sp>
      <p:graphicFrame>
        <p:nvGraphicFramePr>
          <p:cNvPr id="604" name="N table FEV1"/>
          <p:cNvGraphicFramePr>
            <a:graphicFrameLocks noGrp="1"/>
          </p:cNvGraphicFramePr>
          <p:nvPr/>
        </p:nvGraphicFramePr>
        <p:xfrm>
          <a:off x="4368800" y="4724400"/>
          <a:ext cx="3454400" cy="609600"/>
        </p:xfrm>
        <a:graphic>
          <a:graphicData uri="http://schemas.openxmlformats.org/drawingml/2006/table">
            <a:tbl>
              <a:tblPr firstRow="1"/>
              <a:tblGrid>
                <a:gridCol w="6604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203200">
                <a:tc>
                  <a:txBody>
                    <a:bodyPr/>
                    <a:lstStyle/>
                    <a:p>
                      <a:pPr algn="l"/>
                      <a:r>
                        <a:rPr lang="en-GB" sz="1100" b="1" dirty="0">
                          <a:solidFill>
                            <a:srgbClr val="002E56"/>
                          </a:solidFill>
                        </a:rPr>
                        <a:t>n</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0</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24</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72</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120</a:t>
                      </a:r>
                    </a:p>
                  </a:txBody>
                  <a:tcPr marL="38100" marR="38100" marT="12700" marB="1270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203200">
                <a:tc>
                  <a:txBody>
                    <a:bodyPr/>
                    <a:lstStyle/>
                    <a:p>
                      <a:pPr algn="l"/>
                      <a:r>
                        <a:rPr lang="en-GB" sz="1100" b="1" dirty="0">
                          <a:solidFill>
                            <a:srgbClr val="002E56"/>
                          </a:solidFill>
                        </a:rPr>
                        <a:t>ITT</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161</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158</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156</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142</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1"/>
                  </a:ext>
                </a:extLst>
              </a:tr>
              <a:tr h="203200">
                <a:tc>
                  <a:txBody>
                    <a:bodyPr/>
                    <a:lstStyle/>
                    <a:p>
                      <a:pPr algn="l"/>
                      <a:r>
                        <a:rPr lang="en-GB" sz="1100" b="1" dirty="0">
                          <a:solidFill>
                            <a:srgbClr val="D25D5D"/>
                          </a:solidFill>
                        </a:rPr>
                        <a:t>MPP</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118</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116</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118</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113</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2"/>
                  </a:ext>
                </a:extLst>
              </a:tr>
            </a:tbl>
          </a:graphicData>
        </a:graphic>
      </p:graphicFrame>
      <p:sp>
        <p:nvSpPr>
          <p:cNvPr id="605" name="Panel MVV"/>
          <p:cNvSpPr txBox="1"/>
          <p:nvPr/>
        </p:nvSpPr>
        <p:spPr>
          <a:xfrm>
            <a:off x="8077200" y="1651000"/>
            <a:ext cx="3454400" cy="228600"/>
          </a:xfrm>
          <a:prstGeom prst="rect">
            <a:avLst/>
          </a:prstGeom>
          <a:noFill/>
        </p:spPr>
        <p:txBody>
          <a:bodyPr wrap="square" lIns="0" tIns="0" rIns="0" bIns="0" anchor="t">
            <a:noAutofit/>
          </a:bodyPr>
          <a:lstStyle/>
          <a:p>
            <a:pPr>
              <a:spcBef>
                <a:spcPts val="0"/>
              </a:spcBef>
              <a:buNone/>
            </a:pPr>
            <a:r>
              <a:rPr lang="en-GB" sz="1400" b="1" dirty="0">
                <a:solidFill>
                  <a:srgbClr val="002E56"/>
                </a:solidFill>
              </a:rPr>
              <a:t>MVV</a:t>
            </a:r>
          </a:p>
        </p:txBody>
      </p:sp>
      <p:graphicFrame>
        <p:nvGraphicFramePr>
          <p:cNvPr id="606" name="N table MVV"/>
          <p:cNvGraphicFramePr>
            <a:graphicFrameLocks noGrp="1"/>
          </p:cNvGraphicFramePr>
          <p:nvPr/>
        </p:nvGraphicFramePr>
        <p:xfrm>
          <a:off x="8077200" y="4724400"/>
          <a:ext cx="3454400" cy="609600"/>
        </p:xfrm>
        <a:graphic>
          <a:graphicData uri="http://schemas.openxmlformats.org/drawingml/2006/table">
            <a:tbl>
              <a:tblPr firstRow="1"/>
              <a:tblGrid>
                <a:gridCol w="6604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203200">
                <a:tc>
                  <a:txBody>
                    <a:bodyPr/>
                    <a:lstStyle/>
                    <a:p>
                      <a:pPr algn="l"/>
                      <a:r>
                        <a:rPr lang="en-GB" sz="1100" b="1" dirty="0">
                          <a:solidFill>
                            <a:srgbClr val="002E56"/>
                          </a:solidFill>
                        </a:rPr>
                        <a:t>n</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0</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24</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72</a:t>
                      </a:r>
                    </a:p>
                  </a:txBody>
                  <a:tcPr marL="38100" marR="38100" marT="12700" marB="1270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120</a:t>
                      </a:r>
                    </a:p>
                  </a:txBody>
                  <a:tcPr marL="38100" marR="38100" marT="12700" marB="1270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203200">
                <a:tc>
                  <a:txBody>
                    <a:bodyPr/>
                    <a:lstStyle/>
                    <a:p>
                      <a:pPr algn="l"/>
                      <a:r>
                        <a:rPr lang="en-GB" sz="1100" b="1" dirty="0">
                          <a:solidFill>
                            <a:srgbClr val="002E56"/>
                          </a:solidFill>
                        </a:rPr>
                        <a:t>ITT</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153</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148</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144</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130</a:t>
                      </a:r>
                    </a:p>
                  </a:txBody>
                  <a:tcPr marL="38100" marR="38100" marT="12700" marB="1270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1"/>
                  </a:ext>
                </a:extLst>
              </a:tr>
              <a:tr h="203200">
                <a:tc>
                  <a:txBody>
                    <a:bodyPr/>
                    <a:lstStyle/>
                    <a:p>
                      <a:pPr algn="l"/>
                      <a:r>
                        <a:rPr lang="en-GB" sz="1100" b="1" dirty="0">
                          <a:solidFill>
                            <a:srgbClr val="D25D5D"/>
                          </a:solidFill>
                        </a:rPr>
                        <a:t>MPP</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112</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108</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111</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105</a:t>
                      </a:r>
                    </a:p>
                  </a:txBody>
                  <a:tcPr marL="38100" marR="38100" marT="12700" marB="1270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2"/>
                  </a:ext>
                </a:extLst>
              </a:tr>
            </a:tbl>
          </a:graphicData>
        </a:graphic>
      </p:graphicFrame>
      <p:graphicFrame>
        <p:nvGraphicFramePr>
          <p:cNvPr id="607" name="Chart"/>
          <p:cNvGraphicFramePr/>
          <p:nvPr/>
        </p:nvGraphicFramePr>
        <p:xfrm>
          <a:off x="660400" y="1905000"/>
          <a:ext cx="3454400" cy="2794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08" name="Chart"/>
          <p:cNvGraphicFramePr/>
          <p:nvPr/>
        </p:nvGraphicFramePr>
        <p:xfrm>
          <a:off x="4368800" y="1905000"/>
          <a:ext cx="3454400" cy="279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9" name="Chart"/>
          <p:cNvGraphicFramePr/>
          <p:nvPr/>
        </p:nvGraphicFramePr>
        <p:xfrm>
          <a:off x="8077200" y="1905000"/>
          <a:ext cx="3454400" cy="2794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667501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Infusion day and reactions  |  Elosulfase alfa</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Elosulfase alfa: safety and tolerability</a:t>
            </a:r>
          </a:p>
        </p:txBody>
      </p:sp>
      <p:sp>
        <p:nvSpPr>
          <p:cNvPr id="302" name="Patients"/>
          <p:cNvSpPr/>
          <p:nvPr/>
        </p:nvSpPr>
        <p:spPr>
          <a:xfrm>
            <a:off x="660400" y="1422400"/>
            <a:ext cx="3454400" cy="1905000"/>
          </a:xfrm>
          <a:prstGeom prst="roundRect">
            <a:avLst>
              <a:gd name="adj" fmla="val 8000"/>
            </a:avLst>
          </a:prstGeom>
          <a:solidFill>
            <a:srgbClr val="E3EAF5"/>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Patients assessed</a:t>
            </a:r>
          </a:p>
          <a:p>
            <a:pPr>
              <a:spcBef>
                <a:spcPts val="300"/>
              </a:spcBef>
              <a:buNone/>
            </a:pPr>
            <a:r>
              <a:rPr lang="en-GB" sz="4400" b="1" dirty="0">
                <a:solidFill>
                  <a:srgbClr val="28509C"/>
                </a:solidFill>
              </a:rPr>
              <a:t>176</a:t>
            </a:r>
          </a:p>
          <a:p>
            <a:pPr>
              <a:spcBef>
                <a:spcPts val="200"/>
              </a:spcBef>
              <a:buNone/>
            </a:pPr>
            <a:r>
              <a:rPr lang="en-GB" sz="1400" dirty="0">
                <a:solidFill>
                  <a:srgbClr val="2B2B2B"/>
                </a:solidFill>
              </a:rPr>
              <a:t>aged 5–57 years in the randomised, double-blind, placebo-controlled trial (MOR-004)</a:t>
            </a:r>
            <a:r>
              <a:rPr lang="en-GB" sz="1400" baseline="30000" dirty="0">
                <a:solidFill>
                  <a:srgbClr val="2B2B2B"/>
                </a:solidFill>
              </a:rPr>
              <a:t>1</a:t>
            </a:r>
          </a:p>
        </p:txBody>
      </p:sp>
      <p:sp>
        <p:nvSpPr>
          <p:cNvPr id="303" name="IR summary"/>
          <p:cNvSpPr/>
          <p:nvPr/>
        </p:nvSpPr>
        <p:spPr>
          <a:xfrm>
            <a:off x="4368800" y="1422400"/>
            <a:ext cx="7162800" cy="19050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Most adverse reactions were infusion reactions</a:t>
            </a:r>
          </a:p>
          <a:p>
            <a:pPr>
              <a:spcBef>
                <a:spcPts val="400"/>
              </a:spcBef>
              <a:buNone/>
            </a:pPr>
            <a:r>
              <a:rPr lang="en-GB" sz="2000" b="1" dirty="0">
                <a:solidFill>
                  <a:srgbClr val="002E56"/>
                </a:solidFill>
              </a:rPr>
              <a:t>Generally mild or moderate</a:t>
            </a:r>
            <a:r>
              <a:rPr lang="en-GB" sz="1400" baseline="30000" dirty="0">
                <a:solidFill>
                  <a:srgbClr val="2B2B2B"/>
                </a:solidFill>
              </a:rPr>
              <a:t>1</a:t>
            </a:r>
          </a:p>
          <a:p>
            <a:pPr>
              <a:spcBef>
                <a:spcPts val="400"/>
              </a:spcBef>
              <a:buNone/>
            </a:pPr>
            <a:r>
              <a:rPr lang="en-GB" sz="1400" dirty="0">
                <a:solidFill>
                  <a:srgbClr val="2B2B2B"/>
                </a:solidFill>
              </a:rPr>
              <a:t>More frequent in the first 12 weeks of treatment, then less frequent over time</a:t>
            </a:r>
            <a:r>
              <a:rPr lang="en-GB" sz="1400" baseline="30000" dirty="0">
                <a:solidFill>
                  <a:srgbClr val="2B2B2B"/>
                </a:solidFill>
              </a:rPr>
              <a:t>1</a:t>
            </a:r>
          </a:p>
        </p:txBody>
      </p:sp>
      <p:sp>
        <p:nvSpPr>
          <p:cNvPr id="304" name="Most common infusion-reaction symptoms"/>
          <p:cNvSpPr/>
          <p:nvPr/>
        </p:nvSpPr>
        <p:spPr>
          <a:xfrm>
            <a:off x="660400" y="3454400"/>
            <a:ext cx="5346700" cy="2184400"/>
          </a:xfrm>
          <a:prstGeom prst="roundRect">
            <a:avLst>
              <a:gd name="adj" fmla="val 8000"/>
            </a:avLst>
          </a:prstGeom>
          <a:solidFill>
            <a:srgbClr val="F1F4F9"/>
          </a:solidFill>
          <a:ln>
            <a:noFill/>
          </a:ln>
        </p:spPr>
        <p:txBody>
          <a:bodyPr wrap="square" lIns="0" tIns="0" rIns="0" bIns="0" anchor="t">
            <a:noAutofit/>
          </a:bodyPr>
          <a:lstStyle/>
          <a:p>
            <a:endParaRPr lang="en-GB" dirty="0"/>
          </a:p>
        </p:txBody>
      </p:sp>
      <p:sp>
        <p:nvSpPr>
          <p:cNvPr id="305" name="Chip head"/>
          <p:cNvSpPr txBox="1"/>
          <p:nvPr/>
        </p:nvSpPr>
        <p:spPr>
          <a:xfrm>
            <a:off x="863600" y="3632200"/>
            <a:ext cx="49403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Most common infusion-reaction symptoms</a:t>
            </a:r>
            <a:r>
              <a:rPr lang="en-GB" sz="1400" baseline="30000" dirty="0">
                <a:solidFill>
                  <a:srgbClr val="2B2B2B"/>
                </a:solidFill>
              </a:rPr>
              <a:t>1</a:t>
            </a:r>
          </a:p>
        </p:txBody>
      </p:sp>
      <p:sp>
        <p:nvSpPr>
          <p:cNvPr id="306" name="Chip"/>
          <p:cNvSpPr/>
          <p:nvPr/>
        </p:nvSpPr>
        <p:spPr>
          <a:xfrm>
            <a:off x="863600" y="3962400"/>
            <a:ext cx="1041400" cy="3302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300" dirty="0">
                <a:solidFill>
                  <a:srgbClr val="002E56"/>
                </a:solidFill>
              </a:rPr>
              <a:t>Headache</a:t>
            </a:r>
          </a:p>
        </p:txBody>
      </p:sp>
      <p:sp>
        <p:nvSpPr>
          <p:cNvPr id="307" name="Chip"/>
          <p:cNvSpPr/>
          <p:nvPr/>
        </p:nvSpPr>
        <p:spPr>
          <a:xfrm>
            <a:off x="2006600" y="3962400"/>
            <a:ext cx="863600" cy="3302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300" dirty="0">
                <a:solidFill>
                  <a:srgbClr val="002E56"/>
                </a:solidFill>
              </a:rPr>
              <a:t>Nausea</a:t>
            </a:r>
          </a:p>
        </p:txBody>
      </p:sp>
      <p:sp>
        <p:nvSpPr>
          <p:cNvPr id="308" name="Chip"/>
          <p:cNvSpPr/>
          <p:nvPr/>
        </p:nvSpPr>
        <p:spPr>
          <a:xfrm>
            <a:off x="2971800" y="3962400"/>
            <a:ext cx="1041400" cy="3302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300" dirty="0">
                <a:solidFill>
                  <a:srgbClr val="002E56"/>
                </a:solidFill>
              </a:rPr>
              <a:t>Vomiting</a:t>
            </a:r>
          </a:p>
        </p:txBody>
      </p:sp>
      <p:sp>
        <p:nvSpPr>
          <p:cNvPr id="309" name="Chip"/>
          <p:cNvSpPr/>
          <p:nvPr/>
        </p:nvSpPr>
        <p:spPr>
          <a:xfrm>
            <a:off x="4114800" y="3962400"/>
            <a:ext cx="952500" cy="3302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300" dirty="0">
                <a:solidFill>
                  <a:srgbClr val="002E56"/>
                </a:solidFill>
              </a:rPr>
              <a:t>Pyrexia</a:t>
            </a:r>
          </a:p>
        </p:txBody>
      </p:sp>
      <p:sp>
        <p:nvSpPr>
          <p:cNvPr id="310" name="Chip"/>
          <p:cNvSpPr/>
          <p:nvPr/>
        </p:nvSpPr>
        <p:spPr>
          <a:xfrm>
            <a:off x="863600" y="4394200"/>
            <a:ext cx="863600" cy="3302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300" dirty="0">
                <a:solidFill>
                  <a:srgbClr val="002E56"/>
                </a:solidFill>
              </a:rPr>
              <a:t>Chills</a:t>
            </a:r>
          </a:p>
        </p:txBody>
      </p:sp>
      <p:sp>
        <p:nvSpPr>
          <p:cNvPr id="311" name="Chip"/>
          <p:cNvSpPr/>
          <p:nvPr/>
        </p:nvSpPr>
        <p:spPr>
          <a:xfrm>
            <a:off x="1828800" y="4394200"/>
            <a:ext cx="1574800" cy="3302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300" dirty="0">
                <a:solidFill>
                  <a:srgbClr val="002E56"/>
                </a:solidFill>
              </a:rPr>
              <a:t>Abdominal pain</a:t>
            </a:r>
          </a:p>
        </p:txBody>
      </p:sp>
      <p:sp>
        <p:nvSpPr>
          <p:cNvPr id="312" name="Note"/>
          <p:cNvSpPr txBox="1"/>
          <p:nvPr/>
        </p:nvSpPr>
        <p:spPr>
          <a:xfrm>
            <a:off x="863600" y="5181600"/>
            <a:ext cx="4940300" cy="381000"/>
          </a:xfrm>
          <a:prstGeom prst="rect">
            <a:avLst/>
          </a:prstGeom>
          <a:noFill/>
        </p:spPr>
        <p:txBody>
          <a:bodyPr wrap="square" lIns="0" tIns="0" rIns="0" bIns="0" anchor="t">
            <a:noAutofit/>
          </a:bodyPr>
          <a:lstStyle/>
          <a:p>
            <a:pPr>
              <a:spcBef>
                <a:spcPts val="0"/>
              </a:spcBef>
              <a:buNone/>
            </a:pPr>
            <a:r>
              <a:rPr lang="en-GB" sz="1100" dirty="0">
                <a:solidFill>
                  <a:srgbClr val="646464"/>
                </a:solidFill>
              </a:rPr>
              <a:t>In ≥10% of treated patients and ≥5% more often than with placebo</a:t>
            </a:r>
          </a:p>
        </p:txBody>
      </p:sp>
      <p:sp>
        <p:nvSpPr>
          <p:cNvPr id="313" name="Serious infusion reactions"/>
          <p:cNvSpPr/>
          <p:nvPr/>
        </p:nvSpPr>
        <p:spPr>
          <a:xfrm>
            <a:off x="6184900" y="3454400"/>
            <a:ext cx="5346700" cy="2184400"/>
          </a:xfrm>
          <a:prstGeom prst="roundRect">
            <a:avLst>
              <a:gd name="adj" fmla="val 8000"/>
            </a:avLst>
          </a:prstGeom>
          <a:solidFill>
            <a:srgbClr val="F1F4F9"/>
          </a:solidFill>
          <a:ln>
            <a:noFill/>
          </a:ln>
        </p:spPr>
        <p:txBody>
          <a:bodyPr wrap="square" lIns="0" tIns="0" rIns="0" bIns="0" anchor="t">
            <a:noAutofit/>
          </a:bodyPr>
          <a:lstStyle/>
          <a:p>
            <a:endParaRPr lang="en-GB" dirty="0"/>
          </a:p>
        </p:txBody>
      </p:sp>
      <p:sp>
        <p:nvSpPr>
          <p:cNvPr id="314" name="Chip head"/>
          <p:cNvSpPr txBox="1"/>
          <p:nvPr/>
        </p:nvSpPr>
        <p:spPr>
          <a:xfrm>
            <a:off x="6388100" y="3632200"/>
            <a:ext cx="4940300" cy="203200"/>
          </a:xfrm>
          <a:prstGeom prst="rect">
            <a:avLst/>
          </a:prstGeom>
          <a:noFill/>
        </p:spPr>
        <p:txBody>
          <a:bodyPr wrap="square" lIns="0" tIns="0" rIns="0" bIns="0" anchor="t">
            <a:noAutofit/>
          </a:bodyPr>
          <a:lstStyle/>
          <a:p>
            <a:pPr>
              <a:spcBef>
                <a:spcPts val="0"/>
              </a:spcBef>
              <a:buNone/>
            </a:pPr>
            <a:r>
              <a:rPr lang="en-GB" sz="1100" b="1" spc="60" dirty="0">
                <a:solidFill>
                  <a:srgbClr val="A33A3A"/>
                </a:solidFill>
              </a:rPr>
              <a:t>Serious infusion reactions</a:t>
            </a:r>
            <a:r>
              <a:rPr lang="en-GB" sz="1400" baseline="30000" dirty="0">
                <a:solidFill>
                  <a:srgbClr val="2B2B2B"/>
                </a:solidFill>
              </a:rPr>
              <a:t>1</a:t>
            </a:r>
          </a:p>
        </p:txBody>
      </p:sp>
      <p:sp>
        <p:nvSpPr>
          <p:cNvPr id="315" name="Chip"/>
          <p:cNvSpPr/>
          <p:nvPr/>
        </p:nvSpPr>
        <p:spPr>
          <a:xfrm>
            <a:off x="6388100" y="3962400"/>
            <a:ext cx="1308100" cy="3302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300" dirty="0">
                <a:solidFill>
                  <a:srgbClr val="7A2B2B"/>
                </a:solidFill>
              </a:rPr>
              <a:t>Anaphylaxis</a:t>
            </a:r>
          </a:p>
        </p:txBody>
      </p:sp>
      <p:sp>
        <p:nvSpPr>
          <p:cNvPr id="316" name="Chip"/>
          <p:cNvSpPr/>
          <p:nvPr/>
        </p:nvSpPr>
        <p:spPr>
          <a:xfrm>
            <a:off x="7797800" y="3962400"/>
            <a:ext cx="1752600" cy="3302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300" dirty="0">
                <a:solidFill>
                  <a:srgbClr val="7A2B2B"/>
                </a:solidFill>
              </a:rPr>
              <a:t>Hypersensitivity</a:t>
            </a:r>
          </a:p>
        </p:txBody>
      </p:sp>
      <p:sp>
        <p:nvSpPr>
          <p:cNvPr id="317" name="Chip"/>
          <p:cNvSpPr/>
          <p:nvPr/>
        </p:nvSpPr>
        <p:spPr>
          <a:xfrm>
            <a:off x="9652000" y="3962400"/>
            <a:ext cx="1041400" cy="3302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300" dirty="0">
                <a:solidFill>
                  <a:srgbClr val="7A2B2B"/>
                </a:solidFill>
              </a:rPr>
              <a:t>Vomiting</a:t>
            </a:r>
          </a:p>
        </p:txBody>
      </p:sp>
      <p:sp>
        <p:nvSpPr>
          <p:cNvPr id="318" name="Abbreviations"/>
          <p:cNvSpPr txBox="1"/>
          <p:nvPr/>
        </p:nvSpPr>
        <p:spPr>
          <a:xfrm>
            <a:off x="660400" y="57404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IR, infusion reaction; MOR-004, phase 3 trial of elosulfase alfa in MPS IVA</a:t>
            </a:r>
          </a:p>
        </p:txBody>
      </p:sp>
      <p:sp>
        <p:nvSpPr>
          <p:cNvPr id="319"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Elosulfase alfa Summary of Product Characteristics.</a:t>
            </a:r>
          </a:p>
        </p:txBody>
      </p:sp>
    </p:spTree>
    <p:extLst>
      <p:ext uri="{BB962C8B-B14F-4D97-AF65-F5344CB8AC3E}">
        <p14:creationId xmlns:p14="http://schemas.microsoft.com/office/powerpoint/2010/main" val="29479286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MorCAP comparator population</a:t>
            </a:r>
          </a:p>
        </p:txBody>
      </p:sp>
      <p:sp>
        <p:nvSpPr>
          <p:cNvPr id="302" name="Intro"/>
          <p:cNvSpPr/>
          <p:nvPr/>
        </p:nvSpPr>
        <p:spPr>
          <a:xfrm>
            <a:off x="660400" y="1422400"/>
            <a:ext cx="10871200" cy="635000"/>
          </a:xfrm>
          <a:prstGeom prst="roundRect">
            <a:avLst>
              <a:gd name="adj" fmla="val 8000"/>
            </a:avLst>
          </a:prstGeom>
          <a:solidFill>
            <a:srgbClr val="E3EAF5"/>
          </a:solidFill>
          <a:ln>
            <a:noFill/>
          </a:ln>
        </p:spPr>
        <p:txBody>
          <a:bodyPr wrap="square" lIns="177800" tIns="177800" rIns="177800" bIns="177800" anchor="ctr">
            <a:noAutofit/>
          </a:bodyPr>
          <a:lstStyle/>
          <a:p>
            <a:pPr>
              <a:spcBef>
                <a:spcPts val="0"/>
              </a:spcBef>
              <a:buNone/>
            </a:pPr>
            <a:r>
              <a:rPr lang="en-GB" sz="1400" dirty="0">
                <a:solidFill>
                  <a:srgbClr val="2B2B2B"/>
                </a:solidFill>
              </a:rPr>
              <a:t>Untreated patients from the MorCAP study provided baseline data for untreated disease</a:t>
            </a:r>
            <a:r>
              <a:rPr lang="en-GB" sz="1400" baseline="30000" dirty="0">
                <a:solidFill>
                  <a:srgbClr val="2B2B2B"/>
                </a:solidFill>
              </a:rPr>
              <a:t>1</a:t>
            </a:r>
          </a:p>
        </p:txBody>
      </p:sp>
      <p:sp>
        <p:nvSpPr>
          <p:cNvPr id="303" name="MorCAP 1"/>
          <p:cNvSpPr/>
          <p:nvPr/>
        </p:nvSpPr>
        <p:spPr>
          <a:xfrm>
            <a:off x="660400" y="2235200"/>
            <a:ext cx="5346700" cy="25400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2400" b="1" dirty="0">
                <a:solidFill>
                  <a:srgbClr val="28509C"/>
                </a:solidFill>
              </a:rPr>
              <a:t>MorCAP 1</a:t>
            </a:r>
          </a:p>
          <a:p>
            <a:pPr>
              <a:spcBef>
                <a:spcPts val="200"/>
              </a:spcBef>
              <a:buNone/>
            </a:pPr>
            <a:r>
              <a:rPr lang="en-GB" sz="1400" b="1" dirty="0">
                <a:solidFill>
                  <a:srgbClr val="002E56"/>
                </a:solidFill>
              </a:rPr>
              <a:t>Equivalent to the ITT population</a:t>
            </a:r>
          </a:p>
          <a:p>
            <a:pPr marL="177800" indent="-177800">
              <a:spcBef>
                <a:spcPts val="600"/>
              </a:spcBef>
              <a:buClr>
                <a:srgbClr val="28509C"/>
              </a:buClr>
              <a:buFont typeface="Arial"/>
              <a:buChar char="•"/>
            </a:pPr>
            <a:r>
              <a:rPr lang="en-GB" sz="1400" dirty="0">
                <a:solidFill>
                  <a:srgbClr val="2B2B2B"/>
                </a:solidFill>
              </a:rPr>
              <a:t>Morquio A patients aged ≥5 years</a:t>
            </a:r>
          </a:p>
          <a:p>
            <a:pPr marL="177800" indent="-177800">
              <a:spcBef>
                <a:spcPts val="600"/>
              </a:spcBef>
              <a:buClr>
                <a:srgbClr val="28509C"/>
              </a:buClr>
              <a:buFont typeface="Arial"/>
              <a:buChar char="•"/>
            </a:pPr>
            <a:r>
              <a:rPr lang="en-GB" sz="1400" dirty="0">
                <a:solidFill>
                  <a:srgbClr val="2B2B2B"/>
                </a:solidFill>
              </a:rPr>
              <a:t>Baseline 6MWT distance 30–325 m</a:t>
            </a:r>
          </a:p>
          <a:p>
            <a:pPr marL="177800" indent="-177800">
              <a:spcBef>
                <a:spcPts val="600"/>
              </a:spcBef>
              <a:buClr>
                <a:srgbClr val="28509C"/>
              </a:buClr>
              <a:buFont typeface="Arial"/>
              <a:buChar char="•"/>
            </a:pPr>
            <a:r>
              <a:rPr lang="en-GB" sz="1400" dirty="0">
                <a:solidFill>
                  <a:srgbClr val="2B2B2B"/>
                </a:solidFill>
              </a:rPr>
              <a:t>Longitudinal data available at Year 1 and/or Year 2</a:t>
            </a:r>
          </a:p>
        </p:txBody>
      </p:sp>
      <p:sp>
        <p:nvSpPr>
          <p:cNvPr id="304" name="MorCAP 2"/>
          <p:cNvSpPr/>
          <p:nvPr/>
        </p:nvSpPr>
        <p:spPr>
          <a:xfrm>
            <a:off x="6184900" y="2235200"/>
            <a:ext cx="5346700" cy="25400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2400" b="1" dirty="0">
                <a:solidFill>
                  <a:srgbClr val="A9218E"/>
                </a:solidFill>
              </a:rPr>
              <a:t>MorCAP 2</a:t>
            </a:r>
          </a:p>
          <a:p>
            <a:pPr>
              <a:spcBef>
                <a:spcPts val="200"/>
              </a:spcBef>
              <a:buNone/>
            </a:pPr>
            <a:r>
              <a:rPr lang="en-GB" sz="1400" b="1" dirty="0">
                <a:solidFill>
                  <a:srgbClr val="002E56"/>
                </a:solidFill>
              </a:rPr>
              <a:t>Equivalent to the MPP population</a:t>
            </a:r>
          </a:p>
          <a:p>
            <a:pPr marL="177800" indent="-177800">
              <a:spcBef>
                <a:spcPts val="600"/>
              </a:spcBef>
              <a:buClr>
                <a:srgbClr val="A9218E"/>
              </a:buClr>
              <a:buFont typeface="Arial"/>
              <a:buChar char="•"/>
            </a:pPr>
            <a:r>
              <a:rPr lang="en-GB" sz="1400" dirty="0">
                <a:solidFill>
                  <a:srgbClr val="2B2B2B"/>
                </a:solidFill>
              </a:rPr>
              <a:t>As MorCAP 1, but excluding patients who had orthopaedic surgery within 3 months of recruitment or in the following 2 years</a:t>
            </a:r>
          </a:p>
        </p:txBody>
      </p:sp>
      <p:sp>
        <p:nvSpPr>
          <p:cNvPr id="305" name="Conclusion"/>
          <p:cNvSpPr/>
          <p:nvPr/>
        </p:nvSpPr>
        <p:spPr>
          <a:xfrm>
            <a:off x="660400" y="4927600"/>
            <a:ext cx="10871200" cy="584200"/>
          </a:xfrm>
          <a:prstGeom prst="roundRect">
            <a:avLst>
              <a:gd name="adj" fmla="val 8000"/>
            </a:avLst>
          </a:prstGeom>
          <a:solidFill>
            <a:srgbClr val="E3EAF5"/>
          </a:solidFill>
          <a:ln>
            <a:noFill/>
          </a:ln>
        </p:spPr>
        <p:txBody>
          <a:bodyPr wrap="square" lIns="177800" tIns="177800" rIns="177800" bIns="177800" anchor="ctr">
            <a:noAutofit/>
          </a:bodyPr>
          <a:lstStyle/>
          <a:p>
            <a:pPr>
              <a:spcBef>
                <a:spcPts val="0"/>
              </a:spcBef>
              <a:buNone/>
            </a:pPr>
            <a:r>
              <a:rPr lang="en-GB" sz="1400" b="1" dirty="0">
                <a:solidFill>
                  <a:srgbClr val="002E56"/>
                </a:solidFill>
              </a:rPr>
              <a:t>Both subpopulations had baseline values comparable with MOR-005</a:t>
            </a:r>
            <a:r>
              <a:rPr lang="en-GB" sz="1400" baseline="30000" dirty="0">
                <a:solidFill>
                  <a:srgbClr val="2B2B2B"/>
                </a:solidFill>
              </a:rPr>
              <a:t>1</a:t>
            </a:r>
          </a:p>
        </p:txBody>
      </p:sp>
      <p:sp>
        <p:nvSpPr>
          <p:cNvPr id="306"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6MWT, 6-minute walk test; ITT, intention to treat; MorCAP, Morquio A Clinical Assessment Program; MPP, modified per protocol</a:t>
            </a:r>
          </a:p>
        </p:txBody>
      </p:sp>
      <p:sp>
        <p:nvSpPr>
          <p:cNvPr id="307"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J Inherit Metab Dis 2016;39:839–47.</a:t>
            </a:r>
          </a:p>
        </p:txBody>
      </p:sp>
    </p:spTree>
    <p:extLst>
      <p:ext uri="{BB962C8B-B14F-4D97-AF65-F5344CB8AC3E}">
        <p14:creationId xmlns:p14="http://schemas.microsoft.com/office/powerpoint/2010/main" val="39473138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Morquio A natural history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MorCAP (MOR-001): 6-minute walk test in untreated patients</a:t>
            </a:r>
          </a:p>
        </p:txBody>
      </p:sp>
      <p:sp>
        <p:nvSpPr>
          <p:cNvPr id="302" name="Stat"/>
          <p:cNvSpPr/>
          <p:nvPr/>
        </p:nvSpPr>
        <p:spPr>
          <a:xfrm>
            <a:off x="660400" y="1422400"/>
            <a:ext cx="5461000" cy="1320800"/>
          </a:xfrm>
          <a:prstGeom prst="roundRect">
            <a:avLst>
              <a:gd name="adj" fmla="val 8000"/>
            </a:avLst>
          </a:prstGeom>
          <a:solidFill>
            <a:srgbClr val="E3EAF5"/>
          </a:solidFill>
          <a:ln>
            <a:noFill/>
          </a:ln>
        </p:spPr>
        <p:txBody>
          <a:bodyPr wrap="square" lIns="177800" tIns="177800" rIns="177800" bIns="177800" anchor="t">
            <a:noAutofit/>
          </a:bodyPr>
          <a:lstStyle/>
          <a:p>
            <a:pPr>
              <a:spcBef>
                <a:spcPts val="0"/>
              </a:spcBef>
              <a:buNone/>
            </a:pPr>
            <a:r>
              <a:rPr lang="en-GB" sz="3600" b="1" dirty="0">
                <a:solidFill>
                  <a:srgbClr val="28509C"/>
                </a:solidFill>
              </a:rPr>
              <a:t>212 m</a:t>
            </a:r>
          </a:p>
          <a:p>
            <a:pPr>
              <a:spcBef>
                <a:spcPts val="200"/>
              </a:spcBef>
              <a:buNone/>
            </a:pPr>
            <a:r>
              <a:rPr lang="en-GB" sz="1400" dirty="0">
                <a:solidFill>
                  <a:srgbClr val="2B2B2B"/>
                </a:solidFill>
              </a:rPr>
              <a:t>overall mean 6MWT distance (±152), against a lower limit of normal of 470–664 m for ages 4–16 and 500–580 m for adults</a:t>
            </a:r>
            <a:r>
              <a:rPr lang="en-GB" sz="1400" baseline="30000" dirty="0">
                <a:solidFill>
                  <a:srgbClr val="2B2B2B"/>
                </a:solidFill>
              </a:rPr>
              <a:t>1</a:t>
            </a:r>
          </a:p>
        </p:txBody>
      </p:sp>
      <p:sp>
        <p:nvSpPr>
          <p:cNvPr id="303" name="Stat 2"/>
          <p:cNvSpPr/>
          <p:nvPr/>
        </p:nvSpPr>
        <p:spPr>
          <a:xfrm>
            <a:off x="660400" y="2870200"/>
            <a:ext cx="5461000" cy="13208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3600" b="1" dirty="0">
                <a:solidFill>
                  <a:srgbClr val="A9218E"/>
                </a:solidFill>
              </a:rPr>
              <a:t>−51.3 m</a:t>
            </a:r>
          </a:p>
          <a:p>
            <a:pPr>
              <a:spcBef>
                <a:spcPts val="200"/>
              </a:spcBef>
              <a:buNone/>
            </a:pPr>
            <a:r>
              <a:rPr lang="en-GB" sz="1400" dirty="0">
                <a:solidFill>
                  <a:srgbClr val="2B2B2B"/>
                </a:solidFill>
              </a:rPr>
              <a:t>22% mean difference between patients aged 5–11 (n=127) and 12–18 (n=84)</a:t>
            </a:r>
            <a:r>
              <a:rPr lang="en-GB" sz="1400" baseline="30000" dirty="0">
                <a:solidFill>
                  <a:srgbClr val="2B2B2B"/>
                </a:solidFill>
              </a:rPr>
              <a:t>1</a:t>
            </a:r>
          </a:p>
        </p:txBody>
      </p:sp>
      <p:sp>
        <p:nvSpPr>
          <p:cNvPr id="304" name="Why"/>
          <p:cNvSpPr/>
          <p:nvPr/>
        </p:nvSpPr>
        <p:spPr>
          <a:xfrm>
            <a:off x="660400" y="4318000"/>
            <a:ext cx="5461000" cy="1193800"/>
          </a:xfrm>
          <a:prstGeom prst="roundRect">
            <a:avLst>
              <a:gd name="adj" fmla="val 8000"/>
            </a:avLst>
          </a:prstGeom>
          <a:solidFill>
            <a:srgbClr val="F1F4F9"/>
          </a:solidFill>
          <a:ln>
            <a:noFill/>
          </a:ln>
        </p:spPr>
        <p:txBody>
          <a:bodyPr wrap="square" lIns="177800" tIns="177800" rIns="177800" bIns="177800" anchor="ctr">
            <a:noAutofit/>
          </a:bodyPr>
          <a:lstStyle/>
          <a:p>
            <a:pPr>
              <a:spcBef>
                <a:spcPts val="0"/>
              </a:spcBef>
              <a:buNone/>
            </a:pPr>
            <a:r>
              <a:rPr lang="en-GB" sz="1400" b="1" dirty="0">
                <a:solidFill>
                  <a:srgbClr val="002E56"/>
                </a:solidFill>
              </a:rPr>
              <a:t>Why 6MWT matters: </a:t>
            </a:r>
            <a:r>
              <a:rPr lang="en-GB" sz="1400" dirty="0">
                <a:solidFill>
                  <a:srgbClr val="2B2B2B"/>
                </a:solidFill>
              </a:rPr>
              <a:t>change in 6MWT reflects improvement or decline in cardiac, respiratory and musculoskeletal function, and in disease progression</a:t>
            </a:r>
            <a:r>
              <a:rPr lang="en-GB" sz="1400" baseline="30000" dirty="0">
                <a:solidFill>
                  <a:srgbClr val="2B2B2B"/>
                </a:solidFill>
              </a:rPr>
              <a:t>1,3</a:t>
            </a:r>
          </a:p>
        </p:txBody>
      </p:sp>
      <p:sp>
        <p:nvSpPr>
          <p:cNvPr id="305" name="Chart label"/>
          <p:cNvSpPr txBox="1"/>
          <p:nvPr/>
        </p:nvSpPr>
        <p:spPr>
          <a:xfrm>
            <a:off x="6426200" y="1422400"/>
            <a:ext cx="51054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Baseline 6MWT by age group, metres (mean)</a:t>
            </a:r>
          </a:p>
        </p:txBody>
      </p:sp>
      <p:sp>
        <p:nvSpPr>
          <p:cNvPr id="306" name="Caption"/>
          <p:cNvSpPr txBox="1"/>
          <p:nvPr/>
        </p:nvSpPr>
        <p:spPr>
          <a:xfrm>
            <a:off x="6426200" y="5207000"/>
            <a:ext cx="5105400" cy="304800"/>
          </a:xfrm>
          <a:prstGeom prst="rect">
            <a:avLst/>
          </a:prstGeom>
          <a:noFill/>
        </p:spPr>
        <p:txBody>
          <a:bodyPr wrap="square" lIns="0" tIns="0" rIns="0" bIns="0" anchor="t">
            <a:noAutofit/>
          </a:bodyPr>
          <a:lstStyle/>
          <a:p>
            <a:pPr>
              <a:spcBef>
                <a:spcPts val="0"/>
              </a:spcBef>
              <a:buNone/>
            </a:pPr>
            <a:r>
              <a:rPr lang="en-GB" sz="1400" dirty="0">
                <a:solidFill>
                  <a:srgbClr val="2B2B2B"/>
                </a:solidFill>
              </a:rPr>
              <a:t>Baseline data from MorCAP: multicentre, multinational, cross-sectional and longitudinal study of 325 patients</a:t>
            </a:r>
            <a:r>
              <a:rPr lang="en-GB" sz="1400" baseline="30000" dirty="0">
                <a:solidFill>
                  <a:srgbClr val="2B2B2B"/>
                </a:solidFill>
              </a:rPr>
              <a:t>1</a:t>
            </a:r>
          </a:p>
        </p:txBody>
      </p:sp>
      <p:sp>
        <p:nvSpPr>
          <p:cNvPr id="307" name="Abbreviations"/>
          <p:cNvSpPr txBox="1"/>
          <p:nvPr/>
        </p:nvSpPr>
        <p:spPr>
          <a:xfrm>
            <a:off x="660400" y="56134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6MWT, 6-minute walk test; MorCAP, Morquio A Clinical Assessment Program. Progressive multi-organ involvement sharply reduces endurance before age 18</a:t>
            </a:r>
          </a:p>
        </p:txBody>
      </p:sp>
      <p:sp>
        <p:nvSpPr>
          <p:cNvPr id="308"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Harmatz P et al. Mol Genet Metab 2013;109:54–61. 2. Tomatsu S et al. Curr Pharm Biotechnol 2011;12:931–45. 3. McDonald A et al. J Pediatr Rehab Med 2010;3:119–27.</a:t>
            </a:r>
          </a:p>
        </p:txBody>
      </p:sp>
      <p:graphicFrame>
        <p:nvGraphicFramePr>
          <p:cNvPr id="309" name="Chart"/>
          <p:cNvGraphicFramePr/>
          <p:nvPr/>
        </p:nvGraphicFramePr>
        <p:xfrm>
          <a:off x="6426200" y="1676400"/>
          <a:ext cx="5105400" cy="3429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878715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6MWT: treated patients versus MorCAP</a:t>
            </a:r>
            <a:endParaRPr lang="en-GB" dirty="0"/>
          </a:p>
        </p:txBody>
      </p:sp>
      <p:sp>
        <p:nvSpPr>
          <p:cNvPr id="302" name="Key card"/>
          <p:cNvSpPr/>
          <p:nvPr/>
        </p:nvSpPr>
        <p:spPr>
          <a:xfrm>
            <a:off x="8458200" y="1524000"/>
            <a:ext cx="3073400" cy="1574800"/>
          </a:xfrm>
          <a:prstGeom prst="roundRect">
            <a:avLst>
              <a:gd name="adj" fmla="val 6000"/>
            </a:avLst>
          </a:prstGeom>
          <a:solidFill>
            <a:srgbClr val="F1F4F9"/>
          </a:solidFill>
          <a:ln>
            <a:noFill/>
          </a:ln>
        </p:spPr>
        <p:txBody>
          <a:bodyPr wrap="square" lIns="0" tIns="0" rIns="0" bIns="0" anchor="t">
            <a:noAutofit/>
          </a:bodyPr>
          <a:lstStyle/>
          <a:p>
            <a:endParaRPr lang="en-GB" dirty="0"/>
          </a:p>
        </p:txBody>
      </p:sp>
      <p:sp>
        <p:nvSpPr>
          <p:cNvPr id="303" name="Text"/>
          <p:cNvSpPr txBox="1"/>
          <p:nvPr/>
        </p:nvSpPr>
        <p:spPr>
          <a:xfrm>
            <a:off x="8661400" y="1701800"/>
            <a:ext cx="2667000" cy="10160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Sustained effect</a:t>
            </a:r>
          </a:p>
          <a:p>
            <a:pPr>
              <a:spcBef>
                <a:spcPts val="300"/>
              </a:spcBef>
              <a:buNone/>
            </a:pPr>
            <a:r>
              <a:rPr lang="en-GB" sz="1400" dirty="0">
                <a:solidFill>
                  <a:srgbClr val="2B2B2B"/>
                </a:solidFill>
              </a:rPr>
              <a:t>MOR-005 ITT and MPP groups improved 6MWT at both 1 and 2 years (P&lt;0.05)</a:t>
            </a:r>
          </a:p>
        </p:txBody>
      </p:sp>
      <p:sp>
        <p:nvSpPr>
          <p:cNvPr id="315" name="Abbreviations"/>
          <p:cNvSpPr txBox="1"/>
          <p:nvPr/>
        </p:nvSpPr>
        <p:spPr>
          <a:xfrm>
            <a:off x="660400" y="5588000"/>
            <a:ext cx="10871200" cy="381000"/>
          </a:xfrm>
          <a:prstGeom prst="rect">
            <a:avLst/>
          </a:prstGeom>
          <a:noFill/>
        </p:spPr>
        <p:txBody>
          <a:bodyPr wrap="square" lIns="0" tIns="0" rIns="0" bIns="0" anchor="b">
            <a:noAutofit/>
          </a:bodyPr>
          <a:lstStyle/>
          <a:p>
            <a:pPr>
              <a:spcBef>
                <a:spcPts val="0"/>
              </a:spcBef>
              <a:buNone/>
            </a:pPr>
            <a:r>
              <a:rPr lang="en-GB" sz="1100" i="1" dirty="0">
                <a:solidFill>
                  <a:srgbClr val="404040"/>
                </a:solidFill>
              </a:rPr>
              <a:t>6MWT, 6-minute walk test; ITT, intention to treat; LS, least squares; MorCAP, Morquio A Clinical Assessment Program; MPP, modified per protocol; QW, weekly</a:t>
            </a:r>
          </a:p>
        </p:txBody>
      </p:sp>
      <p:sp>
        <p:nvSpPr>
          <p:cNvPr id="316" name="References"/>
          <p:cNvSpPr txBox="1"/>
          <p:nvPr/>
        </p:nvSpPr>
        <p:spPr>
          <a:xfrm>
            <a:off x="660400" y="6070600"/>
            <a:ext cx="10871200" cy="2032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Mol Genet Metab 2016;119:131–43.</a:t>
            </a:r>
          </a:p>
        </p:txBody>
      </p:sp>
      <p:graphicFrame>
        <p:nvGraphicFramePr>
          <p:cNvPr id="700" name="6MWT chart"/>
          <p:cNvGraphicFramePr/>
          <p:nvPr/>
        </p:nvGraphicFramePr>
        <p:xfrm>
          <a:off x="660400" y="1625600"/>
          <a:ext cx="7543800" cy="2819400"/>
        </p:xfrm>
        <a:graphic>
          <a:graphicData uri="http://schemas.openxmlformats.org/drawingml/2006/chart">
            <c:chart xmlns:c="http://schemas.openxmlformats.org/drawingml/2006/chart" xmlns:r="http://schemas.openxmlformats.org/officeDocument/2006/relationships" r:id="rId2"/>
          </a:graphicData>
        </a:graphic>
      </p:graphicFrame>
      <p:sp>
        <p:nvSpPr>
          <p:cNvPr id="701" name="Chart label"/>
          <p:cNvSpPr txBox="1"/>
          <p:nvPr/>
        </p:nvSpPr>
        <p:spPr>
          <a:xfrm>
            <a:off x="660400" y="1397000"/>
            <a:ext cx="7543800" cy="203200"/>
          </a:xfrm>
          <a:prstGeom prst="rect">
            <a:avLst/>
          </a:prstGeom>
          <a:noFill/>
        </p:spPr>
        <p:txBody>
          <a:bodyPr wrap="square" lIns="0" tIns="0" rIns="0" bIns="0">
            <a:noAutofit/>
          </a:bodyPr>
          <a:lstStyle/>
          <a:p>
            <a:r>
              <a:rPr lang="en-GB" sz="1100" b="1" dirty="0">
                <a:solidFill>
                  <a:srgbClr val="28509C"/>
                </a:solidFill>
              </a:rPr>
              <a:t>6MWT LS mean change from baseline, metres</a:t>
            </a:r>
          </a:p>
        </p:txBody>
      </p:sp>
      <p:graphicFrame>
        <p:nvGraphicFramePr>
          <p:cNvPr id="702" name="N table"/>
          <p:cNvGraphicFramePr>
            <a:graphicFrameLocks noGrp="1"/>
          </p:cNvGraphicFramePr>
          <p:nvPr/>
        </p:nvGraphicFramePr>
        <p:xfrm>
          <a:off x="1930400" y="4495800"/>
          <a:ext cx="5080000" cy="1066800"/>
        </p:xfrm>
        <a:graphic>
          <a:graphicData uri="http://schemas.openxmlformats.org/drawingml/2006/table">
            <a:tbl>
              <a:tblPr firstRow="1"/>
              <a:tblGrid>
                <a:gridCol w="254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tblGrid>
              <a:tr h="177800">
                <a:tc>
                  <a:txBody>
                    <a:bodyPr/>
                    <a:lstStyle/>
                    <a:p>
                      <a:pPr algn="l"/>
                      <a:r>
                        <a:rPr lang="en-GB" sz="1100" b="1" dirty="0">
                          <a:solidFill>
                            <a:srgbClr val="002E56"/>
                          </a:solidFill>
                        </a:rPr>
                        <a:t>Patients (n)</a:t>
                      </a:r>
                    </a:p>
                  </a:txBody>
                  <a:tcPr marL="50800" marR="76200" marT="0" marB="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Year 1</a:t>
                      </a:r>
                    </a:p>
                  </a:txBody>
                  <a:tcPr marL="50800" marR="76200" marT="0" marB="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Year 2</a:t>
                      </a:r>
                    </a:p>
                  </a:txBody>
                  <a:tcPr marL="50800" marR="76200" marT="0" marB="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177800">
                <a:tc>
                  <a:txBody>
                    <a:bodyPr/>
                    <a:lstStyle/>
                    <a:p>
                      <a:pPr algn="l"/>
                      <a:r>
                        <a:rPr lang="en-GB" sz="1100" b="1" dirty="0">
                          <a:solidFill>
                            <a:srgbClr val="404040"/>
                          </a:solidFill>
                        </a:rPr>
                        <a:t>MorCAP 1</a:t>
                      </a:r>
                    </a:p>
                  </a:txBody>
                  <a:tcPr marL="50800" marR="762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80</a:t>
                      </a:r>
                    </a:p>
                  </a:txBody>
                  <a:tcPr marL="50800" marR="762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40</a:t>
                      </a:r>
                    </a:p>
                  </a:txBody>
                  <a:tcPr marL="50800" marR="762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1"/>
                  </a:ext>
                </a:extLst>
              </a:tr>
              <a:tr h="177800">
                <a:tc>
                  <a:txBody>
                    <a:bodyPr/>
                    <a:lstStyle/>
                    <a:p>
                      <a:pPr algn="l"/>
                      <a:r>
                        <a:rPr lang="en-GB" sz="1100" b="1" dirty="0">
                          <a:solidFill>
                            <a:srgbClr val="646464"/>
                          </a:solidFill>
                        </a:rPr>
                        <a:t>MorCAP 2</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67</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27</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2"/>
                  </a:ext>
                </a:extLst>
              </a:tr>
              <a:tr h="177800">
                <a:tc>
                  <a:txBody>
                    <a:bodyPr/>
                    <a:lstStyle/>
                    <a:p>
                      <a:pPr algn="l"/>
                      <a:r>
                        <a:rPr lang="en-GB" sz="1100" b="1" dirty="0">
                          <a:solidFill>
                            <a:srgbClr val="28509C"/>
                          </a:solidFill>
                        </a:rPr>
                        <a:t>ITT pooled</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166</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154</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3"/>
                  </a:ext>
                </a:extLst>
              </a:tr>
              <a:tr h="177800">
                <a:tc>
                  <a:txBody>
                    <a:bodyPr/>
                    <a:lstStyle/>
                    <a:p>
                      <a:pPr algn="l"/>
                      <a:r>
                        <a:rPr lang="en-GB" sz="1100" b="1" dirty="0">
                          <a:solidFill>
                            <a:srgbClr val="A9218E"/>
                          </a:solidFill>
                        </a:rPr>
                        <a:t>MPP pooled</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123</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117</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4"/>
                  </a:ext>
                </a:extLst>
              </a:tr>
              <a:tr h="177800">
                <a:tc>
                  <a:txBody>
                    <a:bodyPr/>
                    <a:lstStyle/>
                    <a:p>
                      <a:pPr algn="l"/>
                      <a:r>
                        <a:rPr lang="en-GB" sz="1100" b="1" dirty="0">
                          <a:solidFill>
                            <a:srgbClr val="C266B2"/>
                          </a:solidFill>
                        </a:rPr>
                        <a:t>MPP weekly</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43</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41</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715404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3MSCT: treated patients versus MorCAP</a:t>
            </a:r>
            <a:endParaRPr lang="en-GB" dirty="0"/>
          </a:p>
        </p:txBody>
      </p:sp>
      <p:sp>
        <p:nvSpPr>
          <p:cNvPr id="302" name="Key card"/>
          <p:cNvSpPr/>
          <p:nvPr/>
        </p:nvSpPr>
        <p:spPr>
          <a:xfrm>
            <a:off x="8458200" y="1524000"/>
            <a:ext cx="3073400" cy="1574800"/>
          </a:xfrm>
          <a:prstGeom prst="roundRect">
            <a:avLst>
              <a:gd name="adj" fmla="val 6000"/>
            </a:avLst>
          </a:prstGeom>
          <a:solidFill>
            <a:srgbClr val="F1F4F9"/>
          </a:solidFill>
          <a:ln>
            <a:noFill/>
          </a:ln>
        </p:spPr>
        <p:txBody>
          <a:bodyPr wrap="square" lIns="0" tIns="0" rIns="0" bIns="0" anchor="t">
            <a:noAutofit/>
          </a:bodyPr>
          <a:lstStyle/>
          <a:p>
            <a:endParaRPr lang="en-GB" dirty="0"/>
          </a:p>
        </p:txBody>
      </p:sp>
      <p:sp>
        <p:nvSpPr>
          <p:cNvPr id="303" name="Text"/>
          <p:cNvSpPr txBox="1"/>
          <p:nvPr/>
        </p:nvSpPr>
        <p:spPr>
          <a:xfrm>
            <a:off x="8661400" y="1701800"/>
            <a:ext cx="2667000" cy="10160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Sustained effect</a:t>
            </a:r>
          </a:p>
          <a:p>
            <a:pPr>
              <a:spcBef>
                <a:spcPts val="300"/>
              </a:spcBef>
              <a:buNone/>
            </a:pPr>
            <a:r>
              <a:rPr lang="en-GB" sz="1400" dirty="0">
                <a:solidFill>
                  <a:srgbClr val="2B2B2B"/>
                </a:solidFill>
              </a:rPr>
              <a:t>MOR-005 ITT and MPP groups improved 3MSCT at both 1 and 2 years (P&lt;0.05)</a:t>
            </a:r>
          </a:p>
        </p:txBody>
      </p:sp>
      <p:sp>
        <p:nvSpPr>
          <p:cNvPr id="315" name="Abbreviations"/>
          <p:cNvSpPr txBox="1"/>
          <p:nvPr/>
        </p:nvSpPr>
        <p:spPr>
          <a:xfrm>
            <a:off x="660400" y="5588000"/>
            <a:ext cx="10871200" cy="381000"/>
          </a:xfrm>
          <a:prstGeom prst="rect">
            <a:avLst/>
          </a:prstGeom>
          <a:noFill/>
        </p:spPr>
        <p:txBody>
          <a:bodyPr wrap="square" lIns="0" tIns="0" rIns="0" bIns="0" anchor="b">
            <a:noAutofit/>
          </a:bodyPr>
          <a:lstStyle/>
          <a:p>
            <a:pPr>
              <a:spcBef>
                <a:spcPts val="0"/>
              </a:spcBef>
              <a:buNone/>
            </a:pPr>
            <a:r>
              <a:rPr lang="en-GB" sz="1100" i="1" dirty="0">
                <a:solidFill>
                  <a:srgbClr val="404040"/>
                </a:solidFill>
              </a:rPr>
              <a:t>3MSCT, 3-minute stair climb test; ITT, intention to treat; LS, least squares; MorCAP, Morquio A Clinical Assessment Program; MPP, modified per protocol; QW, weekly</a:t>
            </a:r>
          </a:p>
        </p:txBody>
      </p:sp>
      <p:sp>
        <p:nvSpPr>
          <p:cNvPr id="316" name="References"/>
          <p:cNvSpPr txBox="1"/>
          <p:nvPr/>
        </p:nvSpPr>
        <p:spPr>
          <a:xfrm>
            <a:off x="660400" y="6070600"/>
            <a:ext cx="10871200" cy="2032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Mol Genet Metab 2016;119:131–43.</a:t>
            </a:r>
          </a:p>
        </p:txBody>
      </p:sp>
      <p:graphicFrame>
        <p:nvGraphicFramePr>
          <p:cNvPr id="700" name="3MSCT chart"/>
          <p:cNvGraphicFramePr/>
          <p:nvPr/>
        </p:nvGraphicFramePr>
        <p:xfrm>
          <a:off x="660400" y="1625600"/>
          <a:ext cx="7543800" cy="2819400"/>
        </p:xfrm>
        <a:graphic>
          <a:graphicData uri="http://schemas.openxmlformats.org/drawingml/2006/chart">
            <c:chart xmlns:c="http://schemas.openxmlformats.org/drawingml/2006/chart" xmlns:r="http://schemas.openxmlformats.org/officeDocument/2006/relationships" r:id="rId2"/>
          </a:graphicData>
        </a:graphic>
      </p:graphicFrame>
      <p:sp>
        <p:nvSpPr>
          <p:cNvPr id="701" name="Chart label"/>
          <p:cNvSpPr txBox="1"/>
          <p:nvPr/>
        </p:nvSpPr>
        <p:spPr>
          <a:xfrm>
            <a:off x="660400" y="1397000"/>
            <a:ext cx="7543800" cy="203200"/>
          </a:xfrm>
          <a:prstGeom prst="rect">
            <a:avLst/>
          </a:prstGeom>
          <a:noFill/>
        </p:spPr>
        <p:txBody>
          <a:bodyPr wrap="square" lIns="0" tIns="0" rIns="0" bIns="0">
            <a:noAutofit/>
          </a:bodyPr>
          <a:lstStyle/>
          <a:p>
            <a:r>
              <a:rPr lang="en-GB" sz="1100" b="1" dirty="0">
                <a:solidFill>
                  <a:srgbClr val="28509C"/>
                </a:solidFill>
              </a:rPr>
              <a:t>3MSCT LS mean change from baseline, stairs/min</a:t>
            </a:r>
          </a:p>
        </p:txBody>
      </p:sp>
      <p:graphicFrame>
        <p:nvGraphicFramePr>
          <p:cNvPr id="702" name="N table"/>
          <p:cNvGraphicFramePr>
            <a:graphicFrameLocks noGrp="1"/>
          </p:cNvGraphicFramePr>
          <p:nvPr/>
        </p:nvGraphicFramePr>
        <p:xfrm>
          <a:off x="1930400" y="4495800"/>
          <a:ext cx="5080000" cy="1066800"/>
        </p:xfrm>
        <a:graphic>
          <a:graphicData uri="http://schemas.openxmlformats.org/drawingml/2006/table">
            <a:tbl>
              <a:tblPr firstRow="1"/>
              <a:tblGrid>
                <a:gridCol w="254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tblGrid>
              <a:tr h="177800">
                <a:tc>
                  <a:txBody>
                    <a:bodyPr/>
                    <a:lstStyle/>
                    <a:p>
                      <a:pPr algn="l"/>
                      <a:r>
                        <a:rPr lang="en-GB" sz="1100" b="1" dirty="0">
                          <a:solidFill>
                            <a:srgbClr val="002E56"/>
                          </a:solidFill>
                        </a:rPr>
                        <a:t>Patients (n)</a:t>
                      </a:r>
                    </a:p>
                  </a:txBody>
                  <a:tcPr marL="50800" marR="76200" marT="0" marB="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Year 1</a:t>
                      </a:r>
                    </a:p>
                  </a:txBody>
                  <a:tcPr marL="50800" marR="76200" marT="0" marB="0" anchor="ctr">
                    <a:lnL w="12700">
                      <a:noFill/>
                    </a:lnL>
                    <a:lnR w="12700">
                      <a:noFill/>
                    </a:lnR>
                    <a:lnT w="12700">
                      <a:noFill/>
                    </a:lnT>
                    <a:lnB w="9525">
                      <a:solidFill>
                        <a:srgbClr val="A0A0A0"/>
                      </a:solidFill>
                    </a:lnB>
                    <a:noFill/>
                  </a:tcPr>
                </a:tc>
                <a:tc>
                  <a:txBody>
                    <a:bodyPr/>
                    <a:lstStyle/>
                    <a:p>
                      <a:pPr algn="r"/>
                      <a:r>
                        <a:rPr lang="en-GB" sz="1100" b="1" dirty="0">
                          <a:solidFill>
                            <a:srgbClr val="002E56"/>
                          </a:solidFill>
                        </a:rPr>
                        <a:t>Year 2</a:t>
                      </a:r>
                    </a:p>
                  </a:txBody>
                  <a:tcPr marL="50800" marR="76200" marT="0" marB="0" anchor="ctr">
                    <a:lnL w="12700">
                      <a:noFill/>
                    </a:lnL>
                    <a:lnR w="12700">
                      <a:noFill/>
                    </a:lnR>
                    <a:lnT w="12700">
                      <a:noFill/>
                    </a:lnT>
                    <a:lnB w="9525">
                      <a:solidFill>
                        <a:srgbClr val="A0A0A0"/>
                      </a:solidFill>
                    </a:lnB>
                    <a:noFill/>
                  </a:tcPr>
                </a:tc>
                <a:extLst>
                  <a:ext uri="{0D108BD9-81ED-4DB2-BD59-A6C34878D82A}">
                    <a16:rowId xmlns:a16="http://schemas.microsoft.com/office/drawing/2014/main" val="10000"/>
                  </a:ext>
                </a:extLst>
              </a:tr>
              <a:tr h="177800">
                <a:tc>
                  <a:txBody>
                    <a:bodyPr/>
                    <a:lstStyle/>
                    <a:p>
                      <a:pPr algn="l"/>
                      <a:r>
                        <a:rPr lang="en-GB" sz="1100" b="1" dirty="0">
                          <a:solidFill>
                            <a:srgbClr val="404040"/>
                          </a:solidFill>
                        </a:rPr>
                        <a:t>MorCAP 1</a:t>
                      </a:r>
                    </a:p>
                  </a:txBody>
                  <a:tcPr marL="50800" marR="762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80</a:t>
                      </a:r>
                    </a:p>
                  </a:txBody>
                  <a:tcPr marL="50800" marR="762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40</a:t>
                      </a:r>
                    </a:p>
                  </a:txBody>
                  <a:tcPr marL="50800" marR="76200" marT="0" marB="0" anchor="ctr">
                    <a:lnL w="12700">
                      <a:noFill/>
                    </a:lnL>
                    <a:lnR w="12700">
                      <a:noFill/>
                    </a:lnR>
                    <a:lnT w="9525" cap="flat" cmpd="sng" algn="ctr">
                      <a:solidFill>
                        <a:srgbClr val="A0A0A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1"/>
                  </a:ext>
                </a:extLst>
              </a:tr>
              <a:tr h="177800">
                <a:tc>
                  <a:txBody>
                    <a:bodyPr/>
                    <a:lstStyle/>
                    <a:p>
                      <a:pPr algn="l"/>
                      <a:r>
                        <a:rPr lang="en-GB" sz="1100" b="1" dirty="0">
                          <a:solidFill>
                            <a:srgbClr val="646464"/>
                          </a:solidFill>
                        </a:rPr>
                        <a:t>MorCAP 2</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67</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27</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2"/>
                  </a:ext>
                </a:extLst>
              </a:tr>
              <a:tr h="177800">
                <a:tc>
                  <a:txBody>
                    <a:bodyPr/>
                    <a:lstStyle/>
                    <a:p>
                      <a:pPr algn="l"/>
                      <a:r>
                        <a:rPr lang="en-GB" sz="1100" b="1" dirty="0">
                          <a:solidFill>
                            <a:srgbClr val="28509C"/>
                          </a:solidFill>
                        </a:rPr>
                        <a:t>ITT pooled</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164</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154</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3"/>
                  </a:ext>
                </a:extLst>
              </a:tr>
              <a:tr h="177800">
                <a:tc>
                  <a:txBody>
                    <a:bodyPr/>
                    <a:lstStyle/>
                    <a:p>
                      <a:pPr algn="l"/>
                      <a:r>
                        <a:rPr lang="en-GB" sz="1100" b="1" dirty="0">
                          <a:solidFill>
                            <a:srgbClr val="A9218E"/>
                          </a:solidFill>
                        </a:rPr>
                        <a:t>MPP pooled</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123</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117</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4"/>
                  </a:ext>
                </a:extLst>
              </a:tr>
              <a:tr h="177800">
                <a:tc>
                  <a:txBody>
                    <a:bodyPr/>
                    <a:lstStyle/>
                    <a:p>
                      <a:pPr algn="l"/>
                      <a:r>
                        <a:rPr lang="en-GB" sz="1100" b="1" dirty="0">
                          <a:solidFill>
                            <a:srgbClr val="C266B2"/>
                          </a:solidFill>
                        </a:rPr>
                        <a:t>MPP weekly</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43</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tc>
                  <a:txBody>
                    <a:bodyPr/>
                    <a:lstStyle/>
                    <a:p>
                      <a:pPr algn="r"/>
                      <a:r>
                        <a:rPr lang="en-GB" sz="1100" dirty="0">
                          <a:solidFill>
                            <a:srgbClr val="2B2B2B"/>
                          </a:solidFill>
                        </a:rPr>
                        <a:t>41</a:t>
                      </a:r>
                    </a:p>
                  </a:txBody>
                  <a:tcPr marL="50800" marR="76200" marT="0" marB="0" anchor="ctr">
                    <a:lnL w="12700">
                      <a:noFill/>
                    </a:lnL>
                    <a:lnR w="12700">
                      <a:noFill/>
                    </a:lnR>
                    <a:lnT w="6350" cap="flat" cmpd="sng" algn="ctr">
                      <a:solidFill>
                        <a:srgbClr val="E0E0E0"/>
                      </a:solidFill>
                      <a:prstDash val="solid"/>
                      <a:round/>
                      <a:headEnd type="none" w="med" len="med"/>
                      <a:tailEnd type="none" w="med" len="med"/>
                    </a:lnT>
                    <a:lnB w="6350">
                      <a:solidFill>
                        <a:srgbClr val="E0E0E0"/>
                      </a:solidFill>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481396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Lung function: treated patients versus MorCAP</a:t>
            </a:r>
            <a:endParaRPr lang="en-GB" dirty="0"/>
          </a:p>
        </p:txBody>
      </p:sp>
      <p:sp>
        <p:nvSpPr>
          <p:cNvPr id="302" name="Abbreviations"/>
          <p:cNvSpPr txBox="1"/>
          <p:nvPr/>
        </p:nvSpPr>
        <p:spPr>
          <a:xfrm>
            <a:off x="660400" y="5588000"/>
            <a:ext cx="10871200" cy="381000"/>
          </a:xfrm>
          <a:prstGeom prst="rect">
            <a:avLst/>
          </a:prstGeom>
          <a:noFill/>
        </p:spPr>
        <p:txBody>
          <a:bodyPr wrap="square" lIns="0" tIns="0" rIns="0" bIns="0" anchor="b">
            <a:noAutofit/>
          </a:bodyPr>
          <a:lstStyle/>
          <a:p>
            <a:pPr>
              <a:buNone/>
            </a:pPr>
            <a:r>
              <a:rPr lang="en-GB" sz="1100" i="1" dirty="0">
                <a:solidFill>
                  <a:srgbClr val="404040"/>
                </a:solidFill>
              </a:rPr>
              <a:t>FEV1, forced expiratory volume in 1 second; FVC, forced vital capacity; LS, least squares; MorCAP, Morquio A Clinical Assessment Program; MPP, modified per protocol; MVV, maximum voluntary ventilation</a:t>
            </a:r>
          </a:p>
        </p:txBody>
      </p:sp>
      <p:sp>
        <p:nvSpPr>
          <p:cNvPr id="303" name="References"/>
          <p:cNvSpPr txBox="1"/>
          <p:nvPr/>
        </p:nvSpPr>
        <p:spPr>
          <a:xfrm>
            <a:off x="660400" y="6070600"/>
            <a:ext cx="10871200" cy="203200"/>
          </a:xfrm>
          <a:prstGeom prst="rect">
            <a:avLst/>
          </a:prstGeom>
          <a:noFill/>
        </p:spPr>
        <p:txBody>
          <a:bodyPr wrap="square" lIns="0" tIns="0" rIns="0" bIns="0" anchor="t">
            <a:noAutofit/>
          </a:bodyPr>
          <a:lstStyle/>
          <a:p>
            <a:pPr>
              <a:buNone/>
            </a:pPr>
            <a:r>
              <a:rPr lang="en-GB" sz="900" dirty="0">
                <a:solidFill>
                  <a:srgbClr val="646464"/>
                </a:solidFill>
              </a:rPr>
              <a:t>1. Hendriksz CJ et al. J Inherit Metab Dis 2016;39:839–47.</a:t>
            </a:r>
          </a:p>
        </p:txBody>
      </p:sp>
      <p:sp>
        <p:nvSpPr>
          <p:cNvPr id="700" name="Label 700"/>
          <p:cNvSpPr txBox="1"/>
          <p:nvPr/>
        </p:nvSpPr>
        <p:spPr>
          <a:xfrm>
            <a:off x="660400" y="1371600"/>
            <a:ext cx="10871200" cy="203200"/>
          </a:xfrm>
          <a:prstGeom prst="rect">
            <a:avLst/>
          </a:prstGeom>
          <a:noFill/>
        </p:spPr>
        <p:txBody>
          <a:bodyPr wrap="square" lIns="0" tIns="0" rIns="0" bIns="0">
            <a:noAutofit/>
          </a:bodyPr>
          <a:lstStyle/>
          <a:p>
            <a:pPr algn="l"/>
            <a:r>
              <a:rPr lang="en-GB" sz="1100" b="1" dirty="0">
                <a:solidFill>
                  <a:srgbClr val="28509C"/>
                </a:solidFill>
              </a:rPr>
              <a:t>LS mean change from baseline</a:t>
            </a:r>
          </a:p>
        </p:txBody>
      </p:sp>
      <p:sp>
        <p:nvSpPr>
          <p:cNvPr id="701" name="Label 701"/>
          <p:cNvSpPr txBox="1"/>
          <p:nvPr/>
        </p:nvSpPr>
        <p:spPr>
          <a:xfrm>
            <a:off x="660400" y="1651000"/>
            <a:ext cx="3454400" cy="228600"/>
          </a:xfrm>
          <a:prstGeom prst="rect">
            <a:avLst/>
          </a:prstGeom>
          <a:noFill/>
        </p:spPr>
        <p:txBody>
          <a:bodyPr wrap="square" lIns="0" tIns="0" rIns="0" bIns="0">
            <a:noAutofit/>
          </a:bodyPr>
          <a:lstStyle/>
          <a:p>
            <a:pPr algn="l"/>
            <a:r>
              <a:rPr lang="en-GB" sz="1300" b="1" dirty="0">
                <a:solidFill>
                  <a:srgbClr val="002E56"/>
                </a:solidFill>
              </a:rPr>
              <a:t>FVC, L</a:t>
            </a:r>
            <a:r>
              <a:rPr lang="en-GB" sz="1000" dirty="0">
                <a:solidFill>
                  <a:srgbClr val="646464"/>
                </a:solidFill>
              </a:rPr>
              <a:t>    Year 1: P=0.0279 · Year 2: P=0.0429</a:t>
            </a:r>
          </a:p>
        </p:txBody>
      </p:sp>
      <p:graphicFrame>
        <p:nvGraphicFramePr>
          <p:cNvPr id="702" name="Chart FVC, L"/>
          <p:cNvGraphicFramePr/>
          <p:nvPr/>
        </p:nvGraphicFramePr>
        <p:xfrm>
          <a:off x="660400" y="1905000"/>
          <a:ext cx="3454400" cy="2794000"/>
        </p:xfrm>
        <a:graphic>
          <a:graphicData uri="http://schemas.openxmlformats.org/drawingml/2006/chart">
            <c:chart xmlns:c="http://schemas.openxmlformats.org/drawingml/2006/chart" xmlns:r="http://schemas.openxmlformats.org/officeDocument/2006/relationships" r:id="rId2"/>
          </a:graphicData>
        </a:graphic>
      </p:graphicFrame>
      <p:sp>
        <p:nvSpPr>
          <p:cNvPr id="703" name="Label 703"/>
          <p:cNvSpPr txBox="1"/>
          <p:nvPr/>
        </p:nvSpPr>
        <p:spPr>
          <a:xfrm>
            <a:off x="660400" y="4749800"/>
            <a:ext cx="3454400" cy="406400"/>
          </a:xfrm>
          <a:prstGeom prst="rect">
            <a:avLst/>
          </a:prstGeom>
          <a:noFill/>
        </p:spPr>
        <p:txBody>
          <a:bodyPr wrap="square" lIns="0" tIns="0" rIns="0" bIns="0">
            <a:noAutofit/>
          </a:bodyPr>
          <a:lstStyle/>
          <a:p>
            <a:pPr algn="l"/>
            <a:r>
              <a:rPr lang="en-GB" sz="1100" b="1" dirty="0">
                <a:solidFill>
                  <a:srgbClr val="002E56"/>
                </a:solidFill>
              </a:rPr>
              <a:t>n  </a:t>
            </a:r>
            <a:r>
              <a:rPr lang="en-GB" sz="1100" dirty="0">
                <a:solidFill>
                  <a:srgbClr val="646464"/>
                </a:solidFill>
              </a:rPr>
              <a:t>Untreated 63 / 25</a:t>
            </a:r>
            <a:r>
              <a:rPr lang="en-GB" sz="1100" dirty="0">
                <a:solidFill>
                  <a:srgbClr val="A9218E"/>
                </a:solidFill>
              </a:rPr>
              <a:t>   Treated 117 / 111</a:t>
            </a:r>
          </a:p>
          <a:p>
            <a:pPr algn="l"/>
            <a:r>
              <a:rPr lang="en-GB" sz="1000" dirty="0">
                <a:solidFill>
                  <a:srgbClr val="646464"/>
                </a:solidFill>
              </a:rPr>
              <a:t>(Year 1 / Year 2)</a:t>
            </a:r>
          </a:p>
        </p:txBody>
      </p:sp>
      <p:sp>
        <p:nvSpPr>
          <p:cNvPr id="704" name="Label 704"/>
          <p:cNvSpPr txBox="1"/>
          <p:nvPr/>
        </p:nvSpPr>
        <p:spPr>
          <a:xfrm>
            <a:off x="4368800" y="1651000"/>
            <a:ext cx="3454400" cy="228600"/>
          </a:xfrm>
          <a:prstGeom prst="rect">
            <a:avLst/>
          </a:prstGeom>
          <a:noFill/>
        </p:spPr>
        <p:txBody>
          <a:bodyPr wrap="square" lIns="0" tIns="0" rIns="0" bIns="0">
            <a:noAutofit/>
          </a:bodyPr>
          <a:lstStyle/>
          <a:p>
            <a:pPr algn="l"/>
            <a:r>
              <a:rPr lang="en-GB" sz="1300" b="1" dirty="0">
                <a:solidFill>
                  <a:srgbClr val="002E56"/>
                </a:solidFill>
              </a:rPr>
              <a:t>FEV1, L</a:t>
            </a:r>
            <a:r>
              <a:rPr lang="en-GB" sz="1000" dirty="0">
                <a:solidFill>
                  <a:srgbClr val="646464"/>
                </a:solidFill>
              </a:rPr>
              <a:t>    Year 1: P=0.0079 · Year 2: P=0.0339</a:t>
            </a:r>
          </a:p>
        </p:txBody>
      </p:sp>
      <p:graphicFrame>
        <p:nvGraphicFramePr>
          <p:cNvPr id="705" name="Chart FEV1, L"/>
          <p:cNvGraphicFramePr/>
          <p:nvPr/>
        </p:nvGraphicFramePr>
        <p:xfrm>
          <a:off x="4368800" y="1905000"/>
          <a:ext cx="3454400" cy="2794000"/>
        </p:xfrm>
        <a:graphic>
          <a:graphicData uri="http://schemas.openxmlformats.org/drawingml/2006/chart">
            <c:chart xmlns:c="http://schemas.openxmlformats.org/drawingml/2006/chart" xmlns:r="http://schemas.openxmlformats.org/officeDocument/2006/relationships" r:id="rId3"/>
          </a:graphicData>
        </a:graphic>
      </p:graphicFrame>
      <p:sp>
        <p:nvSpPr>
          <p:cNvPr id="706" name="Label 706"/>
          <p:cNvSpPr txBox="1"/>
          <p:nvPr/>
        </p:nvSpPr>
        <p:spPr>
          <a:xfrm>
            <a:off x="4368800" y="4749800"/>
            <a:ext cx="3454400" cy="406400"/>
          </a:xfrm>
          <a:prstGeom prst="rect">
            <a:avLst/>
          </a:prstGeom>
          <a:noFill/>
        </p:spPr>
        <p:txBody>
          <a:bodyPr wrap="square" lIns="0" tIns="0" rIns="0" bIns="0">
            <a:noAutofit/>
          </a:bodyPr>
          <a:lstStyle/>
          <a:p>
            <a:pPr algn="l"/>
            <a:r>
              <a:rPr lang="en-GB" sz="1100" b="1" dirty="0">
                <a:solidFill>
                  <a:srgbClr val="002E56"/>
                </a:solidFill>
              </a:rPr>
              <a:t>n  </a:t>
            </a:r>
            <a:r>
              <a:rPr lang="en-GB" sz="1100" dirty="0">
                <a:solidFill>
                  <a:srgbClr val="646464"/>
                </a:solidFill>
              </a:rPr>
              <a:t>Untreated 63 / 24</a:t>
            </a:r>
            <a:r>
              <a:rPr lang="en-GB" sz="1100" dirty="0">
                <a:solidFill>
                  <a:srgbClr val="A9218E"/>
                </a:solidFill>
              </a:rPr>
              <a:t>   Treated 117 / 112</a:t>
            </a:r>
          </a:p>
          <a:p>
            <a:pPr algn="l"/>
            <a:r>
              <a:rPr lang="en-GB" sz="1000" dirty="0">
                <a:solidFill>
                  <a:srgbClr val="646464"/>
                </a:solidFill>
              </a:rPr>
              <a:t>(Year 1 / Year 2)</a:t>
            </a:r>
          </a:p>
        </p:txBody>
      </p:sp>
      <p:sp>
        <p:nvSpPr>
          <p:cNvPr id="707" name="Label 707"/>
          <p:cNvSpPr txBox="1"/>
          <p:nvPr/>
        </p:nvSpPr>
        <p:spPr>
          <a:xfrm>
            <a:off x="8077200" y="1651000"/>
            <a:ext cx="3454400" cy="228600"/>
          </a:xfrm>
          <a:prstGeom prst="rect">
            <a:avLst/>
          </a:prstGeom>
          <a:noFill/>
        </p:spPr>
        <p:txBody>
          <a:bodyPr wrap="square" lIns="0" tIns="0" rIns="0" bIns="0">
            <a:noAutofit/>
          </a:bodyPr>
          <a:lstStyle/>
          <a:p>
            <a:pPr algn="l"/>
            <a:r>
              <a:rPr lang="en-GB" sz="1300" b="1" dirty="0">
                <a:solidFill>
                  <a:srgbClr val="002E56"/>
                </a:solidFill>
              </a:rPr>
              <a:t>MVV, L/min</a:t>
            </a:r>
            <a:r>
              <a:rPr lang="en-GB" sz="1000" dirty="0">
                <a:solidFill>
                  <a:srgbClr val="646464"/>
                </a:solidFill>
              </a:rPr>
              <a:t>    Year 1: P=0.0221 · Year 2: P=0.0127</a:t>
            </a:r>
          </a:p>
        </p:txBody>
      </p:sp>
      <p:graphicFrame>
        <p:nvGraphicFramePr>
          <p:cNvPr id="708" name="Chart MVV, L/min"/>
          <p:cNvGraphicFramePr/>
          <p:nvPr/>
        </p:nvGraphicFramePr>
        <p:xfrm>
          <a:off x="8077200" y="1905000"/>
          <a:ext cx="3454400" cy="2794000"/>
        </p:xfrm>
        <a:graphic>
          <a:graphicData uri="http://schemas.openxmlformats.org/drawingml/2006/chart">
            <c:chart xmlns:c="http://schemas.openxmlformats.org/drawingml/2006/chart" xmlns:r="http://schemas.openxmlformats.org/officeDocument/2006/relationships" r:id="rId4"/>
          </a:graphicData>
        </a:graphic>
      </p:graphicFrame>
      <p:sp>
        <p:nvSpPr>
          <p:cNvPr id="709" name="Label 709"/>
          <p:cNvSpPr txBox="1"/>
          <p:nvPr/>
        </p:nvSpPr>
        <p:spPr>
          <a:xfrm>
            <a:off x="8077200" y="4749800"/>
            <a:ext cx="3454400" cy="406400"/>
          </a:xfrm>
          <a:prstGeom prst="rect">
            <a:avLst/>
          </a:prstGeom>
          <a:noFill/>
        </p:spPr>
        <p:txBody>
          <a:bodyPr wrap="square" lIns="0" tIns="0" rIns="0" bIns="0">
            <a:noAutofit/>
          </a:bodyPr>
          <a:lstStyle/>
          <a:p>
            <a:pPr algn="l"/>
            <a:r>
              <a:rPr lang="en-GB" sz="1100" b="1" dirty="0">
                <a:solidFill>
                  <a:srgbClr val="002E56"/>
                </a:solidFill>
              </a:rPr>
              <a:t>n  </a:t>
            </a:r>
            <a:r>
              <a:rPr lang="en-GB" sz="1100" dirty="0">
                <a:solidFill>
                  <a:srgbClr val="646464"/>
                </a:solidFill>
              </a:rPr>
              <a:t>Untreated 60 / 22</a:t>
            </a:r>
            <a:r>
              <a:rPr lang="en-GB" sz="1100" dirty="0">
                <a:solidFill>
                  <a:srgbClr val="A9218E"/>
                </a:solidFill>
              </a:rPr>
              <a:t>   Treated 110 / 104</a:t>
            </a:r>
          </a:p>
          <a:p>
            <a:pPr algn="l"/>
            <a:r>
              <a:rPr lang="en-GB" sz="1000" dirty="0">
                <a:solidFill>
                  <a:srgbClr val="646464"/>
                </a:solidFill>
              </a:rPr>
              <a:t>(Year 1 / Year 2)</a:t>
            </a:r>
          </a:p>
        </p:txBody>
      </p:sp>
      <p:sp>
        <p:nvSpPr>
          <p:cNvPr id="710" name="Label 710"/>
          <p:cNvSpPr txBox="1"/>
          <p:nvPr/>
        </p:nvSpPr>
        <p:spPr>
          <a:xfrm>
            <a:off x="660400" y="5232400"/>
            <a:ext cx="10871200" cy="228600"/>
          </a:xfrm>
          <a:prstGeom prst="rect">
            <a:avLst/>
          </a:prstGeom>
          <a:noFill/>
        </p:spPr>
        <p:txBody>
          <a:bodyPr wrap="square" lIns="0" tIns="0" rIns="0" bIns="0">
            <a:noAutofit/>
          </a:bodyPr>
          <a:lstStyle/>
          <a:p>
            <a:pPr algn="l"/>
            <a:r>
              <a:rPr lang="en-GB" sz="1300" dirty="0">
                <a:solidFill>
                  <a:srgbClr val="A0A0A0"/>
                </a:solidFill>
              </a:rPr>
              <a:t>■ </a:t>
            </a:r>
            <a:r>
              <a:rPr lang="en-GB" sz="1100" b="1" dirty="0">
                <a:solidFill>
                  <a:srgbClr val="646464"/>
                </a:solidFill>
              </a:rPr>
              <a:t>Untreated (MorCAP)      </a:t>
            </a:r>
            <a:r>
              <a:rPr lang="en-GB" sz="1300" dirty="0">
                <a:solidFill>
                  <a:srgbClr val="A9218E"/>
                </a:solidFill>
              </a:rPr>
              <a:t>■ </a:t>
            </a:r>
            <a:r>
              <a:rPr lang="en-GB" sz="1100" b="1" dirty="0">
                <a:solidFill>
                  <a:srgbClr val="A9218E"/>
                </a:solidFill>
              </a:rPr>
              <a:t>Elosulfase alfa (MOR-004/005), MPP population</a:t>
            </a:r>
          </a:p>
        </p:txBody>
      </p:sp>
    </p:spTree>
    <p:extLst>
      <p:ext uri="{BB962C8B-B14F-4D97-AF65-F5344CB8AC3E}">
        <p14:creationId xmlns:p14="http://schemas.microsoft.com/office/powerpoint/2010/main" val="38282642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Lung function: percentage change versus MorCAP</a:t>
            </a:r>
            <a:endParaRPr lang="en-GB" dirty="0"/>
          </a:p>
        </p:txBody>
      </p:sp>
      <p:sp>
        <p:nvSpPr>
          <p:cNvPr id="302" name="Abbreviations"/>
          <p:cNvSpPr txBox="1"/>
          <p:nvPr/>
        </p:nvSpPr>
        <p:spPr>
          <a:xfrm>
            <a:off x="660400" y="5588000"/>
            <a:ext cx="10871200" cy="381000"/>
          </a:xfrm>
          <a:prstGeom prst="rect">
            <a:avLst/>
          </a:prstGeom>
          <a:noFill/>
        </p:spPr>
        <p:txBody>
          <a:bodyPr wrap="square" lIns="0" tIns="0" rIns="0" bIns="0" anchor="b">
            <a:noAutofit/>
          </a:bodyPr>
          <a:lstStyle/>
          <a:p>
            <a:pPr>
              <a:buNone/>
            </a:pPr>
            <a:r>
              <a:rPr lang="en-GB" sz="1100" i="1" dirty="0">
                <a:solidFill>
                  <a:srgbClr val="404040"/>
                </a:solidFill>
              </a:rPr>
              <a:t>FEV1, forced expiratory volume in 1 second; FVC, forced vital capacity; LS, least squares; MorCAP, Morquio A Clinical Assessment Program; MPP, modified per protocol; MVV, maximum voluntary ventilation; NS, not significant</a:t>
            </a:r>
          </a:p>
        </p:txBody>
      </p:sp>
      <p:sp>
        <p:nvSpPr>
          <p:cNvPr id="303" name="References"/>
          <p:cNvSpPr txBox="1"/>
          <p:nvPr/>
        </p:nvSpPr>
        <p:spPr>
          <a:xfrm>
            <a:off x="660400" y="6070600"/>
            <a:ext cx="10871200" cy="203200"/>
          </a:xfrm>
          <a:prstGeom prst="rect">
            <a:avLst/>
          </a:prstGeom>
          <a:noFill/>
        </p:spPr>
        <p:txBody>
          <a:bodyPr wrap="square" lIns="0" tIns="0" rIns="0" bIns="0" anchor="t">
            <a:noAutofit/>
          </a:bodyPr>
          <a:lstStyle/>
          <a:p>
            <a:pPr>
              <a:buNone/>
            </a:pPr>
            <a:r>
              <a:rPr lang="en-GB" sz="900" dirty="0">
                <a:solidFill>
                  <a:srgbClr val="646464"/>
                </a:solidFill>
              </a:rPr>
              <a:t>1. Hendriksz CJ et al. J Inherit Metab Dis 2016;39:839–47.</a:t>
            </a:r>
          </a:p>
        </p:txBody>
      </p:sp>
      <p:sp>
        <p:nvSpPr>
          <p:cNvPr id="700" name="Label 700"/>
          <p:cNvSpPr txBox="1"/>
          <p:nvPr/>
        </p:nvSpPr>
        <p:spPr>
          <a:xfrm>
            <a:off x="660400" y="1371600"/>
            <a:ext cx="10871200" cy="203200"/>
          </a:xfrm>
          <a:prstGeom prst="rect">
            <a:avLst/>
          </a:prstGeom>
          <a:noFill/>
        </p:spPr>
        <p:txBody>
          <a:bodyPr wrap="square" lIns="0" tIns="0" rIns="0" bIns="0">
            <a:noAutofit/>
          </a:bodyPr>
          <a:lstStyle/>
          <a:p>
            <a:pPr algn="l"/>
            <a:r>
              <a:rPr lang="en-GB" sz="1100" b="1" dirty="0">
                <a:solidFill>
                  <a:srgbClr val="28509C"/>
                </a:solidFill>
              </a:rPr>
              <a:t>LS mean % change from baseline</a:t>
            </a:r>
          </a:p>
        </p:txBody>
      </p:sp>
      <p:sp>
        <p:nvSpPr>
          <p:cNvPr id="701" name="Label 701"/>
          <p:cNvSpPr txBox="1"/>
          <p:nvPr/>
        </p:nvSpPr>
        <p:spPr>
          <a:xfrm>
            <a:off x="660400" y="1651000"/>
            <a:ext cx="3454400" cy="228600"/>
          </a:xfrm>
          <a:prstGeom prst="rect">
            <a:avLst/>
          </a:prstGeom>
          <a:noFill/>
        </p:spPr>
        <p:txBody>
          <a:bodyPr wrap="square" lIns="0" tIns="0" rIns="0" bIns="0">
            <a:noAutofit/>
          </a:bodyPr>
          <a:lstStyle/>
          <a:p>
            <a:pPr algn="l"/>
            <a:r>
              <a:rPr lang="en-GB" sz="1300" b="1" dirty="0">
                <a:solidFill>
                  <a:srgbClr val="002E56"/>
                </a:solidFill>
              </a:rPr>
              <a:t>FVC</a:t>
            </a:r>
            <a:r>
              <a:rPr lang="en-GB" sz="1000" dirty="0">
                <a:solidFill>
                  <a:srgbClr val="646464"/>
                </a:solidFill>
              </a:rPr>
              <a:t>    Year 1: P=0.0215 · Year 2: NS</a:t>
            </a:r>
          </a:p>
        </p:txBody>
      </p:sp>
      <p:graphicFrame>
        <p:nvGraphicFramePr>
          <p:cNvPr id="702" name="Chart FVC"/>
          <p:cNvGraphicFramePr/>
          <p:nvPr/>
        </p:nvGraphicFramePr>
        <p:xfrm>
          <a:off x="660400" y="1905000"/>
          <a:ext cx="3454400" cy="2794000"/>
        </p:xfrm>
        <a:graphic>
          <a:graphicData uri="http://schemas.openxmlformats.org/drawingml/2006/chart">
            <c:chart xmlns:c="http://schemas.openxmlformats.org/drawingml/2006/chart" xmlns:r="http://schemas.openxmlformats.org/officeDocument/2006/relationships" r:id="rId2"/>
          </a:graphicData>
        </a:graphic>
      </p:graphicFrame>
      <p:sp>
        <p:nvSpPr>
          <p:cNvPr id="703" name="Label 703"/>
          <p:cNvSpPr txBox="1"/>
          <p:nvPr/>
        </p:nvSpPr>
        <p:spPr>
          <a:xfrm>
            <a:off x="660400" y="4749800"/>
            <a:ext cx="3454400" cy="406400"/>
          </a:xfrm>
          <a:prstGeom prst="rect">
            <a:avLst/>
          </a:prstGeom>
          <a:noFill/>
        </p:spPr>
        <p:txBody>
          <a:bodyPr wrap="square" lIns="0" tIns="0" rIns="0" bIns="0">
            <a:noAutofit/>
          </a:bodyPr>
          <a:lstStyle/>
          <a:p>
            <a:pPr algn="l"/>
            <a:r>
              <a:rPr lang="en-GB" sz="1100" b="1" dirty="0">
                <a:solidFill>
                  <a:srgbClr val="002E56"/>
                </a:solidFill>
              </a:rPr>
              <a:t>n  </a:t>
            </a:r>
            <a:r>
              <a:rPr lang="en-GB" sz="1100" dirty="0">
                <a:solidFill>
                  <a:srgbClr val="646464"/>
                </a:solidFill>
              </a:rPr>
              <a:t>Untreated 63 / 25</a:t>
            </a:r>
            <a:r>
              <a:rPr lang="en-GB" sz="1100" dirty="0">
                <a:solidFill>
                  <a:srgbClr val="A9218E"/>
                </a:solidFill>
              </a:rPr>
              <a:t>   Treated 117 / 111</a:t>
            </a:r>
          </a:p>
          <a:p>
            <a:pPr algn="l"/>
            <a:r>
              <a:rPr lang="en-GB" sz="1000" dirty="0">
                <a:solidFill>
                  <a:srgbClr val="646464"/>
                </a:solidFill>
              </a:rPr>
              <a:t>(Year 1 / Year 2)</a:t>
            </a:r>
          </a:p>
        </p:txBody>
      </p:sp>
      <p:sp>
        <p:nvSpPr>
          <p:cNvPr id="704" name="Label 704"/>
          <p:cNvSpPr txBox="1"/>
          <p:nvPr/>
        </p:nvSpPr>
        <p:spPr>
          <a:xfrm>
            <a:off x="4368800" y="1651000"/>
            <a:ext cx="3454400" cy="228600"/>
          </a:xfrm>
          <a:prstGeom prst="rect">
            <a:avLst/>
          </a:prstGeom>
          <a:noFill/>
        </p:spPr>
        <p:txBody>
          <a:bodyPr wrap="square" lIns="0" tIns="0" rIns="0" bIns="0">
            <a:noAutofit/>
          </a:bodyPr>
          <a:lstStyle/>
          <a:p>
            <a:pPr algn="l"/>
            <a:r>
              <a:rPr lang="en-GB" sz="1300" b="1" dirty="0">
                <a:solidFill>
                  <a:srgbClr val="002E56"/>
                </a:solidFill>
              </a:rPr>
              <a:t>FEV1</a:t>
            </a:r>
            <a:r>
              <a:rPr lang="en-GB" sz="1000" dirty="0">
                <a:solidFill>
                  <a:srgbClr val="646464"/>
                </a:solidFill>
              </a:rPr>
              <a:t>    Year 1: P=0.0443 · Year 2: NS</a:t>
            </a:r>
          </a:p>
        </p:txBody>
      </p:sp>
      <p:graphicFrame>
        <p:nvGraphicFramePr>
          <p:cNvPr id="705" name="Chart FEV1"/>
          <p:cNvGraphicFramePr/>
          <p:nvPr/>
        </p:nvGraphicFramePr>
        <p:xfrm>
          <a:off x="4368800" y="1905000"/>
          <a:ext cx="3454400" cy="2794000"/>
        </p:xfrm>
        <a:graphic>
          <a:graphicData uri="http://schemas.openxmlformats.org/drawingml/2006/chart">
            <c:chart xmlns:c="http://schemas.openxmlformats.org/drawingml/2006/chart" xmlns:r="http://schemas.openxmlformats.org/officeDocument/2006/relationships" r:id="rId3"/>
          </a:graphicData>
        </a:graphic>
      </p:graphicFrame>
      <p:sp>
        <p:nvSpPr>
          <p:cNvPr id="706" name="Label 706"/>
          <p:cNvSpPr txBox="1"/>
          <p:nvPr/>
        </p:nvSpPr>
        <p:spPr>
          <a:xfrm>
            <a:off x="4368800" y="4749800"/>
            <a:ext cx="3454400" cy="406400"/>
          </a:xfrm>
          <a:prstGeom prst="rect">
            <a:avLst/>
          </a:prstGeom>
          <a:noFill/>
        </p:spPr>
        <p:txBody>
          <a:bodyPr wrap="square" lIns="0" tIns="0" rIns="0" bIns="0">
            <a:noAutofit/>
          </a:bodyPr>
          <a:lstStyle/>
          <a:p>
            <a:pPr algn="l"/>
            <a:r>
              <a:rPr lang="en-GB" sz="1100" b="1" dirty="0">
                <a:solidFill>
                  <a:srgbClr val="002E56"/>
                </a:solidFill>
              </a:rPr>
              <a:t>n  </a:t>
            </a:r>
            <a:r>
              <a:rPr lang="en-GB" sz="1100" dirty="0">
                <a:solidFill>
                  <a:srgbClr val="646464"/>
                </a:solidFill>
              </a:rPr>
              <a:t>Untreated 63 / 24</a:t>
            </a:r>
            <a:r>
              <a:rPr lang="en-GB" sz="1100" dirty="0">
                <a:solidFill>
                  <a:srgbClr val="A9218E"/>
                </a:solidFill>
              </a:rPr>
              <a:t>   Treated 117 / 112</a:t>
            </a:r>
          </a:p>
          <a:p>
            <a:pPr algn="l"/>
            <a:r>
              <a:rPr lang="en-GB" sz="1000" dirty="0">
                <a:solidFill>
                  <a:srgbClr val="646464"/>
                </a:solidFill>
              </a:rPr>
              <a:t>(Year 1 / Year 2)</a:t>
            </a:r>
          </a:p>
        </p:txBody>
      </p:sp>
      <p:sp>
        <p:nvSpPr>
          <p:cNvPr id="707" name="Label 707"/>
          <p:cNvSpPr txBox="1"/>
          <p:nvPr/>
        </p:nvSpPr>
        <p:spPr>
          <a:xfrm>
            <a:off x="8077200" y="1651000"/>
            <a:ext cx="3454400" cy="228600"/>
          </a:xfrm>
          <a:prstGeom prst="rect">
            <a:avLst/>
          </a:prstGeom>
          <a:noFill/>
        </p:spPr>
        <p:txBody>
          <a:bodyPr wrap="square" lIns="0" tIns="0" rIns="0" bIns="0">
            <a:noAutofit/>
          </a:bodyPr>
          <a:lstStyle/>
          <a:p>
            <a:pPr algn="l"/>
            <a:r>
              <a:rPr lang="en-GB" sz="1300" b="1" dirty="0">
                <a:solidFill>
                  <a:srgbClr val="002E56"/>
                </a:solidFill>
              </a:rPr>
              <a:t>MVV</a:t>
            </a:r>
            <a:r>
              <a:rPr lang="en-GB" sz="1000" dirty="0">
                <a:solidFill>
                  <a:srgbClr val="646464"/>
                </a:solidFill>
              </a:rPr>
              <a:t>    Year 1: NS · Year 2: NS</a:t>
            </a:r>
          </a:p>
        </p:txBody>
      </p:sp>
      <p:graphicFrame>
        <p:nvGraphicFramePr>
          <p:cNvPr id="708" name="Chart MVV"/>
          <p:cNvGraphicFramePr/>
          <p:nvPr/>
        </p:nvGraphicFramePr>
        <p:xfrm>
          <a:off x="8077200" y="1905000"/>
          <a:ext cx="3454400" cy="2794000"/>
        </p:xfrm>
        <a:graphic>
          <a:graphicData uri="http://schemas.openxmlformats.org/drawingml/2006/chart">
            <c:chart xmlns:c="http://schemas.openxmlformats.org/drawingml/2006/chart" xmlns:r="http://schemas.openxmlformats.org/officeDocument/2006/relationships" r:id="rId4"/>
          </a:graphicData>
        </a:graphic>
      </p:graphicFrame>
      <p:sp>
        <p:nvSpPr>
          <p:cNvPr id="709" name="Label 709"/>
          <p:cNvSpPr txBox="1"/>
          <p:nvPr/>
        </p:nvSpPr>
        <p:spPr>
          <a:xfrm>
            <a:off x="8077200" y="4749800"/>
            <a:ext cx="3454400" cy="406400"/>
          </a:xfrm>
          <a:prstGeom prst="rect">
            <a:avLst/>
          </a:prstGeom>
          <a:noFill/>
        </p:spPr>
        <p:txBody>
          <a:bodyPr wrap="square" lIns="0" tIns="0" rIns="0" bIns="0">
            <a:noAutofit/>
          </a:bodyPr>
          <a:lstStyle/>
          <a:p>
            <a:pPr algn="l"/>
            <a:r>
              <a:rPr lang="en-GB" sz="1100" b="1" dirty="0">
                <a:solidFill>
                  <a:srgbClr val="002E56"/>
                </a:solidFill>
              </a:rPr>
              <a:t>n  </a:t>
            </a:r>
            <a:r>
              <a:rPr lang="en-GB" sz="1100" dirty="0">
                <a:solidFill>
                  <a:srgbClr val="646464"/>
                </a:solidFill>
              </a:rPr>
              <a:t>Untreated 60 / 22</a:t>
            </a:r>
            <a:r>
              <a:rPr lang="en-GB" sz="1100" dirty="0">
                <a:solidFill>
                  <a:srgbClr val="A9218E"/>
                </a:solidFill>
              </a:rPr>
              <a:t>   Treated 110 / 104</a:t>
            </a:r>
          </a:p>
          <a:p>
            <a:pPr algn="l"/>
            <a:r>
              <a:rPr lang="en-GB" sz="1000" dirty="0">
                <a:solidFill>
                  <a:srgbClr val="646464"/>
                </a:solidFill>
              </a:rPr>
              <a:t>(Year 1 / Year 2)</a:t>
            </a:r>
          </a:p>
        </p:txBody>
      </p:sp>
      <p:sp>
        <p:nvSpPr>
          <p:cNvPr id="710" name="Label 710"/>
          <p:cNvSpPr txBox="1"/>
          <p:nvPr/>
        </p:nvSpPr>
        <p:spPr>
          <a:xfrm>
            <a:off x="660400" y="5232400"/>
            <a:ext cx="10871200" cy="228600"/>
          </a:xfrm>
          <a:prstGeom prst="rect">
            <a:avLst/>
          </a:prstGeom>
          <a:noFill/>
        </p:spPr>
        <p:txBody>
          <a:bodyPr wrap="square" lIns="0" tIns="0" rIns="0" bIns="0">
            <a:noAutofit/>
          </a:bodyPr>
          <a:lstStyle/>
          <a:p>
            <a:pPr algn="l"/>
            <a:r>
              <a:rPr lang="en-GB" sz="1300" dirty="0">
                <a:solidFill>
                  <a:srgbClr val="A0A0A0"/>
                </a:solidFill>
              </a:rPr>
              <a:t>■ </a:t>
            </a:r>
            <a:r>
              <a:rPr lang="en-GB" sz="1100" b="1" dirty="0">
                <a:solidFill>
                  <a:srgbClr val="646464"/>
                </a:solidFill>
              </a:rPr>
              <a:t>Untreated (MorCAP)      </a:t>
            </a:r>
            <a:r>
              <a:rPr lang="en-GB" sz="1300" dirty="0">
                <a:solidFill>
                  <a:srgbClr val="A9218E"/>
                </a:solidFill>
              </a:rPr>
              <a:t>■ </a:t>
            </a:r>
            <a:r>
              <a:rPr lang="en-GB" sz="1100" b="1" dirty="0">
                <a:solidFill>
                  <a:srgbClr val="A9218E"/>
                </a:solidFill>
              </a:rPr>
              <a:t>Elosulfase alfa (MOR-004/005), MPP population</a:t>
            </a:r>
          </a:p>
        </p:txBody>
      </p:sp>
    </p:spTree>
    <p:extLst>
      <p:ext uri="{BB962C8B-B14F-4D97-AF65-F5344CB8AC3E}">
        <p14:creationId xmlns:p14="http://schemas.microsoft.com/office/powerpoint/2010/main" val="31937800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Elosulfase alfa efficacy</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Lung function by age: treated patients versus MorCAP</a:t>
            </a:r>
            <a:endParaRPr lang="en-GB" dirty="0"/>
          </a:p>
        </p:txBody>
      </p:sp>
      <p:sp>
        <p:nvSpPr>
          <p:cNvPr id="302" name="Point card"/>
          <p:cNvSpPr/>
          <p:nvPr/>
        </p:nvSpPr>
        <p:spPr>
          <a:xfrm>
            <a:off x="660400" y="1422400"/>
            <a:ext cx="3522133" cy="939800"/>
          </a:xfrm>
          <a:prstGeom prst="roundRect">
            <a:avLst>
              <a:gd name="adj" fmla="val 10000"/>
            </a:avLst>
          </a:prstGeom>
          <a:solidFill>
            <a:srgbClr val="F1F4F9"/>
          </a:solidFill>
          <a:ln>
            <a:noFill/>
          </a:ln>
        </p:spPr>
        <p:txBody>
          <a:bodyPr wrap="square" lIns="152400" tIns="152400" rIns="152400" bIns="152400" anchor="ctr">
            <a:noAutofit/>
          </a:bodyPr>
          <a:lstStyle/>
          <a:p>
            <a:pPr>
              <a:spcBef>
                <a:spcPts val="0"/>
              </a:spcBef>
              <a:buNone/>
            </a:pPr>
            <a:r>
              <a:rPr lang="en-GB" sz="1100" b="1" spc="60" dirty="0">
                <a:solidFill>
                  <a:srgbClr val="28509C"/>
                </a:solidFill>
              </a:rPr>
              <a:t>Aged 14 or under</a:t>
            </a:r>
          </a:p>
          <a:p>
            <a:pPr>
              <a:spcBef>
                <a:spcPts val="200"/>
              </a:spcBef>
              <a:buNone/>
            </a:pPr>
            <a:r>
              <a:rPr lang="en-GB" sz="1400" dirty="0">
                <a:solidFill>
                  <a:srgbClr val="2B2B2B"/>
                </a:solidFill>
              </a:rPr>
              <a:t>Both cohorts improved; treated patients improved more</a:t>
            </a:r>
          </a:p>
        </p:txBody>
      </p:sp>
      <p:sp>
        <p:nvSpPr>
          <p:cNvPr id="303" name="Point card"/>
          <p:cNvSpPr/>
          <p:nvPr/>
        </p:nvSpPr>
        <p:spPr>
          <a:xfrm>
            <a:off x="4334933" y="1422400"/>
            <a:ext cx="3522133" cy="939800"/>
          </a:xfrm>
          <a:prstGeom prst="roundRect">
            <a:avLst>
              <a:gd name="adj" fmla="val 10000"/>
            </a:avLst>
          </a:prstGeom>
          <a:solidFill>
            <a:srgbClr val="F1F4F9"/>
          </a:solidFill>
          <a:ln>
            <a:noFill/>
          </a:ln>
        </p:spPr>
        <p:txBody>
          <a:bodyPr wrap="square" lIns="152400" tIns="152400" rIns="152400" bIns="152400" anchor="ctr">
            <a:noAutofit/>
          </a:bodyPr>
          <a:lstStyle/>
          <a:p>
            <a:pPr>
              <a:spcBef>
                <a:spcPts val="0"/>
              </a:spcBef>
              <a:buNone/>
            </a:pPr>
            <a:r>
              <a:rPr lang="en-GB" sz="1100" b="1" spc="60" dirty="0">
                <a:solidFill>
                  <a:srgbClr val="28509C"/>
                </a:solidFill>
              </a:rPr>
              <a:t>Over 14</a:t>
            </a:r>
          </a:p>
          <a:p>
            <a:pPr>
              <a:spcBef>
                <a:spcPts val="200"/>
              </a:spcBef>
              <a:buNone/>
            </a:pPr>
            <a:r>
              <a:rPr lang="en-GB" sz="1400" dirty="0">
                <a:solidFill>
                  <a:srgbClr val="2B2B2B"/>
                </a:solidFill>
              </a:rPr>
              <a:t>Treated patients improved; untreated patients deteriorated</a:t>
            </a:r>
          </a:p>
        </p:txBody>
      </p:sp>
      <p:sp>
        <p:nvSpPr>
          <p:cNvPr id="304" name="Point card"/>
          <p:cNvSpPr/>
          <p:nvPr/>
        </p:nvSpPr>
        <p:spPr>
          <a:xfrm>
            <a:off x="8009467" y="1422400"/>
            <a:ext cx="3522133" cy="939800"/>
          </a:xfrm>
          <a:prstGeom prst="roundRect">
            <a:avLst>
              <a:gd name="adj" fmla="val 10000"/>
            </a:avLst>
          </a:prstGeom>
          <a:solidFill>
            <a:srgbClr val="F1F4F9"/>
          </a:solidFill>
          <a:ln>
            <a:noFill/>
          </a:ln>
        </p:spPr>
        <p:txBody>
          <a:bodyPr wrap="square" lIns="152400" tIns="152400" rIns="152400" bIns="152400" anchor="ctr">
            <a:noAutofit/>
          </a:bodyPr>
          <a:lstStyle/>
          <a:p>
            <a:pPr>
              <a:spcBef>
                <a:spcPts val="0"/>
              </a:spcBef>
              <a:buNone/>
            </a:pPr>
            <a:r>
              <a:rPr lang="en-GB" sz="1100" b="1" spc="60" dirty="0">
                <a:solidFill>
                  <a:srgbClr val="28509C"/>
                </a:solidFill>
              </a:rPr>
              <a:t>Role of growth</a:t>
            </a:r>
          </a:p>
          <a:p>
            <a:pPr>
              <a:spcBef>
                <a:spcPts val="200"/>
              </a:spcBef>
              <a:buNone/>
            </a:pPr>
            <a:r>
              <a:rPr lang="en-GB" sz="1400" dirty="0">
                <a:solidFill>
                  <a:srgbClr val="2B2B2B"/>
                </a:solidFill>
              </a:rPr>
              <a:t>FVC tracked height in younger patients; other factors likely drove gains in older ones</a:t>
            </a:r>
          </a:p>
        </p:txBody>
      </p:sp>
      <p:sp>
        <p:nvSpPr>
          <p:cNvPr id="305" name="Abbreviations"/>
          <p:cNvSpPr txBox="1"/>
          <p:nvPr/>
        </p:nvSpPr>
        <p:spPr>
          <a:xfrm>
            <a:off x="660400" y="5613400"/>
            <a:ext cx="10871200" cy="355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FEV1, forced expiratory volume in 1 second; FVC, forced vital capacity; LS, least squares; MorCAP, Morquio A Clinical Assessment Program; NS, not significant</a:t>
            </a:r>
          </a:p>
        </p:txBody>
      </p:sp>
      <p:sp>
        <p:nvSpPr>
          <p:cNvPr id="306" name="References"/>
          <p:cNvSpPr txBox="1"/>
          <p:nvPr/>
        </p:nvSpPr>
        <p:spPr>
          <a:xfrm>
            <a:off x="660400" y="6070600"/>
            <a:ext cx="10871200" cy="203200"/>
          </a:xfrm>
          <a:prstGeom prst="rect">
            <a:avLst/>
          </a:prstGeom>
          <a:noFill/>
        </p:spPr>
        <p:txBody>
          <a:bodyPr wrap="square" lIns="0" tIns="0" rIns="0" bIns="0" anchor="t">
            <a:noAutofit/>
          </a:bodyPr>
          <a:lstStyle/>
          <a:p>
            <a:pPr>
              <a:spcBef>
                <a:spcPts val="0"/>
              </a:spcBef>
              <a:buNone/>
            </a:pPr>
            <a:r>
              <a:rPr lang="en-GB" sz="900" dirty="0">
                <a:solidFill>
                  <a:srgbClr val="646464"/>
                </a:solidFill>
              </a:rPr>
              <a:t>1. Hendriksz CJ et al. J Inherit Metab Dis 2016;39:839–47.</a:t>
            </a:r>
          </a:p>
        </p:txBody>
      </p:sp>
      <p:sp>
        <p:nvSpPr>
          <p:cNvPr id="700" name="Label 700"/>
          <p:cNvSpPr txBox="1"/>
          <p:nvPr/>
        </p:nvSpPr>
        <p:spPr>
          <a:xfrm>
            <a:off x="660400" y="2489200"/>
            <a:ext cx="5308600" cy="228600"/>
          </a:xfrm>
          <a:prstGeom prst="rect">
            <a:avLst/>
          </a:prstGeom>
          <a:noFill/>
        </p:spPr>
        <p:txBody>
          <a:bodyPr wrap="square" lIns="0" tIns="0" rIns="0" bIns="0">
            <a:noAutofit/>
          </a:bodyPr>
          <a:lstStyle/>
          <a:p>
            <a:r>
              <a:rPr lang="en-GB" sz="1300" b="1" dirty="0">
                <a:solidFill>
                  <a:srgbClr val="002E56"/>
                </a:solidFill>
              </a:rPr>
              <a:t>FVC, L</a:t>
            </a:r>
            <a:r>
              <a:rPr lang="en-GB" sz="1000" dirty="0">
                <a:solidFill>
                  <a:srgbClr val="646464"/>
                </a:solidFill>
              </a:rPr>
              <a:t>   ≤14 y: Year 1: P=0.01 · Year 2: NS   ·   &gt;14 y: Year 1: NS · Year 2: P=0.03</a:t>
            </a:r>
          </a:p>
        </p:txBody>
      </p:sp>
      <p:graphicFrame>
        <p:nvGraphicFramePr>
          <p:cNvPr id="701" name="Chart FVC, L"/>
          <p:cNvGraphicFramePr/>
          <p:nvPr/>
        </p:nvGraphicFramePr>
        <p:xfrm>
          <a:off x="660400" y="2743200"/>
          <a:ext cx="5308600" cy="2489200"/>
        </p:xfrm>
        <a:graphic>
          <a:graphicData uri="http://schemas.openxmlformats.org/drawingml/2006/chart">
            <c:chart xmlns:c="http://schemas.openxmlformats.org/drawingml/2006/chart" xmlns:r="http://schemas.openxmlformats.org/officeDocument/2006/relationships" r:id="rId2"/>
          </a:graphicData>
        </a:graphic>
      </p:graphicFrame>
      <p:sp>
        <p:nvSpPr>
          <p:cNvPr id="702" name="Label 702"/>
          <p:cNvSpPr txBox="1"/>
          <p:nvPr/>
        </p:nvSpPr>
        <p:spPr>
          <a:xfrm>
            <a:off x="6223000" y="2489200"/>
            <a:ext cx="5308600" cy="228600"/>
          </a:xfrm>
          <a:prstGeom prst="rect">
            <a:avLst/>
          </a:prstGeom>
          <a:noFill/>
        </p:spPr>
        <p:txBody>
          <a:bodyPr wrap="square" lIns="0" tIns="0" rIns="0" bIns="0">
            <a:noAutofit/>
          </a:bodyPr>
          <a:lstStyle/>
          <a:p>
            <a:r>
              <a:rPr lang="en-GB" sz="1300" b="1" dirty="0">
                <a:solidFill>
                  <a:srgbClr val="002E56"/>
                </a:solidFill>
              </a:rPr>
              <a:t>FEV1, L</a:t>
            </a:r>
            <a:r>
              <a:rPr lang="en-GB" sz="1000" dirty="0">
                <a:solidFill>
                  <a:srgbClr val="646464"/>
                </a:solidFill>
              </a:rPr>
              <a:t>   ≤14 y: Year 1: P=0.007 · Year 2: NS   ·   &gt;14 y: Year 1: NS · Year 2: P=0.01</a:t>
            </a:r>
          </a:p>
        </p:txBody>
      </p:sp>
      <p:graphicFrame>
        <p:nvGraphicFramePr>
          <p:cNvPr id="703" name="Chart FEV1, L"/>
          <p:cNvGraphicFramePr/>
          <p:nvPr/>
        </p:nvGraphicFramePr>
        <p:xfrm>
          <a:off x="6223000" y="2743200"/>
          <a:ext cx="5308600" cy="2489200"/>
        </p:xfrm>
        <a:graphic>
          <a:graphicData uri="http://schemas.openxmlformats.org/drawingml/2006/chart">
            <c:chart xmlns:c="http://schemas.openxmlformats.org/drawingml/2006/chart" xmlns:r="http://schemas.openxmlformats.org/officeDocument/2006/relationships" r:id="rId3"/>
          </a:graphicData>
        </a:graphic>
      </p:graphicFrame>
      <p:sp>
        <p:nvSpPr>
          <p:cNvPr id="704" name="Label 704"/>
          <p:cNvSpPr txBox="1"/>
          <p:nvPr/>
        </p:nvSpPr>
        <p:spPr>
          <a:xfrm>
            <a:off x="660400" y="5283200"/>
            <a:ext cx="10871200" cy="228600"/>
          </a:xfrm>
          <a:prstGeom prst="rect">
            <a:avLst/>
          </a:prstGeom>
          <a:noFill/>
        </p:spPr>
        <p:txBody>
          <a:bodyPr wrap="square" lIns="0" tIns="0" rIns="0" bIns="0">
            <a:noAutofit/>
          </a:bodyPr>
          <a:lstStyle/>
          <a:p>
            <a:r>
              <a:rPr lang="en-GB" sz="1300" dirty="0">
                <a:solidFill>
                  <a:srgbClr val="A0A0A0"/>
                </a:solidFill>
              </a:rPr>
              <a:t>■ </a:t>
            </a:r>
            <a:r>
              <a:rPr lang="en-GB" sz="1100" b="1" dirty="0">
                <a:solidFill>
                  <a:srgbClr val="646464"/>
                </a:solidFill>
              </a:rPr>
              <a:t>Untreated (MorCAP)      </a:t>
            </a:r>
            <a:r>
              <a:rPr lang="en-GB" sz="1300" dirty="0">
                <a:solidFill>
                  <a:srgbClr val="A9218E"/>
                </a:solidFill>
              </a:rPr>
              <a:t>■ </a:t>
            </a:r>
            <a:r>
              <a:rPr lang="en-GB" sz="1100" b="1" dirty="0">
                <a:solidFill>
                  <a:srgbClr val="A9218E"/>
                </a:solidFill>
              </a:rPr>
              <a:t>Elosulfase alfa (MOR-004/005)</a:t>
            </a:r>
            <a:r>
              <a:rPr lang="en-GB" sz="1100" dirty="0">
                <a:solidFill>
                  <a:srgbClr val="646464"/>
                </a:solidFill>
              </a:rPr>
              <a:t>      LS mean change from baseline</a:t>
            </a:r>
          </a:p>
        </p:txBody>
      </p:sp>
    </p:spTree>
    <p:extLst>
      <p:ext uri="{BB962C8B-B14F-4D97-AF65-F5344CB8AC3E}">
        <p14:creationId xmlns:p14="http://schemas.microsoft.com/office/powerpoint/2010/main" val="21807542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buNone/>
            </a:pPr>
            <a:r>
              <a:rPr lang="en-GB" sz="1050" b="1" spc="100" dirty="0">
                <a:solidFill>
                  <a:srgbClr val="28509C"/>
                </a:solidFill>
              </a:rPr>
              <a:t>Starting treatment  |  What ERT can achieve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MPS IVA: long-term elosulfase alfa versus untreated patients</a:t>
            </a:r>
          </a:p>
        </p:txBody>
      </p:sp>
      <p:graphicFrame>
        <p:nvGraphicFramePr>
          <p:cNvPr id="302" name="Conclusion table"/>
          <p:cNvGraphicFramePr>
            <a:graphicFrameLocks noGrp="1"/>
          </p:cNvGraphicFramePr>
          <p:nvPr/>
        </p:nvGraphicFramePr>
        <p:xfrm>
          <a:off x="660400" y="1651000"/>
          <a:ext cx="10871200" cy="3149600"/>
        </p:xfrm>
        <a:graphic>
          <a:graphicData uri="http://schemas.openxmlformats.org/drawingml/2006/table">
            <a:tbl>
              <a:tblPr firstRow="1"/>
              <a:tblGrid>
                <a:gridCol w="27432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711200">
                <a:tc>
                  <a:txBody>
                    <a:bodyPr/>
                    <a:lstStyle/>
                    <a:p>
                      <a:pPr algn="l"/>
                      <a:endParaRPr/>
                    </a:p>
                  </a:txBody>
                  <a:tcPr marL="177800" marR="177800" marT="101600" marB="101600" anchor="ctr">
                    <a:lnL w="12700">
                      <a:noFill/>
                    </a:lnL>
                    <a:lnR w="12700">
                      <a:noFill/>
                    </a:lnR>
                    <a:lnT w="12700">
                      <a:noFill/>
                    </a:lnT>
                    <a:lnB w="9525">
                      <a:solidFill>
                        <a:srgbClr val="E0E0E0"/>
                      </a:solidFill>
                    </a:lnB>
                    <a:noFill/>
                  </a:tcPr>
                </a:tc>
                <a:tc>
                  <a:txBody>
                    <a:bodyPr/>
                    <a:lstStyle/>
                    <a:p>
                      <a:pPr algn="l"/>
                      <a:r>
                        <a:rPr lang="en-GB" sz="1600" b="1" dirty="0">
                          <a:solidFill>
                            <a:srgbClr val="28509C"/>
                          </a:solidFill>
                        </a:rPr>
                        <a:t>Elosulfase alfa</a:t>
                      </a:r>
                      <a:r>
                        <a:rPr lang="en-GB" sz="1600" dirty="0">
                          <a:solidFill>
                            <a:srgbClr val="28509C"/>
                          </a:solidFill>
                        </a:rPr>
                        <a:t> (MOR-004/005)</a:t>
                      </a:r>
                    </a:p>
                  </a:txBody>
                  <a:tcPr marL="177800" marR="177800" marT="101600" marB="101600" anchor="ctr">
                    <a:lnL w="12700">
                      <a:noFill/>
                    </a:lnL>
                    <a:lnR w="12700">
                      <a:noFill/>
                    </a:lnR>
                    <a:lnT w="12700">
                      <a:noFill/>
                    </a:lnT>
                    <a:lnB w="12700">
                      <a:solidFill>
                        <a:srgbClr val="28509C"/>
                      </a:solidFill>
                    </a:lnB>
                    <a:solidFill>
                      <a:srgbClr val="E3EAF5"/>
                    </a:solidFill>
                  </a:tcPr>
                </a:tc>
                <a:tc>
                  <a:txBody>
                    <a:bodyPr/>
                    <a:lstStyle/>
                    <a:p>
                      <a:pPr algn="l"/>
                      <a:r>
                        <a:rPr lang="en-GB" sz="1600" b="1" dirty="0">
                          <a:solidFill>
                            <a:srgbClr val="002E56"/>
                          </a:solidFill>
                        </a:rPr>
                        <a:t>Untreated</a:t>
                      </a:r>
                      <a:r>
                        <a:rPr lang="en-GB" sz="1600" dirty="0">
                          <a:solidFill>
                            <a:srgbClr val="002E56"/>
                          </a:solidFill>
                        </a:rPr>
                        <a:t> (MorCAP)</a:t>
                      </a:r>
                    </a:p>
                  </a:txBody>
                  <a:tcPr marL="177800" marR="177800" marT="101600" marB="101600" anchor="ctr">
                    <a:lnL w="12700">
                      <a:noFill/>
                    </a:lnL>
                    <a:lnR w="12700">
                      <a:noFill/>
                    </a:lnR>
                    <a:lnT w="12700">
                      <a:noFill/>
                    </a:lnT>
                    <a:lnB w="12700">
                      <a:solidFill>
                        <a:srgbClr val="28509C"/>
                      </a:solidFill>
                    </a:lnB>
                    <a:noFill/>
                  </a:tcPr>
                </a:tc>
                <a:extLst>
                  <a:ext uri="{0D108BD9-81ED-4DB2-BD59-A6C34878D82A}">
                    <a16:rowId xmlns:a16="http://schemas.microsoft.com/office/drawing/2014/main" val="10000"/>
                  </a:ext>
                </a:extLst>
              </a:tr>
              <a:tr h="812800">
                <a:tc>
                  <a:txBody>
                    <a:bodyPr/>
                    <a:lstStyle/>
                    <a:p>
                      <a:pPr algn="l"/>
                      <a:r>
                        <a:rPr lang="en-GB" sz="1600" b="1" dirty="0">
                          <a:solidFill>
                            <a:srgbClr val="002E56"/>
                          </a:solidFill>
                        </a:rPr>
                        <a:t>Endurance</a:t>
                      </a:r>
                    </a:p>
                  </a:txBody>
                  <a:tcPr marL="177800" marR="177800" marT="101600" marB="1016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600" dirty="0">
                          <a:solidFill>
                            <a:srgbClr val="2B2B2B"/>
                          </a:solidFill>
                        </a:rPr>
                        <a:t>Sustained improvement</a:t>
                      </a:r>
                    </a:p>
                  </a:txBody>
                  <a:tcPr marL="177800" marR="177800" marT="101600" marB="1016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solidFill>
                      <a:srgbClr val="E3EAF5"/>
                    </a:solidFill>
                  </a:tcPr>
                </a:tc>
                <a:tc>
                  <a:txBody>
                    <a:bodyPr/>
                    <a:lstStyle/>
                    <a:p>
                      <a:pPr algn="l"/>
                      <a:r>
                        <a:rPr lang="en-GB" sz="1600" dirty="0">
                          <a:solidFill>
                            <a:srgbClr val="2B2B2B"/>
                          </a:solidFill>
                        </a:rPr>
                        <a:t>Sustained deterioration</a:t>
                      </a:r>
                    </a:p>
                  </a:txBody>
                  <a:tcPr marL="177800" marR="177800" marT="101600" marB="1016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812800">
                <a:tc>
                  <a:txBody>
                    <a:bodyPr/>
                    <a:lstStyle/>
                    <a:p>
                      <a:pPr algn="l"/>
                      <a:r>
                        <a:rPr lang="en-GB" sz="1600" b="1" dirty="0">
                          <a:solidFill>
                            <a:srgbClr val="002E56"/>
                          </a:solidFill>
                        </a:rPr>
                        <a:t>Urinary KS</a:t>
                      </a:r>
                    </a:p>
                  </a:txBody>
                  <a:tcPr marL="177800" marR="177800" marT="101600" marB="1016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600" dirty="0">
                          <a:solidFill>
                            <a:srgbClr val="2B2B2B"/>
                          </a:solidFill>
                        </a:rPr>
                        <a:t>Sustained reduction</a:t>
                      </a:r>
                    </a:p>
                  </a:txBody>
                  <a:tcPr marL="177800" marR="177800" marT="101600" marB="1016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GB" sz="1600" dirty="0">
                          <a:solidFill>
                            <a:srgbClr val="2B2B2B"/>
                          </a:solidFill>
                        </a:rPr>
                        <a:t>Stable</a:t>
                      </a:r>
                    </a:p>
                  </a:txBody>
                  <a:tcPr marL="177800" marR="177800" marT="101600" marB="1016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812800">
                <a:tc>
                  <a:txBody>
                    <a:bodyPr/>
                    <a:lstStyle/>
                    <a:p>
                      <a:pPr algn="l"/>
                      <a:r>
                        <a:rPr lang="en-GB" sz="1600" b="1" dirty="0">
                          <a:solidFill>
                            <a:srgbClr val="002E56"/>
                          </a:solidFill>
                        </a:rPr>
                        <a:t>Respiratory function</a:t>
                      </a:r>
                    </a:p>
                  </a:txBody>
                  <a:tcPr marL="177800" marR="177800" marT="101600" marB="1016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600" dirty="0">
                          <a:solidFill>
                            <a:srgbClr val="2B2B2B"/>
                          </a:solidFill>
                        </a:rPr>
                        <a:t>Sustained increase in patients aged ≤14 and &gt;14 years</a:t>
                      </a:r>
                    </a:p>
                  </a:txBody>
                  <a:tcPr marL="177800" marR="177800" marT="101600" marB="1016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l"/>
                      <a:r>
                        <a:rPr lang="en-GB" sz="1600" dirty="0">
                          <a:solidFill>
                            <a:srgbClr val="2B2B2B"/>
                          </a:solidFill>
                        </a:rPr>
                        <a:t>Increase in patients aged ≤14 years; deterioration in patients &gt;14 years</a:t>
                      </a:r>
                    </a:p>
                  </a:txBody>
                  <a:tcPr marL="177800" marR="177800" marT="101600" marB="1016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bl>
          </a:graphicData>
        </a:graphic>
      </p:graphicFrame>
      <p:sp>
        <p:nvSpPr>
          <p:cNvPr id="303" name="Abbreviations"/>
          <p:cNvSpPr txBox="1"/>
          <p:nvPr/>
        </p:nvSpPr>
        <p:spPr>
          <a:xfrm>
            <a:off x="660400" y="5715000"/>
            <a:ext cx="10871200" cy="203200"/>
          </a:xfrm>
          <a:prstGeom prst="rect">
            <a:avLst/>
          </a:prstGeom>
          <a:noFill/>
        </p:spPr>
        <p:txBody>
          <a:bodyPr wrap="square" lIns="0" tIns="0" rIns="0" bIns="0" anchor="t">
            <a:noAutofit/>
          </a:bodyPr>
          <a:lstStyle/>
          <a:p>
            <a:pPr>
              <a:buNone/>
            </a:pPr>
            <a:r>
              <a:rPr lang="en-GB" sz="1100" i="1" dirty="0">
                <a:solidFill>
                  <a:srgbClr val="404040"/>
                </a:solidFill>
              </a:rPr>
              <a:t>KS, keratan sulfate; MorCAP, Morquio A Clinical Assessment Program</a:t>
            </a:r>
          </a:p>
        </p:txBody>
      </p:sp>
      <p:sp>
        <p:nvSpPr>
          <p:cNvPr id="304" name="References"/>
          <p:cNvSpPr txBox="1"/>
          <p:nvPr/>
        </p:nvSpPr>
        <p:spPr>
          <a:xfrm>
            <a:off x="660400" y="6019800"/>
            <a:ext cx="10871200" cy="203200"/>
          </a:xfrm>
          <a:prstGeom prst="rect">
            <a:avLst/>
          </a:prstGeom>
          <a:noFill/>
        </p:spPr>
        <p:txBody>
          <a:bodyPr wrap="square" lIns="0" tIns="0" rIns="0" bIns="0" anchor="t">
            <a:noAutofit/>
          </a:bodyPr>
          <a:lstStyle/>
          <a:p>
            <a:pPr>
              <a:buNone/>
            </a:pPr>
            <a:r>
              <a:rPr lang="en-GB" sz="900" dirty="0">
                <a:solidFill>
                  <a:srgbClr val="646464"/>
                </a:solidFill>
              </a:rPr>
              <a:t>1. Hendriksz CJ et al. Mol Genet Metab 2016;119:131–43. 2. Hendriksz CJ et al. J Inherit Metab Dis 2016;39:839–47.</a:t>
            </a:r>
          </a:p>
        </p:txBody>
      </p:sp>
    </p:spTree>
    <p:extLst>
      <p:ext uri="{BB962C8B-B14F-4D97-AF65-F5344CB8AC3E}">
        <p14:creationId xmlns:p14="http://schemas.microsoft.com/office/powerpoint/2010/main" val="25541607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Galsulfase clinical studies</a:t>
            </a:r>
            <a:endParaRPr lang="en-GB" dirty="0"/>
          </a:p>
        </p:txBody>
      </p:sp>
      <p:graphicFrame>
        <p:nvGraphicFramePr>
          <p:cNvPr id="302" name="Studies table"/>
          <p:cNvGraphicFramePr>
            <a:graphicFrameLocks noGrp="1"/>
          </p:cNvGraphicFramePr>
          <p:nvPr/>
        </p:nvGraphicFramePr>
        <p:xfrm>
          <a:off x="660400" y="1371600"/>
          <a:ext cx="10871200" cy="3764280"/>
        </p:xfrm>
        <a:graphic>
          <a:graphicData uri="http://schemas.openxmlformats.org/drawingml/2006/table">
            <a:tbl>
              <a:tblPr firstRow="1"/>
              <a:tblGrid>
                <a:gridCol w="16256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4986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tblGrid>
              <a:tr h="381000">
                <a:tc>
                  <a:txBody>
                    <a:bodyPr/>
                    <a:lstStyle/>
                    <a:p>
                      <a:pPr algn="l"/>
                      <a:r>
                        <a:rPr lang="en-GB" sz="1200" b="1" dirty="0">
                          <a:solidFill>
                            <a:srgbClr val="002E56"/>
                          </a:solidFill>
                        </a:rPr>
                        <a:t>Study</a:t>
                      </a:r>
                    </a:p>
                  </a:txBody>
                  <a:tcPr marL="63500" marR="63500" marT="38100" marB="38100" anchor="ctr">
                    <a:lnL w="12700">
                      <a:noFill/>
                    </a:lnL>
                    <a:lnR w="12700">
                      <a:noFill/>
                    </a:lnR>
                    <a:lnT w="12700">
                      <a:noFill/>
                    </a:lnT>
                    <a:lnB w="12700">
                      <a:solidFill>
                        <a:srgbClr val="28509C"/>
                      </a:solidFill>
                    </a:lnB>
                    <a:noFill/>
                  </a:tcPr>
                </a:tc>
                <a:tc>
                  <a:txBody>
                    <a:bodyPr/>
                    <a:lstStyle/>
                    <a:p>
                      <a:pPr algn="l"/>
                      <a:r>
                        <a:rPr lang="en-GB" sz="1200" b="1" dirty="0">
                          <a:solidFill>
                            <a:srgbClr val="002E56"/>
                          </a:solidFill>
                        </a:rPr>
                        <a:t>Type</a:t>
                      </a:r>
                    </a:p>
                  </a:txBody>
                  <a:tcPr marL="63500" marR="63500" marT="38100" marB="38100" anchor="ctr">
                    <a:lnL w="12700">
                      <a:noFill/>
                    </a:lnL>
                    <a:lnR w="12700">
                      <a:noFill/>
                    </a:lnR>
                    <a:lnT w="12700">
                      <a:noFill/>
                    </a:lnT>
                    <a:lnB w="12700">
                      <a:solidFill>
                        <a:srgbClr val="28509C"/>
                      </a:solidFill>
                    </a:lnB>
                    <a:noFill/>
                  </a:tcPr>
                </a:tc>
                <a:tc>
                  <a:txBody>
                    <a:bodyPr/>
                    <a:lstStyle/>
                    <a:p>
                      <a:pPr algn="r"/>
                      <a:r>
                        <a:rPr lang="en-GB" sz="1200" b="1" dirty="0">
                          <a:solidFill>
                            <a:srgbClr val="002E56"/>
                          </a:solidFill>
                        </a:rPr>
                        <a:t>Year</a:t>
                      </a:r>
                    </a:p>
                  </a:txBody>
                  <a:tcPr marL="63500" marR="63500" marT="38100" marB="38100" anchor="ctr">
                    <a:lnL w="12700">
                      <a:noFill/>
                    </a:lnL>
                    <a:lnR w="12700">
                      <a:noFill/>
                    </a:lnR>
                    <a:lnT w="12700">
                      <a:noFill/>
                    </a:lnT>
                    <a:lnB w="12700">
                      <a:solidFill>
                        <a:srgbClr val="28509C"/>
                      </a:solidFill>
                    </a:lnB>
                    <a:noFill/>
                  </a:tcPr>
                </a:tc>
                <a:tc>
                  <a:txBody>
                    <a:bodyPr/>
                    <a:lstStyle/>
                    <a:p>
                      <a:pPr algn="r"/>
                      <a:r>
                        <a:rPr lang="en-GB" sz="1200" b="1" dirty="0">
                          <a:solidFill>
                            <a:srgbClr val="002E56"/>
                          </a:solidFill>
                        </a:rPr>
                        <a:t>Patients enrolled (completed)</a:t>
                      </a:r>
                    </a:p>
                  </a:txBody>
                  <a:tcPr marL="63500" marR="63500" marT="38100" marB="38100" anchor="ctr">
                    <a:lnL w="12700">
                      <a:noFill/>
                    </a:lnL>
                    <a:lnR w="12700">
                      <a:noFill/>
                    </a:lnR>
                    <a:lnT w="12700">
                      <a:noFill/>
                    </a:lnT>
                    <a:lnB w="12700">
                      <a:solidFill>
                        <a:srgbClr val="28509C"/>
                      </a:solidFill>
                    </a:lnB>
                    <a:noFill/>
                  </a:tcPr>
                </a:tc>
                <a:tc>
                  <a:txBody>
                    <a:bodyPr/>
                    <a:lstStyle/>
                    <a:p>
                      <a:pPr algn="r"/>
                      <a:r>
                        <a:rPr lang="en-GB" sz="1200" b="1" dirty="0">
                          <a:solidFill>
                            <a:srgbClr val="002E56"/>
                          </a:solidFill>
                        </a:rPr>
                        <a:t>Duration</a:t>
                      </a:r>
                    </a:p>
                  </a:txBody>
                  <a:tcPr marL="63500" marR="63500" marT="38100" marB="38100" anchor="ctr">
                    <a:lnL w="12700">
                      <a:noFill/>
                    </a:lnL>
                    <a:lnR w="12700">
                      <a:noFill/>
                    </a:lnR>
                    <a:lnT w="12700">
                      <a:noFill/>
                    </a:lnT>
                    <a:lnB w="12700">
                      <a:solidFill>
                        <a:srgbClr val="28509C"/>
                      </a:solidFill>
                    </a:lnB>
                    <a:noFill/>
                  </a:tcPr>
                </a:tc>
                <a:tc>
                  <a:txBody>
                    <a:bodyPr/>
                    <a:lstStyle/>
                    <a:p>
                      <a:pPr algn="r"/>
                      <a:r>
                        <a:rPr lang="en-GB" sz="1200" b="1" dirty="0">
                          <a:solidFill>
                            <a:srgbClr val="002E56"/>
                          </a:solidFill>
                        </a:rPr>
                        <a:t>Refs</a:t>
                      </a:r>
                    </a:p>
                  </a:txBody>
                  <a:tcPr marL="63500" marR="63500" marT="38100" marB="38100" anchor="ctr">
                    <a:lnL w="12700">
                      <a:noFill/>
                    </a:lnL>
                    <a:lnR w="12700">
                      <a:noFill/>
                    </a:lnR>
                    <a:lnT w="12700">
                      <a:noFill/>
                    </a:lnT>
                    <a:lnB w="12700">
                      <a:solidFill>
                        <a:srgbClr val="28509C"/>
                      </a:solidFill>
                    </a:lnB>
                    <a:noFill/>
                  </a:tcPr>
                </a:tc>
                <a:extLst>
                  <a:ext uri="{0D108BD9-81ED-4DB2-BD59-A6C34878D82A}">
                    <a16:rowId xmlns:a16="http://schemas.microsoft.com/office/drawing/2014/main" val="10000"/>
                  </a:ext>
                </a:extLst>
              </a:tr>
              <a:tr h="406400">
                <a:tc>
                  <a:txBody>
                    <a:bodyPr/>
                    <a:lstStyle/>
                    <a:p>
                      <a:pPr algn="l"/>
                      <a:r>
                        <a:rPr lang="en-GB" sz="1200" b="1" dirty="0">
                          <a:solidFill>
                            <a:srgbClr val="28509C"/>
                          </a:solidFill>
                        </a:rPr>
                        <a:t>Phase 1/2</a:t>
                      </a:r>
                      <a:r>
                        <a:rPr lang="en-GB" sz="1200" b="1" baseline="30000" dirty="0">
                          <a:solidFill>
                            <a:srgbClr val="28509C"/>
                          </a:solidFill>
                        </a:rPr>
                        <a:t>a</a:t>
                      </a:r>
                    </a:p>
                  </a:txBody>
                  <a:tcPr marL="63500" marR="63500" marT="38100" marB="381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l"/>
                      <a:r>
                        <a:rPr lang="en-GB" sz="1200" dirty="0">
                          <a:solidFill>
                            <a:srgbClr val="2B2B2B"/>
                          </a:solidFill>
                        </a:rPr>
                        <a:t>Randomised, double-blind, dose-comparison / open-label extension</a:t>
                      </a:r>
                    </a:p>
                  </a:txBody>
                  <a:tcPr marL="63500" marR="63500" marT="38100" marB="381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2000–2005</a:t>
                      </a:r>
                    </a:p>
                  </a:txBody>
                  <a:tcPr marL="63500" marR="63500" marT="38100" marB="381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7 (5)</a:t>
                      </a:r>
                    </a:p>
                  </a:txBody>
                  <a:tcPr marL="63500" marR="63500" marT="38100" marB="381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240 weeks</a:t>
                      </a:r>
                    </a:p>
                  </a:txBody>
                  <a:tcPr marL="63500" marR="63500" marT="38100" marB="381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1,2</a:t>
                      </a:r>
                    </a:p>
                  </a:txBody>
                  <a:tcPr marL="63500" marR="63500" marT="38100" marB="381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1"/>
                  </a:ext>
                </a:extLst>
              </a:tr>
              <a:tr h="406400">
                <a:tc>
                  <a:txBody>
                    <a:bodyPr/>
                    <a:lstStyle/>
                    <a:p>
                      <a:pPr algn="l"/>
                      <a:r>
                        <a:rPr lang="en-GB" sz="1200" b="1" dirty="0">
                          <a:solidFill>
                            <a:srgbClr val="28509C"/>
                          </a:solidFill>
                        </a:rPr>
                        <a:t>Phase 2</a:t>
                      </a:r>
                      <a:r>
                        <a:rPr lang="en-GB" sz="1200" b="1" baseline="30000" dirty="0">
                          <a:solidFill>
                            <a:srgbClr val="28509C"/>
                          </a:solidFill>
                        </a:rPr>
                        <a:t>a</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200" dirty="0">
                          <a:solidFill>
                            <a:srgbClr val="2B2B2B"/>
                          </a:solidFill>
                        </a:rPr>
                        <a:t>Open-label</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2002–2006</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10 (10)</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144 weeks</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2,3</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406400">
                <a:tc>
                  <a:txBody>
                    <a:bodyPr/>
                    <a:lstStyle/>
                    <a:p>
                      <a:pPr algn="l"/>
                      <a:r>
                        <a:rPr lang="en-GB" sz="1200" b="1" dirty="0">
                          <a:solidFill>
                            <a:srgbClr val="28509C"/>
                          </a:solidFill>
                        </a:rPr>
                        <a:t>Phase 3</a:t>
                      </a:r>
                      <a:r>
                        <a:rPr lang="en-GB" sz="1200" b="1" baseline="30000" dirty="0">
                          <a:solidFill>
                            <a:srgbClr val="28509C"/>
                          </a:solidFill>
                        </a:rPr>
                        <a:t>a</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200" dirty="0">
                          <a:solidFill>
                            <a:srgbClr val="2B2B2B"/>
                          </a:solidFill>
                        </a:rPr>
                        <a:t>Randomised, double-blind, placebo-controlled / open-label extension</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2003–2006</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39 (38)</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96 weeks</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2,4</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406400">
                <a:tc>
                  <a:txBody>
                    <a:bodyPr/>
                    <a:lstStyle/>
                    <a:p>
                      <a:pPr algn="l"/>
                      <a:r>
                        <a:rPr lang="en-GB" sz="1200" b="1" dirty="0">
                          <a:solidFill>
                            <a:srgbClr val="28509C"/>
                          </a:solidFill>
                        </a:rPr>
                        <a:t>Phase 4</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200" dirty="0">
                          <a:solidFill>
                            <a:srgbClr val="2B2B2B"/>
                          </a:solidFill>
                        </a:rPr>
                        <a:t>Open-label, dose-comparison (age 3.3–12.7 months)</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2012</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4 (4)</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1–3 years</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5</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4"/>
                  </a:ext>
                </a:extLst>
              </a:tr>
              <a:tr h="406400">
                <a:tc>
                  <a:txBody>
                    <a:bodyPr/>
                    <a:lstStyle/>
                    <a:p>
                      <a:pPr algn="l"/>
                      <a:r>
                        <a:rPr lang="en-GB" sz="1200" b="1" dirty="0">
                          <a:solidFill>
                            <a:srgbClr val="28509C"/>
                          </a:solidFill>
                        </a:rPr>
                        <a:t>CSP</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200" dirty="0">
                          <a:solidFill>
                            <a:srgbClr val="2B2B2B"/>
                          </a:solidFill>
                        </a:rPr>
                        <a:t>Observational</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2005–ongoing</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223 (107)ᵇ</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Ongoing</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6</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5"/>
                  </a:ext>
                </a:extLst>
              </a:tr>
              <a:tr h="406400">
                <a:tc>
                  <a:txBody>
                    <a:bodyPr/>
                    <a:lstStyle/>
                    <a:p>
                      <a:pPr algn="l"/>
                      <a:r>
                        <a:rPr lang="en-GB" sz="1200" b="1" dirty="0">
                          <a:solidFill>
                            <a:srgbClr val="28509C"/>
                          </a:solidFill>
                        </a:rPr>
                        <a:t>Survey Study</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200" dirty="0">
                          <a:solidFill>
                            <a:srgbClr val="2B2B2B"/>
                          </a:solidFill>
                        </a:rPr>
                        <a:t>Cross-sectional</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2002</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123 (121)</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Baseline</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7</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6"/>
                  </a:ext>
                </a:extLst>
              </a:tr>
              <a:tr h="406400">
                <a:tc>
                  <a:txBody>
                    <a:bodyPr/>
                    <a:lstStyle/>
                    <a:p>
                      <a:pPr algn="l"/>
                      <a:r>
                        <a:rPr lang="en-GB" sz="1200" b="1" dirty="0">
                          <a:solidFill>
                            <a:srgbClr val="28509C"/>
                          </a:solidFill>
                        </a:rPr>
                        <a:t>Resurvey Study</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200" dirty="0">
                          <a:solidFill>
                            <a:srgbClr val="2B2B2B"/>
                          </a:solidFill>
                        </a:rPr>
                        <a:t>10-year follow-up of Survey Study</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2012</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59 (efficacy); 117 (survival)</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10-year follow-up</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8</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7"/>
                  </a:ext>
                </a:extLst>
              </a:tr>
              <a:tr h="406400">
                <a:tc>
                  <a:txBody>
                    <a:bodyPr/>
                    <a:lstStyle/>
                    <a:p>
                      <a:pPr algn="l"/>
                      <a:r>
                        <a:rPr lang="en-GB" sz="1200" b="1" dirty="0">
                          <a:solidFill>
                            <a:srgbClr val="28509C"/>
                          </a:solidFill>
                        </a:rPr>
                        <a:t>Follow-up study</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l"/>
                      <a:r>
                        <a:rPr lang="en-GB" sz="1200" dirty="0">
                          <a:solidFill>
                            <a:srgbClr val="2B2B2B"/>
                          </a:solidFill>
                        </a:rPr>
                        <a:t>15-year follow-up of Survey Study</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2018</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121 (111)</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15-year follow-up</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200" dirty="0">
                          <a:solidFill>
                            <a:srgbClr val="2B2B2B"/>
                          </a:solidFill>
                        </a:rPr>
                        <a:t>9</a:t>
                      </a:r>
                    </a:p>
                  </a:txBody>
                  <a:tcPr marL="63500" marR="63500" marT="38100" marB="381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8"/>
                  </a:ext>
                </a:extLst>
              </a:tr>
            </a:tbl>
          </a:graphicData>
        </a:graphic>
      </p:graphicFrame>
      <p:sp>
        <p:nvSpPr>
          <p:cNvPr id="303" name="Abbreviations"/>
          <p:cNvSpPr txBox="1"/>
          <p:nvPr/>
        </p:nvSpPr>
        <p:spPr>
          <a:xfrm>
            <a:off x="660400" y="5232400"/>
            <a:ext cx="10871200" cy="381000"/>
          </a:xfrm>
          <a:prstGeom prst="rect">
            <a:avLst/>
          </a:prstGeom>
          <a:noFill/>
        </p:spPr>
        <p:txBody>
          <a:bodyPr wrap="square" lIns="0" tIns="0" rIns="0" bIns="0" anchor="b">
            <a:noAutofit/>
          </a:bodyPr>
          <a:lstStyle/>
          <a:p>
            <a:pPr>
              <a:buNone/>
            </a:pPr>
            <a:r>
              <a:rPr lang="en-GB" sz="1000" i="1" dirty="0">
                <a:solidFill>
                  <a:srgbClr val="404040"/>
                </a:solidFill>
              </a:rPr>
              <a:t>a. Phase 1/2, 2 and 3 trials had open-label extension phases up to 240 weeks. b. Of 223 patients enrolled in CSP, 107 had high- or low-baseline uGAG levels and received treatment for at least 6 months. CSP, Clinical Surveillance Programme; uGAG, urinary glycosaminoglycans</a:t>
            </a:r>
          </a:p>
        </p:txBody>
      </p:sp>
      <p:sp>
        <p:nvSpPr>
          <p:cNvPr id="304" name="References"/>
          <p:cNvSpPr txBox="1"/>
          <p:nvPr/>
        </p:nvSpPr>
        <p:spPr>
          <a:xfrm>
            <a:off x="660400" y="5689600"/>
            <a:ext cx="10871200" cy="711200"/>
          </a:xfrm>
          <a:prstGeom prst="rect">
            <a:avLst/>
          </a:prstGeom>
          <a:noFill/>
        </p:spPr>
        <p:txBody>
          <a:bodyPr wrap="square" lIns="0" tIns="0" rIns="0" bIns="0" anchor="t">
            <a:noAutofit/>
          </a:bodyPr>
          <a:lstStyle/>
          <a:p>
            <a:pPr>
              <a:buNone/>
            </a:pPr>
            <a:r>
              <a:rPr lang="en-GB" sz="900" dirty="0">
                <a:solidFill>
                  <a:srgbClr val="646464"/>
                </a:solidFill>
              </a:rPr>
              <a:t>1. Harmatz P et al. J Pediatr 2004;144:574–80. 2. Harmatz P et al. Mol Genet Metab 2008;94:469–75. 3. Harmatz P et al. Pediatrics 2005;115:e681–9. 4. Harmatz P et al. J Pediatr 2006;148:533–9. 5. Harmatz PR et al. J Inherit Metab Dis 2014;37:277–87. 6. Harmatz P et al. J Inherit Metab Dis 2019;1–8. 7. Swiedler SJ et al. Am J Med Genet A 2005;134A:144–50. 8. Giugliani R et al. Am J Med Genet A 2014;164A:1953–64. 9. Quartel A et al. J Inborn Errors Metab Screen 2018;6:1–6.</a:t>
            </a:r>
          </a:p>
        </p:txBody>
      </p:sp>
    </p:spTree>
    <p:extLst>
      <p:ext uri="{BB962C8B-B14F-4D97-AF65-F5344CB8AC3E}">
        <p14:creationId xmlns:p14="http://schemas.microsoft.com/office/powerpoint/2010/main" val="14272050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3A649D-F114-0651-02B2-6A3D13DB6A01}"/>
              </a:ext>
            </a:extLst>
          </p:cNvPr>
          <p:cNvPicPr>
            <a:picLocks noChangeAspect="1"/>
          </p:cNvPicPr>
          <p:nvPr/>
        </p:nvPicPr>
        <p:blipFill>
          <a:blip r:embed="rId2"/>
          <a:srcRect t="6000" r="51000" b="10000"/>
          <a:stretch>
            <a:fillRect/>
          </a:stretch>
        </p:blipFill>
        <p:spPr>
          <a:xfrm>
            <a:off x="609600" y="1574800"/>
            <a:ext cx="4978400" cy="3289300"/>
          </a:xfrm>
          <a:prstGeom prst="rect">
            <a:avLst/>
          </a:prstGeom>
        </p:spPr>
      </p:pic>
      <p:graphicFrame>
        <p:nvGraphicFramePr>
          <p:cNvPr id="4" name="Age table">
            <a:extLst>
              <a:ext uri="{FF2B5EF4-FFF2-40B4-BE49-F238E27FC236}">
                <a16:creationId xmlns:a16="http://schemas.microsoft.com/office/drawing/2014/main" id="{99717F9D-98DE-C981-E0A9-1AF4EAD7C78D}"/>
              </a:ext>
            </a:extLst>
          </p:cNvPr>
          <p:cNvGraphicFramePr>
            <a:graphicFrameLocks noGrp="1"/>
          </p:cNvGraphicFramePr>
          <p:nvPr/>
        </p:nvGraphicFramePr>
        <p:xfrm>
          <a:off x="5842000" y="1574800"/>
          <a:ext cx="5689600" cy="2941320"/>
        </p:xfrm>
        <a:graphic>
          <a:graphicData uri="http://schemas.openxmlformats.org/drawingml/2006/table">
            <a:tbl>
              <a:tblPr firstRow="1"/>
              <a:tblGrid>
                <a:gridCol w="15240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1041400">
                  <a:extLst>
                    <a:ext uri="{9D8B030D-6E8A-4147-A177-3AD203B41FA5}">
                      <a16:colId xmlns:a16="http://schemas.microsoft.com/office/drawing/2014/main" val="20002"/>
                    </a:ext>
                  </a:extLst>
                </a:gridCol>
                <a:gridCol w="1041400">
                  <a:extLst>
                    <a:ext uri="{9D8B030D-6E8A-4147-A177-3AD203B41FA5}">
                      <a16:colId xmlns:a16="http://schemas.microsoft.com/office/drawing/2014/main" val="20003"/>
                    </a:ext>
                  </a:extLst>
                </a:gridCol>
                <a:gridCol w="1041400">
                  <a:extLst>
                    <a:ext uri="{9D8B030D-6E8A-4147-A177-3AD203B41FA5}">
                      <a16:colId xmlns:a16="http://schemas.microsoft.com/office/drawing/2014/main" val="20004"/>
                    </a:ext>
                  </a:extLst>
                </a:gridCol>
              </a:tblGrid>
              <a:tr h="355600">
                <a:tc>
                  <a:txBody>
                    <a:bodyPr/>
                    <a:lstStyle/>
                    <a:p>
                      <a:pPr algn="l"/>
                      <a:endParaRPr/>
                    </a:p>
                  </a:txBody>
                  <a:tcPr marL="76200" marR="76200" marT="63500" marB="63500" anchor="ctr">
                    <a:lnL w="12700">
                      <a:noFill/>
                    </a:lnL>
                    <a:lnR w="12700">
                      <a:noFill/>
                    </a:lnR>
                    <a:lnT w="12700">
                      <a:noFill/>
                    </a:lnT>
                    <a:lnB w="9525">
                      <a:solidFill>
                        <a:srgbClr val="E0E0E0"/>
                      </a:solidFill>
                    </a:lnB>
                    <a:noFill/>
                  </a:tcPr>
                </a:tc>
                <a:tc gridSpan="2">
                  <a:txBody>
                    <a:bodyPr/>
                    <a:lstStyle/>
                    <a:p>
                      <a:pPr algn="ctr"/>
                      <a:r>
                        <a:rPr lang="en-GB" sz="1400" b="1" dirty="0">
                          <a:solidFill>
                            <a:srgbClr val="28509C"/>
                          </a:solidFill>
                        </a:rPr>
                        <a:t>ERT group</a:t>
                      </a:r>
                    </a:p>
                  </a:txBody>
                  <a:tcPr marL="76200" marR="76200" marT="63500" marB="63500" anchor="ctr">
                    <a:lnL w="12700">
                      <a:noFill/>
                    </a:lnL>
                    <a:lnR w="12700">
                      <a:noFill/>
                    </a:lnR>
                    <a:lnT w="12700">
                      <a:noFill/>
                    </a:lnT>
                    <a:lnB w="9525">
                      <a:solidFill>
                        <a:srgbClr val="E0E0E0"/>
                      </a:solidFill>
                    </a:lnB>
                    <a:solidFill>
                      <a:srgbClr val="E3EAF5"/>
                    </a:solidFill>
                  </a:tcPr>
                </a:tc>
                <a:tc hMerge="1">
                  <a:txBody>
                    <a:bodyPr/>
                    <a:lstStyle/>
                    <a:p>
                      <a:pPr algn="l"/>
                      <a:endParaRPr/>
                    </a:p>
                  </a:txBody>
                  <a:tcPr marL="76200" marR="76200" marT="63500" marB="63500" anchor="ctr">
                    <a:lnL w="12700">
                      <a:noFill/>
                    </a:lnL>
                    <a:lnR w="12700">
                      <a:noFill/>
                    </a:lnR>
                    <a:lnT w="12700">
                      <a:noFill/>
                    </a:lnT>
                    <a:lnB w="9525">
                      <a:solidFill>
                        <a:srgbClr val="E0E0E0"/>
                      </a:solidFill>
                    </a:lnB>
                    <a:noFill/>
                  </a:tcPr>
                </a:tc>
                <a:tc gridSpan="2">
                  <a:txBody>
                    <a:bodyPr/>
                    <a:lstStyle/>
                    <a:p>
                      <a:pPr algn="ctr"/>
                      <a:r>
                        <a:rPr lang="en-GB" sz="1400" b="1" dirty="0">
                          <a:solidFill>
                            <a:srgbClr val="002E56"/>
                          </a:solidFill>
                        </a:rPr>
                        <a:t>ERT-naïve group</a:t>
                      </a:r>
                    </a:p>
                  </a:txBody>
                  <a:tcPr marL="76200" marR="76200" marT="63500" marB="63500" anchor="ctr">
                    <a:lnL w="12700">
                      <a:noFill/>
                    </a:lnL>
                    <a:lnR w="12700">
                      <a:noFill/>
                    </a:lnR>
                    <a:lnT w="12700">
                      <a:noFill/>
                    </a:lnT>
                    <a:lnB w="9525">
                      <a:solidFill>
                        <a:srgbClr val="E0E0E0"/>
                      </a:solidFill>
                    </a:lnB>
                    <a:noFill/>
                  </a:tcPr>
                </a:tc>
                <a:tc hMerge="1">
                  <a:txBody>
                    <a:bodyPr/>
                    <a:lstStyle/>
                    <a:p>
                      <a:pPr algn="l"/>
                      <a:endParaRPr/>
                    </a:p>
                  </a:txBody>
                  <a:tcPr marL="76200" marR="76200" marT="63500" marB="63500" anchor="ctr">
                    <a:lnL w="12700">
                      <a:noFill/>
                    </a:lnL>
                    <a:lnR w="12700">
                      <a:noFill/>
                    </a:lnR>
                    <a:lnT w="12700">
                      <a:noFill/>
                    </a:lnT>
                    <a:lnB w="9525">
                      <a:solidFill>
                        <a:srgbClr val="E0E0E0"/>
                      </a:solidFill>
                    </a:lnB>
                    <a:noFill/>
                  </a:tcPr>
                </a:tc>
                <a:extLst>
                  <a:ext uri="{0D108BD9-81ED-4DB2-BD59-A6C34878D82A}">
                    <a16:rowId xmlns:a16="http://schemas.microsoft.com/office/drawing/2014/main" val="10000"/>
                  </a:ext>
                </a:extLst>
              </a:tr>
              <a:tr h="508000">
                <a:tc>
                  <a:txBody>
                    <a:bodyPr/>
                    <a:lstStyle/>
                    <a:p>
                      <a:pPr algn="l"/>
                      <a:r>
                        <a:rPr lang="en-GB" sz="1200" b="1" dirty="0">
                          <a:solidFill>
                            <a:srgbClr val="002E56"/>
                          </a:solidFill>
                        </a:rPr>
                        <a:t>Age group</a:t>
                      </a:r>
                    </a:p>
                  </a:txBody>
                  <a:tcPr marL="76200" marR="76200" marT="63500" marB="63500" anchor="b">
                    <a:lnL w="12700">
                      <a:noFill/>
                    </a:lnL>
                    <a:lnR w="12700">
                      <a:noFill/>
                    </a:lnR>
                    <a:lnT w="9525" cap="flat" cmpd="sng" algn="ctr">
                      <a:solidFill>
                        <a:srgbClr val="E0E0E0"/>
                      </a:solidFill>
                      <a:prstDash val="solid"/>
                      <a:round/>
                      <a:headEnd type="none" w="med" len="med"/>
                      <a:tailEnd type="none" w="med" len="med"/>
                    </a:lnT>
                    <a:lnB w="12700">
                      <a:solidFill>
                        <a:srgbClr val="28509C"/>
                      </a:solidFill>
                    </a:lnB>
                    <a:noFill/>
                  </a:tcPr>
                </a:tc>
                <a:tc>
                  <a:txBody>
                    <a:bodyPr/>
                    <a:lstStyle/>
                    <a:p>
                      <a:pPr algn="r"/>
                      <a:r>
                        <a:rPr lang="en-GB" sz="1200" b="1" dirty="0">
                          <a:solidFill>
                            <a:srgbClr val="002E56"/>
                          </a:solidFill>
                        </a:rPr>
                        <a:t>Baseline</a:t>
                      </a:r>
                    </a:p>
                  </a:txBody>
                  <a:tcPr marL="76200" marR="76200" marT="63500" marB="63500" anchor="b">
                    <a:lnL w="12700">
                      <a:noFill/>
                    </a:lnL>
                    <a:lnR w="12700">
                      <a:noFill/>
                    </a:lnR>
                    <a:lnT w="9525" cap="flat" cmpd="sng" algn="ctr">
                      <a:solidFill>
                        <a:srgbClr val="E0E0E0"/>
                      </a:solidFill>
                      <a:prstDash val="solid"/>
                      <a:round/>
                      <a:headEnd type="none" w="med" len="med"/>
                      <a:tailEnd type="none" w="med" len="med"/>
                    </a:lnT>
                    <a:lnB w="12700">
                      <a:solidFill>
                        <a:srgbClr val="28509C"/>
                      </a:solidFill>
                    </a:lnB>
                    <a:solidFill>
                      <a:srgbClr val="E3EAF5"/>
                    </a:solidFill>
                  </a:tcPr>
                </a:tc>
                <a:tc>
                  <a:txBody>
                    <a:bodyPr/>
                    <a:lstStyle/>
                    <a:p>
                      <a:pPr algn="r"/>
                      <a:r>
                        <a:rPr lang="en-GB" sz="1200" b="1" dirty="0">
                          <a:solidFill>
                            <a:srgbClr val="002E56"/>
                          </a:solidFill>
                        </a:rPr>
                        <a:t>Follow-up</a:t>
                      </a:r>
                    </a:p>
                  </a:txBody>
                  <a:tcPr marL="76200" marR="76200" marT="63500" marB="63500" anchor="b">
                    <a:lnL w="12700">
                      <a:noFill/>
                    </a:lnL>
                    <a:lnR w="12700">
                      <a:noFill/>
                    </a:lnR>
                    <a:lnT w="12700">
                      <a:noFill/>
                    </a:lnT>
                    <a:lnB w="12700">
                      <a:solidFill>
                        <a:srgbClr val="28509C"/>
                      </a:solidFill>
                    </a:lnB>
                    <a:solidFill>
                      <a:srgbClr val="E3EAF5"/>
                    </a:solidFill>
                  </a:tcPr>
                </a:tc>
                <a:tc>
                  <a:txBody>
                    <a:bodyPr/>
                    <a:lstStyle/>
                    <a:p>
                      <a:pPr algn="r"/>
                      <a:r>
                        <a:rPr lang="en-GB" sz="1200" b="1" dirty="0">
                          <a:solidFill>
                            <a:srgbClr val="002E56"/>
                          </a:solidFill>
                        </a:rPr>
                        <a:t>Baseline</a:t>
                      </a:r>
                    </a:p>
                  </a:txBody>
                  <a:tcPr marL="76200" marR="76200" marT="63500" marB="63500" anchor="b">
                    <a:lnL w="12700">
                      <a:noFill/>
                    </a:lnL>
                    <a:lnR w="12700">
                      <a:noFill/>
                    </a:lnR>
                    <a:lnT w="9525" cap="flat" cmpd="sng" algn="ctr">
                      <a:solidFill>
                        <a:srgbClr val="E0E0E0"/>
                      </a:solidFill>
                      <a:prstDash val="solid"/>
                      <a:round/>
                      <a:headEnd type="none" w="med" len="med"/>
                      <a:tailEnd type="none" w="med" len="med"/>
                    </a:lnT>
                    <a:lnB w="12700">
                      <a:solidFill>
                        <a:srgbClr val="28509C"/>
                      </a:solidFill>
                    </a:lnB>
                    <a:noFill/>
                  </a:tcPr>
                </a:tc>
                <a:tc>
                  <a:txBody>
                    <a:bodyPr/>
                    <a:lstStyle/>
                    <a:p>
                      <a:pPr algn="r"/>
                      <a:r>
                        <a:rPr lang="en-GB" sz="1200" b="1" dirty="0">
                          <a:solidFill>
                            <a:srgbClr val="002E56"/>
                          </a:solidFill>
                        </a:rPr>
                        <a:t>Follow-up</a:t>
                      </a:r>
                    </a:p>
                  </a:txBody>
                  <a:tcPr marL="76200" marR="76200" marT="63500" marB="63500" anchor="b">
                    <a:lnL w="12700">
                      <a:noFill/>
                    </a:lnL>
                    <a:lnR w="12700">
                      <a:noFill/>
                    </a:lnR>
                    <a:lnT w="12700">
                      <a:noFill/>
                    </a:lnT>
                    <a:lnB w="12700">
                      <a:solidFill>
                        <a:srgbClr val="28509C"/>
                      </a:solidFill>
                    </a:lnB>
                    <a:noFill/>
                  </a:tcPr>
                </a:tc>
                <a:extLst>
                  <a:ext uri="{0D108BD9-81ED-4DB2-BD59-A6C34878D82A}">
                    <a16:rowId xmlns:a16="http://schemas.microsoft.com/office/drawing/2014/main" val="10001"/>
                  </a:ext>
                </a:extLst>
              </a:tr>
              <a:tr h="508000">
                <a:tc>
                  <a:txBody>
                    <a:bodyPr/>
                    <a:lstStyle/>
                    <a:p>
                      <a:pPr algn="l"/>
                      <a:r>
                        <a:rPr lang="en-GB" sz="1400" b="1" dirty="0">
                          <a:solidFill>
                            <a:srgbClr val="002E56"/>
                          </a:solidFill>
                        </a:rPr>
                        <a:t>4–12 years</a:t>
                      </a:r>
                    </a:p>
                  </a:txBody>
                  <a:tcPr marL="76200" marR="76200" marT="63500" marB="635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33</a:t>
                      </a:r>
                    </a:p>
                  </a:txBody>
                  <a:tcPr marL="76200" marR="76200" marT="63500" marB="635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solidFill>
                      <a:srgbClr val="E3EAF5"/>
                    </a:solidFill>
                  </a:tcPr>
                </a:tc>
                <a:tc>
                  <a:txBody>
                    <a:bodyPr/>
                    <a:lstStyle/>
                    <a:p>
                      <a:pPr algn="r"/>
                      <a:r>
                        <a:rPr lang="en-GB" sz="1400" dirty="0">
                          <a:solidFill>
                            <a:srgbClr val="2B2B2B"/>
                          </a:solidFill>
                        </a:rPr>
                        <a:t>0</a:t>
                      </a:r>
                    </a:p>
                  </a:txBody>
                  <a:tcPr marL="76200" marR="76200" marT="63500" marB="635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solidFill>
                      <a:srgbClr val="E3EAF5"/>
                    </a:solidFill>
                  </a:tcPr>
                </a:tc>
                <a:tc>
                  <a:txBody>
                    <a:bodyPr/>
                    <a:lstStyle/>
                    <a:p>
                      <a:pPr algn="r"/>
                      <a:r>
                        <a:rPr lang="en-GB" sz="1400" dirty="0">
                          <a:solidFill>
                            <a:srgbClr val="2B2B2B"/>
                          </a:solidFill>
                        </a:rPr>
                        <a:t>0</a:t>
                      </a:r>
                    </a:p>
                  </a:txBody>
                  <a:tcPr marL="76200" marR="76200" marT="63500" marB="635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0</a:t>
                      </a:r>
                    </a:p>
                  </a:txBody>
                  <a:tcPr marL="76200" marR="76200" marT="63500" marB="63500" anchor="ctr">
                    <a:lnL w="12700">
                      <a:noFill/>
                    </a:lnL>
                    <a:lnR w="12700">
                      <a:noFill/>
                    </a:lnR>
                    <a:lnT w="12700" cap="flat" cmpd="sng" algn="ctr">
                      <a:solidFill>
                        <a:srgbClr val="28509C"/>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2"/>
                  </a:ext>
                </a:extLst>
              </a:tr>
              <a:tr h="508000">
                <a:tc>
                  <a:txBody>
                    <a:bodyPr/>
                    <a:lstStyle/>
                    <a:p>
                      <a:pPr algn="l"/>
                      <a:r>
                        <a:rPr lang="en-GB" sz="1400" b="1" dirty="0">
                          <a:solidFill>
                            <a:srgbClr val="002E56"/>
                          </a:solidFill>
                        </a:rPr>
                        <a:t>13–18 years</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10</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r"/>
                      <a:r>
                        <a:rPr lang="en-GB" sz="1400" dirty="0">
                          <a:solidFill>
                            <a:srgbClr val="2B2B2B"/>
                          </a:solidFill>
                        </a:rPr>
                        <a:t>22</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r"/>
                      <a:r>
                        <a:rPr lang="en-GB" sz="1400" dirty="0">
                          <a:solidFill>
                            <a:srgbClr val="2B2B2B"/>
                          </a:solidFill>
                        </a:rPr>
                        <a:t>0</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0</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3"/>
                  </a:ext>
                </a:extLst>
              </a:tr>
              <a:tr h="508000">
                <a:tc>
                  <a:txBody>
                    <a:bodyPr/>
                    <a:lstStyle/>
                    <a:p>
                      <a:pPr algn="l"/>
                      <a:r>
                        <a:rPr lang="en-GB" sz="1400" b="1" dirty="0">
                          <a:solidFill>
                            <a:srgbClr val="002E56"/>
                          </a:solidFill>
                        </a:rPr>
                        <a:t>19–24 years</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8</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r"/>
                      <a:r>
                        <a:rPr lang="en-GB" sz="1400" dirty="0">
                          <a:solidFill>
                            <a:srgbClr val="2B2B2B"/>
                          </a:solidFill>
                        </a:rPr>
                        <a:t>14</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r"/>
                      <a:r>
                        <a:rPr lang="en-GB" sz="1400" dirty="0">
                          <a:solidFill>
                            <a:srgbClr val="2B2B2B"/>
                          </a:solidFill>
                        </a:rPr>
                        <a:t>1</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0</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4"/>
                  </a:ext>
                </a:extLst>
              </a:tr>
              <a:tr h="508000">
                <a:tc>
                  <a:txBody>
                    <a:bodyPr/>
                    <a:lstStyle/>
                    <a:p>
                      <a:pPr algn="l"/>
                      <a:r>
                        <a:rPr lang="en-GB" sz="1400" b="1" dirty="0">
                          <a:solidFill>
                            <a:srgbClr val="002E56"/>
                          </a:solidFill>
                        </a:rPr>
                        <a:t>≥25 years</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4</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r"/>
                      <a:r>
                        <a:rPr lang="en-GB" sz="1400" dirty="0">
                          <a:solidFill>
                            <a:srgbClr val="2B2B2B"/>
                          </a:solidFill>
                        </a:rPr>
                        <a:t>19</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solidFill>
                      <a:srgbClr val="E3EAF5"/>
                    </a:solidFill>
                  </a:tcPr>
                </a:tc>
                <a:tc>
                  <a:txBody>
                    <a:bodyPr/>
                    <a:lstStyle/>
                    <a:p>
                      <a:pPr algn="r"/>
                      <a:r>
                        <a:rPr lang="en-GB" sz="1400" dirty="0">
                          <a:solidFill>
                            <a:srgbClr val="2B2B2B"/>
                          </a:solidFill>
                        </a:rPr>
                        <a:t>3</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pPr algn="r"/>
                      <a:r>
                        <a:rPr lang="en-GB" sz="1400" dirty="0">
                          <a:solidFill>
                            <a:srgbClr val="2B2B2B"/>
                          </a:solidFill>
                        </a:rPr>
                        <a:t>4</a:t>
                      </a:r>
                    </a:p>
                  </a:txBody>
                  <a:tcPr marL="76200" marR="76200" marT="63500" marB="63500" anchor="ctr">
                    <a:lnL w="12700">
                      <a:noFill/>
                    </a:lnL>
                    <a:lnR w="12700">
                      <a:noFill/>
                    </a:lnR>
                    <a:lnT w="9525" cap="flat" cmpd="sng" algn="ctr">
                      <a:solidFill>
                        <a:srgbClr val="E0E0E0"/>
                      </a:solidFill>
                      <a:prstDash val="solid"/>
                      <a:round/>
                      <a:headEnd type="none" w="med" len="med"/>
                      <a:tailEnd type="none" w="med" len="med"/>
                    </a:lnT>
                    <a:lnB w="9525">
                      <a:solidFill>
                        <a:srgbClr val="E0E0E0"/>
                      </a:solidFill>
                    </a:lnB>
                    <a:noFill/>
                  </a:tcPr>
                </a:tc>
                <a:extLst>
                  <a:ext uri="{0D108BD9-81ED-4DB2-BD59-A6C34878D82A}">
                    <a16:rowId xmlns:a16="http://schemas.microsoft.com/office/drawing/2014/main" val="10005"/>
                  </a:ext>
                </a:extLst>
              </a:tr>
            </a:tbl>
          </a:graphicData>
        </a:graphic>
      </p:graphicFrame>
      <p:sp>
        <p:nvSpPr>
          <p:cNvPr id="5" name="Caption">
            <a:extLst>
              <a:ext uri="{FF2B5EF4-FFF2-40B4-BE49-F238E27FC236}">
                <a16:creationId xmlns:a16="http://schemas.microsoft.com/office/drawing/2014/main" id="{999449CC-B0CC-322D-B4FB-CB789B502555}"/>
              </a:ext>
            </a:extLst>
          </p:cNvPr>
          <p:cNvSpPr txBox="1"/>
          <p:nvPr/>
        </p:nvSpPr>
        <p:spPr>
          <a:xfrm>
            <a:off x="5842000" y="4597400"/>
            <a:ext cx="5689600" cy="508000"/>
          </a:xfrm>
          <a:prstGeom prst="rect">
            <a:avLst/>
          </a:prstGeom>
          <a:noFill/>
        </p:spPr>
        <p:txBody>
          <a:bodyPr wrap="square" lIns="0" tIns="0" rIns="0" bIns="0" anchor="t">
            <a:noAutofit/>
          </a:bodyPr>
          <a:lstStyle/>
          <a:p>
            <a:pPr>
              <a:buNone/>
            </a:pPr>
            <a:r>
              <a:rPr lang="en-GB" sz="1200" dirty="0">
                <a:solidFill>
                  <a:srgbClr val="646464"/>
                </a:solidFill>
              </a:rPr>
              <a:t>Number of patients by age group at baseline and at follow-up</a:t>
            </a:r>
          </a:p>
        </p:txBody>
      </p:sp>
      <p:sp>
        <p:nvSpPr>
          <p:cNvPr id="6" name="References">
            <a:extLst>
              <a:ext uri="{FF2B5EF4-FFF2-40B4-BE49-F238E27FC236}">
                <a16:creationId xmlns:a16="http://schemas.microsoft.com/office/drawing/2014/main" id="{247F59B5-FD4D-DD75-B5B3-3C138DB36F05}"/>
              </a:ext>
            </a:extLst>
          </p:cNvPr>
          <p:cNvSpPr txBox="1"/>
          <p:nvPr/>
        </p:nvSpPr>
        <p:spPr>
          <a:xfrm>
            <a:off x="660400" y="6070600"/>
            <a:ext cx="10871200" cy="203200"/>
          </a:xfrm>
          <a:prstGeom prst="rect">
            <a:avLst/>
          </a:prstGeom>
          <a:noFill/>
        </p:spPr>
        <p:txBody>
          <a:bodyPr wrap="square" lIns="0" tIns="0" rIns="0" bIns="0" anchor="t">
            <a:noAutofit/>
          </a:bodyPr>
          <a:lstStyle/>
          <a:p>
            <a:pPr>
              <a:buNone/>
            </a:pPr>
            <a:r>
              <a:rPr lang="en-GB" sz="900" dirty="0">
                <a:solidFill>
                  <a:srgbClr val="646464"/>
                </a:solidFill>
              </a:rPr>
              <a:t>1. Giugliani R et al. Am J Med Genet A 2014;164A:1953–64.</a:t>
            </a:r>
          </a:p>
        </p:txBody>
      </p:sp>
    </p:spTree>
    <p:extLst>
      <p:ext uri="{BB962C8B-B14F-4D97-AF65-F5344CB8AC3E}">
        <p14:creationId xmlns:p14="http://schemas.microsoft.com/office/powerpoint/2010/main" val="14735375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MPS VI Survey Study: urinary GAG levels and disease severity</a:t>
            </a:r>
            <a:endParaRPr lang="en-GB" dirty="0"/>
          </a:p>
        </p:txBody>
      </p:sp>
      <p:sp>
        <p:nvSpPr>
          <p:cNvPr id="302" name="Sub"/>
          <p:cNvSpPr txBox="1"/>
          <p:nvPr/>
        </p:nvSpPr>
        <p:spPr>
          <a:xfrm>
            <a:off x="660400" y="1422400"/>
            <a:ext cx="108712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URINARY GAG LEVEL, µg/mg CREATININE</a:t>
            </a:r>
          </a:p>
        </p:txBody>
      </p:sp>
      <p:sp>
        <p:nvSpPr>
          <p:cNvPr id="303" name="Scale"/>
          <p:cNvSpPr/>
          <p:nvPr/>
        </p:nvSpPr>
        <p:spPr>
          <a:xfrm>
            <a:off x="660400" y="1676400"/>
            <a:ext cx="3302000" cy="711200"/>
          </a:xfrm>
          <a:prstGeom prst="roundRect">
            <a:avLst>
              <a:gd name="adj" fmla="val 10000"/>
            </a:avLst>
          </a:prstGeom>
          <a:solidFill>
            <a:srgbClr val="C9D5EA"/>
          </a:solidFill>
          <a:ln>
            <a:noFill/>
          </a:ln>
        </p:spPr>
        <p:txBody>
          <a:bodyPr wrap="square" lIns="76200" tIns="76200" rIns="76200" bIns="76200" anchor="ctr">
            <a:noAutofit/>
          </a:bodyPr>
          <a:lstStyle/>
          <a:p>
            <a:pPr algn="ctr">
              <a:spcBef>
                <a:spcPts val="0"/>
              </a:spcBef>
              <a:buNone/>
            </a:pPr>
            <a:r>
              <a:rPr lang="en-GB" sz="2400" b="1" dirty="0">
                <a:solidFill>
                  <a:srgbClr val="002E56"/>
                </a:solidFill>
              </a:rPr>
              <a:t>&lt;100</a:t>
            </a:r>
          </a:p>
          <a:p>
            <a:pPr algn="ctr">
              <a:spcBef>
                <a:spcPts val="0"/>
              </a:spcBef>
              <a:buNone/>
            </a:pPr>
            <a:r>
              <a:rPr lang="en-GB" sz="1100" dirty="0">
                <a:solidFill>
                  <a:srgbClr val="002E56"/>
                </a:solidFill>
              </a:rPr>
              <a:t>low</a:t>
            </a:r>
          </a:p>
        </p:txBody>
      </p:sp>
      <p:sp>
        <p:nvSpPr>
          <p:cNvPr id="304" name="Scale"/>
          <p:cNvSpPr/>
          <p:nvPr/>
        </p:nvSpPr>
        <p:spPr>
          <a:xfrm>
            <a:off x="4038600" y="1676400"/>
            <a:ext cx="2641600" cy="711200"/>
          </a:xfrm>
          <a:prstGeom prst="roundRect">
            <a:avLst>
              <a:gd name="adj" fmla="val 10000"/>
            </a:avLst>
          </a:prstGeom>
          <a:solidFill>
            <a:srgbClr val="9DB3D9"/>
          </a:solidFill>
          <a:ln>
            <a:noFill/>
          </a:ln>
        </p:spPr>
        <p:txBody>
          <a:bodyPr wrap="square" lIns="76200" tIns="76200" rIns="76200" bIns="76200" anchor="ctr">
            <a:noAutofit/>
          </a:bodyPr>
          <a:lstStyle/>
          <a:p>
            <a:pPr algn="ctr">
              <a:spcBef>
                <a:spcPts val="0"/>
              </a:spcBef>
              <a:buNone/>
            </a:pPr>
            <a:r>
              <a:rPr lang="en-GB" sz="2400" b="1" dirty="0">
                <a:solidFill>
                  <a:srgbClr val="002E56"/>
                </a:solidFill>
              </a:rPr>
              <a:t>100–200</a:t>
            </a:r>
          </a:p>
          <a:p>
            <a:pPr algn="ctr">
              <a:spcBef>
                <a:spcPts val="0"/>
              </a:spcBef>
              <a:buNone/>
            </a:pPr>
            <a:r>
              <a:rPr lang="en-GB" sz="1100" dirty="0">
                <a:solidFill>
                  <a:srgbClr val="002E56"/>
                </a:solidFill>
              </a:rPr>
              <a:t>intermediate</a:t>
            </a:r>
          </a:p>
        </p:txBody>
      </p:sp>
      <p:sp>
        <p:nvSpPr>
          <p:cNvPr id="305" name="Scale"/>
          <p:cNvSpPr/>
          <p:nvPr/>
        </p:nvSpPr>
        <p:spPr>
          <a:xfrm>
            <a:off x="6756400" y="1676400"/>
            <a:ext cx="4775200" cy="711200"/>
          </a:xfrm>
          <a:prstGeom prst="roundRect">
            <a:avLst>
              <a:gd name="adj" fmla="val 10000"/>
            </a:avLst>
          </a:prstGeom>
          <a:solidFill>
            <a:srgbClr val="28509C"/>
          </a:solidFill>
          <a:ln>
            <a:noFill/>
          </a:ln>
        </p:spPr>
        <p:txBody>
          <a:bodyPr wrap="square" lIns="76200" tIns="76200" rIns="76200" bIns="76200" anchor="ctr">
            <a:noAutofit/>
          </a:bodyPr>
          <a:lstStyle/>
          <a:p>
            <a:pPr algn="ctr">
              <a:spcBef>
                <a:spcPts val="0"/>
              </a:spcBef>
              <a:buNone/>
            </a:pPr>
            <a:r>
              <a:rPr lang="en-GB" sz="2400" b="1" dirty="0">
                <a:solidFill>
                  <a:srgbClr val="FFFFFF"/>
                </a:solidFill>
              </a:rPr>
              <a:t>&gt;200</a:t>
            </a:r>
          </a:p>
          <a:p>
            <a:pPr algn="ctr">
              <a:spcBef>
                <a:spcPts val="0"/>
              </a:spcBef>
              <a:buNone/>
            </a:pPr>
            <a:r>
              <a:rPr lang="en-GB" sz="1100" dirty="0">
                <a:solidFill>
                  <a:srgbClr val="FFFFFF"/>
                </a:solidFill>
              </a:rPr>
              <a:t>high</a:t>
            </a:r>
          </a:p>
        </p:txBody>
      </p:sp>
      <p:sp>
        <p:nvSpPr>
          <p:cNvPr id="306" name="Low card"/>
          <p:cNvSpPr/>
          <p:nvPr/>
        </p:nvSpPr>
        <p:spPr>
          <a:xfrm>
            <a:off x="660400" y="2590800"/>
            <a:ext cx="3302000" cy="20574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1100" b="1" spc="60" dirty="0">
                <a:solidFill>
                  <a:srgbClr val="28509C"/>
                </a:solidFill>
              </a:rPr>
              <a:t>Low levels</a:t>
            </a:r>
          </a:p>
          <a:p>
            <a:pPr>
              <a:spcBef>
                <a:spcPts val="600"/>
              </a:spcBef>
              <a:buNone/>
            </a:pPr>
            <a:r>
              <a:rPr lang="en-GB" sz="3200" b="1" dirty="0">
                <a:solidFill>
                  <a:srgbClr val="28509C"/>
                </a:solidFill>
              </a:rPr>
              <a:t>&gt;20 years</a:t>
            </a:r>
          </a:p>
          <a:p>
            <a:pPr>
              <a:spcBef>
                <a:spcPts val="400"/>
              </a:spcBef>
              <a:buNone/>
            </a:pPr>
            <a:r>
              <a:rPr lang="en-GB" sz="1400" dirty="0">
                <a:solidFill>
                  <a:srgbClr val="2B2B2B"/>
                </a:solidFill>
              </a:rPr>
              <a:t>Low uGAG levels were seen in patients over 20 years of age</a:t>
            </a:r>
            <a:r>
              <a:rPr lang="en-GB" sz="1400" baseline="30000" dirty="0">
                <a:solidFill>
                  <a:srgbClr val="2B2B2B"/>
                </a:solidFill>
              </a:rPr>
              <a:t>1</a:t>
            </a:r>
          </a:p>
        </p:txBody>
      </p:sp>
      <p:sp>
        <p:nvSpPr>
          <p:cNvPr id="307" name="Arrow"/>
          <p:cNvSpPr/>
          <p:nvPr/>
        </p:nvSpPr>
        <p:spPr>
          <a:xfrm>
            <a:off x="4267200" y="3098800"/>
            <a:ext cx="2184400" cy="558800"/>
          </a:xfrm>
          <a:prstGeom prst="rightArrow">
            <a:avLst/>
          </a:prstGeom>
          <a:solidFill>
            <a:srgbClr val="C9D5EA"/>
          </a:solidFill>
          <a:ln>
            <a:noFill/>
          </a:ln>
        </p:spPr>
        <p:txBody>
          <a:bodyPr lIns="0" tIns="0" rIns="0" bIns="0" anchor="ctr"/>
          <a:lstStyle/>
          <a:p>
            <a:endParaRPr lang="en-GB" dirty="0"/>
          </a:p>
        </p:txBody>
      </p:sp>
      <p:sp>
        <p:nvSpPr>
          <p:cNvPr id="308" name="Arrow label"/>
          <p:cNvSpPr txBox="1"/>
          <p:nvPr/>
        </p:nvSpPr>
        <p:spPr>
          <a:xfrm>
            <a:off x="4038600" y="3708400"/>
            <a:ext cx="2641600" cy="457200"/>
          </a:xfrm>
          <a:prstGeom prst="rect">
            <a:avLst/>
          </a:prstGeom>
          <a:noFill/>
        </p:spPr>
        <p:txBody>
          <a:bodyPr wrap="square" lIns="0" tIns="0" rIns="0" bIns="0" anchor="t">
            <a:noAutofit/>
          </a:bodyPr>
          <a:lstStyle/>
          <a:p>
            <a:pPr algn="ctr">
              <a:spcBef>
                <a:spcPts val="0"/>
              </a:spcBef>
              <a:buNone/>
            </a:pPr>
            <a:r>
              <a:rPr lang="en-GB" sz="1200" b="1" dirty="0">
                <a:solidFill>
                  <a:srgbClr val="002E56"/>
                </a:solidFill>
              </a:rPr>
              <a:t>Higher level, more severe disease</a:t>
            </a:r>
          </a:p>
        </p:txBody>
      </p:sp>
      <p:sp>
        <p:nvSpPr>
          <p:cNvPr id="309" name="High card"/>
          <p:cNvSpPr/>
          <p:nvPr/>
        </p:nvSpPr>
        <p:spPr>
          <a:xfrm>
            <a:off x="6756400" y="2590800"/>
            <a:ext cx="4775200" cy="2057400"/>
          </a:xfrm>
          <a:prstGeom prst="roundRect">
            <a:avLst>
              <a:gd name="adj" fmla="val 8000"/>
            </a:avLst>
          </a:prstGeom>
          <a:solidFill>
            <a:srgbClr val="E3EAF5"/>
          </a:solidFill>
          <a:ln>
            <a:noFill/>
          </a:ln>
        </p:spPr>
        <p:txBody>
          <a:bodyPr wrap="square" lIns="0" tIns="0" rIns="0" bIns="0" anchor="t">
            <a:noAutofit/>
          </a:bodyPr>
          <a:lstStyle/>
          <a:p>
            <a:endParaRPr lang="en-GB" dirty="0"/>
          </a:p>
        </p:txBody>
      </p:sp>
      <p:sp>
        <p:nvSpPr>
          <p:cNvPr id="310" name="High head"/>
          <p:cNvSpPr txBox="1"/>
          <p:nvPr/>
        </p:nvSpPr>
        <p:spPr>
          <a:xfrm>
            <a:off x="6934200" y="2717800"/>
            <a:ext cx="44196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High levels were associated with</a:t>
            </a:r>
            <a:r>
              <a:rPr lang="en-GB" sz="1400" baseline="30000" dirty="0">
                <a:solidFill>
                  <a:srgbClr val="2B2B2B"/>
                </a:solidFill>
              </a:rPr>
              <a:t>1</a:t>
            </a:r>
          </a:p>
        </p:txBody>
      </p:sp>
      <p:sp>
        <p:nvSpPr>
          <p:cNvPr id="311" name="Finding"/>
          <p:cNvSpPr/>
          <p:nvPr/>
        </p:nvSpPr>
        <p:spPr>
          <a:xfrm>
            <a:off x="6934200" y="3022600"/>
            <a:ext cx="2159000" cy="685800"/>
          </a:xfrm>
          <a:prstGeom prst="roundRect">
            <a:avLst>
              <a:gd name="adj" fmla="val 12000"/>
            </a:avLst>
          </a:prstGeom>
          <a:solidFill>
            <a:srgbClr val="FFFFFF"/>
          </a:solidFill>
          <a:ln>
            <a:noFill/>
          </a:ln>
        </p:spPr>
        <p:txBody>
          <a:bodyPr wrap="square" lIns="127000" tIns="127000" rIns="127000" bIns="127000" anchor="ctr">
            <a:noAutofit/>
          </a:bodyPr>
          <a:lstStyle/>
          <a:p>
            <a:pPr>
              <a:spcBef>
                <a:spcPts val="0"/>
              </a:spcBef>
              <a:buNone/>
            </a:pPr>
            <a:r>
              <a:rPr lang="en-GB" sz="1400" b="1" dirty="0">
                <a:solidFill>
                  <a:srgbClr val="002E56"/>
                </a:solidFill>
              </a:rPr>
              <a:t>Age-adjusted short stature</a:t>
            </a:r>
          </a:p>
        </p:txBody>
      </p:sp>
      <p:sp>
        <p:nvSpPr>
          <p:cNvPr id="312" name="Finding"/>
          <p:cNvSpPr/>
          <p:nvPr/>
        </p:nvSpPr>
        <p:spPr>
          <a:xfrm>
            <a:off x="9194800" y="3022600"/>
            <a:ext cx="2159000" cy="685800"/>
          </a:xfrm>
          <a:prstGeom prst="roundRect">
            <a:avLst>
              <a:gd name="adj" fmla="val 12000"/>
            </a:avLst>
          </a:prstGeom>
          <a:solidFill>
            <a:srgbClr val="FFFFFF"/>
          </a:solidFill>
          <a:ln>
            <a:noFill/>
          </a:ln>
        </p:spPr>
        <p:txBody>
          <a:bodyPr wrap="square" lIns="127000" tIns="127000" rIns="127000" bIns="127000" anchor="ctr">
            <a:noAutofit/>
          </a:bodyPr>
          <a:lstStyle/>
          <a:p>
            <a:pPr>
              <a:spcBef>
                <a:spcPts val="0"/>
              </a:spcBef>
              <a:buNone/>
            </a:pPr>
            <a:r>
              <a:rPr lang="en-GB" sz="1400" b="1" dirty="0">
                <a:solidFill>
                  <a:srgbClr val="002E56"/>
                </a:solidFill>
              </a:rPr>
              <a:t>Low body weight</a:t>
            </a:r>
          </a:p>
        </p:txBody>
      </p:sp>
      <p:sp>
        <p:nvSpPr>
          <p:cNvPr id="313" name="Finding"/>
          <p:cNvSpPr/>
          <p:nvPr/>
        </p:nvSpPr>
        <p:spPr>
          <a:xfrm>
            <a:off x="6934200" y="3810000"/>
            <a:ext cx="2159000" cy="685800"/>
          </a:xfrm>
          <a:prstGeom prst="roundRect">
            <a:avLst>
              <a:gd name="adj" fmla="val 12000"/>
            </a:avLst>
          </a:prstGeom>
          <a:solidFill>
            <a:srgbClr val="FFFFFF"/>
          </a:solidFill>
          <a:ln>
            <a:noFill/>
          </a:ln>
        </p:spPr>
        <p:txBody>
          <a:bodyPr wrap="square" lIns="127000" tIns="127000" rIns="127000" bIns="127000" anchor="ctr">
            <a:noAutofit/>
          </a:bodyPr>
          <a:lstStyle/>
          <a:p>
            <a:pPr>
              <a:spcBef>
                <a:spcPts val="0"/>
              </a:spcBef>
              <a:buNone/>
            </a:pPr>
            <a:r>
              <a:rPr lang="en-GB" sz="1400" b="1" dirty="0">
                <a:solidFill>
                  <a:srgbClr val="002E56"/>
                </a:solidFill>
              </a:rPr>
              <a:t>Compromised lung function</a:t>
            </a:r>
          </a:p>
        </p:txBody>
      </p:sp>
      <p:sp>
        <p:nvSpPr>
          <p:cNvPr id="314" name="Finding"/>
          <p:cNvSpPr/>
          <p:nvPr/>
        </p:nvSpPr>
        <p:spPr>
          <a:xfrm>
            <a:off x="9194800" y="3810000"/>
            <a:ext cx="2159000" cy="685800"/>
          </a:xfrm>
          <a:prstGeom prst="roundRect">
            <a:avLst>
              <a:gd name="adj" fmla="val 12000"/>
            </a:avLst>
          </a:prstGeom>
          <a:solidFill>
            <a:srgbClr val="FFFFFF"/>
          </a:solidFill>
          <a:ln>
            <a:noFill/>
          </a:ln>
        </p:spPr>
        <p:txBody>
          <a:bodyPr wrap="square" lIns="127000" tIns="127000" rIns="127000" bIns="127000" anchor="ctr">
            <a:noAutofit/>
          </a:bodyPr>
          <a:lstStyle/>
          <a:p>
            <a:pPr>
              <a:spcBef>
                <a:spcPts val="0"/>
              </a:spcBef>
              <a:buNone/>
            </a:pPr>
            <a:r>
              <a:rPr lang="en-GB" sz="1400" b="1" dirty="0">
                <a:solidFill>
                  <a:srgbClr val="002E56"/>
                </a:solidFill>
              </a:rPr>
              <a:t>Reduced joint range of motion</a:t>
            </a:r>
          </a:p>
        </p:txBody>
      </p:sp>
      <p:sp>
        <p:nvSpPr>
          <p:cNvPr id="315" name="6MWT band"/>
          <p:cNvSpPr/>
          <p:nvPr/>
        </p:nvSpPr>
        <p:spPr>
          <a:xfrm>
            <a:off x="660400" y="4851400"/>
            <a:ext cx="10871200" cy="635000"/>
          </a:xfrm>
          <a:prstGeom prst="roundRect">
            <a:avLst>
              <a:gd name="adj" fmla="val 15000"/>
            </a:avLst>
          </a:prstGeom>
          <a:solidFill>
            <a:srgbClr val="F1F4F9"/>
          </a:solidFill>
          <a:ln>
            <a:noFill/>
          </a:ln>
        </p:spPr>
        <p:txBody>
          <a:bodyPr wrap="square" lIns="0" tIns="0" rIns="0" bIns="0" anchor="t">
            <a:noAutofit/>
          </a:bodyPr>
          <a:lstStyle/>
          <a:p>
            <a:endParaRPr lang="en-GB" dirty="0"/>
          </a:p>
        </p:txBody>
      </p:sp>
      <p:sp>
        <p:nvSpPr>
          <p:cNvPr id="316" name="6MWT"/>
          <p:cNvSpPr txBox="1"/>
          <p:nvPr/>
        </p:nvSpPr>
        <p:spPr>
          <a:xfrm>
            <a:off x="863600" y="4851400"/>
            <a:ext cx="1905000" cy="635000"/>
          </a:xfrm>
          <a:prstGeom prst="rect">
            <a:avLst/>
          </a:prstGeom>
          <a:noFill/>
        </p:spPr>
        <p:txBody>
          <a:bodyPr wrap="square" lIns="0" tIns="0" rIns="0" bIns="0" anchor="ctr">
            <a:noAutofit/>
          </a:bodyPr>
          <a:lstStyle/>
          <a:p>
            <a:pPr>
              <a:spcBef>
                <a:spcPts val="0"/>
              </a:spcBef>
              <a:buNone/>
            </a:pPr>
            <a:r>
              <a:rPr lang="en-GB" sz="2400" b="1" dirty="0">
                <a:solidFill>
                  <a:srgbClr val="28509C"/>
                </a:solidFill>
              </a:rPr>
              <a:t>6MWT</a:t>
            </a:r>
          </a:p>
        </p:txBody>
      </p:sp>
      <p:sp>
        <p:nvSpPr>
          <p:cNvPr id="317" name="6MWT text"/>
          <p:cNvSpPr txBox="1"/>
          <p:nvPr/>
        </p:nvSpPr>
        <p:spPr>
          <a:xfrm>
            <a:off x="2667000" y="4851400"/>
            <a:ext cx="8763000" cy="635000"/>
          </a:xfrm>
          <a:prstGeom prst="rect">
            <a:avLst/>
          </a:prstGeom>
          <a:noFill/>
        </p:spPr>
        <p:txBody>
          <a:bodyPr wrap="square" lIns="0" tIns="0" rIns="0" bIns="0" anchor="ctr">
            <a:noAutofit/>
          </a:bodyPr>
          <a:lstStyle/>
          <a:p>
            <a:pPr>
              <a:spcBef>
                <a:spcPts val="0"/>
              </a:spcBef>
              <a:buNone/>
            </a:pPr>
            <a:r>
              <a:rPr lang="en-GB" sz="1400" dirty="0">
                <a:solidFill>
                  <a:srgbClr val="2B2B2B"/>
                </a:solidFill>
              </a:rPr>
              <a:t>Walk distance was impaired </a:t>
            </a:r>
            <a:r>
              <a:rPr lang="en-GB" sz="1400" b="1" dirty="0">
                <a:solidFill>
                  <a:srgbClr val="2B2B2B"/>
                </a:solidFill>
              </a:rPr>
              <a:t>across all age groups</a:t>
            </a:r>
            <a:r>
              <a:rPr lang="en-GB" sz="1400" dirty="0">
                <a:solidFill>
                  <a:srgbClr val="2B2B2B"/>
                </a:solidFill>
              </a:rPr>
              <a:t> and </a:t>
            </a:r>
            <a:r>
              <a:rPr lang="en-GB" sz="1400" b="1" dirty="0">
                <a:solidFill>
                  <a:srgbClr val="2B2B2B"/>
                </a:solidFill>
              </a:rPr>
              <a:t>across all uGAG levels</a:t>
            </a:r>
            <a:r>
              <a:rPr lang="en-GB" sz="1400" baseline="30000" dirty="0">
                <a:solidFill>
                  <a:srgbClr val="2B2B2B"/>
                </a:solidFill>
              </a:rPr>
              <a:t>1</a:t>
            </a:r>
          </a:p>
        </p:txBody>
      </p:sp>
      <p:sp>
        <p:nvSpPr>
          <p:cNvPr id="318"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6MWT, 6-minute walk test; GAG, glycosaminoglycan; MPS, mucopolysaccharidosis; uGAG, urinary GAG</a:t>
            </a:r>
          </a:p>
        </p:txBody>
      </p:sp>
      <p:sp>
        <p:nvSpPr>
          <p:cNvPr id="319"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Swiedler SJ et al. Am J Med Genet A 2005;134A:144–50.</a:t>
            </a:r>
          </a:p>
        </p:txBody>
      </p:sp>
    </p:spTree>
    <p:extLst>
      <p:ext uri="{BB962C8B-B14F-4D97-AF65-F5344CB8AC3E}">
        <p14:creationId xmlns:p14="http://schemas.microsoft.com/office/powerpoint/2010/main" val="3507581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Starting treatment  |  What ERT can achieve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MPS VI: survival with galsulfase at 10 and 15 years</a:t>
            </a:r>
          </a:p>
        </p:txBody>
      </p:sp>
      <p:sp>
        <p:nvSpPr>
          <p:cNvPr id="302" name="Chart label"/>
          <p:cNvSpPr txBox="1"/>
          <p:nvPr/>
        </p:nvSpPr>
        <p:spPr>
          <a:xfrm>
            <a:off x="660400" y="1422400"/>
            <a:ext cx="71120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Mortality since the Survey Study, % of patients</a:t>
            </a:r>
          </a:p>
        </p:txBody>
      </p:sp>
      <p:graphicFrame>
        <p:nvGraphicFramePr>
          <p:cNvPr id="303" name="Survival chart"/>
          <p:cNvGraphicFramePr/>
          <p:nvPr/>
        </p:nvGraphicFramePr>
        <p:xfrm>
          <a:off x="660400" y="1701800"/>
          <a:ext cx="71120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304" name="Key"/>
          <p:cNvSpPr txBox="1"/>
          <p:nvPr/>
        </p:nvSpPr>
        <p:spPr>
          <a:xfrm>
            <a:off x="660400" y="5207000"/>
            <a:ext cx="7112000" cy="228600"/>
          </a:xfrm>
          <a:prstGeom prst="rect">
            <a:avLst/>
          </a:prstGeom>
          <a:noFill/>
        </p:spPr>
        <p:txBody>
          <a:bodyPr wrap="square" lIns="0" tIns="0" rIns="0" bIns="0" anchor="t">
            <a:noAutofit/>
          </a:bodyPr>
          <a:lstStyle/>
          <a:p>
            <a:pPr>
              <a:spcBef>
                <a:spcPts val="0"/>
              </a:spcBef>
              <a:buNone/>
            </a:pPr>
            <a:r>
              <a:rPr lang="en-GB" sz="1300" dirty="0">
                <a:solidFill>
                  <a:srgbClr val="28509C"/>
                </a:solidFill>
              </a:rPr>
              <a:t>■ </a:t>
            </a:r>
            <a:r>
              <a:rPr lang="en-GB" sz="1400" b="1" dirty="0">
                <a:solidFill>
                  <a:srgbClr val="28509C"/>
                </a:solidFill>
              </a:rPr>
              <a:t>Galsulfase      </a:t>
            </a:r>
            <a:r>
              <a:rPr lang="en-GB" sz="1300" dirty="0">
                <a:solidFill>
                  <a:srgbClr val="A0A0A0"/>
                </a:solidFill>
              </a:rPr>
              <a:t>■ </a:t>
            </a:r>
            <a:r>
              <a:rPr lang="en-GB" sz="1400" b="1" dirty="0">
                <a:solidFill>
                  <a:srgbClr val="646464"/>
                </a:solidFill>
              </a:rPr>
              <a:t>Treatment-naïve</a:t>
            </a:r>
          </a:p>
        </p:txBody>
      </p:sp>
      <p:sp>
        <p:nvSpPr>
          <p:cNvPr id="305" name="HR card"/>
          <p:cNvSpPr/>
          <p:nvPr/>
        </p:nvSpPr>
        <p:spPr>
          <a:xfrm>
            <a:off x="8077200" y="1422400"/>
            <a:ext cx="3454400" cy="2159000"/>
          </a:xfrm>
          <a:prstGeom prst="roundRect">
            <a:avLst>
              <a:gd name="adj" fmla="val 8000"/>
            </a:avLst>
          </a:prstGeom>
          <a:solidFill>
            <a:srgbClr val="E3EAF5"/>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Hazard ratio</a:t>
            </a:r>
          </a:p>
          <a:p>
            <a:pPr>
              <a:spcBef>
                <a:spcPts val="300"/>
              </a:spcBef>
              <a:buNone/>
            </a:pPr>
            <a:r>
              <a:rPr lang="en-GB" sz="4000" b="1" dirty="0">
                <a:solidFill>
                  <a:srgbClr val="28509C"/>
                </a:solidFill>
              </a:rPr>
              <a:t>HR 0.35</a:t>
            </a:r>
          </a:p>
          <a:p>
            <a:pPr>
              <a:spcBef>
                <a:spcPts val="200"/>
              </a:spcBef>
              <a:buNone/>
            </a:pPr>
            <a:r>
              <a:rPr lang="en-GB" sz="1400" b="1" dirty="0">
                <a:solidFill>
                  <a:srgbClr val="002E56"/>
                </a:solidFill>
              </a:rPr>
              <a:t>65% lower risk of death with galsulfase</a:t>
            </a:r>
            <a:r>
              <a:rPr lang="en-GB" sz="1400" baseline="30000" dirty="0">
                <a:solidFill>
                  <a:srgbClr val="2B2B2B"/>
                </a:solidFill>
              </a:rPr>
              <a:t>2</a:t>
            </a:r>
          </a:p>
          <a:p>
            <a:pPr>
              <a:spcBef>
                <a:spcPts val="200"/>
              </a:spcBef>
              <a:buNone/>
            </a:pPr>
            <a:r>
              <a:rPr lang="en-GB" sz="1200" dirty="0">
                <a:solidFill>
                  <a:srgbClr val="646464"/>
                </a:solidFill>
              </a:rPr>
              <a:t>0.348 (95% CI 0.156–0.776), unadjusted</a:t>
            </a:r>
          </a:p>
        </p:txBody>
      </p:sp>
      <p:sp>
        <p:nvSpPr>
          <p:cNvPr id="306" name="KM card"/>
          <p:cNvSpPr/>
          <p:nvPr/>
        </p:nvSpPr>
        <p:spPr>
          <a:xfrm>
            <a:off x="8077200" y="3733800"/>
            <a:ext cx="3454400" cy="17018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Kaplan-Meier survival</a:t>
            </a:r>
          </a:p>
          <a:p>
            <a:pPr>
              <a:spcBef>
                <a:spcPts val="400"/>
              </a:spcBef>
              <a:buNone/>
            </a:pPr>
            <a:r>
              <a:rPr lang="en-GB" sz="1400" b="1" dirty="0">
                <a:solidFill>
                  <a:srgbClr val="002E56"/>
                </a:solidFill>
              </a:rPr>
              <a:t>Curves separated in favour of galsulfase</a:t>
            </a:r>
            <a:r>
              <a:rPr lang="en-GB" sz="1400" baseline="30000" dirty="0">
                <a:solidFill>
                  <a:srgbClr val="2B2B2B"/>
                </a:solidFill>
              </a:rPr>
              <a:t>2</a:t>
            </a:r>
          </a:p>
          <a:p>
            <a:pPr>
              <a:spcBef>
                <a:spcPts val="300"/>
              </a:spcBef>
              <a:buNone/>
            </a:pPr>
            <a:r>
              <a:rPr lang="en-GB" sz="1300" dirty="0">
                <a:solidFill>
                  <a:srgbClr val="2B2B2B"/>
                </a:solidFill>
              </a:rPr>
              <a:t>Log-rank P=0.0050; Wilcoxon P=0.0012</a:t>
            </a:r>
          </a:p>
        </p:txBody>
      </p:sp>
      <p:sp>
        <p:nvSpPr>
          <p:cNvPr id="307"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CI, confidence interval; HR, hazard ratio: the risk of death over time in treated versus untreated patients (1 = no difference; below 1 = lower risk with treatment). Bars to scale</a:t>
            </a:r>
          </a:p>
        </p:txBody>
      </p:sp>
      <p:sp>
        <p:nvSpPr>
          <p:cNvPr id="308"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Giugliani R et al. Am J Med Genet A 2014;164A:1953–64 (10-year data). 2. Quartel A et al. J Inborn Errors Metab Screen 2018;6:1–6, Fig 1, Table 1 (15-year data).</a:t>
            </a:r>
          </a:p>
        </p:txBody>
      </p:sp>
    </p:spTree>
    <p:extLst>
      <p:ext uri="{BB962C8B-B14F-4D97-AF65-F5344CB8AC3E}">
        <p14:creationId xmlns:p14="http://schemas.microsoft.com/office/powerpoint/2010/main" val="14939542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Survey Study: 15-year follow-up</a:t>
            </a:r>
          </a:p>
        </p:txBody>
      </p:sp>
      <p:sp>
        <p:nvSpPr>
          <p:cNvPr id="302" name="Stat"/>
          <p:cNvSpPr/>
          <p:nvPr/>
        </p:nvSpPr>
        <p:spPr>
          <a:xfrm>
            <a:off x="660400" y="1473200"/>
            <a:ext cx="3454400" cy="2032000"/>
          </a:xfrm>
          <a:prstGeom prst="roundRect">
            <a:avLst>
              <a:gd name="adj" fmla="val 8000"/>
            </a:avLst>
          </a:prstGeom>
          <a:solidFill>
            <a:srgbClr val="E3EAF5"/>
          </a:solidFill>
          <a:ln>
            <a:noFill/>
          </a:ln>
        </p:spPr>
        <p:txBody>
          <a:bodyPr wrap="square" lIns="203200" tIns="203200" rIns="203200" bIns="203200" anchor="t">
            <a:noAutofit/>
          </a:bodyPr>
          <a:lstStyle/>
          <a:p>
            <a:pPr>
              <a:spcBef>
                <a:spcPts val="0"/>
              </a:spcBef>
              <a:buNone/>
            </a:pPr>
            <a:r>
              <a:rPr lang="en-GB" sz="4400" b="1" dirty="0">
                <a:solidFill>
                  <a:srgbClr val="28509C"/>
                </a:solidFill>
              </a:rPr>
              <a:t>16.5%</a:t>
            </a:r>
          </a:p>
          <a:p>
            <a:pPr>
              <a:spcBef>
                <a:spcPts val="300"/>
              </a:spcBef>
              <a:buNone/>
            </a:pPr>
            <a:r>
              <a:rPr lang="en-GB" sz="1400" b="1" dirty="0">
                <a:solidFill>
                  <a:srgbClr val="002E56"/>
                </a:solidFill>
              </a:rPr>
              <a:t>mortality with galsulfase</a:t>
            </a:r>
          </a:p>
          <a:p>
            <a:pPr>
              <a:spcBef>
                <a:spcPts val="300"/>
              </a:spcBef>
              <a:buNone/>
            </a:pPr>
            <a:r>
              <a:rPr lang="en-GB" sz="1300" dirty="0">
                <a:solidFill>
                  <a:srgbClr val="404040"/>
                </a:solidFill>
              </a:rPr>
              <a:t>Patients who received galsulfase at any time, 10-year Resurvey</a:t>
            </a:r>
            <a:r>
              <a:rPr lang="en-GB" sz="1400" baseline="30000" dirty="0">
                <a:solidFill>
                  <a:srgbClr val="2B2B2B"/>
                </a:solidFill>
              </a:rPr>
              <a:t>1</a:t>
            </a:r>
          </a:p>
        </p:txBody>
      </p:sp>
      <p:sp>
        <p:nvSpPr>
          <p:cNvPr id="303" name="Stat"/>
          <p:cNvSpPr/>
          <p:nvPr/>
        </p:nvSpPr>
        <p:spPr>
          <a:xfrm>
            <a:off x="4368800" y="1473200"/>
            <a:ext cx="3454400" cy="20320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4400" b="1" dirty="0">
                <a:solidFill>
                  <a:srgbClr val="646464"/>
                </a:solidFill>
              </a:rPr>
              <a:t>50%</a:t>
            </a:r>
          </a:p>
          <a:p>
            <a:pPr>
              <a:spcBef>
                <a:spcPts val="300"/>
              </a:spcBef>
              <a:buNone/>
            </a:pPr>
            <a:r>
              <a:rPr lang="en-GB" sz="1400" b="1" dirty="0">
                <a:solidFill>
                  <a:srgbClr val="002E56"/>
                </a:solidFill>
              </a:rPr>
              <a:t>mortality without treatment</a:t>
            </a:r>
          </a:p>
          <a:p>
            <a:pPr>
              <a:spcBef>
                <a:spcPts val="300"/>
              </a:spcBef>
              <a:buNone/>
            </a:pPr>
            <a:r>
              <a:rPr lang="en-GB" sz="1300" dirty="0">
                <a:solidFill>
                  <a:srgbClr val="404040"/>
                </a:solidFill>
              </a:rPr>
              <a:t>Treatment-naïve patients in the same 10-year Resurvey</a:t>
            </a:r>
            <a:r>
              <a:rPr lang="en-GB" sz="1400" baseline="30000" dirty="0">
                <a:solidFill>
                  <a:srgbClr val="2B2B2B"/>
                </a:solidFill>
              </a:rPr>
              <a:t>1</a:t>
            </a:r>
          </a:p>
        </p:txBody>
      </p:sp>
      <p:sp>
        <p:nvSpPr>
          <p:cNvPr id="304" name="Stat"/>
          <p:cNvSpPr/>
          <p:nvPr/>
        </p:nvSpPr>
        <p:spPr>
          <a:xfrm>
            <a:off x="8077200" y="1473200"/>
            <a:ext cx="3454400" cy="20320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4400" b="1" dirty="0">
                <a:solidFill>
                  <a:srgbClr val="A9218E"/>
                </a:solidFill>
              </a:rPr>
              <a:t>12.5%</a:t>
            </a:r>
          </a:p>
          <a:p>
            <a:pPr>
              <a:spcBef>
                <a:spcPts val="300"/>
              </a:spcBef>
              <a:buNone/>
            </a:pPr>
            <a:r>
              <a:rPr lang="en-GB" sz="1400" b="1" dirty="0">
                <a:solidFill>
                  <a:srgbClr val="002E56"/>
                </a:solidFill>
              </a:rPr>
              <a:t>5-year mortality on galsulfase</a:t>
            </a:r>
          </a:p>
          <a:p>
            <a:pPr>
              <a:spcBef>
                <a:spcPts val="300"/>
              </a:spcBef>
              <a:buNone/>
            </a:pPr>
            <a:r>
              <a:rPr lang="en-GB" sz="1300" dirty="0">
                <a:solidFill>
                  <a:srgbClr val="404040"/>
                </a:solidFill>
              </a:rPr>
              <a:t>Commercial use data, 2005–2016</a:t>
            </a:r>
            <a:r>
              <a:rPr lang="en-GB" sz="1400" baseline="30000" dirty="0">
                <a:solidFill>
                  <a:srgbClr val="2B2B2B"/>
                </a:solidFill>
              </a:rPr>
              <a:t>1</a:t>
            </a:r>
          </a:p>
        </p:txBody>
      </p:sp>
      <p:sp>
        <p:nvSpPr>
          <p:cNvPr id="305" name="Timeline band"/>
          <p:cNvSpPr/>
          <p:nvPr/>
        </p:nvSpPr>
        <p:spPr>
          <a:xfrm>
            <a:off x="660400" y="3683000"/>
            <a:ext cx="10871200" cy="889000"/>
          </a:xfrm>
          <a:prstGeom prst="roundRect">
            <a:avLst>
              <a:gd name="adj" fmla="val 8000"/>
            </a:avLst>
          </a:prstGeom>
          <a:solidFill>
            <a:srgbClr val="F1F4F9"/>
          </a:solidFill>
          <a:ln>
            <a:noFill/>
          </a:ln>
        </p:spPr>
        <p:txBody>
          <a:bodyPr wrap="square" lIns="0" tIns="0" rIns="0" bIns="0" anchor="t">
            <a:noAutofit/>
          </a:bodyPr>
          <a:lstStyle/>
          <a:p>
            <a:endParaRPr lang="en-GB" dirty="0"/>
          </a:p>
        </p:txBody>
      </p:sp>
      <p:sp>
        <p:nvSpPr>
          <p:cNvPr id="306" name="Step"/>
          <p:cNvSpPr/>
          <p:nvPr/>
        </p:nvSpPr>
        <p:spPr>
          <a:xfrm>
            <a:off x="787400" y="3733800"/>
            <a:ext cx="3437466" cy="787400"/>
          </a:xfrm>
          <a:prstGeom prst="roundRect">
            <a:avLst>
              <a:gd name="adj" fmla="val 8000"/>
            </a:avLst>
          </a:prstGeom>
          <a:solidFill>
            <a:srgbClr val="FFFFFF"/>
          </a:solidFill>
          <a:ln>
            <a:noFill/>
          </a:ln>
        </p:spPr>
        <p:txBody>
          <a:bodyPr wrap="square" lIns="101600" tIns="101600" rIns="101600" bIns="101600" anchor="t">
            <a:noAutofit/>
          </a:bodyPr>
          <a:lstStyle/>
          <a:p>
            <a:pPr>
              <a:spcBef>
                <a:spcPts val="0"/>
              </a:spcBef>
              <a:buNone/>
            </a:pPr>
            <a:r>
              <a:rPr lang="en-GB" sz="1600" b="1" dirty="0">
                <a:solidFill>
                  <a:srgbClr val="28509C"/>
                </a:solidFill>
              </a:rPr>
              <a:t>2001–2002</a:t>
            </a:r>
          </a:p>
          <a:p>
            <a:pPr>
              <a:spcBef>
                <a:spcPts val="100"/>
              </a:spcBef>
              <a:buNone/>
            </a:pPr>
            <a:r>
              <a:rPr lang="en-GB" sz="1300" dirty="0">
                <a:solidFill>
                  <a:srgbClr val="2B2B2B"/>
                </a:solidFill>
              </a:rPr>
              <a:t>Survey Study: 121 patients with MPS VI</a:t>
            </a:r>
          </a:p>
        </p:txBody>
      </p:sp>
      <p:sp>
        <p:nvSpPr>
          <p:cNvPr id="307" name="Step"/>
          <p:cNvSpPr/>
          <p:nvPr/>
        </p:nvSpPr>
        <p:spPr>
          <a:xfrm>
            <a:off x="4377266" y="3733800"/>
            <a:ext cx="3437466" cy="787400"/>
          </a:xfrm>
          <a:prstGeom prst="roundRect">
            <a:avLst>
              <a:gd name="adj" fmla="val 8000"/>
            </a:avLst>
          </a:prstGeom>
          <a:solidFill>
            <a:srgbClr val="FFFFFF"/>
          </a:solidFill>
          <a:ln>
            <a:noFill/>
          </a:ln>
        </p:spPr>
        <p:txBody>
          <a:bodyPr wrap="square" lIns="101600" tIns="101600" rIns="101600" bIns="101600" anchor="t">
            <a:noAutofit/>
          </a:bodyPr>
          <a:lstStyle/>
          <a:p>
            <a:pPr>
              <a:spcBef>
                <a:spcPts val="0"/>
              </a:spcBef>
              <a:buNone/>
            </a:pPr>
            <a:r>
              <a:rPr lang="en-GB" sz="1600" b="1" dirty="0">
                <a:solidFill>
                  <a:srgbClr val="28509C"/>
                </a:solidFill>
              </a:rPr>
              <a:t>10 years later</a:t>
            </a:r>
          </a:p>
          <a:p>
            <a:pPr>
              <a:spcBef>
                <a:spcPts val="100"/>
              </a:spcBef>
              <a:buNone/>
            </a:pPr>
            <a:r>
              <a:rPr lang="en-GB" sz="1300" dirty="0">
                <a:solidFill>
                  <a:srgbClr val="2B2B2B"/>
                </a:solidFill>
              </a:rPr>
              <a:t>Resurvey: same patients, 10 years on</a:t>
            </a:r>
          </a:p>
        </p:txBody>
      </p:sp>
      <p:sp>
        <p:nvSpPr>
          <p:cNvPr id="308" name="Step"/>
          <p:cNvSpPr/>
          <p:nvPr/>
        </p:nvSpPr>
        <p:spPr>
          <a:xfrm>
            <a:off x="7967133" y="3733800"/>
            <a:ext cx="3437466" cy="787400"/>
          </a:xfrm>
          <a:prstGeom prst="roundRect">
            <a:avLst>
              <a:gd name="adj" fmla="val 8000"/>
            </a:avLst>
          </a:prstGeom>
          <a:solidFill>
            <a:srgbClr val="FFFFFF"/>
          </a:solidFill>
          <a:ln>
            <a:noFill/>
          </a:ln>
        </p:spPr>
        <p:txBody>
          <a:bodyPr wrap="square" lIns="101600" tIns="101600" rIns="101600" bIns="101600" anchor="t">
            <a:noAutofit/>
          </a:bodyPr>
          <a:lstStyle/>
          <a:p>
            <a:pPr>
              <a:spcBef>
                <a:spcPts val="0"/>
              </a:spcBef>
              <a:buNone/>
            </a:pPr>
            <a:r>
              <a:rPr lang="en-GB" sz="1600" b="1" dirty="0">
                <a:solidFill>
                  <a:srgbClr val="28509C"/>
                </a:solidFill>
              </a:rPr>
              <a:t>2005–2016</a:t>
            </a:r>
          </a:p>
          <a:p>
            <a:pPr>
              <a:spcBef>
                <a:spcPts val="100"/>
              </a:spcBef>
              <a:buNone/>
            </a:pPr>
            <a:r>
              <a:rPr lang="en-GB" sz="1300" dirty="0">
                <a:solidFill>
                  <a:srgbClr val="2B2B2B"/>
                </a:solidFill>
              </a:rPr>
              <a:t>Commercial-use mortality data</a:t>
            </a:r>
          </a:p>
        </p:txBody>
      </p:sp>
      <p:sp>
        <p:nvSpPr>
          <p:cNvPr id="309" name="Conclusion"/>
          <p:cNvSpPr/>
          <p:nvPr/>
        </p:nvSpPr>
        <p:spPr>
          <a:xfrm>
            <a:off x="660400" y="4724400"/>
            <a:ext cx="10871200" cy="787400"/>
          </a:xfrm>
          <a:prstGeom prst="roundRect">
            <a:avLst>
              <a:gd name="adj" fmla="val 8000"/>
            </a:avLst>
          </a:prstGeom>
          <a:solidFill>
            <a:srgbClr val="E3EAF5"/>
          </a:solidFill>
          <a:ln>
            <a:noFill/>
          </a:ln>
        </p:spPr>
        <p:txBody>
          <a:bodyPr wrap="square" lIns="177800" tIns="177800" rIns="177800" bIns="177800" anchor="ctr">
            <a:noAutofit/>
          </a:bodyPr>
          <a:lstStyle/>
          <a:p>
            <a:pPr>
              <a:spcBef>
                <a:spcPts val="0"/>
              </a:spcBef>
              <a:buNone/>
            </a:pPr>
            <a:r>
              <a:rPr lang="en-GB" sz="1400" b="1" dirty="0">
                <a:solidFill>
                  <a:srgbClr val="002E56"/>
                </a:solidFill>
              </a:rPr>
              <a:t>Galsulfase ERT can increase life expectancy in MPS VI over at least 15 years; treated patients also showed physical improvements</a:t>
            </a:r>
            <a:r>
              <a:rPr lang="en-GB" sz="1400" baseline="30000" dirty="0">
                <a:solidFill>
                  <a:srgbClr val="2B2B2B"/>
                </a:solidFill>
              </a:rPr>
              <a:t>1</a:t>
            </a:r>
          </a:p>
        </p:txBody>
      </p:sp>
      <p:sp>
        <p:nvSpPr>
          <p:cNvPr id="310"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ERT, enzyme replacement therapy; MPS, mucopolysaccharidosis</a:t>
            </a:r>
          </a:p>
        </p:txBody>
      </p:sp>
      <p:sp>
        <p:nvSpPr>
          <p:cNvPr id="311"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Quartel A et al. J Inborn Errors Metab Screen 2018;6:1–6.</a:t>
            </a:r>
          </a:p>
        </p:txBody>
      </p:sp>
    </p:spTree>
    <p:extLst>
      <p:ext uri="{BB962C8B-B14F-4D97-AF65-F5344CB8AC3E}">
        <p14:creationId xmlns:p14="http://schemas.microsoft.com/office/powerpoint/2010/main" val="6621268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Resurvey Study: 10-year follow-up</a:t>
            </a:r>
          </a:p>
        </p:txBody>
      </p:sp>
      <p:sp>
        <p:nvSpPr>
          <p:cNvPr id="302" name="Stat"/>
          <p:cNvSpPr/>
          <p:nvPr/>
        </p:nvSpPr>
        <p:spPr>
          <a:xfrm>
            <a:off x="660400" y="1422400"/>
            <a:ext cx="2578100" cy="15748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3600" b="1" dirty="0">
                <a:solidFill>
                  <a:srgbClr val="28509C"/>
                </a:solidFill>
              </a:rPr>
              <a:t>117</a:t>
            </a:r>
          </a:p>
          <a:p>
            <a:pPr>
              <a:spcBef>
                <a:spcPts val="300"/>
              </a:spcBef>
              <a:buNone/>
            </a:pPr>
            <a:r>
              <a:rPr lang="en-GB" sz="1300" b="1" dirty="0">
                <a:solidFill>
                  <a:srgbClr val="002E56"/>
                </a:solidFill>
              </a:rPr>
              <a:t>treated and untreated patients followed up</a:t>
            </a:r>
            <a:r>
              <a:rPr lang="en-GB" sz="1400" baseline="30000" dirty="0">
                <a:solidFill>
                  <a:srgbClr val="2B2B2B"/>
                </a:solidFill>
              </a:rPr>
              <a:t>1</a:t>
            </a:r>
          </a:p>
        </p:txBody>
      </p:sp>
      <p:sp>
        <p:nvSpPr>
          <p:cNvPr id="303" name="Stat"/>
          <p:cNvSpPr/>
          <p:nvPr/>
        </p:nvSpPr>
        <p:spPr>
          <a:xfrm>
            <a:off x="3416300" y="1422400"/>
            <a:ext cx="2578100" cy="15748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3600" b="1" dirty="0">
                <a:solidFill>
                  <a:srgbClr val="28509C"/>
                </a:solidFill>
              </a:rPr>
              <a:t>6.8 years</a:t>
            </a:r>
          </a:p>
          <a:p>
            <a:pPr>
              <a:spcBef>
                <a:spcPts val="300"/>
              </a:spcBef>
              <a:buNone/>
            </a:pPr>
            <a:r>
              <a:rPr lang="en-GB" sz="1300" b="1" dirty="0">
                <a:solidFill>
                  <a:srgbClr val="002E56"/>
                </a:solidFill>
              </a:rPr>
              <a:t>average time on galsulfase ERT</a:t>
            </a:r>
            <a:r>
              <a:rPr lang="en-GB" sz="1400" baseline="30000" dirty="0">
                <a:solidFill>
                  <a:srgbClr val="2B2B2B"/>
                </a:solidFill>
              </a:rPr>
              <a:t>1</a:t>
            </a:r>
          </a:p>
        </p:txBody>
      </p:sp>
      <p:sp>
        <p:nvSpPr>
          <p:cNvPr id="304" name="Stat"/>
          <p:cNvSpPr/>
          <p:nvPr/>
        </p:nvSpPr>
        <p:spPr>
          <a:xfrm>
            <a:off x="6172200" y="1422400"/>
            <a:ext cx="2578100" cy="1574800"/>
          </a:xfrm>
          <a:prstGeom prst="roundRect">
            <a:avLst>
              <a:gd name="adj" fmla="val 8000"/>
            </a:avLst>
          </a:prstGeom>
          <a:solidFill>
            <a:srgbClr val="E3EAF5"/>
          </a:solidFill>
          <a:ln>
            <a:noFill/>
          </a:ln>
        </p:spPr>
        <p:txBody>
          <a:bodyPr wrap="square" lIns="177800" tIns="177800" rIns="177800" bIns="177800" anchor="t">
            <a:noAutofit/>
          </a:bodyPr>
          <a:lstStyle/>
          <a:p>
            <a:pPr>
              <a:spcBef>
                <a:spcPts val="0"/>
              </a:spcBef>
              <a:buNone/>
            </a:pPr>
            <a:r>
              <a:rPr lang="en-GB" sz="3600" b="1" dirty="0">
                <a:solidFill>
                  <a:srgbClr val="A9218E"/>
                </a:solidFill>
              </a:rPr>
              <a:t>98%</a:t>
            </a:r>
          </a:p>
          <a:p>
            <a:pPr>
              <a:spcBef>
                <a:spcPts val="300"/>
              </a:spcBef>
              <a:buNone/>
            </a:pPr>
            <a:r>
              <a:rPr lang="en-GB" sz="1300" b="1" dirty="0">
                <a:solidFill>
                  <a:srgbClr val="002E56"/>
                </a:solidFill>
              </a:rPr>
              <a:t>compliance in the clinical studies</a:t>
            </a:r>
            <a:r>
              <a:rPr lang="en-GB" sz="1400" baseline="30000" dirty="0">
                <a:solidFill>
                  <a:srgbClr val="2B2B2B"/>
                </a:solidFill>
              </a:rPr>
              <a:t>2</a:t>
            </a:r>
          </a:p>
        </p:txBody>
      </p:sp>
      <p:sp>
        <p:nvSpPr>
          <p:cNvPr id="305" name="Stat"/>
          <p:cNvSpPr/>
          <p:nvPr/>
        </p:nvSpPr>
        <p:spPr>
          <a:xfrm>
            <a:off x="8928100" y="1422400"/>
            <a:ext cx="2578100" cy="1574800"/>
          </a:xfrm>
          <a:prstGeom prst="roundRect">
            <a:avLst>
              <a:gd name="adj" fmla="val 8000"/>
            </a:avLst>
          </a:prstGeom>
          <a:solidFill>
            <a:srgbClr val="E3EAF5"/>
          </a:solidFill>
          <a:ln>
            <a:noFill/>
          </a:ln>
        </p:spPr>
        <p:txBody>
          <a:bodyPr wrap="square" lIns="177800" tIns="177800" rIns="177800" bIns="177800" anchor="t">
            <a:noAutofit/>
          </a:bodyPr>
          <a:lstStyle/>
          <a:p>
            <a:pPr>
              <a:spcBef>
                <a:spcPts val="0"/>
              </a:spcBef>
              <a:buNone/>
            </a:pPr>
            <a:r>
              <a:rPr lang="en-GB" sz="3600" b="1" dirty="0">
                <a:solidFill>
                  <a:srgbClr val="A9218E"/>
                </a:solidFill>
              </a:rPr>
              <a:t>95%</a:t>
            </a:r>
          </a:p>
          <a:p>
            <a:pPr>
              <a:spcBef>
                <a:spcPts val="300"/>
              </a:spcBef>
              <a:buNone/>
            </a:pPr>
            <a:r>
              <a:rPr lang="en-GB" sz="1300" b="1" dirty="0">
                <a:solidFill>
                  <a:srgbClr val="002E56"/>
                </a:solidFill>
              </a:rPr>
              <a:t>compliance in the Resurvey Study</a:t>
            </a:r>
            <a:r>
              <a:rPr lang="en-GB" sz="1400" baseline="30000" dirty="0">
                <a:solidFill>
                  <a:srgbClr val="2B2B2B"/>
                </a:solidFill>
              </a:rPr>
              <a:t>1</a:t>
            </a:r>
          </a:p>
        </p:txBody>
      </p:sp>
      <p:sp>
        <p:nvSpPr>
          <p:cNvPr id="306" name="About"/>
          <p:cNvSpPr/>
          <p:nvPr/>
        </p:nvSpPr>
        <p:spPr>
          <a:xfrm>
            <a:off x="660400" y="3175000"/>
            <a:ext cx="5346700" cy="23368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About the study</a:t>
            </a:r>
          </a:p>
          <a:p>
            <a:pPr marL="177800" indent="-177800">
              <a:spcBef>
                <a:spcPts val="500"/>
              </a:spcBef>
              <a:buClr>
                <a:srgbClr val="28509C"/>
              </a:buClr>
              <a:buFont typeface="Arial"/>
              <a:buChar char="•"/>
            </a:pPr>
            <a:r>
              <a:rPr lang="en-GB" sz="1400" dirty="0">
                <a:solidFill>
                  <a:srgbClr val="2B2B2B"/>
                </a:solidFill>
              </a:rPr>
              <a:t>10-year follow-up of medical history, clinical assessment and survival in patients from the original Survey Study</a:t>
            </a:r>
            <a:r>
              <a:rPr lang="en-GB" sz="1400" baseline="30000" dirty="0">
                <a:solidFill>
                  <a:srgbClr val="2B2B2B"/>
                </a:solidFill>
              </a:rPr>
              <a:t>1</a:t>
            </a:r>
          </a:p>
          <a:p>
            <a:pPr marL="177800" indent="-177800">
              <a:spcBef>
                <a:spcPts val="500"/>
              </a:spcBef>
              <a:buClr>
                <a:srgbClr val="28509C"/>
              </a:buClr>
              <a:buFont typeface="Arial"/>
              <a:buChar char="•"/>
            </a:pPr>
            <a:r>
              <a:rPr lang="en-GB" sz="1400" dirty="0">
                <a:solidFill>
                  <a:srgbClr val="2B2B2B"/>
                </a:solidFill>
              </a:rPr>
              <a:t>Results were consistent with clinical trials of long-term galsulfase use in MPS VI</a:t>
            </a:r>
            <a:r>
              <a:rPr lang="en-GB" sz="1400" baseline="30000" dirty="0">
                <a:solidFill>
                  <a:srgbClr val="2B2B2B"/>
                </a:solidFill>
              </a:rPr>
              <a:t>1</a:t>
            </a:r>
          </a:p>
        </p:txBody>
      </p:sp>
      <p:sp>
        <p:nvSpPr>
          <p:cNvPr id="307" name="Key message"/>
          <p:cNvSpPr/>
          <p:nvPr/>
        </p:nvSpPr>
        <p:spPr>
          <a:xfrm>
            <a:off x="6184900" y="3175000"/>
            <a:ext cx="5346700" cy="2336800"/>
          </a:xfrm>
          <a:prstGeom prst="roundRect">
            <a:avLst>
              <a:gd name="adj" fmla="val 8000"/>
            </a:avLst>
          </a:prstGeom>
          <a:solidFill>
            <a:srgbClr val="E3EAF5"/>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Key message</a:t>
            </a:r>
          </a:p>
          <a:p>
            <a:pPr>
              <a:spcBef>
                <a:spcPts val="600"/>
              </a:spcBef>
              <a:buNone/>
            </a:pPr>
            <a:r>
              <a:rPr lang="en-GB" sz="2000" b="1" dirty="0">
                <a:solidFill>
                  <a:srgbClr val="002E56"/>
                </a:solidFill>
              </a:rPr>
              <a:t>Start galsulfase as soon as MPS VI is confirmed</a:t>
            </a:r>
            <a:r>
              <a:rPr lang="en-GB" sz="1400" baseline="30000" dirty="0">
                <a:solidFill>
                  <a:srgbClr val="2B2B2B"/>
                </a:solidFill>
              </a:rPr>
              <a:t>1</a:t>
            </a:r>
          </a:p>
          <a:p>
            <a:pPr>
              <a:spcBef>
                <a:spcPts val="600"/>
              </a:spcBef>
              <a:buNone/>
            </a:pPr>
            <a:r>
              <a:rPr lang="en-GB" sz="1400" dirty="0">
                <a:solidFill>
                  <a:srgbClr val="2B2B2B"/>
                </a:solidFill>
              </a:rPr>
              <a:t>Long-term Resurvey data and the phase 3 trial results both reaffirm early treatment and good compliance</a:t>
            </a:r>
          </a:p>
        </p:txBody>
      </p:sp>
      <p:sp>
        <p:nvSpPr>
          <p:cNvPr id="308"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ERT, enzyme replacement therapy; MPS, mucopolysaccharidosis</a:t>
            </a:r>
          </a:p>
        </p:txBody>
      </p:sp>
      <p:sp>
        <p:nvSpPr>
          <p:cNvPr id="309"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Giugliani R et al. Am J Med Genet A 2014;164A:1953–64. 2. Harmatz P et al. Mol Genet Metab 2008;94:469–75.</a:t>
            </a:r>
          </a:p>
        </p:txBody>
      </p:sp>
    </p:spTree>
    <p:extLst>
      <p:ext uri="{BB962C8B-B14F-4D97-AF65-F5344CB8AC3E}">
        <p14:creationId xmlns:p14="http://schemas.microsoft.com/office/powerpoint/2010/main" val="24472207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Resurvey Study: results after about 10 years of galsulfase</a:t>
            </a:r>
          </a:p>
        </p:txBody>
      </p:sp>
      <p:sp>
        <p:nvSpPr>
          <p:cNvPr id="302" name="Urinary GAGs"/>
          <p:cNvSpPr/>
          <p:nvPr/>
        </p:nvSpPr>
        <p:spPr>
          <a:xfrm>
            <a:off x="660400" y="1422400"/>
            <a:ext cx="3454400" cy="4089400"/>
          </a:xfrm>
          <a:prstGeom prst="roundRect">
            <a:avLst>
              <a:gd name="adj" fmla="val 8000"/>
            </a:avLst>
          </a:prstGeom>
          <a:solidFill>
            <a:srgbClr val="E3EAF5"/>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Urinary GAGs</a:t>
            </a:r>
          </a:p>
          <a:p>
            <a:pPr>
              <a:spcBef>
                <a:spcPts val="400"/>
              </a:spcBef>
              <a:buNone/>
            </a:pPr>
            <a:r>
              <a:rPr lang="en-GB" sz="3600" b="1" dirty="0">
                <a:solidFill>
                  <a:srgbClr val="28509C"/>
                </a:solidFill>
              </a:rPr>
              <a:t>−87.9%</a:t>
            </a:r>
          </a:p>
          <a:p>
            <a:pPr>
              <a:spcBef>
                <a:spcPts val="100"/>
              </a:spcBef>
              <a:buNone/>
            </a:pPr>
            <a:r>
              <a:rPr lang="en-GB" sz="1300" b="1" dirty="0">
                <a:solidFill>
                  <a:srgbClr val="002E56"/>
                </a:solidFill>
              </a:rPr>
              <a:t>reduction in uGAG from a mean 321.3 µg/mg creatinine at baseline</a:t>
            </a:r>
          </a:p>
          <a:p>
            <a:pPr marL="177800" indent="-177800">
              <a:spcBef>
                <a:spcPts val="500"/>
              </a:spcBef>
              <a:buClr>
                <a:srgbClr val="28509C"/>
              </a:buClr>
              <a:buFont typeface="Arial"/>
              <a:buChar char="•"/>
            </a:pPr>
            <a:r>
              <a:rPr lang="en-GB" sz="1400" dirty="0">
                <a:solidFill>
                  <a:srgbClr val="2B2B2B"/>
                </a:solidFill>
              </a:rPr>
              <a:t>All treated patients (n=55) reached uGAG &lt;100 µg/mg creatinine</a:t>
            </a:r>
            <a:r>
              <a:rPr lang="en-GB" sz="1400" baseline="30000" dirty="0">
                <a:solidFill>
                  <a:srgbClr val="2B2B2B"/>
                </a:solidFill>
              </a:rPr>
              <a:t>1</a:t>
            </a:r>
          </a:p>
          <a:p>
            <a:pPr marL="177800" indent="-177800">
              <a:spcBef>
                <a:spcPts val="500"/>
              </a:spcBef>
              <a:buClr>
                <a:srgbClr val="28509C"/>
              </a:buClr>
              <a:buFont typeface="Arial"/>
              <a:buChar char="•"/>
            </a:pPr>
            <a:r>
              <a:rPr lang="en-GB" sz="1200" dirty="0">
                <a:solidFill>
                  <a:srgbClr val="646464"/>
                </a:solidFill>
              </a:rPr>
              <a:t>No P value available</a:t>
            </a:r>
          </a:p>
        </p:txBody>
      </p:sp>
      <p:sp>
        <p:nvSpPr>
          <p:cNvPr id="303" name="Endurance (6MWT, n=46)"/>
          <p:cNvSpPr/>
          <p:nvPr/>
        </p:nvSpPr>
        <p:spPr>
          <a:xfrm>
            <a:off x="4368800" y="1422400"/>
            <a:ext cx="3454400" cy="40894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Endurance (6MWT, n=46)</a:t>
            </a:r>
          </a:p>
          <a:p>
            <a:pPr>
              <a:spcBef>
                <a:spcPts val="400"/>
              </a:spcBef>
              <a:buNone/>
            </a:pPr>
            <a:r>
              <a:rPr lang="en-GB" sz="3600" b="1" dirty="0">
                <a:solidFill>
                  <a:srgbClr val="28509C"/>
                </a:solidFill>
              </a:rPr>
              <a:t>+65.7 m</a:t>
            </a:r>
          </a:p>
          <a:p>
            <a:pPr>
              <a:spcBef>
                <a:spcPts val="100"/>
              </a:spcBef>
              <a:buNone/>
            </a:pPr>
            <a:r>
              <a:rPr lang="en-GB" sz="1300" b="1" dirty="0">
                <a:solidFill>
                  <a:srgbClr val="002E56"/>
                </a:solidFill>
              </a:rPr>
              <a:t>a mean 21% increase over baseline (P&lt;0.0001)</a:t>
            </a:r>
          </a:p>
          <a:p>
            <a:pPr marL="177800" indent="-177800">
              <a:spcBef>
                <a:spcPts val="500"/>
              </a:spcBef>
              <a:buClr>
                <a:srgbClr val="28509C"/>
              </a:buClr>
              <a:buFont typeface="Arial"/>
              <a:buChar char="•"/>
            </a:pPr>
            <a:r>
              <a:rPr lang="en-GB" sz="1400" dirty="0">
                <a:solidFill>
                  <a:srgbClr val="2B2B2B"/>
                </a:solidFill>
              </a:rPr>
              <a:t>All age subgroups improved</a:t>
            </a:r>
            <a:r>
              <a:rPr lang="en-GB" sz="1400" baseline="30000" dirty="0">
                <a:solidFill>
                  <a:srgbClr val="2B2B2B"/>
                </a:solidFill>
              </a:rPr>
              <a:t>1</a:t>
            </a:r>
          </a:p>
          <a:p>
            <a:pPr marL="177800" indent="-177800">
              <a:spcBef>
                <a:spcPts val="500"/>
              </a:spcBef>
              <a:buClr>
                <a:srgbClr val="28509C"/>
              </a:buClr>
              <a:buFont typeface="Arial"/>
              <a:buChar char="•"/>
            </a:pPr>
            <a:r>
              <a:rPr lang="en-GB" sz="1400" dirty="0">
                <a:solidFill>
                  <a:srgbClr val="2B2B2B"/>
                </a:solidFill>
              </a:rPr>
              <a:t>uGAG &lt;100: </a:t>
            </a:r>
            <a:r>
              <a:rPr lang="en-GB" sz="1400" b="1" dirty="0">
                <a:solidFill>
                  <a:srgbClr val="2B2B2B"/>
                </a:solidFill>
              </a:rPr>
              <a:t>+19%</a:t>
            </a:r>
            <a:r>
              <a:rPr lang="en-GB" sz="1400" dirty="0">
                <a:solidFill>
                  <a:srgbClr val="2B2B2B"/>
                </a:solidFill>
              </a:rPr>
              <a:t> (P=0.0033); 100–200: </a:t>
            </a:r>
            <a:r>
              <a:rPr lang="en-GB" sz="1400" b="1" dirty="0">
                <a:solidFill>
                  <a:srgbClr val="2B2B2B"/>
                </a:solidFill>
              </a:rPr>
              <a:t>+11%</a:t>
            </a:r>
            <a:r>
              <a:rPr lang="en-GB" sz="1400" dirty="0">
                <a:solidFill>
                  <a:srgbClr val="2B2B2B"/>
                </a:solidFill>
              </a:rPr>
              <a:t>; ≥200: reduced distance</a:t>
            </a:r>
            <a:r>
              <a:rPr lang="en-GB" sz="1400" baseline="30000" dirty="0">
                <a:solidFill>
                  <a:srgbClr val="2B2B2B"/>
                </a:solidFill>
              </a:rPr>
              <a:t>1</a:t>
            </a:r>
          </a:p>
        </p:txBody>
      </p:sp>
      <p:sp>
        <p:nvSpPr>
          <p:cNvPr id="304" name="Lung function"/>
          <p:cNvSpPr/>
          <p:nvPr/>
        </p:nvSpPr>
        <p:spPr>
          <a:xfrm>
            <a:off x="8077200" y="1422400"/>
            <a:ext cx="3454400" cy="40894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1100" b="1" spc="60" dirty="0">
                <a:solidFill>
                  <a:srgbClr val="28509C"/>
                </a:solidFill>
              </a:rPr>
              <a:t>Lung function</a:t>
            </a:r>
          </a:p>
          <a:p>
            <a:pPr>
              <a:spcBef>
                <a:spcPts val="400"/>
              </a:spcBef>
              <a:buNone/>
            </a:pPr>
            <a:r>
              <a:rPr lang="en-GB" sz="3600" b="1" dirty="0">
                <a:solidFill>
                  <a:srgbClr val="A9218E"/>
                </a:solidFill>
              </a:rPr>
              <a:t>+29% FVC</a:t>
            </a:r>
          </a:p>
          <a:p>
            <a:pPr>
              <a:spcBef>
                <a:spcPts val="100"/>
              </a:spcBef>
              <a:buNone/>
            </a:pPr>
            <a:r>
              <a:rPr lang="en-GB" sz="1300" b="1" dirty="0">
                <a:solidFill>
                  <a:srgbClr val="002E56"/>
                </a:solidFill>
              </a:rPr>
              <a:t>and +18% FEV1 over baseline (P&lt;0.0001; P=0.001)</a:t>
            </a:r>
          </a:p>
          <a:p>
            <a:pPr marL="177800" indent="-177800">
              <a:spcBef>
                <a:spcPts val="500"/>
              </a:spcBef>
              <a:buClr>
                <a:srgbClr val="28509C"/>
              </a:buClr>
              <a:buFont typeface="Arial"/>
              <a:buChar char="•"/>
            </a:pPr>
            <a:r>
              <a:rPr lang="en-GB" sz="1400" dirty="0">
                <a:solidFill>
                  <a:srgbClr val="2B2B2B"/>
                </a:solidFill>
              </a:rPr>
              <a:t>&lt;13 years: </a:t>
            </a:r>
            <a:r>
              <a:rPr lang="en-GB" sz="1400" b="1" dirty="0">
                <a:solidFill>
                  <a:srgbClr val="2B2B2B"/>
                </a:solidFill>
              </a:rPr>
              <a:t>FVC +68%</a:t>
            </a:r>
            <a:r>
              <a:rPr lang="en-GB" sz="1400" dirty="0">
                <a:solidFill>
                  <a:srgbClr val="2B2B2B"/>
                </a:solidFill>
              </a:rPr>
              <a:t> (P=0.0002), </a:t>
            </a:r>
            <a:r>
              <a:rPr lang="en-GB" sz="1400" b="1" dirty="0">
                <a:solidFill>
                  <a:srgbClr val="2B2B2B"/>
                </a:solidFill>
              </a:rPr>
              <a:t>FEV1 +55%</a:t>
            </a:r>
            <a:r>
              <a:rPr lang="en-GB" sz="1400" dirty="0">
                <a:solidFill>
                  <a:srgbClr val="2B2B2B"/>
                </a:solidFill>
              </a:rPr>
              <a:t> (P=0.0005)</a:t>
            </a:r>
            <a:r>
              <a:rPr lang="en-GB" sz="1400" baseline="30000" dirty="0">
                <a:solidFill>
                  <a:srgbClr val="2B2B2B"/>
                </a:solidFill>
              </a:rPr>
              <a:t>1</a:t>
            </a:r>
          </a:p>
          <a:p>
            <a:pPr marL="177800" indent="-177800">
              <a:spcBef>
                <a:spcPts val="500"/>
              </a:spcBef>
              <a:buClr>
                <a:srgbClr val="28509C"/>
              </a:buClr>
              <a:buFont typeface="Arial"/>
              <a:buChar char="•"/>
            </a:pPr>
            <a:r>
              <a:rPr lang="en-GB" sz="1400" dirty="0">
                <a:solidFill>
                  <a:srgbClr val="2B2B2B"/>
                </a:solidFill>
              </a:rPr>
              <a:t>≥13 years: </a:t>
            </a:r>
            <a:r>
              <a:rPr lang="en-GB" sz="1400" b="1" dirty="0">
                <a:solidFill>
                  <a:srgbClr val="2B2B2B"/>
                </a:solidFill>
              </a:rPr>
              <a:t>FVC +13%</a:t>
            </a:r>
            <a:r>
              <a:rPr lang="en-GB" sz="1400" dirty="0">
                <a:solidFill>
                  <a:srgbClr val="2B2B2B"/>
                </a:solidFill>
              </a:rPr>
              <a:t> (P=0.011); FEV1 stable</a:t>
            </a:r>
            <a:r>
              <a:rPr lang="en-GB" sz="1400" baseline="30000" dirty="0">
                <a:solidFill>
                  <a:srgbClr val="2B2B2B"/>
                </a:solidFill>
              </a:rPr>
              <a:t>1</a:t>
            </a:r>
          </a:p>
        </p:txBody>
      </p:sp>
      <p:sp>
        <p:nvSpPr>
          <p:cNvPr id="305"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6MWT, 6-minute walk test; FEV1, forced expiratory volume in 1 second; FVC, forced vital capacity; uGAG, urinary glycosaminoglycan. No data from ERT-naïve patients for comparison</a:t>
            </a:r>
          </a:p>
        </p:txBody>
      </p:sp>
      <p:sp>
        <p:nvSpPr>
          <p:cNvPr id="306"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Giugliani R et al. Am J Med Genet A 2014;164A:1953–64.</a:t>
            </a:r>
          </a:p>
        </p:txBody>
      </p:sp>
    </p:spTree>
    <p:extLst>
      <p:ext uri="{BB962C8B-B14F-4D97-AF65-F5344CB8AC3E}">
        <p14:creationId xmlns:p14="http://schemas.microsoft.com/office/powerpoint/2010/main" val="21150221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Galsulfase: endurance after 10 years</a:t>
            </a:r>
            <a:endParaRPr lang="en-GB" dirty="0"/>
          </a:p>
        </p:txBody>
      </p:sp>
      <p:sp>
        <p:nvSpPr>
          <p:cNvPr id="302" name="Body"/>
          <p:cNvSpPr txBox="1"/>
          <p:nvPr/>
        </p:nvSpPr>
        <p:spPr>
          <a:xfrm>
            <a:off x="7315200" y="1498600"/>
            <a:ext cx="4216400" cy="2159000"/>
          </a:xfrm>
          <a:prstGeom prst="rect">
            <a:avLst/>
          </a:prstGeom>
          <a:noFill/>
        </p:spPr>
        <p:txBody>
          <a:bodyPr wrap="square" lIns="0" tIns="0" rIns="0" bIns="0" anchor="t">
            <a:noAutofit/>
          </a:bodyPr>
          <a:lstStyle/>
          <a:p>
            <a:pPr marL="177800" indent="-177800">
              <a:spcBef>
                <a:spcPts val="0"/>
              </a:spcBef>
              <a:buClr>
                <a:srgbClr val="28509C"/>
              </a:buClr>
              <a:buFont typeface="Arial"/>
              <a:buChar char="•"/>
            </a:pPr>
            <a:r>
              <a:rPr lang="en-GB" sz="1400" dirty="0">
                <a:solidFill>
                  <a:srgbClr val="2B2B2B"/>
                </a:solidFill>
              </a:rPr>
              <a:t>Patients who completed the 6MWT (n=46) walked </a:t>
            </a:r>
            <a:r>
              <a:rPr lang="en-GB" sz="1400" b="1" dirty="0">
                <a:solidFill>
                  <a:srgbClr val="002E56"/>
                </a:solidFill>
              </a:rPr>
              <a:t>65.7 m further</a:t>
            </a:r>
            <a:r>
              <a:rPr lang="en-GB" sz="1400" dirty="0">
                <a:solidFill>
                  <a:srgbClr val="2B2B2B"/>
                </a:solidFill>
              </a:rPr>
              <a:t> than at baseline, a mean increase of 21% (P&lt;0.0001)</a:t>
            </a:r>
            <a:r>
              <a:rPr lang="en-GB" sz="1400" baseline="30000" dirty="0">
                <a:solidFill>
                  <a:srgbClr val="2B2B2B"/>
                </a:solidFill>
              </a:rPr>
              <a:t>1,a–c</a:t>
            </a:r>
          </a:p>
          <a:p>
            <a:pPr marL="177800" indent="-177800">
              <a:spcBef>
                <a:spcPts val="900"/>
              </a:spcBef>
              <a:buClr>
                <a:srgbClr val="28509C"/>
              </a:buClr>
              <a:buFont typeface="Arial"/>
              <a:buChar char="•"/>
            </a:pPr>
            <a:r>
              <a:rPr lang="en-GB" sz="1400" dirty="0">
                <a:solidFill>
                  <a:srgbClr val="2B2B2B"/>
                </a:solidFill>
              </a:rPr>
              <a:t>All age subgroups improved in mean distance walked (P values not available)</a:t>
            </a:r>
            <a:r>
              <a:rPr lang="en-GB" sz="1400" baseline="30000" dirty="0">
                <a:solidFill>
                  <a:srgbClr val="2B2B2B"/>
                </a:solidFill>
              </a:rPr>
              <a:t>1,b</a:t>
            </a:r>
          </a:p>
        </p:txBody>
      </p:sp>
      <p:sp>
        <p:nvSpPr>
          <p:cNvPr id="303" name="Accent card"/>
          <p:cNvSpPr/>
          <p:nvPr/>
        </p:nvSpPr>
        <p:spPr>
          <a:xfrm>
            <a:off x="7315200" y="3759200"/>
            <a:ext cx="4216400" cy="1219200"/>
          </a:xfrm>
          <a:prstGeom prst="roundRect">
            <a:avLst>
              <a:gd name="adj" fmla="val 9000"/>
            </a:avLst>
          </a:prstGeom>
          <a:solidFill>
            <a:srgbClr val="E3EAF5"/>
          </a:solidFill>
          <a:ln>
            <a:noFill/>
          </a:ln>
        </p:spPr>
        <p:txBody>
          <a:bodyPr wrap="square" lIns="177800" tIns="177800" rIns="177800" bIns="177800" anchor="ctr">
            <a:noAutofit/>
          </a:bodyPr>
          <a:lstStyle/>
          <a:p>
            <a:pPr>
              <a:spcBef>
                <a:spcPts val="0"/>
              </a:spcBef>
              <a:buNone/>
            </a:pPr>
            <a:r>
              <a:rPr lang="en-GB" sz="1400" b="1" dirty="0">
                <a:solidFill>
                  <a:srgbClr val="28509C"/>
                </a:solidFill>
              </a:rPr>
              <a:t>Why endurance matters: </a:t>
            </a:r>
            <a:r>
              <a:rPr lang="en-GB" sz="1400" dirty="0">
                <a:solidFill>
                  <a:srgbClr val="2B2B2B"/>
                </a:solidFill>
              </a:rPr>
              <a:t>it reflects disease change, cardiopulmonary health, exercise capacity, mobility and extent of morbidity</a:t>
            </a:r>
            <a:r>
              <a:rPr lang="en-GB" sz="1400" baseline="30000" dirty="0">
                <a:solidFill>
                  <a:srgbClr val="2B2B2B"/>
                </a:solidFill>
              </a:rPr>
              <a:t>1,2</a:t>
            </a:r>
          </a:p>
        </p:txBody>
      </p:sp>
      <p:sp>
        <p:nvSpPr>
          <p:cNvPr id="304" name="Abbreviations"/>
          <p:cNvSpPr txBox="1"/>
          <p:nvPr/>
        </p:nvSpPr>
        <p:spPr>
          <a:xfrm>
            <a:off x="660400" y="5105400"/>
            <a:ext cx="10871200" cy="736600"/>
          </a:xfrm>
          <a:prstGeom prst="rect">
            <a:avLst/>
          </a:prstGeom>
          <a:noFill/>
        </p:spPr>
        <p:txBody>
          <a:bodyPr wrap="square" lIns="0" tIns="0" rIns="0" bIns="0" anchor="b">
            <a:noAutofit/>
          </a:bodyPr>
          <a:lstStyle/>
          <a:p>
            <a:pPr>
              <a:spcBef>
                <a:spcPts val="0"/>
              </a:spcBef>
              <a:buNone/>
            </a:pPr>
            <a:r>
              <a:rPr lang="en-GB" sz="1000" i="1" dirty="0">
                <a:solidFill>
                  <a:srgbClr val="404040"/>
                </a:solidFill>
              </a:rPr>
              <a:t>a. Patients who completed the 6MWT had been on galsulfase for a mean 6.9 years (±2.2). b. Eight patients could not take part because they were not independently mobile. c. Consistent with the phase 3 trial, whose values came from the 6-minute point of the 12MWT. Chart adapted from Giugliani et al. 2014. 6MWT, 6-minute walk test; 12MWT, 12-minute walk test</a:t>
            </a:r>
          </a:p>
        </p:txBody>
      </p:sp>
      <p:sp>
        <p:nvSpPr>
          <p:cNvPr id="305" name="References"/>
          <p:cNvSpPr txBox="1"/>
          <p:nvPr/>
        </p:nvSpPr>
        <p:spPr>
          <a:xfrm>
            <a:off x="660400" y="5969000"/>
            <a:ext cx="10871200" cy="381000"/>
          </a:xfrm>
          <a:prstGeom prst="rect">
            <a:avLst/>
          </a:prstGeom>
          <a:noFill/>
        </p:spPr>
        <p:txBody>
          <a:bodyPr wrap="square" lIns="0" tIns="0" rIns="0" bIns="0" anchor="t">
            <a:noAutofit/>
          </a:bodyPr>
          <a:lstStyle/>
          <a:p>
            <a:pPr>
              <a:spcBef>
                <a:spcPts val="0"/>
              </a:spcBef>
              <a:buNone/>
            </a:pPr>
            <a:r>
              <a:rPr lang="en-GB" sz="900" dirty="0">
                <a:solidFill>
                  <a:srgbClr val="646464"/>
                </a:solidFill>
              </a:rPr>
              <a:t>1. Giugliani R et al. Am J Med Genet A 2014;164A:1953–64. 2. Morales-Blanhir JE et al. J Bras Pneumol 2011;37:110–7.</a:t>
            </a:r>
          </a:p>
        </p:txBody>
      </p:sp>
      <p:sp>
        <p:nvSpPr>
          <p:cNvPr id="700" name="Label 700"/>
          <p:cNvSpPr txBox="1"/>
          <p:nvPr/>
        </p:nvSpPr>
        <p:spPr>
          <a:xfrm>
            <a:off x="660400" y="1473200"/>
            <a:ext cx="6350000" cy="203200"/>
          </a:xfrm>
          <a:prstGeom prst="rect">
            <a:avLst/>
          </a:prstGeom>
          <a:noFill/>
        </p:spPr>
        <p:txBody>
          <a:bodyPr wrap="square" lIns="0" tIns="0" rIns="0" bIns="0">
            <a:noAutofit/>
          </a:bodyPr>
          <a:lstStyle/>
          <a:p>
            <a:r>
              <a:rPr lang="en-GB" sz="1100" b="1" dirty="0">
                <a:solidFill>
                  <a:srgbClr val="28509C"/>
                </a:solidFill>
              </a:rPr>
              <a:t>6MWT distance walked by age at baseline, metres (mean)</a:t>
            </a:r>
          </a:p>
        </p:txBody>
      </p:sp>
      <p:graphicFrame>
        <p:nvGraphicFramePr>
          <p:cNvPr id="701" name="Endurance chart"/>
          <p:cNvGraphicFramePr/>
          <p:nvPr/>
        </p:nvGraphicFramePr>
        <p:xfrm>
          <a:off x="660400" y="1727200"/>
          <a:ext cx="6350000" cy="2921000"/>
        </p:xfrm>
        <a:graphic>
          <a:graphicData uri="http://schemas.openxmlformats.org/drawingml/2006/chart">
            <c:chart xmlns:c="http://schemas.openxmlformats.org/drawingml/2006/chart" xmlns:r="http://schemas.openxmlformats.org/officeDocument/2006/relationships" r:id="rId2"/>
          </a:graphicData>
        </a:graphic>
      </p:graphicFrame>
      <p:sp>
        <p:nvSpPr>
          <p:cNvPr id="702" name="Label 702"/>
          <p:cNvSpPr txBox="1"/>
          <p:nvPr/>
        </p:nvSpPr>
        <p:spPr>
          <a:xfrm>
            <a:off x="660400" y="4724400"/>
            <a:ext cx="6350000" cy="228600"/>
          </a:xfrm>
          <a:prstGeom prst="rect">
            <a:avLst/>
          </a:prstGeom>
          <a:noFill/>
        </p:spPr>
        <p:txBody>
          <a:bodyPr wrap="square" lIns="0" tIns="0" rIns="0" bIns="0">
            <a:noAutofit/>
          </a:bodyPr>
          <a:lstStyle/>
          <a:p>
            <a:r>
              <a:rPr lang="en-GB" sz="1300" dirty="0">
                <a:solidFill>
                  <a:srgbClr val="5B2C83"/>
                </a:solidFill>
              </a:rPr>
              <a:t>■ </a:t>
            </a:r>
            <a:r>
              <a:rPr lang="en-GB" sz="1100" b="1" dirty="0">
                <a:solidFill>
                  <a:srgbClr val="5B2C83"/>
                </a:solidFill>
              </a:rPr>
              <a:t>Baseline      </a:t>
            </a:r>
            <a:r>
              <a:rPr lang="en-GB" sz="1300" dirty="0">
                <a:solidFill>
                  <a:srgbClr val="0A9BD8"/>
                </a:solidFill>
              </a:rPr>
              <a:t>■ </a:t>
            </a:r>
            <a:r>
              <a:rPr lang="en-GB" sz="1100" b="1" dirty="0">
                <a:solidFill>
                  <a:srgbClr val="0A7FB3"/>
                </a:solidFill>
              </a:rPr>
              <a:t>Follow-up (Resurvey, ~10 years)</a:t>
            </a:r>
          </a:p>
        </p:txBody>
      </p:sp>
    </p:spTree>
    <p:extLst>
      <p:ext uri="{BB962C8B-B14F-4D97-AF65-F5344CB8AC3E}">
        <p14:creationId xmlns:p14="http://schemas.microsoft.com/office/powerpoint/2010/main" val="3336823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Galsulfase: lung function after 10 years</a:t>
            </a:r>
            <a:endParaRPr lang="en-GB" dirty="0"/>
          </a:p>
        </p:txBody>
      </p:sp>
      <p:sp>
        <p:nvSpPr>
          <p:cNvPr id="302" name="Text"/>
          <p:cNvSpPr/>
          <p:nvPr/>
        </p:nvSpPr>
        <p:spPr>
          <a:xfrm>
            <a:off x="7315200" y="1498600"/>
            <a:ext cx="4216400" cy="1397000"/>
          </a:xfrm>
          <a:prstGeom prst="roundRect">
            <a:avLst>
              <a:gd name="adj" fmla="val 7000"/>
            </a:avLst>
          </a:prstGeom>
          <a:solidFill>
            <a:srgbClr val="F1F4F9"/>
          </a:solidFill>
          <a:ln>
            <a:noFill/>
          </a:ln>
        </p:spPr>
        <p:txBody>
          <a:bodyPr wrap="square" lIns="177800" tIns="177800" rIns="177800" bIns="177800" anchor="ctr">
            <a:noAutofit/>
          </a:bodyPr>
          <a:lstStyle/>
          <a:p>
            <a:pPr>
              <a:spcBef>
                <a:spcPts val="0"/>
              </a:spcBef>
              <a:buNone/>
            </a:pPr>
            <a:r>
              <a:rPr lang="en-GB" sz="1100" b="1" spc="60" dirty="0">
                <a:solidFill>
                  <a:srgbClr val="28509C"/>
                </a:solidFill>
              </a:rPr>
              <a:t>Overall</a:t>
            </a:r>
          </a:p>
          <a:p>
            <a:pPr>
              <a:spcBef>
                <a:spcPts val="300"/>
              </a:spcBef>
              <a:buNone/>
            </a:pPr>
            <a:r>
              <a:rPr lang="en-GB" sz="1400" b="1" dirty="0">
                <a:solidFill>
                  <a:srgbClr val="002E56"/>
                </a:solidFill>
              </a:rPr>
              <a:t>FVC rose 29%</a:t>
            </a:r>
            <a:r>
              <a:rPr lang="en-GB" sz="1400" dirty="0">
                <a:solidFill>
                  <a:srgbClr val="2B2B2B"/>
                </a:solidFill>
              </a:rPr>
              <a:t> (P&lt;0.0001) and </a:t>
            </a:r>
            <a:r>
              <a:rPr lang="en-GB" sz="1400" b="1" dirty="0">
                <a:solidFill>
                  <a:srgbClr val="002E56"/>
                </a:solidFill>
              </a:rPr>
              <a:t>FEV1 18%</a:t>
            </a:r>
            <a:r>
              <a:rPr lang="en-GB" sz="1400" dirty="0">
                <a:solidFill>
                  <a:srgbClr val="2B2B2B"/>
                </a:solidFill>
              </a:rPr>
              <a:t> (P=0.001) over baseline</a:t>
            </a:r>
            <a:r>
              <a:rPr lang="en-GB" sz="1400" baseline="30000" dirty="0">
                <a:solidFill>
                  <a:srgbClr val="2B2B2B"/>
                </a:solidFill>
              </a:rPr>
              <a:t>1,a</a:t>
            </a:r>
          </a:p>
        </p:txBody>
      </p:sp>
      <p:sp>
        <p:nvSpPr>
          <p:cNvPr id="303" name="Text"/>
          <p:cNvSpPr/>
          <p:nvPr/>
        </p:nvSpPr>
        <p:spPr>
          <a:xfrm>
            <a:off x="7315200" y="3022600"/>
            <a:ext cx="4216400" cy="1955800"/>
          </a:xfrm>
          <a:prstGeom prst="roundRect">
            <a:avLst>
              <a:gd name="adj" fmla="val 7000"/>
            </a:avLst>
          </a:prstGeom>
          <a:solidFill>
            <a:srgbClr val="E3EAF5"/>
          </a:solidFill>
          <a:ln>
            <a:noFill/>
          </a:ln>
        </p:spPr>
        <p:txBody>
          <a:bodyPr wrap="square" lIns="177800" tIns="177800" rIns="177800" bIns="177800" anchor="ctr">
            <a:noAutofit/>
          </a:bodyPr>
          <a:lstStyle/>
          <a:p>
            <a:pPr>
              <a:spcBef>
                <a:spcPts val="0"/>
              </a:spcBef>
              <a:buNone/>
            </a:pPr>
            <a:r>
              <a:rPr lang="en-GB" sz="1100" b="1" spc="60" dirty="0">
                <a:solidFill>
                  <a:srgbClr val="28509C"/>
                </a:solidFill>
              </a:rPr>
              <a:t>By age at baseline</a:t>
            </a:r>
          </a:p>
          <a:p>
            <a:pPr marL="177800" indent="-177800">
              <a:spcBef>
                <a:spcPts val="300"/>
              </a:spcBef>
              <a:buClr>
                <a:srgbClr val="28509C"/>
              </a:buClr>
              <a:buFont typeface="Arial"/>
              <a:buChar char="•"/>
            </a:pPr>
            <a:r>
              <a:rPr lang="en-GB" sz="1400" dirty="0">
                <a:solidFill>
                  <a:srgbClr val="2B2B2B"/>
                </a:solidFill>
              </a:rPr>
              <a:t>Under 13: FVC +68% (P=0.0002); FEV1 +55% (P=0.0005)</a:t>
            </a:r>
          </a:p>
          <a:p>
            <a:pPr marL="177800" indent="-177800">
              <a:spcBef>
                <a:spcPts val="400"/>
              </a:spcBef>
              <a:buClr>
                <a:srgbClr val="28509C"/>
              </a:buClr>
              <a:buFont typeface="Arial"/>
              <a:buChar char="•"/>
            </a:pPr>
            <a:r>
              <a:rPr lang="en-GB" sz="1400" dirty="0">
                <a:solidFill>
                  <a:srgbClr val="2B2B2B"/>
                </a:solidFill>
              </a:rPr>
              <a:t>13 and over: FVC +13% (P=0.011); FEV1 stable</a:t>
            </a:r>
            <a:r>
              <a:rPr lang="en-GB" sz="1400" baseline="30000" dirty="0">
                <a:solidFill>
                  <a:srgbClr val="2B2B2B"/>
                </a:solidFill>
              </a:rPr>
              <a:t>1</a:t>
            </a:r>
          </a:p>
        </p:txBody>
      </p:sp>
      <p:sp>
        <p:nvSpPr>
          <p:cNvPr id="304" name="Abbreviations"/>
          <p:cNvSpPr txBox="1"/>
          <p:nvPr/>
        </p:nvSpPr>
        <p:spPr>
          <a:xfrm>
            <a:off x="660400" y="5105400"/>
            <a:ext cx="10871200" cy="736600"/>
          </a:xfrm>
          <a:prstGeom prst="rect">
            <a:avLst/>
          </a:prstGeom>
          <a:noFill/>
        </p:spPr>
        <p:txBody>
          <a:bodyPr wrap="square" lIns="0" tIns="0" rIns="0" bIns="0" anchor="b">
            <a:noAutofit/>
          </a:bodyPr>
          <a:lstStyle/>
          <a:p>
            <a:pPr>
              <a:spcBef>
                <a:spcPts val="0"/>
              </a:spcBef>
              <a:buNone/>
            </a:pPr>
            <a:r>
              <a:rPr lang="en-GB" sz="1000" i="1" dirty="0">
                <a:solidFill>
                  <a:srgbClr val="404040"/>
                </a:solidFill>
              </a:rPr>
              <a:t>a. In the phase 3 trial, FVC and FEV1 improved significantly by 17% (P=0.009) and 11% (P=0.014) at 96 weeks.</a:t>
            </a:r>
            <a:r>
              <a:rPr lang="en-GB" sz="1000" i="1" baseline="30000" dirty="0">
                <a:solidFill>
                  <a:srgbClr val="404040"/>
                </a:solidFill>
              </a:rPr>
              <a:t>2</a:t>
            </a:r>
            <a:r>
              <a:rPr lang="en-GB" sz="1000" i="1" dirty="0">
                <a:solidFill>
                  <a:srgbClr val="404040"/>
                </a:solidFill>
              </a:rPr>
              <a:t> Chart adapted from Giugliani et al. 2014. FEV1, forced expiratory volume in 1 second; FVC, forced vital capacity</a:t>
            </a:r>
          </a:p>
        </p:txBody>
      </p:sp>
      <p:sp>
        <p:nvSpPr>
          <p:cNvPr id="305" name="References"/>
          <p:cNvSpPr txBox="1"/>
          <p:nvPr/>
        </p:nvSpPr>
        <p:spPr>
          <a:xfrm>
            <a:off x="660400" y="5969000"/>
            <a:ext cx="10871200" cy="381000"/>
          </a:xfrm>
          <a:prstGeom prst="rect">
            <a:avLst/>
          </a:prstGeom>
          <a:noFill/>
        </p:spPr>
        <p:txBody>
          <a:bodyPr wrap="square" lIns="0" tIns="0" rIns="0" bIns="0" anchor="t">
            <a:noAutofit/>
          </a:bodyPr>
          <a:lstStyle/>
          <a:p>
            <a:pPr>
              <a:spcBef>
                <a:spcPts val="0"/>
              </a:spcBef>
              <a:buNone/>
            </a:pPr>
            <a:r>
              <a:rPr lang="en-GB" sz="900" dirty="0">
                <a:solidFill>
                  <a:srgbClr val="646464"/>
                </a:solidFill>
              </a:rPr>
              <a:t>1. Giugliani R et al. Am J Med Genet A 2014;164A:1953–64. 2. Harmatz P et al. J Inherit Metab Dis 2010;33:51–60.</a:t>
            </a:r>
          </a:p>
        </p:txBody>
      </p:sp>
      <p:sp>
        <p:nvSpPr>
          <p:cNvPr id="700" name="Label 700"/>
          <p:cNvSpPr txBox="1"/>
          <p:nvPr/>
        </p:nvSpPr>
        <p:spPr>
          <a:xfrm>
            <a:off x="660400" y="1473200"/>
            <a:ext cx="6350000" cy="203200"/>
          </a:xfrm>
          <a:prstGeom prst="rect">
            <a:avLst/>
          </a:prstGeom>
          <a:noFill/>
        </p:spPr>
        <p:txBody>
          <a:bodyPr wrap="square" lIns="0" tIns="0" rIns="0" bIns="0">
            <a:noAutofit/>
          </a:bodyPr>
          <a:lstStyle/>
          <a:p>
            <a:r>
              <a:rPr lang="en-GB" sz="1100" b="1" dirty="0">
                <a:solidFill>
                  <a:srgbClr val="28509C"/>
                </a:solidFill>
              </a:rPr>
              <a:t>FVC and FEV1 by age at baseline, litres (mean)</a:t>
            </a:r>
          </a:p>
        </p:txBody>
      </p:sp>
      <p:graphicFrame>
        <p:nvGraphicFramePr>
          <p:cNvPr id="701" name="Lung chart"/>
          <p:cNvGraphicFramePr/>
          <p:nvPr/>
        </p:nvGraphicFramePr>
        <p:xfrm>
          <a:off x="660400" y="1727200"/>
          <a:ext cx="6350000" cy="2946400"/>
        </p:xfrm>
        <a:graphic>
          <a:graphicData uri="http://schemas.openxmlformats.org/drawingml/2006/chart">
            <c:chart xmlns:c="http://schemas.openxmlformats.org/drawingml/2006/chart" xmlns:r="http://schemas.openxmlformats.org/officeDocument/2006/relationships" r:id="rId2"/>
          </a:graphicData>
        </a:graphic>
      </p:graphicFrame>
      <p:sp>
        <p:nvSpPr>
          <p:cNvPr id="702" name="Label 702"/>
          <p:cNvSpPr txBox="1"/>
          <p:nvPr/>
        </p:nvSpPr>
        <p:spPr>
          <a:xfrm>
            <a:off x="660400" y="4749800"/>
            <a:ext cx="6350000" cy="228600"/>
          </a:xfrm>
          <a:prstGeom prst="rect">
            <a:avLst/>
          </a:prstGeom>
          <a:noFill/>
        </p:spPr>
        <p:txBody>
          <a:bodyPr wrap="square" lIns="0" tIns="0" rIns="0" bIns="0">
            <a:noAutofit/>
          </a:bodyPr>
          <a:lstStyle/>
          <a:p>
            <a:r>
              <a:rPr lang="en-GB" sz="1300" dirty="0">
                <a:solidFill>
                  <a:srgbClr val="5B2C83"/>
                </a:solidFill>
              </a:rPr>
              <a:t>■ </a:t>
            </a:r>
            <a:r>
              <a:rPr lang="en-GB" sz="1100" b="1" dirty="0">
                <a:solidFill>
                  <a:srgbClr val="5B2C83"/>
                </a:solidFill>
              </a:rPr>
              <a:t>Baseline      </a:t>
            </a:r>
            <a:r>
              <a:rPr lang="en-GB" sz="1300" dirty="0">
                <a:solidFill>
                  <a:srgbClr val="0A9BD8"/>
                </a:solidFill>
              </a:rPr>
              <a:t>■ </a:t>
            </a:r>
            <a:r>
              <a:rPr lang="en-GB" sz="1100" b="1" dirty="0">
                <a:solidFill>
                  <a:srgbClr val="0A7FB3"/>
                </a:solidFill>
              </a:rPr>
              <a:t>Follow-up (Resurvey, ~10 years)</a:t>
            </a:r>
          </a:p>
        </p:txBody>
      </p:sp>
    </p:spTree>
    <p:extLst>
      <p:ext uri="{BB962C8B-B14F-4D97-AF65-F5344CB8AC3E}">
        <p14:creationId xmlns:p14="http://schemas.microsoft.com/office/powerpoint/2010/main" val="2997114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a:t>Galsulfase: walking by baseline uGAG level</a:t>
            </a:r>
            <a:endParaRPr lang="en-GB" dirty="0"/>
          </a:p>
        </p:txBody>
      </p:sp>
      <p:sp>
        <p:nvSpPr>
          <p:cNvPr id="302" name="Group card"/>
          <p:cNvSpPr/>
          <p:nvPr/>
        </p:nvSpPr>
        <p:spPr>
          <a:xfrm>
            <a:off x="7569200" y="1498600"/>
            <a:ext cx="3962400" cy="1092200"/>
          </a:xfrm>
          <a:prstGeom prst="roundRect">
            <a:avLst>
              <a:gd name="adj" fmla="val 9000"/>
            </a:avLst>
          </a:prstGeom>
          <a:solidFill>
            <a:srgbClr val="E3EAF5"/>
          </a:solidFill>
          <a:ln>
            <a:noFill/>
          </a:ln>
        </p:spPr>
        <p:txBody>
          <a:bodyPr wrap="square" lIns="177800" tIns="177800" rIns="177800" bIns="177800" anchor="ctr">
            <a:noAutofit/>
          </a:bodyPr>
          <a:lstStyle/>
          <a:p>
            <a:pPr>
              <a:spcBef>
                <a:spcPts val="0"/>
              </a:spcBef>
              <a:buNone/>
            </a:pPr>
            <a:r>
              <a:rPr lang="en-GB" sz="1100" b="1" spc="40" dirty="0">
                <a:solidFill>
                  <a:srgbClr val="28509C"/>
                </a:solidFill>
              </a:rPr>
              <a:t>uGAG &lt;100 µg/mg</a:t>
            </a:r>
          </a:p>
          <a:p>
            <a:pPr>
              <a:spcBef>
                <a:spcPts val="300"/>
              </a:spcBef>
              <a:buNone/>
            </a:pPr>
            <a:r>
              <a:rPr lang="en-GB" sz="1400" dirty="0">
                <a:solidFill>
                  <a:srgbClr val="2B2B2B"/>
                </a:solidFill>
              </a:rPr>
              <a:t>Significant 19% improvement over baseline (P=0.0033)</a:t>
            </a:r>
            <a:r>
              <a:rPr lang="en-GB" sz="1400" baseline="30000" dirty="0">
                <a:solidFill>
                  <a:srgbClr val="2B2B2B"/>
                </a:solidFill>
              </a:rPr>
              <a:t>1</a:t>
            </a:r>
          </a:p>
        </p:txBody>
      </p:sp>
      <p:sp>
        <p:nvSpPr>
          <p:cNvPr id="303" name="Group card"/>
          <p:cNvSpPr/>
          <p:nvPr/>
        </p:nvSpPr>
        <p:spPr>
          <a:xfrm>
            <a:off x="7569200" y="2717800"/>
            <a:ext cx="3962400" cy="1092200"/>
          </a:xfrm>
          <a:prstGeom prst="roundRect">
            <a:avLst>
              <a:gd name="adj" fmla="val 9000"/>
            </a:avLst>
          </a:prstGeom>
          <a:solidFill>
            <a:srgbClr val="F1F4F9"/>
          </a:solidFill>
          <a:ln>
            <a:noFill/>
          </a:ln>
        </p:spPr>
        <p:txBody>
          <a:bodyPr wrap="square" lIns="177800" tIns="177800" rIns="177800" bIns="177800" anchor="ctr">
            <a:noAutofit/>
          </a:bodyPr>
          <a:lstStyle/>
          <a:p>
            <a:pPr>
              <a:spcBef>
                <a:spcPts val="0"/>
              </a:spcBef>
              <a:buNone/>
            </a:pPr>
            <a:r>
              <a:rPr lang="en-GB" sz="1100" b="1" spc="40" dirty="0">
                <a:solidFill>
                  <a:srgbClr val="28509C"/>
                </a:solidFill>
              </a:rPr>
              <a:t>uGAG 100–200 µg/mg</a:t>
            </a:r>
          </a:p>
          <a:p>
            <a:pPr>
              <a:spcBef>
                <a:spcPts val="300"/>
              </a:spcBef>
              <a:buNone/>
            </a:pPr>
            <a:r>
              <a:rPr lang="en-GB" sz="1400" dirty="0">
                <a:solidFill>
                  <a:srgbClr val="2B2B2B"/>
                </a:solidFill>
              </a:rPr>
              <a:t>11% improvement over baseline*</a:t>
            </a:r>
            <a:r>
              <a:rPr lang="en-GB" sz="1400" baseline="30000" dirty="0">
                <a:solidFill>
                  <a:srgbClr val="2B2B2B"/>
                </a:solidFill>
              </a:rPr>
              <a:t>1</a:t>
            </a:r>
          </a:p>
        </p:txBody>
      </p:sp>
      <p:sp>
        <p:nvSpPr>
          <p:cNvPr id="304" name="Group card"/>
          <p:cNvSpPr/>
          <p:nvPr/>
        </p:nvSpPr>
        <p:spPr>
          <a:xfrm>
            <a:off x="7569200" y="3937000"/>
            <a:ext cx="3962400" cy="1092200"/>
          </a:xfrm>
          <a:prstGeom prst="roundRect">
            <a:avLst>
              <a:gd name="adj" fmla="val 9000"/>
            </a:avLst>
          </a:prstGeom>
          <a:solidFill>
            <a:srgbClr val="F1F4F9"/>
          </a:solidFill>
          <a:ln>
            <a:noFill/>
          </a:ln>
        </p:spPr>
        <p:txBody>
          <a:bodyPr wrap="square" lIns="177800" tIns="177800" rIns="177800" bIns="177800" anchor="ctr">
            <a:noAutofit/>
          </a:bodyPr>
          <a:lstStyle/>
          <a:p>
            <a:pPr>
              <a:spcBef>
                <a:spcPts val="0"/>
              </a:spcBef>
              <a:buNone/>
            </a:pPr>
            <a:r>
              <a:rPr lang="en-GB" sz="1100" b="1" spc="40" dirty="0">
                <a:solidFill>
                  <a:srgbClr val="28509C"/>
                </a:solidFill>
              </a:rPr>
              <a:t>uGAG ≥200 µg/mg</a:t>
            </a:r>
          </a:p>
          <a:p>
            <a:pPr>
              <a:spcBef>
                <a:spcPts val="300"/>
              </a:spcBef>
              <a:buNone/>
            </a:pPr>
            <a:r>
              <a:rPr lang="en-GB" sz="1400" dirty="0">
                <a:solidFill>
                  <a:srgbClr val="2B2B2B"/>
                </a:solidFill>
              </a:rPr>
              <a:t>Reduction in distance walked; no ERT-naïve data to compare</a:t>
            </a:r>
            <a:r>
              <a:rPr lang="en-GB" sz="1400" baseline="30000" dirty="0">
                <a:solidFill>
                  <a:srgbClr val="2B2B2B"/>
                </a:solidFill>
              </a:rPr>
              <a:t>1</a:t>
            </a:r>
          </a:p>
        </p:txBody>
      </p:sp>
      <p:sp>
        <p:nvSpPr>
          <p:cNvPr id="305" name="Abbreviations"/>
          <p:cNvSpPr txBox="1"/>
          <p:nvPr/>
        </p:nvSpPr>
        <p:spPr>
          <a:xfrm>
            <a:off x="660400" y="5232400"/>
            <a:ext cx="10871200" cy="584200"/>
          </a:xfrm>
          <a:prstGeom prst="rect">
            <a:avLst/>
          </a:prstGeom>
          <a:noFill/>
        </p:spPr>
        <p:txBody>
          <a:bodyPr wrap="square" lIns="0" tIns="0" rIns="0" bIns="0" anchor="b">
            <a:noAutofit/>
          </a:bodyPr>
          <a:lstStyle/>
          <a:p>
            <a:pPr>
              <a:spcBef>
                <a:spcPts val="0"/>
              </a:spcBef>
              <a:buNone/>
            </a:pPr>
            <a:r>
              <a:rPr lang="en-GB" sz="1100" i="1" dirty="0">
                <a:solidFill>
                  <a:srgbClr val="404040"/>
                </a:solidFill>
              </a:rPr>
              <a:t>*No P value is available. Chart adapted from Giugliani et al. 2014. ERT, enzyme replacement therapy; uGAG, urinary glycosaminoglycans</a:t>
            </a:r>
          </a:p>
        </p:txBody>
      </p:sp>
      <p:sp>
        <p:nvSpPr>
          <p:cNvPr id="306" name="References"/>
          <p:cNvSpPr txBox="1"/>
          <p:nvPr/>
        </p:nvSpPr>
        <p:spPr>
          <a:xfrm>
            <a:off x="660400" y="6019800"/>
            <a:ext cx="10871200" cy="203200"/>
          </a:xfrm>
          <a:prstGeom prst="rect">
            <a:avLst/>
          </a:prstGeom>
          <a:noFill/>
        </p:spPr>
        <p:txBody>
          <a:bodyPr wrap="square" lIns="0" tIns="0" rIns="0" bIns="0" anchor="t">
            <a:noAutofit/>
          </a:bodyPr>
          <a:lstStyle/>
          <a:p>
            <a:pPr>
              <a:spcBef>
                <a:spcPts val="0"/>
              </a:spcBef>
              <a:buNone/>
            </a:pPr>
            <a:r>
              <a:rPr lang="en-GB" sz="900" dirty="0">
                <a:solidFill>
                  <a:srgbClr val="646464"/>
                </a:solidFill>
              </a:rPr>
              <a:t>1. Giugliani R et al. Am J Med Genet A 2014;164A:1953–64.</a:t>
            </a:r>
          </a:p>
        </p:txBody>
      </p:sp>
      <p:sp>
        <p:nvSpPr>
          <p:cNvPr id="700" name="Label 700"/>
          <p:cNvSpPr txBox="1"/>
          <p:nvPr/>
        </p:nvSpPr>
        <p:spPr>
          <a:xfrm>
            <a:off x="660400" y="1473200"/>
            <a:ext cx="6604000" cy="203200"/>
          </a:xfrm>
          <a:prstGeom prst="rect">
            <a:avLst/>
          </a:prstGeom>
          <a:noFill/>
        </p:spPr>
        <p:txBody>
          <a:bodyPr wrap="square" lIns="0" tIns="0" rIns="0" bIns="0">
            <a:noAutofit/>
          </a:bodyPr>
          <a:lstStyle/>
          <a:p>
            <a:r>
              <a:rPr lang="en-GB" sz="1100" b="1" dirty="0">
                <a:solidFill>
                  <a:srgbClr val="28509C"/>
                </a:solidFill>
              </a:rPr>
              <a:t>Change in distance walked from baseline by baseline uGAG level, metres (mean)</a:t>
            </a:r>
          </a:p>
        </p:txBody>
      </p:sp>
      <p:graphicFrame>
        <p:nvGraphicFramePr>
          <p:cNvPr id="701" name="uGAG chart"/>
          <p:cNvGraphicFramePr/>
          <p:nvPr/>
        </p:nvGraphicFramePr>
        <p:xfrm>
          <a:off x="660400" y="1727200"/>
          <a:ext cx="6604000" cy="3098800"/>
        </p:xfrm>
        <a:graphic>
          <a:graphicData uri="http://schemas.openxmlformats.org/drawingml/2006/chart">
            <c:chart xmlns:c="http://schemas.openxmlformats.org/drawingml/2006/chart" xmlns:r="http://schemas.openxmlformats.org/officeDocument/2006/relationships" r:id="rId2"/>
          </a:graphicData>
        </a:graphic>
      </p:graphicFrame>
      <p:sp>
        <p:nvSpPr>
          <p:cNvPr id="702" name="Label 702"/>
          <p:cNvSpPr txBox="1"/>
          <p:nvPr/>
        </p:nvSpPr>
        <p:spPr>
          <a:xfrm>
            <a:off x="660400" y="4902200"/>
            <a:ext cx="6604000" cy="228600"/>
          </a:xfrm>
          <a:prstGeom prst="rect">
            <a:avLst/>
          </a:prstGeom>
          <a:noFill/>
        </p:spPr>
        <p:txBody>
          <a:bodyPr wrap="square" lIns="0" tIns="0" rIns="0" bIns="0">
            <a:noAutofit/>
          </a:bodyPr>
          <a:lstStyle/>
          <a:p>
            <a:r>
              <a:rPr lang="en-GB" sz="1300" dirty="0">
                <a:solidFill>
                  <a:srgbClr val="28509C"/>
                </a:solidFill>
              </a:rPr>
              <a:t>■ </a:t>
            </a:r>
            <a:r>
              <a:rPr lang="en-GB" sz="1100" b="1" dirty="0">
                <a:solidFill>
                  <a:srgbClr val="28509C"/>
                </a:solidFill>
              </a:rPr>
              <a:t>ERT-treated      </a:t>
            </a:r>
            <a:r>
              <a:rPr lang="en-GB" sz="1300" dirty="0">
                <a:solidFill>
                  <a:srgbClr val="A0A0A0"/>
                </a:solidFill>
              </a:rPr>
              <a:t>■ </a:t>
            </a:r>
            <a:r>
              <a:rPr lang="en-GB" sz="1100" b="1" dirty="0">
                <a:solidFill>
                  <a:srgbClr val="646464"/>
                </a:solidFill>
              </a:rPr>
              <a:t>ERT-naïve</a:t>
            </a:r>
          </a:p>
        </p:txBody>
      </p:sp>
    </p:spTree>
    <p:extLst>
      <p:ext uri="{BB962C8B-B14F-4D97-AF65-F5344CB8AC3E}">
        <p14:creationId xmlns:p14="http://schemas.microsoft.com/office/powerpoint/2010/main" val="38669912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Management  |  Galsulfase evidence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Galsulfase: safety data from phase 3 clinical trials</a:t>
            </a:r>
          </a:p>
        </p:txBody>
      </p:sp>
      <p:sp>
        <p:nvSpPr>
          <p:cNvPr id="302" name="Metrics panel"/>
          <p:cNvSpPr/>
          <p:nvPr/>
        </p:nvSpPr>
        <p:spPr>
          <a:xfrm>
            <a:off x="660400" y="1422400"/>
            <a:ext cx="5334000" cy="4089400"/>
          </a:xfrm>
          <a:prstGeom prst="roundRect">
            <a:avLst>
              <a:gd name="adj" fmla="val 8000"/>
            </a:avLst>
          </a:prstGeom>
          <a:solidFill>
            <a:srgbClr val="F1F4F9"/>
          </a:solidFill>
          <a:ln>
            <a:noFill/>
          </a:ln>
        </p:spPr>
        <p:txBody>
          <a:bodyPr wrap="square" lIns="0" tIns="0" rIns="0" bIns="0" anchor="t">
            <a:noAutofit/>
          </a:bodyPr>
          <a:lstStyle/>
          <a:p>
            <a:endParaRPr lang="en-GB" dirty="0"/>
          </a:p>
        </p:txBody>
      </p:sp>
      <p:sp>
        <p:nvSpPr>
          <p:cNvPr id="303" name="Number"/>
          <p:cNvSpPr txBox="1"/>
          <p:nvPr/>
        </p:nvSpPr>
        <p:spPr>
          <a:xfrm>
            <a:off x="914400" y="1574800"/>
            <a:ext cx="4826000" cy="508000"/>
          </a:xfrm>
          <a:prstGeom prst="rect">
            <a:avLst/>
          </a:prstGeom>
          <a:noFill/>
        </p:spPr>
        <p:txBody>
          <a:bodyPr wrap="square" lIns="0" tIns="0" rIns="0" bIns="0" anchor="b">
            <a:noAutofit/>
          </a:bodyPr>
          <a:lstStyle/>
          <a:p>
            <a:pPr>
              <a:spcBef>
                <a:spcPts val="0"/>
              </a:spcBef>
              <a:buNone/>
            </a:pPr>
            <a:r>
              <a:rPr lang="en-GB" sz="3200" b="1" dirty="0">
                <a:solidFill>
                  <a:srgbClr val="28509C"/>
                </a:solidFill>
              </a:rPr>
              <a:t>56%</a:t>
            </a:r>
          </a:p>
        </p:txBody>
      </p:sp>
      <p:sp>
        <p:nvSpPr>
          <p:cNvPr id="304" name="Label"/>
          <p:cNvSpPr txBox="1"/>
          <p:nvPr/>
        </p:nvSpPr>
        <p:spPr>
          <a:xfrm>
            <a:off x="914400" y="2108200"/>
            <a:ext cx="4826000" cy="254000"/>
          </a:xfrm>
          <a:prstGeom prst="rect">
            <a:avLst/>
          </a:prstGeom>
          <a:noFill/>
        </p:spPr>
        <p:txBody>
          <a:bodyPr wrap="square" lIns="0" tIns="0" rIns="0" bIns="0" anchor="t">
            <a:noAutofit/>
          </a:bodyPr>
          <a:lstStyle/>
          <a:p>
            <a:pPr>
              <a:spcBef>
                <a:spcPts val="0"/>
              </a:spcBef>
              <a:buNone/>
            </a:pPr>
            <a:r>
              <a:rPr lang="en-GB" sz="1300" b="1" dirty="0">
                <a:solidFill>
                  <a:srgbClr val="002E56"/>
                </a:solidFill>
              </a:rPr>
              <a:t>33 of 59 patients had an infusion-associated reaction</a:t>
            </a:r>
            <a:r>
              <a:rPr lang="en-GB" sz="1400" baseline="30000" dirty="0">
                <a:solidFill>
                  <a:srgbClr val="2B2B2B"/>
                </a:solidFill>
              </a:rPr>
              <a:t>1</a:t>
            </a:r>
          </a:p>
        </p:txBody>
      </p:sp>
      <p:sp>
        <p:nvSpPr>
          <p:cNvPr id="305" name="Track"/>
          <p:cNvSpPr/>
          <p:nvPr/>
        </p:nvSpPr>
        <p:spPr>
          <a:xfrm>
            <a:off x="914400" y="2438400"/>
            <a:ext cx="4826000" cy="127000"/>
          </a:xfrm>
          <a:prstGeom prst="roundRect">
            <a:avLst>
              <a:gd name="adj" fmla="val 50000"/>
            </a:avLst>
          </a:prstGeom>
          <a:solidFill>
            <a:srgbClr val="D9DEE6"/>
          </a:solidFill>
          <a:ln>
            <a:noFill/>
          </a:ln>
        </p:spPr>
        <p:txBody>
          <a:bodyPr/>
          <a:lstStyle/>
          <a:p>
            <a:endParaRPr lang="en-GB" dirty="0"/>
          </a:p>
        </p:txBody>
      </p:sp>
      <p:sp>
        <p:nvSpPr>
          <p:cNvPr id="306" name="Fill"/>
          <p:cNvSpPr/>
          <p:nvPr/>
        </p:nvSpPr>
        <p:spPr>
          <a:xfrm>
            <a:off x="914400" y="2438400"/>
            <a:ext cx="2699288" cy="127000"/>
          </a:xfrm>
          <a:prstGeom prst="roundRect">
            <a:avLst>
              <a:gd name="adj" fmla="val 50000"/>
            </a:avLst>
          </a:prstGeom>
          <a:solidFill>
            <a:srgbClr val="28509C"/>
          </a:solidFill>
          <a:ln>
            <a:noFill/>
          </a:ln>
        </p:spPr>
        <p:txBody>
          <a:bodyPr/>
          <a:lstStyle/>
          <a:p>
            <a:endParaRPr lang="en-GB" dirty="0"/>
          </a:p>
        </p:txBody>
      </p:sp>
      <p:sp>
        <p:nvSpPr>
          <p:cNvPr id="307" name="Number"/>
          <p:cNvSpPr txBox="1"/>
          <p:nvPr/>
        </p:nvSpPr>
        <p:spPr>
          <a:xfrm>
            <a:off x="914400" y="2819400"/>
            <a:ext cx="4826000" cy="508000"/>
          </a:xfrm>
          <a:prstGeom prst="rect">
            <a:avLst/>
          </a:prstGeom>
          <a:noFill/>
        </p:spPr>
        <p:txBody>
          <a:bodyPr wrap="square" lIns="0" tIns="0" rIns="0" bIns="0" anchor="b">
            <a:noAutofit/>
          </a:bodyPr>
          <a:lstStyle/>
          <a:p>
            <a:pPr>
              <a:spcBef>
                <a:spcPts val="0"/>
              </a:spcBef>
              <a:buNone/>
            </a:pPr>
            <a:r>
              <a:rPr lang="en-GB" sz="3200" b="1" dirty="0">
                <a:solidFill>
                  <a:srgbClr val="A9218E"/>
                </a:solidFill>
              </a:rPr>
              <a:t>98%</a:t>
            </a:r>
          </a:p>
        </p:txBody>
      </p:sp>
      <p:sp>
        <p:nvSpPr>
          <p:cNvPr id="308" name="Label"/>
          <p:cNvSpPr txBox="1"/>
          <p:nvPr/>
        </p:nvSpPr>
        <p:spPr>
          <a:xfrm>
            <a:off x="914400" y="3352800"/>
            <a:ext cx="4826000" cy="254000"/>
          </a:xfrm>
          <a:prstGeom prst="rect">
            <a:avLst/>
          </a:prstGeom>
          <a:noFill/>
        </p:spPr>
        <p:txBody>
          <a:bodyPr wrap="square" lIns="0" tIns="0" rIns="0" bIns="0" anchor="t">
            <a:noAutofit/>
          </a:bodyPr>
          <a:lstStyle/>
          <a:p>
            <a:pPr>
              <a:spcBef>
                <a:spcPts val="0"/>
              </a:spcBef>
              <a:buNone/>
            </a:pPr>
            <a:r>
              <a:rPr lang="en-GB" sz="1300" b="1" dirty="0">
                <a:solidFill>
                  <a:srgbClr val="002E56"/>
                </a:solidFill>
              </a:rPr>
              <a:t>53 of 54 patients developed IgG antibodies</a:t>
            </a:r>
            <a:r>
              <a:rPr lang="en-GB" sz="1400" baseline="30000" dirty="0">
                <a:solidFill>
                  <a:srgbClr val="2B2B2B"/>
                </a:solidFill>
              </a:rPr>
              <a:t>1</a:t>
            </a:r>
          </a:p>
        </p:txBody>
      </p:sp>
      <p:sp>
        <p:nvSpPr>
          <p:cNvPr id="309" name="Track"/>
          <p:cNvSpPr/>
          <p:nvPr/>
        </p:nvSpPr>
        <p:spPr>
          <a:xfrm>
            <a:off x="914400" y="3683000"/>
            <a:ext cx="4826000" cy="127000"/>
          </a:xfrm>
          <a:prstGeom prst="roundRect">
            <a:avLst>
              <a:gd name="adj" fmla="val 50000"/>
            </a:avLst>
          </a:prstGeom>
          <a:solidFill>
            <a:srgbClr val="D9DEE6"/>
          </a:solidFill>
          <a:ln>
            <a:noFill/>
          </a:ln>
        </p:spPr>
        <p:txBody>
          <a:bodyPr/>
          <a:lstStyle/>
          <a:p>
            <a:endParaRPr lang="en-GB" dirty="0"/>
          </a:p>
        </p:txBody>
      </p:sp>
      <p:sp>
        <p:nvSpPr>
          <p:cNvPr id="310" name="Fill"/>
          <p:cNvSpPr/>
          <p:nvPr/>
        </p:nvSpPr>
        <p:spPr>
          <a:xfrm>
            <a:off x="914400" y="3683000"/>
            <a:ext cx="4736630" cy="127000"/>
          </a:xfrm>
          <a:prstGeom prst="roundRect">
            <a:avLst>
              <a:gd name="adj" fmla="val 50000"/>
            </a:avLst>
          </a:prstGeom>
          <a:solidFill>
            <a:srgbClr val="A9218E"/>
          </a:solidFill>
          <a:ln>
            <a:noFill/>
          </a:ln>
        </p:spPr>
        <p:txBody>
          <a:bodyPr/>
          <a:lstStyle/>
          <a:p>
            <a:endParaRPr lang="en-GB" dirty="0"/>
          </a:p>
        </p:txBody>
      </p:sp>
      <p:sp>
        <p:nvSpPr>
          <p:cNvPr id="311" name="Number"/>
          <p:cNvSpPr txBox="1"/>
          <p:nvPr/>
        </p:nvSpPr>
        <p:spPr>
          <a:xfrm>
            <a:off x="914400" y="4064000"/>
            <a:ext cx="4826000" cy="508000"/>
          </a:xfrm>
          <a:prstGeom prst="rect">
            <a:avLst/>
          </a:prstGeom>
          <a:noFill/>
        </p:spPr>
        <p:txBody>
          <a:bodyPr wrap="square" lIns="0" tIns="0" rIns="0" bIns="0" anchor="b">
            <a:noAutofit/>
          </a:bodyPr>
          <a:lstStyle/>
          <a:p>
            <a:pPr>
              <a:spcBef>
                <a:spcPts val="0"/>
              </a:spcBef>
              <a:buNone/>
            </a:pPr>
            <a:r>
              <a:rPr lang="en-GB" sz="3200" b="1" dirty="0">
                <a:solidFill>
                  <a:srgbClr val="002E56"/>
                </a:solidFill>
              </a:rPr>
              <a:t>Week 1–146</a:t>
            </a:r>
          </a:p>
        </p:txBody>
      </p:sp>
      <p:sp>
        <p:nvSpPr>
          <p:cNvPr id="312" name="Label"/>
          <p:cNvSpPr txBox="1"/>
          <p:nvPr/>
        </p:nvSpPr>
        <p:spPr>
          <a:xfrm>
            <a:off x="914400" y="4597400"/>
            <a:ext cx="4826000" cy="254000"/>
          </a:xfrm>
          <a:prstGeom prst="rect">
            <a:avLst/>
          </a:prstGeom>
          <a:noFill/>
        </p:spPr>
        <p:txBody>
          <a:bodyPr wrap="square" lIns="0" tIns="0" rIns="0" bIns="0" anchor="t">
            <a:noAutofit/>
          </a:bodyPr>
          <a:lstStyle/>
          <a:p>
            <a:pPr>
              <a:spcBef>
                <a:spcPts val="0"/>
              </a:spcBef>
              <a:buNone/>
            </a:pPr>
            <a:r>
              <a:rPr lang="en-GB" sz="1300" b="1" dirty="0">
                <a:solidFill>
                  <a:srgbClr val="002E56"/>
                </a:solidFill>
              </a:rPr>
              <a:t>when first infusion reactions appeared</a:t>
            </a:r>
            <a:r>
              <a:rPr lang="en-GB" sz="1400" baseline="30000" dirty="0">
                <a:solidFill>
                  <a:srgbClr val="2B2B2B"/>
                </a:solidFill>
              </a:rPr>
              <a:t>1</a:t>
            </a:r>
          </a:p>
        </p:txBody>
      </p:sp>
      <p:sp>
        <p:nvSpPr>
          <p:cNvPr id="313" name="Track"/>
          <p:cNvSpPr/>
          <p:nvPr/>
        </p:nvSpPr>
        <p:spPr>
          <a:xfrm>
            <a:off x="914400" y="5003800"/>
            <a:ext cx="4826000" cy="127000"/>
          </a:xfrm>
          <a:prstGeom prst="roundRect">
            <a:avLst>
              <a:gd name="adj" fmla="val 50000"/>
            </a:avLst>
          </a:prstGeom>
          <a:solidFill>
            <a:srgbClr val="D9DEE6"/>
          </a:solidFill>
          <a:ln>
            <a:noFill/>
          </a:ln>
        </p:spPr>
        <p:txBody>
          <a:bodyPr/>
          <a:lstStyle/>
          <a:p>
            <a:endParaRPr lang="en-GB" dirty="0"/>
          </a:p>
        </p:txBody>
      </p:sp>
      <p:sp>
        <p:nvSpPr>
          <p:cNvPr id="314" name="Range"/>
          <p:cNvSpPr/>
          <p:nvPr/>
        </p:nvSpPr>
        <p:spPr>
          <a:xfrm>
            <a:off x="945336" y="5003800"/>
            <a:ext cx="4485705" cy="127000"/>
          </a:xfrm>
          <a:prstGeom prst="roundRect">
            <a:avLst>
              <a:gd name="adj" fmla="val 50000"/>
            </a:avLst>
          </a:prstGeom>
          <a:solidFill>
            <a:srgbClr val="9DB3D9"/>
          </a:solidFill>
          <a:ln>
            <a:noFill/>
          </a:ln>
        </p:spPr>
        <p:txBody>
          <a:bodyPr/>
          <a:lstStyle/>
          <a:p>
            <a:endParaRPr lang="en-GB" dirty="0"/>
          </a:p>
        </p:txBody>
      </p:sp>
      <p:sp>
        <p:nvSpPr>
          <p:cNvPr id="315" name="Dot"/>
          <p:cNvSpPr/>
          <p:nvPr/>
        </p:nvSpPr>
        <p:spPr>
          <a:xfrm>
            <a:off x="869136" y="4991100"/>
            <a:ext cx="152400" cy="152400"/>
          </a:xfrm>
          <a:prstGeom prst="ellipse">
            <a:avLst/>
          </a:prstGeom>
          <a:solidFill>
            <a:srgbClr val="002E56"/>
          </a:solidFill>
          <a:ln>
            <a:noFill/>
          </a:ln>
        </p:spPr>
        <p:txBody>
          <a:bodyPr/>
          <a:lstStyle/>
          <a:p>
            <a:endParaRPr lang="en-GB" dirty="0"/>
          </a:p>
        </p:txBody>
      </p:sp>
      <p:sp>
        <p:nvSpPr>
          <p:cNvPr id="316" name="Dot"/>
          <p:cNvSpPr/>
          <p:nvPr/>
        </p:nvSpPr>
        <p:spPr>
          <a:xfrm>
            <a:off x="5354841" y="4991100"/>
            <a:ext cx="152400" cy="152400"/>
          </a:xfrm>
          <a:prstGeom prst="ellipse">
            <a:avLst/>
          </a:prstGeom>
          <a:solidFill>
            <a:srgbClr val="002E56"/>
          </a:solidFill>
          <a:ln>
            <a:noFill/>
          </a:ln>
        </p:spPr>
        <p:txBody>
          <a:bodyPr/>
          <a:lstStyle/>
          <a:p>
            <a:endParaRPr lang="en-GB" dirty="0"/>
          </a:p>
        </p:txBody>
      </p:sp>
      <p:sp>
        <p:nvSpPr>
          <p:cNvPr id="317" name="Tick"/>
          <p:cNvSpPr txBox="1"/>
          <p:nvPr/>
        </p:nvSpPr>
        <p:spPr>
          <a:xfrm>
            <a:off x="787400" y="5181600"/>
            <a:ext cx="762000" cy="177800"/>
          </a:xfrm>
          <a:prstGeom prst="rect">
            <a:avLst/>
          </a:prstGeom>
          <a:noFill/>
        </p:spPr>
        <p:txBody>
          <a:bodyPr wrap="square" lIns="0" tIns="0" rIns="0" bIns="0" anchor="t">
            <a:noAutofit/>
          </a:bodyPr>
          <a:lstStyle/>
          <a:p>
            <a:pPr>
              <a:spcBef>
                <a:spcPts val="0"/>
              </a:spcBef>
              <a:buNone/>
            </a:pPr>
            <a:r>
              <a:rPr lang="en-GB" sz="1000" dirty="0">
                <a:solidFill>
                  <a:srgbClr val="646464"/>
                </a:solidFill>
              </a:rPr>
              <a:t>Week 1</a:t>
            </a:r>
          </a:p>
        </p:txBody>
      </p:sp>
      <p:sp>
        <p:nvSpPr>
          <p:cNvPr id="318" name="Tick"/>
          <p:cNvSpPr txBox="1"/>
          <p:nvPr/>
        </p:nvSpPr>
        <p:spPr>
          <a:xfrm>
            <a:off x="4923041" y="5181600"/>
            <a:ext cx="1016000" cy="177800"/>
          </a:xfrm>
          <a:prstGeom prst="rect">
            <a:avLst/>
          </a:prstGeom>
          <a:noFill/>
        </p:spPr>
        <p:txBody>
          <a:bodyPr wrap="square" lIns="0" tIns="0" rIns="0" bIns="0" anchor="t">
            <a:noAutofit/>
          </a:bodyPr>
          <a:lstStyle/>
          <a:p>
            <a:pPr algn="ctr">
              <a:spcBef>
                <a:spcPts val="0"/>
              </a:spcBef>
              <a:buNone/>
            </a:pPr>
            <a:r>
              <a:rPr lang="en-GB" sz="1000" dirty="0">
                <a:solidFill>
                  <a:srgbClr val="646464"/>
                </a:solidFill>
              </a:rPr>
              <a:t>Week 146</a:t>
            </a:r>
          </a:p>
        </p:txBody>
      </p:sp>
      <p:sp>
        <p:nvSpPr>
          <p:cNvPr id="319" name="Chip head"/>
          <p:cNvSpPr txBox="1"/>
          <p:nvPr/>
        </p:nvSpPr>
        <p:spPr>
          <a:xfrm>
            <a:off x="6299200" y="1422400"/>
            <a:ext cx="52324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Most common adverse reactions</a:t>
            </a:r>
            <a:r>
              <a:rPr lang="en-GB" sz="1400" baseline="30000" dirty="0">
                <a:solidFill>
                  <a:srgbClr val="2B2B2B"/>
                </a:solidFill>
              </a:rPr>
              <a:t>1</a:t>
            </a:r>
          </a:p>
        </p:txBody>
      </p:sp>
      <p:sp>
        <p:nvSpPr>
          <p:cNvPr id="320" name="Chip"/>
          <p:cNvSpPr/>
          <p:nvPr/>
        </p:nvSpPr>
        <p:spPr>
          <a:xfrm>
            <a:off x="6299200" y="1701800"/>
            <a:ext cx="8636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Pyrexia</a:t>
            </a:r>
          </a:p>
        </p:txBody>
      </p:sp>
      <p:sp>
        <p:nvSpPr>
          <p:cNvPr id="321" name="Chip"/>
          <p:cNvSpPr/>
          <p:nvPr/>
        </p:nvSpPr>
        <p:spPr>
          <a:xfrm>
            <a:off x="7239000" y="1701800"/>
            <a:ext cx="6096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Rash</a:t>
            </a:r>
          </a:p>
        </p:txBody>
      </p:sp>
      <p:sp>
        <p:nvSpPr>
          <p:cNvPr id="322" name="Chip"/>
          <p:cNvSpPr/>
          <p:nvPr/>
        </p:nvSpPr>
        <p:spPr>
          <a:xfrm>
            <a:off x="7924800" y="1701800"/>
            <a:ext cx="9525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Pruritus</a:t>
            </a:r>
          </a:p>
        </p:txBody>
      </p:sp>
      <p:sp>
        <p:nvSpPr>
          <p:cNvPr id="323" name="Chip"/>
          <p:cNvSpPr/>
          <p:nvPr/>
        </p:nvSpPr>
        <p:spPr>
          <a:xfrm>
            <a:off x="8953500" y="1701800"/>
            <a:ext cx="10287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Urticaria</a:t>
            </a:r>
          </a:p>
        </p:txBody>
      </p:sp>
      <p:sp>
        <p:nvSpPr>
          <p:cNvPr id="324" name="Chip"/>
          <p:cNvSpPr/>
          <p:nvPr/>
        </p:nvSpPr>
        <p:spPr>
          <a:xfrm>
            <a:off x="6299200" y="2082800"/>
            <a:ext cx="16256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Chills or rigors</a:t>
            </a:r>
          </a:p>
        </p:txBody>
      </p:sp>
      <p:sp>
        <p:nvSpPr>
          <p:cNvPr id="325" name="Chip"/>
          <p:cNvSpPr/>
          <p:nvPr/>
        </p:nvSpPr>
        <p:spPr>
          <a:xfrm>
            <a:off x="8001000" y="2082800"/>
            <a:ext cx="7874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Nausea</a:t>
            </a:r>
          </a:p>
        </p:txBody>
      </p:sp>
      <p:sp>
        <p:nvSpPr>
          <p:cNvPr id="326" name="Chip"/>
          <p:cNvSpPr/>
          <p:nvPr/>
        </p:nvSpPr>
        <p:spPr>
          <a:xfrm>
            <a:off x="8864600" y="2082800"/>
            <a:ext cx="9525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Headache</a:t>
            </a:r>
          </a:p>
        </p:txBody>
      </p:sp>
      <p:sp>
        <p:nvSpPr>
          <p:cNvPr id="327" name="Chip"/>
          <p:cNvSpPr/>
          <p:nvPr/>
        </p:nvSpPr>
        <p:spPr>
          <a:xfrm>
            <a:off x="9893300" y="2082800"/>
            <a:ext cx="14478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Abdominal pain</a:t>
            </a:r>
          </a:p>
        </p:txBody>
      </p:sp>
      <p:sp>
        <p:nvSpPr>
          <p:cNvPr id="328" name="Chip"/>
          <p:cNvSpPr/>
          <p:nvPr/>
        </p:nvSpPr>
        <p:spPr>
          <a:xfrm>
            <a:off x="6299200" y="2463800"/>
            <a:ext cx="9525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Vomiting</a:t>
            </a:r>
          </a:p>
        </p:txBody>
      </p:sp>
      <p:sp>
        <p:nvSpPr>
          <p:cNvPr id="329" name="Chip"/>
          <p:cNvSpPr/>
          <p:nvPr/>
        </p:nvSpPr>
        <p:spPr>
          <a:xfrm>
            <a:off x="7327900" y="2463800"/>
            <a:ext cx="952500" cy="304800"/>
          </a:xfrm>
          <a:prstGeom prst="roundRect">
            <a:avLst>
              <a:gd name="adj" fmla="val 50000"/>
            </a:avLst>
          </a:prstGeom>
          <a:solidFill>
            <a:srgbClr val="E3EAF5"/>
          </a:solidFill>
          <a:ln>
            <a:noFill/>
          </a:ln>
        </p:spPr>
        <p:txBody>
          <a:bodyPr wrap="square" lIns="0" tIns="0" rIns="0" bIns="0" anchor="ctr">
            <a:noAutofit/>
          </a:bodyPr>
          <a:lstStyle/>
          <a:p>
            <a:pPr algn="ctr">
              <a:spcBef>
                <a:spcPts val="0"/>
              </a:spcBef>
              <a:buNone/>
            </a:pPr>
            <a:r>
              <a:rPr lang="en-GB" sz="1200" dirty="0">
                <a:solidFill>
                  <a:srgbClr val="002E56"/>
                </a:solidFill>
              </a:rPr>
              <a:t>Dyspnoea</a:t>
            </a:r>
          </a:p>
        </p:txBody>
      </p:sp>
      <p:sp>
        <p:nvSpPr>
          <p:cNvPr id="330" name="Chip head"/>
          <p:cNvSpPr txBox="1"/>
          <p:nvPr/>
        </p:nvSpPr>
        <p:spPr>
          <a:xfrm>
            <a:off x="6299200" y="2971800"/>
            <a:ext cx="5232400" cy="203200"/>
          </a:xfrm>
          <a:prstGeom prst="rect">
            <a:avLst/>
          </a:prstGeom>
          <a:noFill/>
        </p:spPr>
        <p:txBody>
          <a:bodyPr wrap="square" lIns="0" tIns="0" rIns="0" bIns="0" anchor="t">
            <a:noAutofit/>
          </a:bodyPr>
          <a:lstStyle/>
          <a:p>
            <a:pPr>
              <a:spcBef>
                <a:spcPts val="0"/>
              </a:spcBef>
              <a:buNone/>
            </a:pPr>
            <a:r>
              <a:rPr lang="en-GB" sz="1100" b="1" spc="60" dirty="0">
                <a:solidFill>
                  <a:srgbClr val="A33A3A"/>
                </a:solidFill>
              </a:rPr>
              <a:t>Serious adverse reactions</a:t>
            </a:r>
            <a:r>
              <a:rPr lang="en-GB" sz="1400" baseline="30000" dirty="0">
                <a:solidFill>
                  <a:srgbClr val="2B2B2B"/>
                </a:solidFill>
              </a:rPr>
              <a:t>1</a:t>
            </a:r>
          </a:p>
        </p:txBody>
      </p:sp>
      <p:sp>
        <p:nvSpPr>
          <p:cNvPr id="331" name="Chip"/>
          <p:cNvSpPr/>
          <p:nvPr/>
        </p:nvSpPr>
        <p:spPr>
          <a:xfrm>
            <a:off x="6299200" y="3251200"/>
            <a:ext cx="1625600" cy="3048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200" dirty="0">
                <a:solidFill>
                  <a:srgbClr val="7A2B2B"/>
                </a:solidFill>
              </a:rPr>
              <a:t>Laryngeal oedema</a:t>
            </a:r>
          </a:p>
        </p:txBody>
      </p:sp>
      <p:sp>
        <p:nvSpPr>
          <p:cNvPr id="332" name="Chip"/>
          <p:cNvSpPr/>
          <p:nvPr/>
        </p:nvSpPr>
        <p:spPr>
          <a:xfrm>
            <a:off x="8001000" y="3251200"/>
            <a:ext cx="787400" cy="3048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200" dirty="0">
                <a:solidFill>
                  <a:srgbClr val="7A2B2B"/>
                </a:solidFill>
              </a:rPr>
              <a:t>Apnoea</a:t>
            </a:r>
          </a:p>
        </p:txBody>
      </p:sp>
      <p:sp>
        <p:nvSpPr>
          <p:cNvPr id="333" name="Chip"/>
          <p:cNvSpPr/>
          <p:nvPr/>
        </p:nvSpPr>
        <p:spPr>
          <a:xfrm>
            <a:off x="8864600" y="3251200"/>
            <a:ext cx="863600" cy="3048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200" dirty="0">
                <a:solidFill>
                  <a:srgbClr val="7A2B2B"/>
                </a:solidFill>
              </a:rPr>
              <a:t>Pyrexia</a:t>
            </a:r>
          </a:p>
        </p:txBody>
      </p:sp>
      <p:sp>
        <p:nvSpPr>
          <p:cNvPr id="334" name="Chip"/>
          <p:cNvSpPr/>
          <p:nvPr/>
        </p:nvSpPr>
        <p:spPr>
          <a:xfrm>
            <a:off x="9804400" y="3251200"/>
            <a:ext cx="1028700" cy="3048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200" dirty="0">
                <a:solidFill>
                  <a:srgbClr val="7A2B2B"/>
                </a:solidFill>
              </a:rPr>
              <a:t>Urticaria</a:t>
            </a:r>
          </a:p>
        </p:txBody>
      </p:sp>
      <p:sp>
        <p:nvSpPr>
          <p:cNvPr id="335" name="Chip"/>
          <p:cNvSpPr/>
          <p:nvPr/>
        </p:nvSpPr>
        <p:spPr>
          <a:xfrm>
            <a:off x="6299200" y="3632200"/>
            <a:ext cx="1955800" cy="3048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200" dirty="0">
                <a:solidFill>
                  <a:srgbClr val="7A2B2B"/>
                </a:solidFill>
              </a:rPr>
              <a:t>Respiratory distress</a:t>
            </a:r>
          </a:p>
        </p:txBody>
      </p:sp>
      <p:sp>
        <p:nvSpPr>
          <p:cNvPr id="336" name="Chip"/>
          <p:cNvSpPr/>
          <p:nvPr/>
        </p:nvSpPr>
        <p:spPr>
          <a:xfrm>
            <a:off x="8331200" y="3632200"/>
            <a:ext cx="1117600" cy="3048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200" dirty="0">
                <a:solidFill>
                  <a:srgbClr val="7A2B2B"/>
                </a:solidFill>
              </a:rPr>
              <a:t>Angioedema</a:t>
            </a:r>
          </a:p>
        </p:txBody>
      </p:sp>
      <p:sp>
        <p:nvSpPr>
          <p:cNvPr id="337" name="Chip"/>
          <p:cNvSpPr/>
          <p:nvPr/>
        </p:nvSpPr>
        <p:spPr>
          <a:xfrm>
            <a:off x="9525000" y="3632200"/>
            <a:ext cx="787400" cy="3048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200" dirty="0">
                <a:solidFill>
                  <a:srgbClr val="7A2B2B"/>
                </a:solidFill>
              </a:rPr>
              <a:t>Asthma</a:t>
            </a:r>
          </a:p>
        </p:txBody>
      </p:sp>
      <p:sp>
        <p:nvSpPr>
          <p:cNvPr id="338" name="Chip"/>
          <p:cNvSpPr/>
          <p:nvPr/>
        </p:nvSpPr>
        <p:spPr>
          <a:xfrm>
            <a:off x="6299200" y="4013200"/>
            <a:ext cx="2120900" cy="304800"/>
          </a:xfrm>
          <a:prstGeom prst="roundRect">
            <a:avLst>
              <a:gd name="adj" fmla="val 50000"/>
            </a:avLst>
          </a:prstGeom>
          <a:solidFill>
            <a:srgbClr val="FBEAEA"/>
          </a:solidFill>
          <a:ln>
            <a:noFill/>
          </a:ln>
        </p:spPr>
        <p:txBody>
          <a:bodyPr wrap="square" lIns="0" tIns="0" rIns="0" bIns="0" anchor="ctr">
            <a:noAutofit/>
          </a:bodyPr>
          <a:lstStyle/>
          <a:p>
            <a:pPr algn="ctr">
              <a:spcBef>
                <a:spcPts val="0"/>
              </a:spcBef>
              <a:buNone/>
            </a:pPr>
            <a:r>
              <a:rPr lang="en-GB" sz="1200" dirty="0">
                <a:solidFill>
                  <a:srgbClr val="7A2B2B"/>
                </a:solidFill>
              </a:rPr>
              <a:t>Anaphylactoid reaction</a:t>
            </a:r>
          </a:p>
        </p:txBody>
      </p:sp>
      <p:sp>
        <p:nvSpPr>
          <p:cNvPr id="339" name="IR symptoms"/>
          <p:cNvSpPr txBox="1"/>
          <p:nvPr/>
        </p:nvSpPr>
        <p:spPr>
          <a:xfrm>
            <a:off x="6299200" y="4521200"/>
            <a:ext cx="5232400" cy="990600"/>
          </a:xfrm>
          <a:prstGeom prst="rect">
            <a:avLst/>
          </a:prstGeom>
          <a:noFill/>
        </p:spPr>
        <p:txBody>
          <a:bodyPr wrap="square" lIns="0" tIns="0" rIns="0" bIns="0" anchor="t">
            <a:noAutofit/>
          </a:bodyPr>
          <a:lstStyle/>
          <a:p>
            <a:pPr>
              <a:spcBef>
                <a:spcPts val="0"/>
              </a:spcBef>
              <a:buNone/>
            </a:pPr>
            <a:r>
              <a:rPr lang="en-GB" sz="1100" b="1" spc="60" dirty="0">
                <a:solidFill>
                  <a:srgbClr val="646464"/>
                </a:solidFill>
              </a:rPr>
              <a:t>Symptoms of infusion reactions</a:t>
            </a:r>
            <a:r>
              <a:rPr lang="en-GB" sz="1400" baseline="30000" dirty="0">
                <a:solidFill>
                  <a:srgbClr val="2B2B2B"/>
                </a:solidFill>
              </a:rPr>
              <a:t>1</a:t>
            </a:r>
          </a:p>
          <a:p>
            <a:pPr>
              <a:spcBef>
                <a:spcPts val="300"/>
              </a:spcBef>
              <a:buNone/>
            </a:pPr>
            <a:r>
              <a:rPr lang="en-GB" sz="1200" dirty="0">
                <a:solidFill>
                  <a:srgbClr val="404040"/>
                </a:solidFill>
              </a:rPr>
              <a:t>Pruritus, vomiting, abdominal pain, nausea, hypertension, headache, chest pain, erythema, cough, hypotension, angioedema, respiratory distress, tremor, conjunctivitis, malaise, bronchospasm, arthralgia</a:t>
            </a:r>
          </a:p>
        </p:txBody>
      </p:sp>
      <p:sp>
        <p:nvSpPr>
          <p:cNvPr id="340"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IgG, immunoglobulin G</a:t>
            </a:r>
          </a:p>
        </p:txBody>
      </p:sp>
      <p:sp>
        <p:nvSpPr>
          <p:cNvPr id="341"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Galsulfase Summary of Product Characteristics.</a:t>
            </a:r>
          </a:p>
        </p:txBody>
      </p:sp>
    </p:spTree>
    <p:extLst>
      <p:ext uri="{BB962C8B-B14F-4D97-AF65-F5344CB8AC3E}">
        <p14:creationId xmlns:p14="http://schemas.microsoft.com/office/powerpoint/2010/main" val="1971687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Infusion day and reactions  |  Galsulfase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Galsulfase: phase 3 safety data in numbers</a:t>
            </a:r>
          </a:p>
        </p:txBody>
      </p:sp>
      <p:sp>
        <p:nvSpPr>
          <p:cNvPr id="302" name="Stat"/>
          <p:cNvSpPr/>
          <p:nvPr/>
        </p:nvSpPr>
        <p:spPr>
          <a:xfrm>
            <a:off x="660400" y="1498600"/>
            <a:ext cx="3454400" cy="2489200"/>
          </a:xfrm>
          <a:prstGeom prst="roundRect">
            <a:avLst>
              <a:gd name="adj" fmla="val 8000"/>
            </a:avLst>
          </a:prstGeom>
          <a:solidFill>
            <a:srgbClr val="E3EAF5"/>
          </a:solidFill>
          <a:ln>
            <a:noFill/>
          </a:ln>
        </p:spPr>
        <p:txBody>
          <a:bodyPr wrap="square" lIns="203200" tIns="203200" rIns="203200" bIns="203200" anchor="t">
            <a:noAutofit/>
          </a:bodyPr>
          <a:lstStyle/>
          <a:p>
            <a:pPr>
              <a:spcBef>
                <a:spcPts val="0"/>
              </a:spcBef>
              <a:buNone/>
            </a:pPr>
            <a:r>
              <a:rPr lang="en-GB" sz="4400" b="1" dirty="0">
                <a:solidFill>
                  <a:srgbClr val="28509C"/>
                </a:solidFill>
              </a:rPr>
              <a:t>56%</a:t>
            </a:r>
          </a:p>
          <a:p>
            <a:pPr>
              <a:spcBef>
                <a:spcPts val="300"/>
              </a:spcBef>
              <a:buNone/>
            </a:pPr>
            <a:r>
              <a:rPr lang="en-GB" sz="1400" b="1" dirty="0">
                <a:solidFill>
                  <a:srgbClr val="002E56"/>
                </a:solidFill>
              </a:rPr>
              <a:t>had an infusion-associated reaction</a:t>
            </a:r>
          </a:p>
          <a:p>
            <a:pPr>
              <a:spcBef>
                <a:spcPts val="300"/>
              </a:spcBef>
              <a:buNone/>
            </a:pPr>
            <a:r>
              <a:rPr lang="en-GB" sz="1300" dirty="0">
                <a:solidFill>
                  <a:srgbClr val="404040"/>
                </a:solidFill>
              </a:rPr>
              <a:t>33 of 59 patients treated with galsulfase</a:t>
            </a:r>
            <a:r>
              <a:rPr lang="en-GB" sz="1400" baseline="30000" dirty="0">
                <a:solidFill>
                  <a:srgbClr val="2B2B2B"/>
                </a:solidFill>
              </a:rPr>
              <a:t>1</a:t>
            </a:r>
          </a:p>
        </p:txBody>
      </p:sp>
      <p:sp>
        <p:nvSpPr>
          <p:cNvPr id="303" name="Stat"/>
          <p:cNvSpPr/>
          <p:nvPr/>
        </p:nvSpPr>
        <p:spPr>
          <a:xfrm>
            <a:off x="4368800" y="1498600"/>
            <a:ext cx="3454400" cy="24892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4400" b="1" dirty="0">
                <a:solidFill>
                  <a:srgbClr val="A9218E"/>
                </a:solidFill>
              </a:rPr>
              <a:t>98%</a:t>
            </a:r>
          </a:p>
          <a:p>
            <a:pPr>
              <a:spcBef>
                <a:spcPts val="300"/>
              </a:spcBef>
              <a:buNone/>
            </a:pPr>
            <a:r>
              <a:rPr lang="en-GB" sz="1400" b="1" dirty="0">
                <a:solidFill>
                  <a:srgbClr val="002E56"/>
                </a:solidFill>
              </a:rPr>
              <a:t>developed IgG antibodies</a:t>
            </a:r>
          </a:p>
          <a:p>
            <a:pPr>
              <a:spcBef>
                <a:spcPts val="300"/>
              </a:spcBef>
              <a:buNone/>
            </a:pPr>
            <a:r>
              <a:rPr lang="en-GB" sz="1300" dirty="0">
                <a:solidFill>
                  <a:srgbClr val="404040"/>
                </a:solidFill>
              </a:rPr>
              <a:t>53 of 54 patients tested</a:t>
            </a:r>
            <a:r>
              <a:rPr lang="en-GB" sz="1400" baseline="30000" dirty="0">
                <a:solidFill>
                  <a:srgbClr val="2B2B2B"/>
                </a:solidFill>
              </a:rPr>
              <a:t>1</a:t>
            </a:r>
          </a:p>
        </p:txBody>
      </p:sp>
      <p:sp>
        <p:nvSpPr>
          <p:cNvPr id="304" name="Stat"/>
          <p:cNvSpPr/>
          <p:nvPr/>
        </p:nvSpPr>
        <p:spPr>
          <a:xfrm>
            <a:off x="8077200" y="1498600"/>
            <a:ext cx="3454400" cy="24892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3400" b="1" dirty="0">
                <a:solidFill>
                  <a:srgbClr val="28509C"/>
                </a:solidFill>
              </a:rPr>
              <a:t>Week 1–146</a:t>
            </a:r>
          </a:p>
          <a:p>
            <a:pPr>
              <a:spcBef>
                <a:spcPts val="300"/>
              </a:spcBef>
              <a:buNone/>
            </a:pPr>
            <a:r>
              <a:rPr lang="en-GB" sz="1400" b="1" dirty="0">
                <a:solidFill>
                  <a:srgbClr val="002E56"/>
                </a:solidFill>
              </a:rPr>
              <a:t>when first reactions appeared</a:t>
            </a:r>
          </a:p>
          <a:p>
            <a:pPr>
              <a:spcBef>
                <a:spcPts val="300"/>
              </a:spcBef>
              <a:buNone/>
            </a:pPr>
            <a:r>
              <a:rPr lang="en-GB" sz="1300" dirty="0">
                <a:solidFill>
                  <a:srgbClr val="404040"/>
                </a:solidFill>
              </a:rPr>
              <a:t>a first reaction can occur even after years of treatment</a:t>
            </a:r>
            <a:r>
              <a:rPr lang="en-GB" sz="1400" baseline="30000" dirty="0">
                <a:solidFill>
                  <a:srgbClr val="2B2B2B"/>
                </a:solidFill>
              </a:rPr>
              <a:t>1</a:t>
            </a:r>
          </a:p>
        </p:txBody>
      </p:sp>
      <p:sp>
        <p:nvSpPr>
          <p:cNvPr id="305" name="Reactions"/>
          <p:cNvSpPr/>
          <p:nvPr/>
        </p:nvSpPr>
        <p:spPr>
          <a:xfrm>
            <a:off x="660400" y="4191000"/>
            <a:ext cx="10871200" cy="13208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1100" b="1" spc="60" dirty="0">
                <a:solidFill>
                  <a:srgbClr val="28509C"/>
                </a:solidFill>
              </a:rPr>
              <a:t>Most common adverse reactions</a:t>
            </a:r>
          </a:p>
          <a:p>
            <a:pPr>
              <a:spcBef>
                <a:spcPts val="400"/>
              </a:spcBef>
              <a:buNone/>
            </a:pPr>
            <a:r>
              <a:rPr lang="en-GB" sz="1400" dirty="0">
                <a:solidFill>
                  <a:srgbClr val="2B2B2B"/>
                </a:solidFill>
              </a:rPr>
              <a:t>Pyrexia · rash · pruritus · urticaria · chills or rigors · nausea · headache · abdominal pain · vomiting · dyspnoea</a:t>
            </a:r>
            <a:r>
              <a:rPr lang="en-GB" sz="1400" baseline="30000" dirty="0">
                <a:solidFill>
                  <a:srgbClr val="2B2B2B"/>
                </a:solidFill>
              </a:rPr>
              <a:t>1</a:t>
            </a:r>
          </a:p>
          <a:p>
            <a:pPr>
              <a:spcBef>
                <a:spcPts val="400"/>
              </a:spcBef>
              <a:buNone/>
            </a:pPr>
            <a:r>
              <a:rPr lang="en-GB" sz="1400" b="1" dirty="0">
                <a:solidFill>
                  <a:srgbClr val="A33A3A"/>
                </a:solidFill>
              </a:rPr>
              <a:t>Serious: </a:t>
            </a:r>
            <a:r>
              <a:rPr lang="en-GB" sz="1400" dirty="0">
                <a:solidFill>
                  <a:srgbClr val="2B2B2B"/>
                </a:solidFill>
              </a:rPr>
              <a:t>laryngeal oedema, apnoea, respiratory distress, angioedema, asthma, anaphylactoid reaction</a:t>
            </a:r>
            <a:r>
              <a:rPr lang="en-GB" sz="1400" baseline="30000" dirty="0">
                <a:solidFill>
                  <a:srgbClr val="2B2B2B"/>
                </a:solidFill>
              </a:rPr>
              <a:t>1</a:t>
            </a:r>
          </a:p>
        </p:txBody>
      </p:sp>
      <p:sp>
        <p:nvSpPr>
          <p:cNvPr id="306"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IgG, immunoglobulin G</a:t>
            </a:r>
          </a:p>
        </p:txBody>
      </p:sp>
      <p:sp>
        <p:nvSpPr>
          <p:cNvPr id="307"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1. Galsulfase Summary of Product Characteristics.</a:t>
            </a:r>
          </a:p>
        </p:txBody>
      </p:sp>
    </p:spTree>
    <p:extLst>
      <p:ext uri="{BB962C8B-B14F-4D97-AF65-F5344CB8AC3E}">
        <p14:creationId xmlns:p14="http://schemas.microsoft.com/office/powerpoint/2010/main" val="18939199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Infusion day and reactions</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Infusion day</a:t>
            </a:r>
            <a:endParaRPr lang="en-US" dirty="0"/>
          </a:p>
        </p:txBody>
      </p:sp>
      <p:cxnSp>
        <p:nvCxnSpPr>
          <p:cNvPr id="12" name="Line 12"/>
          <p:cNvCxnSpPr/>
          <p:nvPr/>
        </p:nvCxnSpPr>
        <p:spPr>
          <a:xfrm>
            <a:off x="1747520" y="1854200"/>
            <a:ext cx="8696960" cy="0"/>
          </a:xfrm>
          <a:prstGeom prst="line">
            <a:avLst/>
          </a:prstGeom>
          <a:ln w="19050">
            <a:solidFill>
              <a:srgbClr val="C9D5EA"/>
            </a:solidFill>
          </a:ln>
        </p:spPr>
      </p:cxnSp>
      <p:sp>
        <p:nvSpPr>
          <p:cNvPr id="13" name="Shape 13"/>
          <p:cNvSpPr/>
          <p:nvPr/>
        </p:nvSpPr>
        <p:spPr>
          <a:xfrm>
            <a:off x="1518920" y="1625600"/>
            <a:ext cx="457200" cy="457200"/>
          </a:xfrm>
          <a:prstGeom prst="ellipse">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500" b="1" dirty="0">
                <a:solidFill>
                  <a:srgbClr val="FFFFFF"/>
                </a:solidFill>
              </a:rPr>
              <a:t>1</a:t>
            </a:r>
          </a:p>
        </p:txBody>
      </p:sp>
      <p:sp>
        <p:nvSpPr>
          <p:cNvPr id="14" name="Shape 14"/>
          <p:cNvSpPr txBox="1"/>
          <p:nvPr/>
        </p:nvSpPr>
        <p:spPr>
          <a:xfrm>
            <a:off x="736600" y="2209800"/>
            <a:ext cx="2021840" cy="304800"/>
          </a:xfrm>
          <a:prstGeom prst="rect">
            <a:avLst/>
          </a:prstGeom>
          <a:noFill/>
          <a:ln>
            <a:noFill/>
          </a:ln>
        </p:spPr>
        <p:txBody>
          <a:bodyPr wrap="square" lIns="0" tIns="0" rIns="0" bIns="0" rtlCol="0" anchor="t">
            <a:noAutofit/>
          </a:bodyPr>
          <a:lstStyle/>
          <a:p>
            <a:pPr algn="ctr">
              <a:spcBef>
                <a:spcPts val="0"/>
              </a:spcBef>
              <a:spcAft>
                <a:spcPts val="0"/>
              </a:spcAft>
              <a:buNone/>
            </a:pPr>
            <a:r>
              <a:rPr lang="en-US" sz="1600" b="1" dirty="0">
                <a:solidFill>
                  <a:srgbClr val="002E56"/>
                </a:solidFill>
              </a:rPr>
              <a:t>Before</a:t>
            </a:r>
          </a:p>
        </p:txBody>
      </p:sp>
      <p:sp>
        <p:nvSpPr>
          <p:cNvPr id="15" name="Shape 15"/>
          <p:cNvSpPr txBox="1"/>
          <p:nvPr/>
        </p:nvSpPr>
        <p:spPr>
          <a:xfrm>
            <a:off x="736600" y="2590800"/>
            <a:ext cx="2021840" cy="2286000"/>
          </a:xfrm>
          <a:prstGeom prst="rect">
            <a:avLst/>
          </a:prstGeom>
          <a:noFill/>
          <a:ln>
            <a:noFill/>
          </a:ln>
        </p:spPr>
        <p:txBody>
          <a:bodyPr wrap="square" lIns="50800" tIns="0" rIns="50800" bIns="0" rtlCol="0" anchor="t">
            <a:noAutofit/>
          </a:bodyPr>
          <a:lstStyle/>
          <a:p>
            <a:pPr marL="152400" indent="-152400">
              <a:spcBef>
                <a:spcPts val="0"/>
              </a:spcBef>
              <a:spcAft>
                <a:spcPts val="600"/>
              </a:spcAft>
              <a:buClr>
                <a:srgbClr val="28509C"/>
              </a:buClr>
              <a:buFont typeface="Arial"/>
              <a:buChar char="•"/>
            </a:pPr>
            <a:r>
              <a:rPr lang="en-US" sz="1400" dirty="0">
                <a:solidFill>
                  <a:srgbClr val="2B2B2B"/>
                </a:solidFill>
              </a:rPr>
              <a:t>Ask about fever, infection or breathing problems</a:t>
            </a:r>
          </a:p>
          <a:p>
            <a:pPr marL="152400" indent="-152400">
              <a:spcBef>
                <a:spcPts val="0"/>
              </a:spcBef>
              <a:spcAft>
                <a:spcPts val="600"/>
              </a:spcAft>
              <a:buClr>
                <a:srgbClr val="28509C"/>
              </a:buClr>
              <a:buFont typeface="Arial"/>
              <a:buChar char="•"/>
            </a:pPr>
            <a:r>
              <a:rPr lang="en-US" sz="1400" dirty="0">
                <a:solidFill>
                  <a:srgbClr val="2B2B2B"/>
                </a:solidFill>
              </a:rPr>
              <a:t>Weigh the patient for the dose</a:t>
            </a:r>
          </a:p>
          <a:p>
            <a:pPr marL="152400" indent="-152400">
              <a:spcBef>
                <a:spcPts val="0"/>
              </a:spcBef>
              <a:spcAft>
                <a:spcPts val="600"/>
              </a:spcAft>
              <a:buClr>
                <a:srgbClr val="28509C"/>
              </a:buClr>
              <a:buFont typeface="Arial"/>
              <a:buChar char="•"/>
            </a:pPr>
            <a:r>
              <a:rPr lang="en-US" sz="1400" dirty="0">
                <a:solidFill>
                  <a:srgbClr val="2B2B2B"/>
                </a:solidFill>
              </a:rPr>
              <a:t>Record vital signs</a:t>
            </a:r>
          </a:p>
        </p:txBody>
      </p:sp>
      <p:sp>
        <p:nvSpPr>
          <p:cNvPr id="16" name="Shape 16"/>
          <p:cNvSpPr/>
          <p:nvPr/>
        </p:nvSpPr>
        <p:spPr>
          <a:xfrm>
            <a:off x="3693160" y="1625600"/>
            <a:ext cx="457200" cy="457200"/>
          </a:xfrm>
          <a:prstGeom prst="ellipse">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500" b="1" dirty="0">
                <a:solidFill>
                  <a:srgbClr val="FFFFFF"/>
                </a:solidFill>
              </a:rPr>
              <a:t>2</a:t>
            </a:r>
          </a:p>
        </p:txBody>
      </p:sp>
      <p:sp>
        <p:nvSpPr>
          <p:cNvPr id="17" name="Shape 17"/>
          <p:cNvSpPr txBox="1"/>
          <p:nvPr/>
        </p:nvSpPr>
        <p:spPr>
          <a:xfrm>
            <a:off x="2910840" y="2209800"/>
            <a:ext cx="2021840" cy="304800"/>
          </a:xfrm>
          <a:prstGeom prst="rect">
            <a:avLst/>
          </a:prstGeom>
          <a:noFill/>
          <a:ln>
            <a:noFill/>
          </a:ln>
        </p:spPr>
        <p:txBody>
          <a:bodyPr wrap="square" lIns="0" tIns="0" rIns="0" bIns="0" rtlCol="0" anchor="t">
            <a:noAutofit/>
          </a:bodyPr>
          <a:lstStyle/>
          <a:p>
            <a:pPr algn="ctr">
              <a:spcBef>
                <a:spcPts val="0"/>
              </a:spcBef>
              <a:spcAft>
                <a:spcPts val="0"/>
              </a:spcAft>
              <a:buNone/>
            </a:pPr>
            <a:r>
              <a:rPr lang="en-US" sz="1600" b="1" dirty="0">
                <a:solidFill>
                  <a:srgbClr val="002E56"/>
                </a:solidFill>
              </a:rPr>
              <a:t>Premedicate</a:t>
            </a:r>
          </a:p>
        </p:txBody>
      </p:sp>
      <p:sp>
        <p:nvSpPr>
          <p:cNvPr id="18" name="Shape 18"/>
          <p:cNvSpPr txBox="1"/>
          <p:nvPr/>
        </p:nvSpPr>
        <p:spPr>
          <a:xfrm>
            <a:off x="2910840" y="2590800"/>
            <a:ext cx="2021840" cy="2286000"/>
          </a:xfrm>
          <a:prstGeom prst="rect">
            <a:avLst/>
          </a:prstGeom>
          <a:noFill/>
          <a:ln>
            <a:noFill/>
          </a:ln>
        </p:spPr>
        <p:txBody>
          <a:bodyPr wrap="square" lIns="50800" tIns="0" rIns="50800" bIns="0" rtlCol="0" anchor="t">
            <a:noAutofit/>
          </a:bodyPr>
          <a:lstStyle/>
          <a:p>
            <a:pPr marL="152400" indent="-152400">
              <a:spcBef>
                <a:spcPts val="0"/>
              </a:spcBef>
              <a:spcAft>
                <a:spcPts val="600"/>
              </a:spcAft>
              <a:buClr>
                <a:srgbClr val="28509C"/>
              </a:buClr>
              <a:buFont typeface="Arial"/>
              <a:buChar char="•"/>
            </a:pPr>
            <a:r>
              <a:rPr lang="en-US" sz="1400" dirty="0">
                <a:solidFill>
                  <a:srgbClr val="2B2B2B"/>
                </a:solidFill>
              </a:rPr>
              <a:t>Antihistamine, with or without antipyretic, 30–60 min before</a:t>
            </a:r>
          </a:p>
          <a:p>
            <a:pPr marL="152400" indent="-152400">
              <a:spcBef>
                <a:spcPts val="0"/>
              </a:spcBef>
              <a:spcAft>
                <a:spcPts val="600"/>
              </a:spcAft>
              <a:buClr>
                <a:srgbClr val="28509C"/>
              </a:buClr>
              <a:buFont typeface="Arial"/>
              <a:buChar char="•"/>
            </a:pPr>
            <a:r>
              <a:rPr lang="en-US" sz="1400" dirty="0">
                <a:solidFill>
                  <a:srgbClr val="2B2B2B"/>
                </a:solidFill>
              </a:rPr>
              <a:t>Give only as prescribed</a:t>
            </a:r>
          </a:p>
        </p:txBody>
      </p:sp>
      <p:sp>
        <p:nvSpPr>
          <p:cNvPr id="19" name="Shape 19"/>
          <p:cNvSpPr/>
          <p:nvPr/>
        </p:nvSpPr>
        <p:spPr>
          <a:xfrm>
            <a:off x="5867400" y="1625600"/>
            <a:ext cx="457200" cy="457200"/>
          </a:xfrm>
          <a:prstGeom prst="ellipse">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500" b="1" dirty="0">
                <a:solidFill>
                  <a:srgbClr val="FFFFFF"/>
                </a:solidFill>
              </a:rPr>
              <a:t>3</a:t>
            </a:r>
          </a:p>
        </p:txBody>
      </p:sp>
      <p:sp>
        <p:nvSpPr>
          <p:cNvPr id="20" name="Shape 20"/>
          <p:cNvSpPr txBox="1"/>
          <p:nvPr/>
        </p:nvSpPr>
        <p:spPr>
          <a:xfrm>
            <a:off x="5085080" y="2209800"/>
            <a:ext cx="2021840" cy="304800"/>
          </a:xfrm>
          <a:prstGeom prst="rect">
            <a:avLst/>
          </a:prstGeom>
          <a:noFill/>
          <a:ln>
            <a:noFill/>
          </a:ln>
        </p:spPr>
        <p:txBody>
          <a:bodyPr wrap="square" lIns="0" tIns="0" rIns="0" bIns="0" rtlCol="0" anchor="t">
            <a:noAutofit/>
          </a:bodyPr>
          <a:lstStyle/>
          <a:p>
            <a:pPr algn="ctr">
              <a:spcBef>
                <a:spcPts val="0"/>
              </a:spcBef>
              <a:spcAft>
                <a:spcPts val="0"/>
              </a:spcAft>
              <a:buNone/>
            </a:pPr>
            <a:r>
              <a:rPr lang="en-US" sz="1600" b="1" dirty="0">
                <a:solidFill>
                  <a:srgbClr val="002E56"/>
                </a:solidFill>
              </a:rPr>
              <a:t>Prepare</a:t>
            </a:r>
          </a:p>
        </p:txBody>
      </p:sp>
      <p:sp>
        <p:nvSpPr>
          <p:cNvPr id="21" name="Shape 21"/>
          <p:cNvSpPr txBox="1"/>
          <p:nvPr/>
        </p:nvSpPr>
        <p:spPr>
          <a:xfrm>
            <a:off x="5085080" y="2590800"/>
            <a:ext cx="2021840" cy="2286000"/>
          </a:xfrm>
          <a:prstGeom prst="rect">
            <a:avLst/>
          </a:prstGeom>
          <a:noFill/>
          <a:ln>
            <a:noFill/>
          </a:ln>
        </p:spPr>
        <p:txBody>
          <a:bodyPr wrap="square" lIns="50800" tIns="0" rIns="50800" bIns="0" rtlCol="0" anchor="t">
            <a:noAutofit/>
          </a:bodyPr>
          <a:lstStyle/>
          <a:p>
            <a:pPr marL="152400" indent="-152400">
              <a:spcBef>
                <a:spcPts val="0"/>
              </a:spcBef>
              <a:spcAft>
                <a:spcPts val="600"/>
              </a:spcAft>
              <a:buClr>
                <a:srgbClr val="28509C"/>
              </a:buClr>
              <a:buFont typeface="Arial"/>
              <a:buChar char="•"/>
            </a:pPr>
            <a:r>
              <a:rPr lang="en-US" sz="1400" dirty="0">
                <a:solidFill>
                  <a:srgbClr val="2B2B2B"/>
                </a:solidFill>
              </a:rPr>
              <a:t>Inspect vials for particles or discolouration</a:t>
            </a:r>
          </a:p>
          <a:p>
            <a:pPr marL="152400" indent="-152400">
              <a:spcBef>
                <a:spcPts val="0"/>
              </a:spcBef>
              <a:spcAft>
                <a:spcPts val="600"/>
              </a:spcAft>
              <a:buClr>
                <a:srgbClr val="28509C"/>
              </a:buClr>
              <a:buFont typeface="Arial"/>
              <a:buChar char="•"/>
            </a:pPr>
            <a:r>
              <a:rPr lang="en-US" sz="1400" dirty="0">
                <a:solidFill>
                  <a:srgbClr val="2B2B2B"/>
                </a:solidFill>
              </a:rPr>
              <a:t>Dilute in 0.9% sodium chloride</a:t>
            </a:r>
          </a:p>
          <a:p>
            <a:pPr marL="152400" indent="-152400">
              <a:spcBef>
                <a:spcPts val="0"/>
              </a:spcBef>
              <a:spcAft>
                <a:spcPts val="600"/>
              </a:spcAft>
              <a:buClr>
                <a:srgbClr val="28509C"/>
              </a:buClr>
              <a:buFont typeface="Arial"/>
              <a:buChar char="•"/>
            </a:pPr>
            <a:r>
              <a:rPr lang="en-US" sz="1400" dirty="0">
                <a:solidFill>
                  <a:srgbClr val="2B2B2B"/>
                </a:solidFill>
              </a:rPr>
              <a:t>Rotate gently, never shake</a:t>
            </a:r>
          </a:p>
        </p:txBody>
      </p:sp>
      <p:sp>
        <p:nvSpPr>
          <p:cNvPr id="22" name="Shape 22"/>
          <p:cNvSpPr/>
          <p:nvPr/>
        </p:nvSpPr>
        <p:spPr>
          <a:xfrm>
            <a:off x="8041640" y="1625600"/>
            <a:ext cx="457200" cy="457200"/>
          </a:xfrm>
          <a:prstGeom prst="ellipse">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500" b="1" dirty="0">
                <a:solidFill>
                  <a:srgbClr val="FFFFFF"/>
                </a:solidFill>
              </a:rPr>
              <a:t>4</a:t>
            </a:r>
          </a:p>
        </p:txBody>
      </p:sp>
      <p:sp>
        <p:nvSpPr>
          <p:cNvPr id="23" name="Shape 23"/>
          <p:cNvSpPr txBox="1"/>
          <p:nvPr/>
        </p:nvSpPr>
        <p:spPr>
          <a:xfrm>
            <a:off x="7259320" y="2209800"/>
            <a:ext cx="2021840" cy="304800"/>
          </a:xfrm>
          <a:prstGeom prst="rect">
            <a:avLst/>
          </a:prstGeom>
          <a:noFill/>
          <a:ln>
            <a:noFill/>
          </a:ln>
        </p:spPr>
        <p:txBody>
          <a:bodyPr wrap="square" lIns="0" tIns="0" rIns="0" bIns="0" rtlCol="0" anchor="t">
            <a:noAutofit/>
          </a:bodyPr>
          <a:lstStyle/>
          <a:p>
            <a:pPr algn="ctr">
              <a:spcBef>
                <a:spcPts val="0"/>
              </a:spcBef>
              <a:spcAft>
                <a:spcPts val="0"/>
              </a:spcAft>
              <a:buNone/>
            </a:pPr>
            <a:r>
              <a:rPr lang="en-US" sz="1600" b="1" dirty="0">
                <a:solidFill>
                  <a:srgbClr val="002E56"/>
                </a:solidFill>
              </a:rPr>
              <a:t>Infuse</a:t>
            </a:r>
          </a:p>
        </p:txBody>
      </p:sp>
      <p:sp>
        <p:nvSpPr>
          <p:cNvPr id="24" name="Shape 24"/>
          <p:cNvSpPr txBox="1"/>
          <p:nvPr/>
        </p:nvSpPr>
        <p:spPr>
          <a:xfrm>
            <a:off x="7259320" y="2590800"/>
            <a:ext cx="2021840" cy="2286000"/>
          </a:xfrm>
          <a:prstGeom prst="rect">
            <a:avLst/>
          </a:prstGeom>
          <a:noFill/>
          <a:ln>
            <a:noFill/>
          </a:ln>
        </p:spPr>
        <p:txBody>
          <a:bodyPr wrap="square" lIns="50800" tIns="0" rIns="50800" bIns="0" rtlCol="0" anchor="t">
            <a:noAutofit/>
          </a:bodyPr>
          <a:lstStyle/>
          <a:p>
            <a:pPr marL="152400" indent="-152400">
              <a:spcBef>
                <a:spcPts val="0"/>
              </a:spcBef>
              <a:spcAft>
                <a:spcPts val="600"/>
              </a:spcAft>
              <a:buClr>
                <a:srgbClr val="28509C"/>
              </a:buClr>
              <a:buFont typeface="Arial"/>
              <a:buChar char="•"/>
            </a:pPr>
            <a:r>
              <a:rPr lang="en-US" sz="1400" dirty="0">
                <a:solidFill>
                  <a:srgbClr val="2B2B2B"/>
                </a:solidFill>
              </a:rPr>
              <a:t>Start slowly and step up the rate as per prescribing information</a:t>
            </a:r>
          </a:p>
          <a:p>
            <a:pPr marL="152400" indent="-152400">
              <a:spcBef>
                <a:spcPts val="0"/>
              </a:spcBef>
              <a:spcAft>
                <a:spcPts val="600"/>
              </a:spcAft>
              <a:buClr>
                <a:srgbClr val="28509C"/>
              </a:buClr>
              <a:buFont typeface="Arial"/>
              <a:buChar char="•"/>
            </a:pPr>
            <a:r>
              <a:rPr lang="en-US" sz="1400" dirty="0">
                <a:solidFill>
                  <a:srgbClr val="2B2B2B"/>
                </a:solidFill>
              </a:rPr>
              <a:t>Monitor vital signs</a:t>
            </a:r>
          </a:p>
          <a:p>
            <a:pPr marL="152400" indent="-152400">
              <a:spcBef>
                <a:spcPts val="0"/>
              </a:spcBef>
              <a:spcAft>
                <a:spcPts val="600"/>
              </a:spcAft>
              <a:buClr>
                <a:srgbClr val="28509C"/>
              </a:buClr>
              <a:buFont typeface="Arial"/>
              <a:buChar char="•"/>
            </a:pPr>
            <a:r>
              <a:rPr lang="en-US" sz="1400" dirty="0">
                <a:solidFill>
                  <a:srgbClr val="2B2B2B"/>
                </a:solidFill>
              </a:rPr>
              <a:t>Keep oxygen or CPAP at hand if used</a:t>
            </a:r>
          </a:p>
        </p:txBody>
      </p:sp>
      <p:sp>
        <p:nvSpPr>
          <p:cNvPr id="25" name="Shape 25"/>
          <p:cNvSpPr/>
          <p:nvPr/>
        </p:nvSpPr>
        <p:spPr>
          <a:xfrm>
            <a:off x="10215880" y="1625600"/>
            <a:ext cx="457200" cy="457200"/>
          </a:xfrm>
          <a:prstGeom prst="ellipse">
            <a:avLst/>
          </a:prstGeom>
          <a:solidFill>
            <a:srgbClr val="28509C"/>
          </a:solidFill>
          <a:ln>
            <a:noFill/>
          </a:ln>
        </p:spPr>
        <p:txBody>
          <a:bodyPr wrap="square" lIns="0" tIns="0" rIns="0" bIns="0" rtlCol="0" anchor="ctr">
            <a:noAutofit/>
          </a:bodyPr>
          <a:lstStyle/>
          <a:p>
            <a:pPr algn="ctr">
              <a:spcBef>
                <a:spcPts val="0"/>
              </a:spcBef>
              <a:spcAft>
                <a:spcPts val="0"/>
              </a:spcAft>
              <a:buNone/>
            </a:pPr>
            <a:r>
              <a:rPr lang="en-US" sz="1500" b="1" dirty="0">
                <a:solidFill>
                  <a:srgbClr val="FFFFFF"/>
                </a:solidFill>
              </a:rPr>
              <a:t>5</a:t>
            </a:r>
          </a:p>
        </p:txBody>
      </p:sp>
      <p:sp>
        <p:nvSpPr>
          <p:cNvPr id="26" name="Shape 26"/>
          <p:cNvSpPr txBox="1"/>
          <p:nvPr/>
        </p:nvSpPr>
        <p:spPr>
          <a:xfrm>
            <a:off x="9433560" y="2209800"/>
            <a:ext cx="2021840" cy="304800"/>
          </a:xfrm>
          <a:prstGeom prst="rect">
            <a:avLst/>
          </a:prstGeom>
          <a:noFill/>
          <a:ln>
            <a:noFill/>
          </a:ln>
        </p:spPr>
        <p:txBody>
          <a:bodyPr wrap="square" lIns="0" tIns="0" rIns="0" bIns="0" rtlCol="0" anchor="t">
            <a:noAutofit/>
          </a:bodyPr>
          <a:lstStyle/>
          <a:p>
            <a:pPr algn="ctr">
              <a:spcBef>
                <a:spcPts val="0"/>
              </a:spcBef>
              <a:spcAft>
                <a:spcPts val="0"/>
              </a:spcAft>
              <a:buNone/>
            </a:pPr>
            <a:r>
              <a:rPr lang="en-US" sz="1600" b="1" dirty="0">
                <a:solidFill>
                  <a:srgbClr val="002E56"/>
                </a:solidFill>
              </a:rPr>
              <a:t>After</a:t>
            </a:r>
          </a:p>
        </p:txBody>
      </p:sp>
      <p:sp>
        <p:nvSpPr>
          <p:cNvPr id="27" name="Shape 27"/>
          <p:cNvSpPr txBox="1"/>
          <p:nvPr/>
        </p:nvSpPr>
        <p:spPr>
          <a:xfrm>
            <a:off x="9433560" y="2590800"/>
            <a:ext cx="2021840" cy="2286000"/>
          </a:xfrm>
          <a:prstGeom prst="rect">
            <a:avLst/>
          </a:prstGeom>
          <a:noFill/>
          <a:ln>
            <a:noFill/>
          </a:ln>
        </p:spPr>
        <p:txBody>
          <a:bodyPr wrap="square" lIns="50800" tIns="0" rIns="50800" bIns="0" rtlCol="0" anchor="t">
            <a:noAutofit/>
          </a:bodyPr>
          <a:lstStyle/>
          <a:p>
            <a:pPr marL="152400" indent="-152400">
              <a:spcBef>
                <a:spcPts val="0"/>
              </a:spcBef>
              <a:spcAft>
                <a:spcPts val="600"/>
              </a:spcAft>
              <a:buClr>
                <a:srgbClr val="28509C"/>
              </a:buClr>
              <a:buFont typeface="Arial"/>
              <a:buChar char="•"/>
            </a:pPr>
            <a:r>
              <a:rPr lang="en-US" sz="1400" dirty="0">
                <a:solidFill>
                  <a:srgbClr val="2B2B2B"/>
                </a:solidFill>
              </a:rPr>
              <a:t>Observe before discharge</a:t>
            </a:r>
          </a:p>
          <a:p>
            <a:pPr marL="152400" indent="-152400">
              <a:spcBef>
                <a:spcPts val="0"/>
              </a:spcBef>
              <a:spcAft>
                <a:spcPts val="600"/>
              </a:spcAft>
              <a:buClr>
                <a:srgbClr val="28509C"/>
              </a:buClr>
              <a:buFont typeface="Arial"/>
              <a:buChar char="•"/>
            </a:pPr>
            <a:r>
              <a:rPr lang="en-US" sz="1400" dirty="0">
                <a:solidFill>
                  <a:srgbClr val="2B2B2B"/>
                </a:solidFill>
              </a:rPr>
              <a:t>Document tolerance and any reaction</a:t>
            </a:r>
          </a:p>
          <a:p>
            <a:pPr marL="152400" indent="-152400">
              <a:spcBef>
                <a:spcPts val="0"/>
              </a:spcBef>
              <a:spcAft>
                <a:spcPts val="600"/>
              </a:spcAft>
              <a:buClr>
                <a:srgbClr val="28509C"/>
              </a:buClr>
              <a:buFont typeface="Arial"/>
              <a:buChar char="•"/>
            </a:pPr>
            <a:r>
              <a:rPr lang="en-US" sz="1400" dirty="0">
                <a:solidFill>
                  <a:srgbClr val="2B2B2B"/>
                </a:solidFill>
              </a:rPr>
              <a:t>Confirm the next infusion date</a:t>
            </a:r>
          </a:p>
        </p:txBody>
      </p:sp>
      <p:sp>
        <p:nvSpPr>
          <p:cNvPr id="28" name="Shape 28"/>
          <p:cNvSpPr/>
          <p:nvPr/>
        </p:nvSpPr>
        <p:spPr>
          <a:xfrm>
            <a:off x="660400" y="5029200"/>
            <a:ext cx="10871200" cy="558800"/>
          </a:xfrm>
          <a:prstGeom prst="roundRect">
            <a:avLst>
              <a:gd name="adj" fmla="val 20455"/>
            </a:avLst>
          </a:prstGeom>
          <a:solidFill>
            <a:srgbClr val="FBEAEA"/>
          </a:solidFill>
          <a:ln>
            <a:noFill/>
          </a:ln>
        </p:spPr>
        <p:txBody>
          <a:bodyPr wrap="square" lIns="0" tIns="0" rIns="0" bIns="0" rtlCol="0" anchor="t">
            <a:noAutofit/>
          </a:bodyPr>
          <a:lstStyle/>
          <a:p>
            <a:endParaRPr lang="en-US" dirty="0"/>
          </a:p>
        </p:txBody>
      </p:sp>
      <p:sp>
        <p:nvSpPr>
          <p:cNvPr id="30" name="Shape 30"/>
          <p:cNvSpPr txBox="1"/>
          <p:nvPr/>
        </p:nvSpPr>
        <p:spPr>
          <a:xfrm>
            <a:off x="863600" y="5029200"/>
            <a:ext cx="10617200" cy="5588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A33A3A"/>
                </a:solidFill>
              </a:rPr>
              <a:t>Check first: </a:t>
            </a:r>
            <a:r>
              <a:rPr lang="en-US" sz="1400" dirty="0">
                <a:solidFill>
                  <a:srgbClr val="2B2B2B"/>
                </a:solidFill>
              </a:rPr>
              <a:t>a patient with fever or an acute respiratory illness may need the infusion postponed. Ask the treating physician before starting.</a:t>
            </a:r>
          </a:p>
        </p:txBody>
      </p:sp>
      <p:sp>
        <p:nvSpPr>
          <p:cNvPr id="31"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CPAP, continuous positive airway pressure</a:t>
            </a:r>
          </a:p>
        </p:txBody>
      </p:sp>
      <p:sp>
        <p:nvSpPr>
          <p:cNvPr id="32"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Elosulfase alfa Summary of Product Characteristics (EMA); Galsulfase Summary of Product Characteristics (EMA); Akyol MU et al. Orphanet J Rare Dis 2019;14:137.</a:t>
            </a:r>
          </a:p>
        </p:txBody>
      </p:sp>
    </p:spTree>
    <p:extLst>
      <p:ext uri="{BB962C8B-B14F-4D97-AF65-F5344CB8AC3E}">
        <p14:creationId xmlns:p14="http://schemas.microsoft.com/office/powerpoint/2010/main" val="2535748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Kicker"/>
          <p:cNvSpPr txBox="1"/>
          <p:nvPr/>
        </p:nvSpPr>
        <p:spPr>
          <a:xfrm>
            <a:off x="660400" y="190500"/>
            <a:ext cx="10871200" cy="203200"/>
          </a:xfrm>
          <a:prstGeom prst="rect">
            <a:avLst/>
          </a:prstGeom>
          <a:noFill/>
          <a:ln>
            <a:noFill/>
          </a:ln>
        </p:spPr>
        <p:txBody>
          <a:bodyPr wrap="square" lIns="0" tIns="0" rIns="0" bIns="0" anchor="t">
            <a:noAutofit/>
          </a:bodyPr>
          <a:lstStyle/>
          <a:p>
            <a:r>
              <a:rPr lang="en-US" sz="1100" b="1" spc="100" dirty="0">
                <a:solidFill>
                  <a:srgbClr val="28509C"/>
                </a:solidFill>
              </a:rPr>
              <a:t>Management</a:t>
            </a:r>
          </a:p>
        </p:txBody>
      </p:sp>
      <p:sp>
        <p:nvSpPr>
          <p:cNvPr id="2" name="Title 1"/>
          <p:cNvSpPr>
            <a:spLocks noGrp="1"/>
          </p:cNvSpPr>
          <p:nvPr>
            <p:ph type="title"/>
          </p:nvPr>
        </p:nvSpPr>
        <p:spPr/>
        <p:txBody>
          <a:bodyPr/>
          <a:lstStyle/>
          <a:p>
            <a:r>
              <a:rPr lang="en-US"/>
              <a:t>Dose, dilution and infusion rate by ERT</a:t>
            </a:r>
            <a:endParaRPr lang="en-US" dirty="0"/>
          </a:p>
        </p:txBody>
      </p:sp>
      <p:sp>
        <p:nvSpPr>
          <p:cNvPr id="21" name="Shape 22"/>
          <p:cNvSpPr/>
          <p:nvPr/>
        </p:nvSpPr>
        <p:spPr>
          <a:xfrm>
            <a:off x="660400" y="1422400"/>
            <a:ext cx="5334000" cy="3200400"/>
          </a:xfrm>
          <a:prstGeom prst="roundRect">
            <a:avLst>
              <a:gd name="adj" fmla="val 3571"/>
            </a:avLst>
          </a:prstGeom>
          <a:solidFill>
            <a:srgbClr val="E8EEF7"/>
          </a:solidFill>
          <a:ln>
            <a:noFill/>
          </a:ln>
        </p:spPr>
        <p:txBody>
          <a:bodyPr wrap="square" lIns="0" tIns="0" rIns="0" bIns="0" anchor="t">
            <a:noAutofit/>
          </a:bodyPr>
          <a:lstStyle/>
          <a:p>
            <a:endParaRPr lang="en-US" dirty="0"/>
          </a:p>
        </p:txBody>
      </p:sp>
      <p:sp>
        <p:nvSpPr>
          <p:cNvPr id="22" name="Shape 23"/>
          <p:cNvSpPr/>
          <p:nvPr/>
        </p:nvSpPr>
        <p:spPr>
          <a:xfrm>
            <a:off x="660400" y="1422400"/>
            <a:ext cx="5334000" cy="431800"/>
          </a:xfrm>
          <a:prstGeom prst="roundRect">
            <a:avLst>
              <a:gd name="adj" fmla="val 17647"/>
            </a:avLst>
          </a:prstGeom>
          <a:solidFill>
            <a:srgbClr val="28509C"/>
          </a:solidFill>
          <a:ln>
            <a:noFill/>
          </a:ln>
        </p:spPr>
        <p:txBody>
          <a:bodyPr wrap="square" lIns="203200" tIns="0" rIns="0" bIns="0" anchor="ctr">
            <a:noAutofit/>
          </a:bodyPr>
          <a:lstStyle/>
          <a:p>
            <a:r>
              <a:rPr lang="en-US" sz="1500" b="1" dirty="0">
                <a:solidFill>
                  <a:srgbClr val="FFFFFF"/>
                </a:solidFill>
              </a:rPr>
              <a:t>Elosulfase alfa</a:t>
            </a:r>
            <a:r>
              <a:rPr lang="en-US" sz="1400" dirty="0">
                <a:solidFill>
                  <a:srgbClr val="D6DFEF"/>
                </a:solidFill>
              </a:rPr>
              <a:t>   |   MPS IVA</a:t>
            </a:r>
          </a:p>
        </p:txBody>
      </p:sp>
      <p:sp>
        <p:nvSpPr>
          <p:cNvPr id="23" name="Shape 24"/>
          <p:cNvSpPr txBox="1"/>
          <p:nvPr/>
        </p:nvSpPr>
        <p:spPr>
          <a:xfrm>
            <a:off x="863600" y="1930400"/>
            <a:ext cx="4927600" cy="2616200"/>
          </a:xfrm>
          <a:prstGeom prst="rect">
            <a:avLst/>
          </a:prstGeom>
          <a:noFill/>
          <a:ln>
            <a:noFill/>
          </a:ln>
        </p:spPr>
        <p:txBody>
          <a:bodyPr wrap="square" lIns="0" tIns="0" rIns="0" bIns="0" anchor="t">
            <a:noAutofit/>
          </a:bodyPr>
          <a:lstStyle/>
          <a:p>
            <a:pPr marL="1168400" indent="-1168400">
              <a:spcBef>
                <a:spcPts val="700"/>
              </a:spcBef>
              <a:buNone/>
              <a:tabLst>
                <a:tab pos="1168400" algn="l"/>
              </a:tabLst>
            </a:pPr>
            <a:r>
              <a:rPr lang="en-US" sz="1100" b="1" spc="50" dirty="0">
                <a:solidFill>
                  <a:srgbClr val="28509C"/>
                </a:solidFill>
              </a:rPr>
              <a:t>DOSE</a:t>
            </a:r>
            <a:r>
              <a:rPr lang="en-US" sz="1400" dirty="0">
                <a:solidFill>
                  <a:srgbClr val="2B2B2B"/>
                </a:solidFill>
              </a:rPr>
              <a:t>	2 mg/kg once weekly, IV</a:t>
            </a:r>
          </a:p>
          <a:p>
            <a:pPr marL="1168400" indent="-1168400">
              <a:spcBef>
                <a:spcPts val="700"/>
              </a:spcBef>
              <a:buNone/>
              <a:tabLst>
                <a:tab pos="1168400" algn="l"/>
              </a:tabLst>
            </a:pPr>
            <a:r>
              <a:rPr lang="en-US" sz="1100" b="1" spc="50" dirty="0">
                <a:solidFill>
                  <a:srgbClr val="28509C"/>
                </a:solidFill>
              </a:rPr>
              <a:t>VIALS</a:t>
            </a:r>
            <a:r>
              <a:rPr lang="en-US" sz="1400" dirty="0">
                <a:solidFill>
                  <a:srgbClr val="2B2B2B"/>
                </a:solidFill>
              </a:rPr>
              <a:t>	5 mg in 5 mL; vials = weight × 2 ÷ 5, rounded up</a:t>
            </a:r>
          </a:p>
          <a:p>
            <a:pPr marL="1168400" indent="-1168400">
              <a:spcBef>
                <a:spcPts val="700"/>
              </a:spcBef>
              <a:buNone/>
              <a:tabLst>
                <a:tab pos="1168400" algn="l"/>
              </a:tabLst>
            </a:pPr>
            <a:r>
              <a:rPr lang="en-US" sz="1100" b="1" spc="50" dirty="0">
                <a:solidFill>
                  <a:srgbClr val="28509C"/>
                </a:solidFill>
              </a:rPr>
              <a:t>DILUTE</a:t>
            </a:r>
            <a:r>
              <a:rPr lang="en-US" sz="1400" dirty="0">
                <a:solidFill>
                  <a:srgbClr val="2B2B2B"/>
                </a:solidFill>
              </a:rPr>
              <a:t>	0.9% NaCl: 100 mL if &lt;25 kg; 250 mL if ≥25 kg</a:t>
            </a:r>
          </a:p>
          <a:p>
            <a:pPr marL="1168400" indent="-1168400">
              <a:spcBef>
                <a:spcPts val="700"/>
              </a:spcBef>
              <a:buNone/>
              <a:tabLst>
                <a:tab pos="1168400" algn="l"/>
              </a:tabLst>
            </a:pPr>
            <a:r>
              <a:rPr lang="en-US" sz="1100" b="1" spc="50" dirty="0">
                <a:solidFill>
                  <a:srgbClr val="28509C"/>
                </a:solidFill>
              </a:rPr>
              <a:t>RATE &lt;25 KG</a:t>
            </a:r>
            <a:r>
              <a:rPr lang="en-US" sz="1400" dirty="0">
                <a:solidFill>
                  <a:srgbClr val="2B2B2B"/>
                </a:solidFill>
              </a:rPr>
              <a:t>	3 mL/h for 15 min, then 6 mL/h; increase by 6 mL/h every 15 min to a maximum of 36 mL/h</a:t>
            </a:r>
          </a:p>
          <a:p>
            <a:pPr marL="1168400" indent="-1168400">
              <a:spcBef>
                <a:spcPts val="700"/>
              </a:spcBef>
              <a:buNone/>
              <a:tabLst>
                <a:tab pos="1168400" algn="l"/>
              </a:tabLst>
            </a:pPr>
            <a:r>
              <a:rPr lang="en-US" sz="1100" b="1" spc="50" dirty="0">
                <a:solidFill>
                  <a:srgbClr val="28509C"/>
                </a:solidFill>
              </a:rPr>
              <a:t>RATE ≥25 KG</a:t>
            </a:r>
            <a:r>
              <a:rPr lang="en-US" sz="1400" dirty="0">
                <a:solidFill>
                  <a:srgbClr val="2B2B2B"/>
                </a:solidFill>
              </a:rPr>
              <a:t>	6 mL/h for 15 min, then increase by 12 mL/h every 15 min to a maximum of 72 mL/h</a:t>
            </a:r>
          </a:p>
          <a:p>
            <a:pPr marL="1168400" indent="-1168400">
              <a:spcBef>
                <a:spcPts val="700"/>
              </a:spcBef>
              <a:buNone/>
              <a:tabLst>
                <a:tab pos="1168400" algn="l"/>
              </a:tabLst>
            </a:pPr>
            <a:r>
              <a:rPr lang="en-US" sz="1100" b="1" spc="50" dirty="0">
                <a:solidFill>
                  <a:srgbClr val="28509C"/>
                </a:solidFill>
              </a:rPr>
              <a:t>DURATION</a:t>
            </a:r>
            <a:r>
              <a:rPr lang="en-US" sz="1400" dirty="0">
                <a:solidFill>
                  <a:srgbClr val="2B2B2B"/>
                </a:solidFill>
              </a:rPr>
              <a:t>	About 3.5 to 4.5 hours</a:t>
            </a:r>
          </a:p>
        </p:txBody>
      </p:sp>
      <p:sp>
        <p:nvSpPr>
          <p:cNvPr id="24" name="Shape 25"/>
          <p:cNvSpPr/>
          <p:nvPr/>
        </p:nvSpPr>
        <p:spPr>
          <a:xfrm>
            <a:off x="6197600" y="1422400"/>
            <a:ext cx="5334000" cy="3200400"/>
          </a:xfrm>
          <a:prstGeom prst="roundRect">
            <a:avLst>
              <a:gd name="adj" fmla="val 3571"/>
            </a:avLst>
          </a:prstGeom>
          <a:solidFill>
            <a:srgbClr val="E8EEF7"/>
          </a:solidFill>
          <a:ln>
            <a:noFill/>
          </a:ln>
        </p:spPr>
        <p:txBody>
          <a:bodyPr wrap="square" lIns="0" tIns="0" rIns="0" bIns="0" anchor="t">
            <a:noAutofit/>
          </a:bodyPr>
          <a:lstStyle/>
          <a:p>
            <a:endParaRPr lang="en-US" dirty="0"/>
          </a:p>
        </p:txBody>
      </p:sp>
      <p:sp>
        <p:nvSpPr>
          <p:cNvPr id="25" name="Shape 26"/>
          <p:cNvSpPr/>
          <p:nvPr/>
        </p:nvSpPr>
        <p:spPr>
          <a:xfrm>
            <a:off x="6197600" y="1422400"/>
            <a:ext cx="5334000" cy="431800"/>
          </a:xfrm>
          <a:prstGeom prst="roundRect">
            <a:avLst>
              <a:gd name="adj" fmla="val 17647"/>
            </a:avLst>
          </a:prstGeom>
          <a:solidFill>
            <a:srgbClr val="28509C"/>
          </a:solidFill>
          <a:ln>
            <a:noFill/>
          </a:ln>
        </p:spPr>
        <p:txBody>
          <a:bodyPr wrap="square" lIns="203200" tIns="0" rIns="0" bIns="0" anchor="ctr">
            <a:noAutofit/>
          </a:bodyPr>
          <a:lstStyle/>
          <a:p>
            <a:r>
              <a:rPr lang="en-US" sz="1500" b="1" dirty="0">
                <a:solidFill>
                  <a:srgbClr val="FFFFFF"/>
                </a:solidFill>
              </a:rPr>
              <a:t>Galsulfase</a:t>
            </a:r>
            <a:r>
              <a:rPr lang="en-US" sz="1400" dirty="0">
                <a:solidFill>
                  <a:srgbClr val="D6DFEF"/>
                </a:solidFill>
              </a:rPr>
              <a:t>   |   MPS VI</a:t>
            </a:r>
          </a:p>
        </p:txBody>
      </p:sp>
      <p:sp>
        <p:nvSpPr>
          <p:cNvPr id="26" name="Shape 27"/>
          <p:cNvSpPr txBox="1"/>
          <p:nvPr/>
        </p:nvSpPr>
        <p:spPr>
          <a:xfrm>
            <a:off x="6400800" y="1930400"/>
            <a:ext cx="4927600" cy="2616200"/>
          </a:xfrm>
          <a:prstGeom prst="rect">
            <a:avLst/>
          </a:prstGeom>
          <a:noFill/>
          <a:ln>
            <a:noFill/>
          </a:ln>
        </p:spPr>
        <p:txBody>
          <a:bodyPr wrap="square" lIns="0" tIns="0" rIns="0" bIns="0" anchor="t">
            <a:noAutofit/>
          </a:bodyPr>
          <a:lstStyle/>
          <a:p>
            <a:pPr marL="1168400" indent="-1168400">
              <a:spcBef>
                <a:spcPts val="700"/>
              </a:spcBef>
              <a:buNone/>
              <a:tabLst>
                <a:tab pos="1168400" algn="l"/>
              </a:tabLst>
            </a:pPr>
            <a:r>
              <a:rPr lang="en-US" sz="1100" b="1" spc="50" dirty="0">
                <a:solidFill>
                  <a:srgbClr val="28509C"/>
                </a:solidFill>
              </a:rPr>
              <a:t>DOSE</a:t>
            </a:r>
            <a:r>
              <a:rPr lang="en-US" sz="1400" dirty="0">
                <a:solidFill>
                  <a:srgbClr val="2B2B2B"/>
                </a:solidFill>
              </a:rPr>
              <a:t>	1 mg/kg once weekly, IV</a:t>
            </a:r>
          </a:p>
          <a:p>
            <a:pPr marL="1168400" indent="-1168400">
              <a:spcBef>
                <a:spcPts val="700"/>
              </a:spcBef>
              <a:buNone/>
              <a:tabLst>
                <a:tab pos="1168400" algn="l"/>
              </a:tabLst>
            </a:pPr>
            <a:r>
              <a:rPr lang="en-US" sz="1100" b="1" spc="50" dirty="0">
                <a:solidFill>
                  <a:srgbClr val="28509C"/>
                </a:solidFill>
              </a:rPr>
              <a:t>VIALS</a:t>
            </a:r>
            <a:r>
              <a:rPr lang="en-US" sz="1400" dirty="0">
                <a:solidFill>
                  <a:srgbClr val="2B2B2B"/>
                </a:solidFill>
              </a:rPr>
              <a:t>	5 mg in 5 mL; vials = weight ÷ 5, rounded up</a:t>
            </a:r>
          </a:p>
          <a:p>
            <a:pPr marL="1168400" indent="-1168400">
              <a:spcBef>
                <a:spcPts val="700"/>
              </a:spcBef>
              <a:buNone/>
              <a:tabLst>
                <a:tab pos="1168400" algn="l"/>
              </a:tabLst>
            </a:pPr>
            <a:r>
              <a:rPr lang="en-US" sz="1100" b="1" spc="50" dirty="0">
                <a:solidFill>
                  <a:srgbClr val="28509C"/>
                </a:solidFill>
              </a:rPr>
              <a:t>DILUTE</a:t>
            </a:r>
            <a:r>
              <a:rPr lang="en-US" sz="1400" dirty="0">
                <a:solidFill>
                  <a:srgbClr val="2B2B2B"/>
                </a:solidFill>
              </a:rPr>
              <a:t>	0.9% NaCl: 250 mL; 100 mL if &lt;20 kg or at risk of fluid overload</a:t>
            </a:r>
          </a:p>
          <a:p>
            <a:pPr marL="1168400" indent="-1168400">
              <a:spcBef>
                <a:spcPts val="700"/>
              </a:spcBef>
              <a:buNone/>
              <a:tabLst>
                <a:tab pos="1168400" algn="l"/>
              </a:tabLst>
            </a:pPr>
            <a:r>
              <a:rPr lang="en-US" sz="1100" b="1" spc="50" dirty="0">
                <a:solidFill>
                  <a:srgbClr val="28509C"/>
                </a:solidFill>
              </a:rPr>
              <a:t>RATE</a:t>
            </a:r>
            <a:r>
              <a:rPr lang="en-US" sz="1400" dirty="0">
                <a:solidFill>
                  <a:srgbClr val="2B2B2B"/>
                </a:solidFill>
              </a:rPr>
              <a:t>	About 2.5% of the total volume in the first hour, the rest over the next 3 hours</a:t>
            </a:r>
          </a:p>
          <a:p>
            <a:pPr marL="1168400" indent="-1168400">
              <a:spcBef>
                <a:spcPts val="700"/>
              </a:spcBef>
              <a:buNone/>
              <a:tabLst>
                <a:tab pos="1168400" algn="l"/>
              </a:tabLst>
            </a:pPr>
            <a:r>
              <a:rPr lang="en-US" sz="1100" b="1" spc="50" dirty="0">
                <a:solidFill>
                  <a:srgbClr val="28509C"/>
                </a:solidFill>
              </a:rPr>
              <a:t>DURATION</a:t>
            </a:r>
            <a:r>
              <a:rPr lang="en-US" sz="1400" dirty="0">
                <a:solidFill>
                  <a:srgbClr val="2B2B2B"/>
                </a:solidFill>
              </a:rPr>
              <a:t>	At least 4 hours</a:t>
            </a:r>
          </a:p>
        </p:txBody>
      </p:sp>
      <p:sp>
        <p:nvSpPr>
          <p:cNvPr id="27" name="Shape 28"/>
          <p:cNvSpPr/>
          <p:nvPr/>
        </p:nvSpPr>
        <p:spPr>
          <a:xfrm>
            <a:off x="660400" y="4876800"/>
            <a:ext cx="10871200" cy="584200"/>
          </a:xfrm>
          <a:prstGeom prst="roundRect">
            <a:avLst>
              <a:gd name="adj" fmla="val 19565"/>
            </a:avLst>
          </a:prstGeom>
          <a:solidFill>
            <a:srgbClr val="E4EAF5"/>
          </a:solidFill>
          <a:ln>
            <a:noFill/>
          </a:ln>
        </p:spPr>
        <p:txBody>
          <a:bodyPr wrap="square" lIns="203200" tIns="0" rIns="203200" bIns="0" anchor="ctr">
            <a:noAutofit/>
          </a:bodyPr>
          <a:lstStyle/>
          <a:p>
            <a:r>
              <a:rPr lang="en-US" sz="1400" b="1" dirty="0">
                <a:solidFill>
                  <a:srgbClr val="002E56"/>
                </a:solidFill>
              </a:rPr>
              <a:t>Both products:  </a:t>
            </a:r>
            <a:r>
              <a:rPr lang="en-US" sz="1400" dirty="0">
                <a:solidFill>
                  <a:srgbClr val="2B2B2B"/>
                </a:solidFill>
              </a:rPr>
              <a:t>remove saline equal to the drug volume, add the drug slowly, rotate gently and never shake; infuse through a 0.2 µm low-protein-binding in-line filter; store vials at 2–8 °C and use the diluted bag promptly.</a:t>
            </a:r>
          </a:p>
        </p:txBody>
      </p:sp>
      <p:sp>
        <p:nvSpPr>
          <p:cNvPr id="28" name="Shape 29"/>
          <p:cNvSpPr txBox="1"/>
          <p:nvPr/>
        </p:nvSpPr>
        <p:spPr>
          <a:xfrm>
            <a:off x="660400" y="5676900"/>
            <a:ext cx="10871200" cy="203200"/>
          </a:xfrm>
          <a:prstGeom prst="rect">
            <a:avLst/>
          </a:prstGeom>
          <a:noFill/>
          <a:ln>
            <a:noFill/>
          </a:ln>
        </p:spPr>
        <p:txBody>
          <a:bodyPr wrap="square" lIns="0" tIns="0" rIns="0" bIns="0" anchor="t">
            <a:noAutofit/>
          </a:bodyPr>
          <a:lstStyle/>
          <a:p>
            <a:r>
              <a:rPr lang="en-US" sz="1100" i="1" dirty="0">
                <a:solidFill>
                  <a:srgbClr val="404040"/>
                </a:solidFill>
              </a:rPr>
              <a:t>ERT, enzyme replacement therapy; IV, intravenous; MPS, mucopolysaccharidosis; NaCl, sodium chloride. Always follow the local SmPC and hospital protocol.</a:t>
            </a:r>
          </a:p>
        </p:txBody>
      </p:sp>
      <p:sp>
        <p:nvSpPr>
          <p:cNvPr id="29" name="Shape 30"/>
          <p:cNvSpPr txBox="1"/>
          <p:nvPr/>
        </p:nvSpPr>
        <p:spPr>
          <a:xfrm>
            <a:off x="660400" y="5943600"/>
            <a:ext cx="10871200" cy="330200"/>
          </a:xfrm>
          <a:prstGeom prst="rect">
            <a:avLst/>
          </a:prstGeom>
          <a:noFill/>
          <a:ln>
            <a:noFill/>
          </a:ln>
        </p:spPr>
        <p:txBody>
          <a:bodyPr wrap="square" lIns="0" tIns="0" rIns="0" bIns="0" anchor="t">
            <a:noAutofit/>
          </a:bodyPr>
          <a:lstStyle/>
          <a:p>
            <a:r>
              <a:rPr lang="en-US" sz="900" dirty="0">
                <a:solidFill>
                  <a:srgbClr val="646464"/>
                </a:solidFill>
              </a:rPr>
              <a:t>1. Elosulfase alfa Summary of Product Characteristics. 2. Galsulfase Summary of Product Characteristics.</a:t>
            </a:r>
          </a:p>
        </p:txBody>
      </p:sp>
    </p:spTree>
    <p:extLst>
      <p:ext uri="{BB962C8B-B14F-4D97-AF65-F5344CB8AC3E}">
        <p14:creationId xmlns:p14="http://schemas.microsoft.com/office/powerpoint/2010/main" val="9749134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Infusion day and reactions</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Managing infusion reactions</a:t>
            </a:r>
            <a:endParaRPr lang="en-US" dirty="0"/>
          </a:p>
        </p:txBody>
      </p:sp>
      <p:sp>
        <p:nvSpPr>
          <p:cNvPr id="12" name="Shape 12"/>
          <p:cNvSpPr/>
          <p:nvPr/>
        </p:nvSpPr>
        <p:spPr>
          <a:xfrm>
            <a:off x="660400" y="1524000"/>
            <a:ext cx="3454400" cy="3086100"/>
          </a:xfrm>
          <a:prstGeom prst="roundRect">
            <a:avLst>
              <a:gd name="adj" fmla="val 3704"/>
            </a:avLst>
          </a:prstGeom>
          <a:solidFill>
            <a:srgbClr val="FFFFFF"/>
          </a:solidFill>
          <a:ln w="9525">
            <a:noFill/>
          </a:ln>
        </p:spPr>
        <p:txBody>
          <a:bodyPr wrap="square" lIns="0" tIns="0" rIns="0" bIns="0" rtlCol="0" anchor="t">
            <a:noAutofit/>
          </a:bodyPr>
          <a:lstStyle/>
          <a:p>
            <a:endParaRPr lang="en-US" dirty="0"/>
          </a:p>
        </p:txBody>
      </p:sp>
      <p:sp>
        <p:nvSpPr>
          <p:cNvPr id="13" name="Shape 13"/>
          <p:cNvSpPr/>
          <p:nvPr/>
        </p:nvSpPr>
        <p:spPr>
          <a:xfrm>
            <a:off x="660400" y="1524000"/>
            <a:ext cx="3454400" cy="406400"/>
          </a:xfrm>
          <a:prstGeom prst="roundRect">
            <a:avLst>
              <a:gd name="adj" fmla="val 18750"/>
            </a:avLst>
          </a:prstGeom>
          <a:solidFill>
            <a:srgbClr val="F6D6D6"/>
          </a:solidFill>
          <a:ln>
            <a:noFill/>
          </a:ln>
        </p:spPr>
        <p:txBody>
          <a:bodyPr wrap="square" lIns="177800" tIns="0" rIns="127000" bIns="0" rtlCol="0" anchor="ctr">
            <a:noAutofit/>
          </a:bodyPr>
          <a:lstStyle/>
          <a:p>
            <a:pPr>
              <a:spcBef>
                <a:spcPts val="0"/>
              </a:spcBef>
              <a:spcAft>
                <a:spcPts val="0"/>
              </a:spcAft>
              <a:buNone/>
            </a:pPr>
            <a:r>
              <a:rPr lang="en-US" sz="1250" b="1" spc="80" dirty="0">
                <a:solidFill>
                  <a:srgbClr val="7A2B2B"/>
                </a:solidFill>
              </a:rPr>
              <a:t>Mild</a:t>
            </a:r>
          </a:p>
        </p:txBody>
      </p:sp>
      <p:sp>
        <p:nvSpPr>
          <p:cNvPr id="14" name="Shape 14"/>
          <p:cNvSpPr txBox="1"/>
          <p:nvPr/>
        </p:nvSpPr>
        <p:spPr>
          <a:xfrm>
            <a:off x="838200" y="2006600"/>
            <a:ext cx="3149600" cy="965200"/>
          </a:xfrm>
          <a:prstGeom prst="rect">
            <a:avLst/>
          </a:prstGeom>
          <a:noFill/>
          <a:ln>
            <a:noFill/>
          </a:ln>
        </p:spPr>
        <p:txBody>
          <a:bodyPr wrap="square" lIns="0" tIns="0" rIns="0" bIns="0" rtlCol="0" anchor="t">
            <a:noAutofit/>
          </a:bodyPr>
          <a:lstStyle/>
          <a:p>
            <a:pPr>
              <a:spcBef>
                <a:spcPts val="0"/>
              </a:spcBef>
              <a:spcAft>
                <a:spcPts val="0"/>
              </a:spcAft>
              <a:buNone/>
            </a:pPr>
            <a:r>
              <a:rPr lang="en-US" sz="1300" b="1" dirty="0">
                <a:solidFill>
                  <a:srgbClr val="A33A3A"/>
                </a:solidFill>
              </a:rPr>
              <a:t>Signs</a:t>
            </a:r>
          </a:p>
          <a:p>
            <a:pPr>
              <a:spcBef>
                <a:spcPts val="0"/>
              </a:spcBef>
              <a:spcAft>
                <a:spcPts val="0"/>
              </a:spcAft>
              <a:buNone/>
            </a:pPr>
            <a:r>
              <a:rPr lang="en-US" sz="1400" dirty="0">
                <a:solidFill>
                  <a:srgbClr val="2B2B2B"/>
                </a:solidFill>
              </a:rPr>
              <a:t>Flushing, nausea, fever, chills, itching, headache, irritability</a:t>
            </a:r>
          </a:p>
        </p:txBody>
      </p:sp>
      <p:cxnSp>
        <p:nvCxnSpPr>
          <p:cNvPr id="15" name="Line 15"/>
          <p:cNvCxnSpPr/>
          <p:nvPr/>
        </p:nvCxnSpPr>
        <p:spPr>
          <a:xfrm>
            <a:off x="838200" y="3009900"/>
            <a:ext cx="3098800" cy="0"/>
          </a:xfrm>
          <a:prstGeom prst="line">
            <a:avLst/>
          </a:prstGeom>
          <a:ln w="9525">
            <a:solidFill>
              <a:srgbClr val="E0E0E0"/>
            </a:solidFill>
          </a:ln>
        </p:spPr>
      </p:cxnSp>
      <p:sp>
        <p:nvSpPr>
          <p:cNvPr id="16" name="Shape 16"/>
          <p:cNvSpPr txBox="1"/>
          <p:nvPr/>
        </p:nvSpPr>
        <p:spPr>
          <a:xfrm>
            <a:off x="838200" y="3060700"/>
            <a:ext cx="3149600" cy="1524000"/>
          </a:xfrm>
          <a:prstGeom prst="rect">
            <a:avLst/>
          </a:prstGeom>
          <a:noFill/>
          <a:ln>
            <a:noFill/>
          </a:ln>
        </p:spPr>
        <p:txBody>
          <a:bodyPr wrap="square" lIns="0" tIns="0" rIns="0" bIns="0" rtlCol="0" anchor="t">
            <a:noAutofit/>
          </a:bodyPr>
          <a:lstStyle/>
          <a:p>
            <a:pPr>
              <a:spcBef>
                <a:spcPts val="0"/>
              </a:spcBef>
              <a:spcAft>
                <a:spcPts val="0"/>
              </a:spcAft>
              <a:buNone/>
            </a:pPr>
            <a:r>
              <a:rPr lang="en-US" sz="1300" b="1" dirty="0">
                <a:solidFill>
                  <a:srgbClr val="28509C"/>
                </a:solidFill>
              </a:rPr>
              <a:t>Actions</a:t>
            </a:r>
          </a:p>
          <a:p>
            <a:pPr marL="152400" indent="-152400">
              <a:spcBef>
                <a:spcPts val="0"/>
              </a:spcBef>
              <a:spcAft>
                <a:spcPts val="300"/>
              </a:spcAft>
              <a:buClr>
                <a:srgbClr val="28509C"/>
              </a:buClr>
              <a:buFont typeface="Arial"/>
              <a:buChar char="•"/>
            </a:pPr>
            <a:r>
              <a:rPr lang="en-US" sz="1400" dirty="0">
                <a:solidFill>
                  <a:srgbClr val="2B2B2B"/>
                </a:solidFill>
              </a:rPr>
              <a:t>Stop or slow the infusion</a:t>
            </a:r>
          </a:p>
          <a:p>
            <a:pPr marL="152400" indent="-152400">
              <a:spcBef>
                <a:spcPts val="0"/>
              </a:spcBef>
              <a:spcAft>
                <a:spcPts val="300"/>
              </a:spcAft>
              <a:buClr>
                <a:srgbClr val="28509C"/>
              </a:buClr>
              <a:buFont typeface="Arial"/>
              <a:buChar char="•"/>
            </a:pPr>
            <a:r>
              <a:rPr lang="en-US" sz="1400" dirty="0">
                <a:solidFill>
                  <a:srgbClr val="2B2B2B"/>
                </a:solidFill>
              </a:rPr>
              <a:t>Check vital signs</a:t>
            </a:r>
          </a:p>
          <a:p>
            <a:pPr marL="152400" indent="-152400">
              <a:spcBef>
                <a:spcPts val="0"/>
              </a:spcBef>
              <a:spcAft>
                <a:spcPts val="300"/>
              </a:spcAft>
              <a:buClr>
                <a:srgbClr val="28509C"/>
              </a:buClr>
              <a:buFont typeface="Arial"/>
              <a:buChar char="•"/>
            </a:pPr>
            <a:r>
              <a:rPr lang="en-US" sz="1400" dirty="0">
                <a:solidFill>
                  <a:srgbClr val="2B2B2B"/>
                </a:solidFill>
              </a:rPr>
              <a:t>Inform the physician for medication</a:t>
            </a:r>
          </a:p>
          <a:p>
            <a:pPr marL="152400" indent="-152400">
              <a:spcBef>
                <a:spcPts val="0"/>
              </a:spcBef>
              <a:spcAft>
                <a:spcPts val="300"/>
              </a:spcAft>
              <a:buClr>
                <a:srgbClr val="28509C"/>
              </a:buClr>
              <a:buFont typeface="Arial"/>
              <a:buChar char="•"/>
            </a:pPr>
            <a:r>
              <a:rPr lang="en-US" sz="1400" dirty="0">
                <a:solidFill>
                  <a:srgbClr val="2B2B2B"/>
                </a:solidFill>
              </a:rPr>
              <a:t>Restart slowly once settled</a:t>
            </a:r>
          </a:p>
        </p:txBody>
      </p:sp>
      <p:sp>
        <p:nvSpPr>
          <p:cNvPr id="17" name="Shape 17"/>
          <p:cNvSpPr/>
          <p:nvPr/>
        </p:nvSpPr>
        <p:spPr>
          <a:xfrm>
            <a:off x="4368800" y="1524000"/>
            <a:ext cx="3454400" cy="3086100"/>
          </a:xfrm>
          <a:prstGeom prst="roundRect">
            <a:avLst>
              <a:gd name="adj" fmla="val 3704"/>
            </a:avLst>
          </a:prstGeom>
          <a:solidFill>
            <a:srgbClr val="FFFFFF"/>
          </a:solidFill>
          <a:ln w="9525">
            <a:noFill/>
          </a:ln>
        </p:spPr>
        <p:txBody>
          <a:bodyPr wrap="square" lIns="0" tIns="0" rIns="0" bIns="0" rtlCol="0" anchor="t">
            <a:noAutofit/>
          </a:bodyPr>
          <a:lstStyle/>
          <a:p>
            <a:endParaRPr lang="en-US" dirty="0"/>
          </a:p>
        </p:txBody>
      </p:sp>
      <p:sp>
        <p:nvSpPr>
          <p:cNvPr id="18" name="Shape 18"/>
          <p:cNvSpPr/>
          <p:nvPr/>
        </p:nvSpPr>
        <p:spPr>
          <a:xfrm>
            <a:off x="4368800" y="1524000"/>
            <a:ext cx="3454400" cy="406400"/>
          </a:xfrm>
          <a:prstGeom prst="roundRect">
            <a:avLst>
              <a:gd name="adj" fmla="val 18750"/>
            </a:avLst>
          </a:prstGeom>
          <a:solidFill>
            <a:srgbClr val="E08A8A"/>
          </a:solidFill>
          <a:ln>
            <a:noFill/>
          </a:ln>
        </p:spPr>
        <p:txBody>
          <a:bodyPr wrap="square" lIns="177800" tIns="0" rIns="127000" bIns="0" rtlCol="0" anchor="ctr">
            <a:noAutofit/>
          </a:bodyPr>
          <a:lstStyle/>
          <a:p>
            <a:pPr>
              <a:spcBef>
                <a:spcPts val="0"/>
              </a:spcBef>
              <a:spcAft>
                <a:spcPts val="0"/>
              </a:spcAft>
              <a:buNone/>
            </a:pPr>
            <a:r>
              <a:rPr lang="en-US" sz="1250" b="1" spc="80" dirty="0">
                <a:solidFill>
                  <a:srgbClr val="4A1A1A"/>
                </a:solidFill>
              </a:rPr>
              <a:t>Moderate</a:t>
            </a:r>
          </a:p>
        </p:txBody>
      </p:sp>
      <p:sp>
        <p:nvSpPr>
          <p:cNvPr id="19" name="Shape 19"/>
          <p:cNvSpPr txBox="1"/>
          <p:nvPr/>
        </p:nvSpPr>
        <p:spPr>
          <a:xfrm>
            <a:off x="4546600" y="2006600"/>
            <a:ext cx="3149600" cy="965200"/>
          </a:xfrm>
          <a:prstGeom prst="rect">
            <a:avLst/>
          </a:prstGeom>
          <a:noFill/>
          <a:ln>
            <a:noFill/>
          </a:ln>
        </p:spPr>
        <p:txBody>
          <a:bodyPr wrap="square" lIns="0" tIns="0" rIns="0" bIns="0" rtlCol="0" anchor="t">
            <a:noAutofit/>
          </a:bodyPr>
          <a:lstStyle/>
          <a:p>
            <a:pPr>
              <a:spcBef>
                <a:spcPts val="0"/>
              </a:spcBef>
              <a:spcAft>
                <a:spcPts val="0"/>
              </a:spcAft>
              <a:buNone/>
            </a:pPr>
            <a:r>
              <a:rPr lang="en-US" sz="1300" b="1" dirty="0">
                <a:solidFill>
                  <a:srgbClr val="A33A3A"/>
                </a:solidFill>
              </a:rPr>
              <a:t>Signs</a:t>
            </a:r>
          </a:p>
          <a:p>
            <a:pPr>
              <a:spcBef>
                <a:spcPts val="0"/>
              </a:spcBef>
              <a:spcAft>
                <a:spcPts val="0"/>
              </a:spcAft>
              <a:buNone/>
            </a:pPr>
            <a:r>
              <a:rPr lang="en-US" sz="1400" dirty="0">
                <a:solidFill>
                  <a:srgbClr val="2B2B2B"/>
                </a:solidFill>
              </a:rPr>
              <a:t>Chest pain, hives, severe headache, vomiting, diarrhoea, abdominal cramps</a:t>
            </a:r>
          </a:p>
        </p:txBody>
      </p:sp>
      <p:cxnSp>
        <p:nvCxnSpPr>
          <p:cNvPr id="20" name="Line 20"/>
          <p:cNvCxnSpPr/>
          <p:nvPr/>
        </p:nvCxnSpPr>
        <p:spPr>
          <a:xfrm>
            <a:off x="4546600" y="3009900"/>
            <a:ext cx="3098800" cy="0"/>
          </a:xfrm>
          <a:prstGeom prst="line">
            <a:avLst/>
          </a:prstGeom>
          <a:ln w="9525">
            <a:solidFill>
              <a:srgbClr val="E0E0E0"/>
            </a:solidFill>
          </a:ln>
        </p:spPr>
      </p:cxnSp>
      <p:sp>
        <p:nvSpPr>
          <p:cNvPr id="21" name="Shape 21"/>
          <p:cNvSpPr txBox="1"/>
          <p:nvPr/>
        </p:nvSpPr>
        <p:spPr>
          <a:xfrm>
            <a:off x="4546600" y="3060700"/>
            <a:ext cx="3149600" cy="1524000"/>
          </a:xfrm>
          <a:prstGeom prst="rect">
            <a:avLst/>
          </a:prstGeom>
          <a:noFill/>
          <a:ln>
            <a:noFill/>
          </a:ln>
        </p:spPr>
        <p:txBody>
          <a:bodyPr wrap="square" lIns="0" tIns="0" rIns="0" bIns="0" rtlCol="0" anchor="t">
            <a:noAutofit/>
          </a:bodyPr>
          <a:lstStyle/>
          <a:p>
            <a:pPr>
              <a:spcBef>
                <a:spcPts val="0"/>
              </a:spcBef>
              <a:spcAft>
                <a:spcPts val="0"/>
              </a:spcAft>
              <a:buNone/>
            </a:pPr>
            <a:r>
              <a:rPr lang="en-US" sz="1300" b="1" dirty="0">
                <a:solidFill>
                  <a:srgbClr val="28509C"/>
                </a:solidFill>
              </a:rPr>
              <a:t>Actions</a:t>
            </a:r>
          </a:p>
          <a:p>
            <a:pPr marL="152400" indent="-152400">
              <a:spcBef>
                <a:spcPts val="0"/>
              </a:spcBef>
              <a:spcAft>
                <a:spcPts val="300"/>
              </a:spcAft>
              <a:buClr>
                <a:srgbClr val="28509C"/>
              </a:buClr>
              <a:buFont typeface="Arial"/>
              <a:buChar char="•"/>
            </a:pPr>
            <a:r>
              <a:rPr lang="en-US" sz="1400" dirty="0">
                <a:solidFill>
                  <a:srgbClr val="2B2B2B"/>
                </a:solidFill>
              </a:rPr>
              <a:t>Stop the infusion; check vital signs</a:t>
            </a:r>
          </a:p>
          <a:p>
            <a:pPr marL="152400" indent="-152400">
              <a:spcBef>
                <a:spcPts val="0"/>
              </a:spcBef>
              <a:spcAft>
                <a:spcPts val="300"/>
              </a:spcAft>
              <a:buClr>
                <a:srgbClr val="28509C"/>
              </a:buClr>
              <a:buFont typeface="Arial"/>
              <a:buChar char="•"/>
            </a:pPr>
            <a:r>
              <a:rPr lang="en-US" sz="1400" dirty="0">
                <a:solidFill>
                  <a:srgbClr val="2B2B2B"/>
                </a:solidFill>
              </a:rPr>
              <a:t>Inform the physician for medication</a:t>
            </a:r>
          </a:p>
          <a:p>
            <a:pPr marL="152400" indent="-152400">
              <a:spcBef>
                <a:spcPts val="0"/>
              </a:spcBef>
              <a:spcAft>
                <a:spcPts val="300"/>
              </a:spcAft>
              <a:buClr>
                <a:srgbClr val="28509C"/>
              </a:buClr>
              <a:buFont typeface="Arial"/>
              <a:buChar char="•"/>
            </a:pPr>
            <a:r>
              <a:rPr lang="en-US" sz="1400" dirty="0">
                <a:solidFill>
                  <a:srgbClr val="2B2B2B"/>
                </a:solidFill>
              </a:rPr>
              <a:t>Reassess after 30 minutes; if settled, restart at about half the rate</a:t>
            </a:r>
          </a:p>
          <a:p>
            <a:pPr marL="152400" indent="-152400">
              <a:spcBef>
                <a:spcPts val="0"/>
              </a:spcBef>
              <a:spcAft>
                <a:spcPts val="300"/>
              </a:spcAft>
              <a:buClr>
                <a:srgbClr val="28509C"/>
              </a:buClr>
              <a:buFont typeface="Arial"/>
              <a:buChar char="•"/>
            </a:pPr>
            <a:r>
              <a:rPr lang="en-US" sz="1400" dirty="0">
                <a:solidFill>
                  <a:srgbClr val="2B2B2B"/>
                </a:solidFill>
              </a:rPr>
              <a:t>Premedicate next time as prescribed</a:t>
            </a:r>
          </a:p>
        </p:txBody>
      </p:sp>
      <p:sp>
        <p:nvSpPr>
          <p:cNvPr id="22" name="Shape 22"/>
          <p:cNvSpPr/>
          <p:nvPr/>
        </p:nvSpPr>
        <p:spPr>
          <a:xfrm>
            <a:off x="8077200" y="1524000"/>
            <a:ext cx="3454400" cy="3086100"/>
          </a:xfrm>
          <a:prstGeom prst="roundRect">
            <a:avLst>
              <a:gd name="adj" fmla="val 3704"/>
            </a:avLst>
          </a:prstGeom>
          <a:solidFill>
            <a:srgbClr val="FFFFFF"/>
          </a:solidFill>
          <a:ln w="9525">
            <a:noFill/>
          </a:ln>
        </p:spPr>
        <p:txBody>
          <a:bodyPr wrap="square" lIns="0" tIns="0" rIns="0" bIns="0" rtlCol="0" anchor="t">
            <a:noAutofit/>
          </a:bodyPr>
          <a:lstStyle/>
          <a:p>
            <a:endParaRPr lang="en-US" dirty="0"/>
          </a:p>
        </p:txBody>
      </p:sp>
      <p:sp>
        <p:nvSpPr>
          <p:cNvPr id="23" name="Shape 23"/>
          <p:cNvSpPr/>
          <p:nvPr/>
        </p:nvSpPr>
        <p:spPr>
          <a:xfrm>
            <a:off x="8077200" y="1524000"/>
            <a:ext cx="3454400" cy="406400"/>
          </a:xfrm>
          <a:prstGeom prst="roundRect">
            <a:avLst>
              <a:gd name="adj" fmla="val 18750"/>
            </a:avLst>
          </a:prstGeom>
          <a:solidFill>
            <a:srgbClr val="A33A3A"/>
          </a:solidFill>
          <a:ln>
            <a:noFill/>
          </a:ln>
        </p:spPr>
        <p:txBody>
          <a:bodyPr wrap="square" lIns="177800" tIns="0" rIns="127000" bIns="0" rtlCol="0" anchor="ctr">
            <a:noAutofit/>
          </a:bodyPr>
          <a:lstStyle/>
          <a:p>
            <a:pPr>
              <a:spcBef>
                <a:spcPts val="0"/>
              </a:spcBef>
              <a:spcAft>
                <a:spcPts val="0"/>
              </a:spcAft>
              <a:buNone/>
            </a:pPr>
            <a:r>
              <a:rPr lang="en-US" sz="1250" b="1" spc="80" dirty="0">
                <a:solidFill>
                  <a:srgbClr val="FFFFFF"/>
                </a:solidFill>
              </a:rPr>
              <a:t>Severe (anaphylaxis)</a:t>
            </a:r>
          </a:p>
        </p:txBody>
      </p:sp>
      <p:sp>
        <p:nvSpPr>
          <p:cNvPr id="24" name="Shape 24"/>
          <p:cNvSpPr txBox="1"/>
          <p:nvPr/>
        </p:nvSpPr>
        <p:spPr>
          <a:xfrm>
            <a:off x="8255000" y="2006600"/>
            <a:ext cx="3149600" cy="965200"/>
          </a:xfrm>
          <a:prstGeom prst="rect">
            <a:avLst/>
          </a:prstGeom>
          <a:noFill/>
          <a:ln>
            <a:noFill/>
          </a:ln>
        </p:spPr>
        <p:txBody>
          <a:bodyPr wrap="square" lIns="0" tIns="0" rIns="0" bIns="0" rtlCol="0" anchor="t">
            <a:noAutofit/>
          </a:bodyPr>
          <a:lstStyle/>
          <a:p>
            <a:pPr>
              <a:spcBef>
                <a:spcPts val="0"/>
              </a:spcBef>
              <a:spcAft>
                <a:spcPts val="0"/>
              </a:spcAft>
              <a:buNone/>
            </a:pPr>
            <a:r>
              <a:rPr lang="en-US" sz="1300" b="1" dirty="0">
                <a:solidFill>
                  <a:srgbClr val="A33A3A"/>
                </a:solidFill>
              </a:rPr>
              <a:t>Signs</a:t>
            </a:r>
          </a:p>
          <a:p>
            <a:pPr>
              <a:spcBef>
                <a:spcPts val="0"/>
              </a:spcBef>
              <a:spcAft>
                <a:spcPts val="0"/>
              </a:spcAft>
              <a:buNone/>
            </a:pPr>
            <a:r>
              <a:rPr lang="en-US" sz="1400" dirty="0">
                <a:solidFill>
                  <a:srgbClr val="2B2B2B"/>
                </a:solidFill>
              </a:rPr>
              <a:t>Breathing difficulty, wheeze, throat or face swelling, low blood pressure, collapse</a:t>
            </a:r>
          </a:p>
        </p:txBody>
      </p:sp>
      <p:cxnSp>
        <p:nvCxnSpPr>
          <p:cNvPr id="25" name="Line 25"/>
          <p:cNvCxnSpPr/>
          <p:nvPr/>
        </p:nvCxnSpPr>
        <p:spPr>
          <a:xfrm>
            <a:off x="8255000" y="3009900"/>
            <a:ext cx="3098800" cy="0"/>
          </a:xfrm>
          <a:prstGeom prst="line">
            <a:avLst/>
          </a:prstGeom>
          <a:ln w="9525">
            <a:solidFill>
              <a:srgbClr val="E0E0E0"/>
            </a:solidFill>
          </a:ln>
        </p:spPr>
      </p:cxnSp>
      <p:sp>
        <p:nvSpPr>
          <p:cNvPr id="26" name="Shape 26"/>
          <p:cNvSpPr txBox="1"/>
          <p:nvPr/>
        </p:nvSpPr>
        <p:spPr>
          <a:xfrm>
            <a:off x="8255000" y="3060700"/>
            <a:ext cx="3149600" cy="1524000"/>
          </a:xfrm>
          <a:prstGeom prst="rect">
            <a:avLst/>
          </a:prstGeom>
          <a:noFill/>
          <a:ln>
            <a:noFill/>
          </a:ln>
        </p:spPr>
        <p:txBody>
          <a:bodyPr wrap="square" lIns="0" tIns="0" rIns="0" bIns="0" rtlCol="0" anchor="t">
            <a:noAutofit/>
          </a:bodyPr>
          <a:lstStyle/>
          <a:p>
            <a:pPr>
              <a:spcBef>
                <a:spcPts val="0"/>
              </a:spcBef>
              <a:spcAft>
                <a:spcPts val="0"/>
              </a:spcAft>
              <a:buNone/>
            </a:pPr>
            <a:r>
              <a:rPr lang="en-US" sz="1300" b="1" dirty="0">
                <a:solidFill>
                  <a:srgbClr val="28509C"/>
                </a:solidFill>
              </a:rPr>
              <a:t>Actions</a:t>
            </a:r>
          </a:p>
          <a:p>
            <a:pPr marL="152400" indent="-152400">
              <a:spcBef>
                <a:spcPts val="0"/>
              </a:spcBef>
              <a:spcAft>
                <a:spcPts val="300"/>
              </a:spcAft>
              <a:buClr>
                <a:srgbClr val="28509C"/>
              </a:buClr>
              <a:buFont typeface="Arial"/>
              <a:buChar char="•"/>
            </a:pPr>
            <a:r>
              <a:rPr lang="en-US" sz="1400" dirty="0">
                <a:solidFill>
                  <a:srgbClr val="2B2B2B"/>
                </a:solidFill>
              </a:rPr>
              <a:t>Stop the infusion immediately</a:t>
            </a:r>
          </a:p>
          <a:p>
            <a:pPr marL="152400" indent="-152400">
              <a:spcBef>
                <a:spcPts val="0"/>
              </a:spcBef>
              <a:spcAft>
                <a:spcPts val="300"/>
              </a:spcAft>
              <a:buClr>
                <a:srgbClr val="28509C"/>
              </a:buClr>
              <a:buFont typeface="Arial"/>
              <a:buChar char="•"/>
            </a:pPr>
            <a:r>
              <a:rPr lang="en-US" sz="1400" dirty="0">
                <a:solidFill>
                  <a:srgbClr val="2B2B2B"/>
                </a:solidFill>
              </a:rPr>
              <a:t>Call the emergency team and follow the anaphylaxis protocol</a:t>
            </a:r>
          </a:p>
          <a:p>
            <a:pPr marL="152400" indent="-152400">
              <a:spcBef>
                <a:spcPts val="0"/>
              </a:spcBef>
              <a:spcAft>
                <a:spcPts val="300"/>
              </a:spcAft>
              <a:buClr>
                <a:srgbClr val="28509C"/>
              </a:buClr>
              <a:buFont typeface="Arial"/>
              <a:buChar char="•"/>
            </a:pPr>
            <a:r>
              <a:rPr lang="en-US" sz="1400" dirty="0">
                <a:solidFill>
                  <a:srgbClr val="2B2B2B"/>
                </a:solidFill>
              </a:rPr>
              <a:t>Physician decides whether and how to restart ERT</a:t>
            </a:r>
          </a:p>
        </p:txBody>
      </p:sp>
      <p:sp>
        <p:nvSpPr>
          <p:cNvPr id="31"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ERT, enzyme replacement therapy</a:t>
            </a:r>
          </a:p>
        </p:txBody>
      </p:sp>
      <p:sp>
        <p:nvSpPr>
          <p:cNvPr id="32"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Hendriksz CJ et al. Mol Genet Metab 2016;119:131–43. 2. Galsulfase Summary of Product Characteristics. 3. Harmatz P et al. Mol Genet Metab 2008;94:469–75. See also: Miebach E. Int J Clin Pharmacol Ther 2009;47(Suppl 1):S100–6.</a:t>
            </a:r>
          </a:p>
        </p:txBody>
      </p:sp>
    </p:spTree>
    <p:extLst>
      <p:ext uri="{BB962C8B-B14F-4D97-AF65-F5344CB8AC3E}">
        <p14:creationId xmlns:p14="http://schemas.microsoft.com/office/powerpoint/2010/main" val="10759552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Section number"/>
          <p:cNvSpPr txBox="1"/>
          <p:nvPr/>
        </p:nvSpPr>
        <p:spPr>
          <a:xfrm>
            <a:off x="914400" y="1625600"/>
            <a:ext cx="5334000" cy="1219200"/>
          </a:xfrm>
          <a:prstGeom prst="rect">
            <a:avLst/>
          </a:prstGeom>
          <a:noFill/>
          <a:ln>
            <a:noFill/>
          </a:ln>
        </p:spPr>
        <p:txBody>
          <a:bodyPr wrap="square" lIns="0" tIns="0" rIns="0" bIns="0" anchor="b">
            <a:noAutofit/>
          </a:bodyPr>
          <a:lstStyle/>
          <a:p>
            <a:pPr>
              <a:spcBef>
                <a:spcPts val="0"/>
              </a:spcBef>
              <a:buNone/>
            </a:pPr>
            <a:r>
              <a:rPr lang="en-GB" sz="8000" b="1" dirty="0">
                <a:solidFill>
                  <a:srgbClr val="9DB3D9"/>
                </a:solidFill>
              </a:rPr>
              <a:t>06</a:t>
            </a:r>
          </a:p>
        </p:txBody>
      </p:sp>
      <p:sp>
        <p:nvSpPr>
          <p:cNvPr id="403" name="Title"/>
          <p:cNvSpPr>
            <a:spLocks noGrp="1"/>
          </p:cNvSpPr>
          <p:nvPr>
            <p:ph type="title"/>
          </p:nvPr>
        </p:nvSpPr>
        <p:spPr>
          <a:xfrm>
            <a:off x="914400" y="3327400"/>
            <a:ext cx="5842000" cy="812800"/>
          </a:xfrm>
        </p:spPr>
        <p:txBody>
          <a:bodyPr wrap="square" lIns="0" tIns="0" rIns="0" bIns="0" anchor="t">
            <a:normAutofit/>
          </a:bodyPr>
          <a:lstStyle/>
          <a:p>
            <a:pPr algn="l"/>
            <a:r>
              <a:rPr lang="en-GB" sz="4400" b="1" dirty="0">
                <a:solidFill>
                  <a:srgbClr val="FFFFFF"/>
                </a:solidFill>
              </a:rPr>
              <a:t>Ongoing follow-up</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spcBef>
                <a:spcPts val="0"/>
              </a:spcBef>
              <a:buNone/>
            </a:pPr>
            <a:r>
              <a:rPr lang="en-GB" sz="1800" dirty="0">
                <a:solidFill>
                  <a:srgbClr val="C9D5EA"/>
                </a:solidFill>
              </a:rPr>
              <a:t>Monitoring, the care team, adherence and what to check at every contact</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Follow-up assessments on ERT</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The multidisciplinary team</a:t>
            </a:r>
          </a:p>
        </p:txBody>
      </p:sp>
      <p:cxnSp>
        <p:nvCxnSpPr>
          <p:cNvPr id="410" name="Divider"/>
          <p:cNvCxnSpPr/>
          <p:nvPr/>
        </p:nvCxnSpPr>
        <p:spPr>
          <a:xfrm>
            <a:off x="7620000" y="3302000"/>
            <a:ext cx="4064000" cy="0"/>
          </a:xfrm>
          <a:prstGeom prst="line">
            <a:avLst/>
          </a:prstGeom>
          <a:ln w="9525">
            <a:solidFill>
              <a:srgbClr val="3E5C80"/>
            </a:solidFill>
          </a:ln>
        </p:spPr>
      </p:cxnSp>
      <p:sp>
        <p:nvSpPr>
          <p:cNvPr id="411" name="Item 3"/>
          <p:cNvSpPr txBox="1"/>
          <p:nvPr/>
        </p:nvSpPr>
        <p:spPr>
          <a:xfrm>
            <a:off x="7620000" y="3302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Supporting adherence</a:t>
            </a:r>
          </a:p>
        </p:txBody>
      </p:sp>
      <p:cxnSp>
        <p:nvCxnSpPr>
          <p:cNvPr id="412" name="Divider"/>
          <p:cNvCxnSpPr/>
          <p:nvPr/>
        </p:nvCxnSpPr>
        <p:spPr>
          <a:xfrm>
            <a:off x="7620000" y="3937000"/>
            <a:ext cx="4064000" cy="0"/>
          </a:xfrm>
          <a:prstGeom prst="line">
            <a:avLst/>
          </a:prstGeom>
          <a:ln w="9525">
            <a:solidFill>
              <a:srgbClr val="3E5C80"/>
            </a:solidFill>
          </a:ln>
        </p:spPr>
      </p:cxnSp>
      <p:sp>
        <p:nvSpPr>
          <p:cNvPr id="413" name="Item 4"/>
          <p:cNvSpPr txBox="1"/>
          <p:nvPr/>
        </p:nvSpPr>
        <p:spPr>
          <a:xfrm>
            <a:off x="7620000" y="3937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Educator checklist</a:t>
            </a:r>
          </a:p>
        </p:txBody>
      </p:sp>
      <p:cxnSp>
        <p:nvCxnSpPr>
          <p:cNvPr id="414" name="Divider"/>
          <p:cNvCxnSpPr/>
          <p:nvPr/>
        </p:nvCxnSpPr>
        <p:spPr>
          <a:xfrm>
            <a:off x="7620000" y="4572000"/>
            <a:ext cx="4064000" cy="0"/>
          </a:xfrm>
          <a:prstGeom prst="line">
            <a:avLst/>
          </a:prstGeom>
          <a:ln w="9525">
            <a:solidFill>
              <a:srgbClr val="3E5C80"/>
            </a:solidFill>
          </a:ln>
        </p:spPr>
      </p:cxnSp>
      <p:sp>
        <p:nvSpPr>
          <p:cNvPr id="415" name="Item 5"/>
          <p:cNvSpPr txBox="1"/>
          <p:nvPr/>
        </p:nvSpPr>
        <p:spPr>
          <a:xfrm>
            <a:off x="7620000" y="4572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Warning signs that need escalation</a:t>
            </a:r>
          </a:p>
        </p:txBody>
      </p:sp>
    </p:spTree>
    <p:extLst>
      <p:ext uri="{BB962C8B-B14F-4D97-AF65-F5344CB8AC3E}">
        <p14:creationId xmlns:p14="http://schemas.microsoft.com/office/powerpoint/2010/main" val="37042262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Starting treatment</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Baseline assessment before ERT</a:t>
            </a:r>
            <a:endParaRPr lang="en-US" dirty="0"/>
          </a:p>
        </p:txBody>
      </p:sp>
      <p:graphicFrame>
        <p:nvGraphicFramePr>
          <p:cNvPr id="60" name="Monitoring table"/>
          <p:cNvGraphicFramePr>
            <a:graphicFrameLocks noGrp="1"/>
          </p:cNvGraphicFramePr>
          <p:nvPr/>
        </p:nvGraphicFramePr>
        <p:xfrm>
          <a:off x="660400" y="1320800"/>
          <a:ext cx="10871200" cy="3733800"/>
        </p:xfrm>
        <a:graphic>
          <a:graphicData uri="http://schemas.openxmlformats.org/drawingml/2006/table">
            <a:tbl>
              <a:tblPr firstRow="1"/>
              <a:tblGrid>
                <a:gridCol w="2413000">
                  <a:extLst>
                    <a:ext uri="{9D8B030D-6E8A-4147-A177-3AD203B41FA5}">
                      <a16:colId xmlns:a16="http://schemas.microsoft.com/office/drawing/2014/main" val="20000"/>
                    </a:ext>
                  </a:extLst>
                </a:gridCol>
                <a:gridCol w="24892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794000">
                  <a:extLst>
                    <a:ext uri="{9D8B030D-6E8A-4147-A177-3AD203B41FA5}">
                      <a16:colId xmlns:a16="http://schemas.microsoft.com/office/drawing/2014/main" val="20003"/>
                    </a:ext>
                  </a:extLst>
                </a:gridCol>
              </a:tblGrid>
              <a:tr h="381000">
                <a:tc>
                  <a:txBody>
                    <a:bodyPr/>
                    <a:lstStyle/>
                    <a:p>
                      <a:r>
                        <a:rPr lang="en-US" sz="1400" b="1" dirty="0">
                          <a:solidFill>
                            <a:srgbClr val="002E56"/>
                          </a:solidFill>
                        </a:rPr>
                        <a:t>Assessment</a:t>
                      </a:r>
                    </a:p>
                  </a:txBody>
                  <a:tcPr marL="101600" marR="101600" marT="50800" marB="50800" anchor="ctr">
                    <a:lnL w="0">
                      <a:noFill/>
                    </a:lnL>
                    <a:lnR w="0">
                      <a:noFill/>
                    </a:lnR>
                    <a:lnT w="0">
                      <a:noFill/>
                    </a:lnT>
                    <a:lnB w="15875">
                      <a:solidFill>
                        <a:srgbClr val="002E56"/>
                      </a:solidFill>
                    </a:lnB>
                    <a:noFill/>
                  </a:tcPr>
                </a:tc>
                <a:tc>
                  <a:txBody>
                    <a:bodyPr/>
                    <a:lstStyle/>
                    <a:p>
                      <a:r>
                        <a:rPr lang="en-US" sz="1400" b="1" dirty="0">
                          <a:solidFill>
                            <a:srgbClr val="002E56"/>
                          </a:solidFill>
                        </a:rPr>
                        <a:t>Why at baseline</a:t>
                      </a:r>
                    </a:p>
                  </a:txBody>
                  <a:tcPr marL="101600" marR="101600" marT="50800" marB="50800" anchor="ctr">
                    <a:lnL w="0">
                      <a:noFill/>
                    </a:lnL>
                    <a:lnR w="0">
                      <a:noFill/>
                    </a:lnR>
                    <a:lnT w="0">
                      <a:noFill/>
                    </a:lnT>
                    <a:lnB w="15875">
                      <a:solidFill>
                        <a:srgbClr val="002E56"/>
                      </a:solidFill>
                    </a:lnB>
                    <a:noFill/>
                  </a:tcPr>
                </a:tc>
                <a:tc>
                  <a:txBody>
                    <a:bodyPr/>
                    <a:lstStyle/>
                    <a:p>
                      <a:r>
                        <a:rPr lang="en-US" sz="1400" b="1" dirty="0">
                          <a:solidFill>
                            <a:srgbClr val="28509C"/>
                          </a:solidFill>
                        </a:rPr>
                        <a:t>MPS IVA (before elosulfase alfa)</a:t>
                      </a:r>
                    </a:p>
                  </a:txBody>
                  <a:tcPr marL="101600" marR="101600" marT="50800" marB="50800" anchor="ctr">
                    <a:lnL w="0">
                      <a:noFill/>
                    </a:lnL>
                    <a:lnR w="0">
                      <a:noFill/>
                    </a:lnR>
                    <a:lnT w="0">
                      <a:noFill/>
                    </a:lnT>
                    <a:lnB w="25400">
                      <a:solidFill>
                        <a:srgbClr val="28509C"/>
                      </a:solidFill>
                    </a:lnB>
                    <a:noFill/>
                  </a:tcPr>
                </a:tc>
                <a:tc>
                  <a:txBody>
                    <a:bodyPr/>
                    <a:lstStyle/>
                    <a:p>
                      <a:r>
                        <a:rPr lang="en-US" sz="1400" b="1" dirty="0">
                          <a:solidFill>
                            <a:srgbClr val="A9218E"/>
                          </a:solidFill>
                        </a:rPr>
                        <a:t>MPS VI (before galsulfase)</a:t>
                      </a:r>
                    </a:p>
                  </a:txBody>
                  <a:tcPr marL="101600" marR="101600" marT="50800" marB="50800" anchor="ctr">
                    <a:lnL w="0">
                      <a:noFill/>
                    </a:lnL>
                    <a:lnR w="0">
                      <a:noFill/>
                    </a:lnR>
                    <a:lnT w="0">
                      <a:noFill/>
                    </a:lnT>
                    <a:lnB w="25400">
                      <a:solidFill>
                        <a:srgbClr val="A9218E"/>
                      </a:solidFill>
                    </a:lnB>
                    <a:noFill/>
                  </a:tcPr>
                </a:tc>
                <a:extLst>
                  <a:ext uri="{0D108BD9-81ED-4DB2-BD59-A6C34878D82A}">
                    <a16:rowId xmlns:a16="http://schemas.microsoft.com/office/drawing/2014/main" val="10000"/>
                  </a:ext>
                </a:extLst>
              </a:tr>
              <a:tr h="558800">
                <a:tc>
                  <a:txBody>
                    <a:bodyPr/>
                    <a:lstStyle/>
                    <a:p>
                      <a:r>
                        <a:rPr lang="en-US" sz="1400" b="1" dirty="0">
                          <a:solidFill>
                            <a:srgbClr val="002E56"/>
                          </a:solidFill>
                        </a:rPr>
                        <a:t>Growth and general health</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Reference for growth and daily function</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Height, weight; health assessment questionnaire</a:t>
                      </a:r>
                    </a:p>
                  </a:txBody>
                  <a:tcPr marL="101600" marR="101600" marT="50800" marB="50800" anchor="ctr">
                    <a:lnL w="0">
                      <a:noFill/>
                    </a:lnL>
                    <a:lnR w="0">
                      <a:noFill/>
                    </a:lnR>
                    <a:lnT w="25400" cap="flat" cmpd="sng" algn="ctr">
                      <a:solidFill>
                        <a:srgbClr val="28509C"/>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Height, weight</a:t>
                      </a:r>
                    </a:p>
                  </a:txBody>
                  <a:tcPr marL="101600" marR="101600" marT="50800" marB="50800" anchor="ctr">
                    <a:lnL w="0">
                      <a:noFill/>
                    </a:lnL>
                    <a:lnR w="0">
                      <a:noFill/>
                    </a:lnR>
                    <a:lnT w="25400" cap="flat" cmpd="sng" algn="ctr">
                      <a:solidFill>
                        <a:srgbClr val="A9218E"/>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1"/>
                  </a:ext>
                </a:extLst>
              </a:tr>
              <a:tr h="558800">
                <a:tc>
                  <a:txBody>
                    <a:bodyPr/>
                    <a:lstStyle/>
                    <a:p>
                      <a:r>
                        <a:rPr lang="en-US" sz="1400" b="1" dirty="0">
                          <a:solidFill>
                            <a:srgbClr val="002E56"/>
                          </a:solidFill>
                        </a:rPr>
                        <a:t>Urinary biomarker</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Starting level to judge ERT response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Urinary keratan sulfate (KS)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Urinary GAGs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2"/>
                  </a:ext>
                </a:extLst>
              </a:tr>
              <a:tr h="558800">
                <a:tc>
                  <a:txBody>
                    <a:bodyPr/>
                    <a:lstStyle/>
                    <a:p>
                      <a:r>
                        <a:rPr lang="en-US" sz="1400" b="1" dirty="0">
                          <a:solidFill>
                            <a:srgbClr val="002E56"/>
                          </a:solidFill>
                        </a:rPr>
                        <a:t>Spine and brain imaging</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Detect cord compression early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MRI of the whole spine (neutral position)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MRI of the brain and spine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3"/>
                  </a:ext>
                </a:extLst>
              </a:tr>
              <a:tr h="558800">
                <a:tc>
                  <a:txBody>
                    <a:bodyPr/>
                    <a:lstStyle/>
                    <a:p>
                      <a:r>
                        <a:rPr lang="en-US" sz="1400" b="1" dirty="0">
                          <a:solidFill>
                            <a:srgbClr val="002E56"/>
                          </a:solidFill>
                        </a:rPr>
                        <a:t>Lung function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Starting breathing capacity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FVC and MVV</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FVC and FEV1</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4"/>
                  </a:ext>
                </a:extLst>
              </a:tr>
              <a:tr h="558800">
                <a:tc>
                  <a:txBody>
                    <a:bodyPr/>
                    <a:lstStyle/>
                    <a:p>
                      <a:r>
                        <a:rPr lang="en-US" sz="1400" b="1" dirty="0">
                          <a:solidFill>
                            <a:srgbClr val="002E56"/>
                          </a:solidFill>
                        </a:rPr>
                        <a:t>Endurance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Starting walking capacity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6MWT; 3-minute stair climb</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12MWT</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5"/>
                  </a:ext>
                </a:extLst>
              </a:tr>
              <a:tr h="558800">
                <a:tc>
                  <a:txBody>
                    <a:bodyPr/>
                    <a:lstStyle/>
                    <a:p>
                      <a:r>
                        <a:rPr lang="en-US" sz="1400" b="1" dirty="0">
                          <a:solidFill>
                            <a:srgbClr val="002E56"/>
                          </a:solidFill>
                        </a:rPr>
                        <a:t>Heart</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Valve and heart muscle disease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ECG and echocardiography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ECG and echocardiography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6"/>
                  </a:ext>
                </a:extLst>
              </a:tr>
            </a:tbl>
          </a:graphicData>
        </a:graphic>
      </p:graphicFrame>
      <p:sp>
        <p:nvSpPr>
          <p:cNvPr id="12" name="Shape 12"/>
          <p:cNvSpPr txBox="1"/>
          <p:nvPr/>
        </p:nvSpPr>
        <p:spPr>
          <a:xfrm>
            <a:off x="660400" y="5207000"/>
            <a:ext cx="108712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i="1" dirty="0">
                <a:solidFill>
                  <a:srgbClr val="646464"/>
                </a:solidFill>
              </a:rPr>
              <a:t>Vision and hearing are also checked at baseline. The treating physician decides the final list for each patient.</a:t>
            </a:r>
          </a:p>
        </p:txBody>
      </p:sp>
      <p:sp>
        <p:nvSpPr>
          <p:cNvPr id="13"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6MWT/12MWT, 6-/12-minute walk test; ECG, electrocardiogram; ERT, enzyme replacement therapy; FEV1, forced expiratory volume in 1 s; FVC, forced vital capacity; GAG, glycosaminoglycan; KS, keratan sulfate; MRI, magnetic resonance imaging; MVV, maximum voluntary ventilation</a:t>
            </a:r>
          </a:p>
        </p:txBody>
      </p:sp>
      <p:sp>
        <p:nvSpPr>
          <p:cNvPr id="14"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Akyol MU et al. Orphanet J Rare Dis 2019;14:137; Akyol MU et al. Orphanet J Rare Dis 2019;14:118.</a:t>
            </a:r>
          </a:p>
        </p:txBody>
      </p:sp>
    </p:spTree>
    <p:extLst>
      <p:ext uri="{BB962C8B-B14F-4D97-AF65-F5344CB8AC3E}">
        <p14:creationId xmlns:p14="http://schemas.microsoft.com/office/powerpoint/2010/main" val="7245352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Ongoing follow-up</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Follow-up assessments on ERT</a:t>
            </a:r>
            <a:endParaRPr lang="en-US" dirty="0"/>
          </a:p>
        </p:txBody>
      </p:sp>
      <p:graphicFrame>
        <p:nvGraphicFramePr>
          <p:cNvPr id="60" name="Monitoring table"/>
          <p:cNvGraphicFramePr>
            <a:graphicFrameLocks noGrp="1"/>
          </p:cNvGraphicFramePr>
          <p:nvPr/>
        </p:nvGraphicFramePr>
        <p:xfrm>
          <a:off x="660400" y="1320800"/>
          <a:ext cx="10871200" cy="3733800"/>
        </p:xfrm>
        <a:graphic>
          <a:graphicData uri="http://schemas.openxmlformats.org/drawingml/2006/table">
            <a:tbl>
              <a:tblPr firstRow="1"/>
              <a:tblGrid>
                <a:gridCol w="2413000">
                  <a:extLst>
                    <a:ext uri="{9D8B030D-6E8A-4147-A177-3AD203B41FA5}">
                      <a16:colId xmlns:a16="http://schemas.microsoft.com/office/drawing/2014/main" val="20000"/>
                    </a:ext>
                  </a:extLst>
                </a:gridCol>
                <a:gridCol w="24892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794000">
                  <a:extLst>
                    <a:ext uri="{9D8B030D-6E8A-4147-A177-3AD203B41FA5}">
                      <a16:colId xmlns:a16="http://schemas.microsoft.com/office/drawing/2014/main" val="20003"/>
                    </a:ext>
                  </a:extLst>
                </a:gridCol>
              </a:tblGrid>
              <a:tr h="381000">
                <a:tc>
                  <a:txBody>
                    <a:bodyPr/>
                    <a:lstStyle/>
                    <a:p>
                      <a:r>
                        <a:rPr lang="en-US" sz="1400" b="1" dirty="0">
                          <a:solidFill>
                            <a:srgbClr val="002E56"/>
                          </a:solidFill>
                        </a:rPr>
                        <a:t>Assessment</a:t>
                      </a:r>
                    </a:p>
                  </a:txBody>
                  <a:tcPr marL="101600" marR="101600" marT="50800" marB="50800" anchor="ctr">
                    <a:lnL w="0">
                      <a:noFill/>
                    </a:lnL>
                    <a:lnR w="0">
                      <a:noFill/>
                    </a:lnR>
                    <a:lnT w="0">
                      <a:noFill/>
                    </a:lnT>
                    <a:lnB w="15875">
                      <a:solidFill>
                        <a:srgbClr val="002E56"/>
                      </a:solidFill>
                    </a:lnB>
                    <a:noFill/>
                  </a:tcPr>
                </a:tc>
                <a:tc>
                  <a:txBody>
                    <a:bodyPr/>
                    <a:lstStyle/>
                    <a:p>
                      <a:r>
                        <a:rPr lang="en-US" sz="1400" b="1" dirty="0">
                          <a:solidFill>
                            <a:srgbClr val="002E56"/>
                          </a:solidFill>
                        </a:rPr>
                        <a:t>What it tracks</a:t>
                      </a:r>
                    </a:p>
                  </a:txBody>
                  <a:tcPr marL="101600" marR="101600" marT="50800" marB="50800" anchor="ctr">
                    <a:lnL w="0">
                      <a:noFill/>
                    </a:lnL>
                    <a:lnR w="0">
                      <a:noFill/>
                    </a:lnR>
                    <a:lnT w="0">
                      <a:noFill/>
                    </a:lnT>
                    <a:lnB w="15875">
                      <a:solidFill>
                        <a:srgbClr val="002E56"/>
                      </a:solidFill>
                    </a:lnB>
                    <a:noFill/>
                  </a:tcPr>
                </a:tc>
                <a:tc>
                  <a:txBody>
                    <a:bodyPr/>
                    <a:lstStyle/>
                    <a:p>
                      <a:r>
                        <a:rPr lang="en-US" sz="1400" b="1" dirty="0">
                          <a:solidFill>
                            <a:srgbClr val="28509C"/>
                          </a:solidFill>
                        </a:rPr>
                        <a:t>MPS IVA (on elosulfase alfa)</a:t>
                      </a:r>
                    </a:p>
                  </a:txBody>
                  <a:tcPr marL="101600" marR="101600" marT="50800" marB="50800" anchor="ctr">
                    <a:lnL w="0">
                      <a:noFill/>
                    </a:lnL>
                    <a:lnR w="0">
                      <a:noFill/>
                    </a:lnR>
                    <a:lnT w="0">
                      <a:noFill/>
                    </a:lnT>
                    <a:lnB w="25400">
                      <a:solidFill>
                        <a:srgbClr val="28509C"/>
                      </a:solidFill>
                    </a:lnB>
                    <a:noFill/>
                  </a:tcPr>
                </a:tc>
                <a:tc>
                  <a:txBody>
                    <a:bodyPr/>
                    <a:lstStyle/>
                    <a:p>
                      <a:r>
                        <a:rPr lang="en-US" sz="1400" b="1" dirty="0">
                          <a:solidFill>
                            <a:srgbClr val="A9218E"/>
                          </a:solidFill>
                        </a:rPr>
                        <a:t>MPS VI (on galsulfase)</a:t>
                      </a:r>
                    </a:p>
                  </a:txBody>
                  <a:tcPr marL="101600" marR="101600" marT="50800" marB="50800" anchor="ctr">
                    <a:lnL w="0">
                      <a:noFill/>
                    </a:lnL>
                    <a:lnR w="0">
                      <a:noFill/>
                    </a:lnR>
                    <a:lnT w="0">
                      <a:noFill/>
                    </a:lnT>
                    <a:lnB w="25400">
                      <a:solidFill>
                        <a:srgbClr val="A9218E"/>
                      </a:solidFill>
                    </a:lnB>
                    <a:noFill/>
                  </a:tcPr>
                </a:tc>
                <a:extLst>
                  <a:ext uri="{0D108BD9-81ED-4DB2-BD59-A6C34878D82A}">
                    <a16:rowId xmlns:a16="http://schemas.microsoft.com/office/drawing/2014/main" val="10000"/>
                  </a:ext>
                </a:extLst>
              </a:tr>
              <a:tr h="558800">
                <a:tc>
                  <a:txBody>
                    <a:bodyPr/>
                    <a:lstStyle/>
                    <a:p>
                      <a:r>
                        <a:rPr lang="en-US" sz="1400" b="1" dirty="0">
                          <a:solidFill>
                            <a:srgbClr val="002E56"/>
                          </a:solidFill>
                        </a:rPr>
                        <a:t>Cervical spine imaging</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Instability and cord compression</a:t>
                      </a:r>
                    </a:p>
                  </a:txBody>
                  <a:tcPr marL="101600" marR="101600" marT="50800" marB="50800" anchor="ctr">
                    <a:lnL w="0">
                      <a:noFill/>
                    </a:lnL>
                    <a:lnR w="0">
                      <a:noFill/>
                    </a:lnR>
                    <a:lnT w="15875" cap="flat" cmpd="sng" algn="ctr">
                      <a:solidFill>
                        <a:srgbClr val="002E56"/>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X-ray and flexion-extension MRI every 1–3 years</a:t>
                      </a:r>
                    </a:p>
                  </a:txBody>
                  <a:tcPr marL="101600" marR="101600" marT="50800" marB="50800" anchor="ctr">
                    <a:lnL w="0">
                      <a:noFill/>
                    </a:lnL>
                    <a:lnR w="0">
                      <a:noFill/>
                    </a:lnR>
                    <a:lnT w="25400" cap="flat" cmpd="sng" algn="ctr">
                      <a:solidFill>
                        <a:srgbClr val="28509C"/>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MRI every 2–3 years</a:t>
                      </a:r>
                    </a:p>
                  </a:txBody>
                  <a:tcPr marL="101600" marR="101600" marT="50800" marB="50800" anchor="ctr">
                    <a:lnL w="0">
                      <a:noFill/>
                    </a:lnL>
                    <a:lnR w="0">
                      <a:noFill/>
                    </a:lnR>
                    <a:lnT w="25400" cap="flat" cmpd="sng" algn="ctr">
                      <a:solidFill>
                        <a:srgbClr val="A9218E"/>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1"/>
                  </a:ext>
                </a:extLst>
              </a:tr>
              <a:tr h="558800">
                <a:tc>
                  <a:txBody>
                    <a:bodyPr/>
                    <a:lstStyle/>
                    <a:p>
                      <a:r>
                        <a:rPr lang="en-US" sz="1400" b="1" dirty="0">
                          <a:solidFill>
                            <a:srgbClr val="002E56"/>
                          </a:solidFill>
                        </a:rPr>
                        <a:t>Lung function</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Breathing capacity (FVC, FEV1, MVV)</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Annually until growth stops, then every 2–3 years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Annually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2"/>
                  </a:ext>
                </a:extLst>
              </a:tr>
              <a:tr h="558800">
                <a:tc>
                  <a:txBody>
                    <a:bodyPr/>
                    <a:lstStyle/>
                    <a:p>
                      <a:r>
                        <a:rPr lang="en-US" sz="1400" b="1" dirty="0">
                          <a:solidFill>
                            <a:srgbClr val="002E56"/>
                          </a:solidFill>
                        </a:rPr>
                        <a:t>Endurance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Walking capacity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6MWT annually</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12MWT every 1–2 years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3"/>
                  </a:ext>
                </a:extLst>
              </a:tr>
              <a:tr h="558800">
                <a:tc>
                  <a:txBody>
                    <a:bodyPr/>
                    <a:lstStyle/>
                    <a:p>
                      <a:r>
                        <a:rPr lang="en-US" sz="1400" b="1" dirty="0">
                          <a:solidFill>
                            <a:srgbClr val="002E56"/>
                          </a:solidFill>
                        </a:rPr>
                        <a:t>Heart (ECG, echo)</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Valve and heart muscle disease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Every 3 years if normal; annually if involved</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Every 1–2 years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4"/>
                  </a:ext>
                </a:extLst>
              </a:tr>
              <a:tr h="558800">
                <a:tc>
                  <a:txBody>
                    <a:bodyPr/>
                    <a:lstStyle/>
                    <a:p>
                      <a:r>
                        <a:rPr lang="en-US" sz="1400" b="1" dirty="0">
                          <a:solidFill>
                            <a:srgbClr val="002E56"/>
                          </a:solidFill>
                        </a:rPr>
                        <a:t>Urinary GAGs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Biochemical response to ERT</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Urinary KS to track treatment response</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Urinary GAGs every 1–2 years</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5"/>
                  </a:ext>
                </a:extLst>
              </a:tr>
              <a:tr h="558800">
                <a:tc>
                  <a:txBody>
                    <a:bodyPr/>
                    <a:lstStyle/>
                    <a:p>
                      <a:r>
                        <a:rPr lang="en-US" sz="1400" b="1" dirty="0">
                          <a:solidFill>
                            <a:srgbClr val="002E56"/>
                          </a:solidFill>
                        </a:rPr>
                        <a:t>Vision and hearing</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Deficits that need support</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noFill/>
                  </a:tcPr>
                </a:tc>
                <a:tc>
                  <a:txBody>
                    <a:bodyPr/>
                    <a:lstStyle/>
                    <a:p>
                      <a:r>
                        <a:rPr lang="en-US" sz="1400" dirty="0">
                          <a:solidFill>
                            <a:srgbClr val="2B2B2B"/>
                          </a:solidFill>
                        </a:rPr>
                        <a:t>Regular review</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EAF0F9"/>
                    </a:solidFill>
                  </a:tcPr>
                </a:tc>
                <a:tc>
                  <a:txBody>
                    <a:bodyPr/>
                    <a:lstStyle/>
                    <a:p>
                      <a:r>
                        <a:rPr lang="en-US" sz="1400" dirty="0">
                          <a:solidFill>
                            <a:srgbClr val="2B2B2B"/>
                          </a:solidFill>
                        </a:rPr>
                        <a:t>Regular review</a:t>
                      </a:r>
                    </a:p>
                  </a:txBody>
                  <a:tcPr marL="101600" marR="101600" marT="50800" marB="50800" anchor="ctr">
                    <a:lnL w="0">
                      <a:noFill/>
                    </a:lnL>
                    <a:lnR w="0">
                      <a:noFill/>
                    </a:lnR>
                    <a:lnT w="9525" cap="flat" cmpd="sng" algn="ctr">
                      <a:solidFill>
                        <a:srgbClr val="E0E0E0"/>
                      </a:solidFill>
                      <a:prstDash val="solid"/>
                      <a:round/>
                      <a:headEnd type="none" w="med" len="med"/>
                      <a:tailEnd type="none" w="med" len="med"/>
                    </a:lnT>
                    <a:lnB w="9525">
                      <a:solidFill>
                        <a:srgbClr val="E0E0E0"/>
                      </a:solidFill>
                    </a:lnB>
                    <a:solidFill>
                      <a:srgbClr val="F7EAF3"/>
                    </a:solidFill>
                  </a:tcPr>
                </a:tc>
                <a:extLst>
                  <a:ext uri="{0D108BD9-81ED-4DB2-BD59-A6C34878D82A}">
                    <a16:rowId xmlns:a16="http://schemas.microsoft.com/office/drawing/2014/main" val="10006"/>
                  </a:ext>
                </a:extLst>
              </a:tr>
            </a:tbl>
          </a:graphicData>
        </a:graphic>
      </p:graphicFrame>
      <p:sp>
        <p:nvSpPr>
          <p:cNvPr id="12" name="Shape 12"/>
          <p:cNvSpPr txBox="1"/>
          <p:nvPr/>
        </p:nvSpPr>
        <p:spPr>
          <a:xfrm>
            <a:off x="660400" y="5207000"/>
            <a:ext cx="108712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i="1" dirty="0">
                <a:solidFill>
                  <a:srgbClr val="646464"/>
                </a:solidFill>
              </a:rPr>
              <a:t>Intervals are guide values; the treating physician sets each schedule. Educators remind families of upcoming tests.</a:t>
            </a:r>
          </a:p>
        </p:txBody>
      </p:sp>
      <p:sp>
        <p:nvSpPr>
          <p:cNvPr id="13"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6MWT/12MWT, 6-/12-minute walk test; ECG, electrocardiogram; ERT, enzyme replacement therapy; FEV1, forced expiratory volume in 1 s; FVC, forced vital capacity; GAG, glycosaminoglycan; KS, keratan sulfate; MVV, maximum voluntary ventilation</a:t>
            </a:r>
          </a:p>
        </p:txBody>
      </p:sp>
      <p:sp>
        <p:nvSpPr>
          <p:cNvPr id="14"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Akyol MU et al. Orphanet J Rare Dis 2019;14:137; Akyol MU et al. Orphanet J Rare Dis 2019;14:118.</a:t>
            </a:r>
          </a:p>
        </p:txBody>
      </p:sp>
    </p:spTree>
    <p:extLst>
      <p:ext uri="{BB962C8B-B14F-4D97-AF65-F5344CB8AC3E}">
        <p14:creationId xmlns:p14="http://schemas.microsoft.com/office/powerpoint/2010/main" val="40121211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Ongoing follow-up</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Educator checklist</a:t>
            </a:r>
            <a:endParaRPr lang="en-US" dirty="0"/>
          </a:p>
        </p:txBody>
      </p:sp>
      <p:sp>
        <p:nvSpPr>
          <p:cNvPr id="12" name="Check card 1"/>
          <p:cNvSpPr/>
          <p:nvPr/>
        </p:nvSpPr>
        <p:spPr>
          <a:xfrm>
            <a:off x="660400" y="1549400"/>
            <a:ext cx="1981200" cy="2895600"/>
          </a:xfrm>
          <a:prstGeom prst="roundRect">
            <a:avLst>
              <a:gd name="adj" fmla="val 5769"/>
            </a:avLst>
          </a:prstGeom>
          <a:solidFill>
            <a:srgbClr val="E8EEF7"/>
          </a:solidFill>
          <a:ln>
            <a:noFill/>
          </a:ln>
        </p:spPr>
        <p:txBody>
          <a:bodyPr wrap="square" lIns="0" tIns="0" rIns="0" bIns="0" rtlCol="0" anchor="t">
            <a:noAutofit/>
          </a:bodyPr>
          <a:lstStyle/>
          <a:p>
            <a:endParaRPr lang="en-US" dirty="0"/>
          </a:p>
        </p:txBody>
      </p:sp>
      <p:sp>
        <p:nvSpPr>
          <p:cNvPr id="14" name="Shape 14"/>
          <p:cNvSpPr txBox="1"/>
          <p:nvPr/>
        </p:nvSpPr>
        <p:spPr>
          <a:xfrm>
            <a:off x="838200" y="2413000"/>
            <a:ext cx="16764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Adherence</a:t>
            </a:r>
          </a:p>
        </p:txBody>
      </p:sp>
      <p:sp>
        <p:nvSpPr>
          <p:cNvPr id="15" name="Shape 15"/>
          <p:cNvSpPr txBox="1"/>
          <p:nvPr/>
        </p:nvSpPr>
        <p:spPr>
          <a:xfrm>
            <a:off x="838200" y="2768600"/>
            <a:ext cx="1676400" cy="16256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Infusions given vs scheduled; reasons for missed doses such as travel, illness or transport</a:t>
            </a:r>
          </a:p>
        </p:txBody>
      </p:sp>
      <p:sp>
        <p:nvSpPr>
          <p:cNvPr id="16" name="Check card 2"/>
          <p:cNvSpPr/>
          <p:nvPr/>
        </p:nvSpPr>
        <p:spPr>
          <a:xfrm>
            <a:off x="2882900" y="1549400"/>
            <a:ext cx="1981200" cy="2895600"/>
          </a:xfrm>
          <a:prstGeom prst="roundRect">
            <a:avLst>
              <a:gd name="adj" fmla="val 5769"/>
            </a:avLst>
          </a:prstGeom>
          <a:solidFill>
            <a:srgbClr val="E8EEF7"/>
          </a:solidFill>
          <a:ln>
            <a:noFill/>
          </a:ln>
        </p:spPr>
        <p:txBody>
          <a:bodyPr wrap="square" lIns="0" tIns="0" rIns="0" bIns="0" rtlCol="0" anchor="t">
            <a:noAutofit/>
          </a:bodyPr>
          <a:lstStyle/>
          <a:p>
            <a:endParaRPr lang="en-US" dirty="0"/>
          </a:p>
        </p:txBody>
      </p:sp>
      <p:sp>
        <p:nvSpPr>
          <p:cNvPr id="18" name="Shape 18"/>
          <p:cNvSpPr txBox="1"/>
          <p:nvPr/>
        </p:nvSpPr>
        <p:spPr>
          <a:xfrm>
            <a:off x="3060700" y="2413000"/>
            <a:ext cx="16764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Tolerance</a:t>
            </a:r>
          </a:p>
        </p:txBody>
      </p:sp>
      <p:sp>
        <p:nvSpPr>
          <p:cNvPr id="19" name="Shape 19"/>
          <p:cNvSpPr txBox="1"/>
          <p:nvPr/>
        </p:nvSpPr>
        <p:spPr>
          <a:xfrm>
            <a:off x="3060700" y="2768600"/>
            <a:ext cx="1676400" cy="16256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Any reaction since the last infusion; premedication taken as prescribed</a:t>
            </a:r>
          </a:p>
        </p:txBody>
      </p:sp>
      <p:sp>
        <p:nvSpPr>
          <p:cNvPr id="20" name="Check card 3"/>
          <p:cNvSpPr/>
          <p:nvPr/>
        </p:nvSpPr>
        <p:spPr>
          <a:xfrm>
            <a:off x="5105400" y="1549400"/>
            <a:ext cx="1981200" cy="2895600"/>
          </a:xfrm>
          <a:prstGeom prst="roundRect">
            <a:avLst>
              <a:gd name="adj" fmla="val 5769"/>
            </a:avLst>
          </a:prstGeom>
          <a:solidFill>
            <a:srgbClr val="E8EEF7"/>
          </a:solidFill>
          <a:ln>
            <a:noFill/>
          </a:ln>
        </p:spPr>
        <p:txBody>
          <a:bodyPr wrap="square" lIns="0" tIns="0" rIns="0" bIns="0" rtlCol="0" anchor="t">
            <a:noAutofit/>
          </a:bodyPr>
          <a:lstStyle/>
          <a:p>
            <a:endParaRPr lang="en-US" dirty="0"/>
          </a:p>
        </p:txBody>
      </p:sp>
      <p:sp>
        <p:nvSpPr>
          <p:cNvPr id="22" name="Shape 22"/>
          <p:cNvSpPr txBox="1"/>
          <p:nvPr/>
        </p:nvSpPr>
        <p:spPr>
          <a:xfrm>
            <a:off x="5283200" y="2413000"/>
            <a:ext cx="16764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Symptoms</a:t>
            </a:r>
          </a:p>
        </p:txBody>
      </p:sp>
      <p:sp>
        <p:nvSpPr>
          <p:cNvPr id="23" name="Shape 23"/>
          <p:cNvSpPr txBox="1"/>
          <p:nvPr/>
        </p:nvSpPr>
        <p:spPr>
          <a:xfrm>
            <a:off x="5283200" y="2768600"/>
            <a:ext cx="1676400" cy="16256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New or worsening problems, especially the five warning signs</a:t>
            </a:r>
          </a:p>
        </p:txBody>
      </p:sp>
      <p:sp>
        <p:nvSpPr>
          <p:cNvPr id="24" name="Check card 4"/>
          <p:cNvSpPr/>
          <p:nvPr/>
        </p:nvSpPr>
        <p:spPr>
          <a:xfrm>
            <a:off x="7327900" y="1549400"/>
            <a:ext cx="1981200" cy="2895600"/>
          </a:xfrm>
          <a:prstGeom prst="roundRect">
            <a:avLst>
              <a:gd name="adj" fmla="val 5769"/>
            </a:avLst>
          </a:prstGeom>
          <a:solidFill>
            <a:srgbClr val="E8EEF7"/>
          </a:solidFill>
          <a:ln>
            <a:noFill/>
          </a:ln>
        </p:spPr>
        <p:txBody>
          <a:bodyPr wrap="square" lIns="0" tIns="0" rIns="0" bIns="0" rtlCol="0" anchor="t">
            <a:noAutofit/>
          </a:bodyPr>
          <a:lstStyle/>
          <a:p>
            <a:endParaRPr lang="en-US" dirty="0"/>
          </a:p>
        </p:txBody>
      </p:sp>
      <p:sp>
        <p:nvSpPr>
          <p:cNvPr id="26" name="Shape 26"/>
          <p:cNvSpPr txBox="1"/>
          <p:nvPr/>
        </p:nvSpPr>
        <p:spPr>
          <a:xfrm>
            <a:off x="7505700" y="2413000"/>
            <a:ext cx="16764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Assessments</a:t>
            </a:r>
          </a:p>
        </p:txBody>
      </p:sp>
      <p:sp>
        <p:nvSpPr>
          <p:cNvPr id="27" name="Shape 27"/>
          <p:cNvSpPr txBox="1"/>
          <p:nvPr/>
        </p:nvSpPr>
        <p:spPr>
          <a:xfrm>
            <a:off x="7505700" y="2768600"/>
            <a:ext cx="1676400" cy="16256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Upcoming tests and clinic visits; help the family plan and attend</a:t>
            </a:r>
          </a:p>
        </p:txBody>
      </p:sp>
      <p:sp>
        <p:nvSpPr>
          <p:cNvPr id="28" name="Check card 5"/>
          <p:cNvSpPr/>
          <p:nvPr/>
        </p:nvSpPr>
        <p:spPr>
          <a:xfrm>
            <a:off x="9550400" y="1549400"/>
            <a:ext cx="1981200" cy="2895600"/>
          </a:xfrm>
          <a:prstGeom prst="roundRect">
            <a:avLst>
              <a:gd name="adj" fmla="val 5769"/>
            </a:avLst>
          </a:prstGeom>
          <a:solidFill>
            <a:srgbClr val="E8EEF7"/>
          </a:solidFill>
          <a:ln>
            <a:noFill/>
          </a:ln>
        </p:spPr>
        <p:txBody>
          <a:bodyPr wrap="square" lIns="0" tIns="0" rIns="0" bIns="0" rtlCol="0" anchor="t">
            <a:noAutofit/>
          </a:bodyPr>
          <a:lstStyle/>
          <a:p>
            <a:endParaRPr lang="en-US" dirty="0"/>
          </a:p>
        </p:txBody>
      </p:sp>
      <p:sp>
        <p:nvSpPr>
          <p:cNvPr id="30" name="Shape 30"/>
          <p:cNvSpPr txBox="1"/>
          <p:nvPr/>
        </p:nvSpPr>
        <p:spPr>
          <a:xfrm>
            <a:off x="9728200" y="2413000"/>
            <a:ext cx="1676400" cy="304800"/>
          </a:xfrm>
          <a:prstGeom prst="rect">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002E56"/>
                </a:solidFill>
              </a:rPr>
              <a:t>Wellbeing</a:t>
            </a:r>
          </a:p>
        </p:txBody>
      </p:sp>
      <p:sp>
        <p:nvSpPr>
          <p:cNvPr id="31" name="Shape 31"/>
          <p:cNvSpPr txBox="1"/>
          <p:nvPr/>
        </p:nvSpPr>
        <p:spPr>
          <a:xfrm>
            <a:off x="9728200" y="2768600"/>
            <a:ext cx="1676400" cy="16256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2B2B2B"/>
                </a:solidFill>
              </a:rPr>
              <a:t>Pain, sleep, school or work, mood and caregiver strain</a:t>
            </a:r>
          </a:p>
        </p:txBody>
      </p:sp>
      <p:sp>
        <p:nvSpPr>
          <p:cNvPr id="32" name="Shape 32"/>
          <p:cNvSpPr/>
          <p:nvPr/>
        </p:nvSpPr>
        <p:spPr>
          <a:xfrm>
            <a:off x="660400" y="4876800"/>
            <a:ext cx="10871200" cy="711200"/>
          </a:xfrm>
          <a:prstGeom prst="roundRect">
            <a:avLst>
              <a:gd name="adj" fmla="val 16071"/>
            </a:avLst>
          </a:prstGeom>
          <a:solidFill>
            <a:srgbClr val="002E56"/>
          </a:solidFill>
          <a:ln>
            <a:noFill/>
          </a:ln>
        </p:spPr>
        <p:txBody>
          <a:bodyPr wrap="square" lIns="0" tIns="0" rIns="0" bIns="0" rtlCol="0" anchor="t">
            <a:noAutofit/>
          </a:bodyPr>
          <a:lstStyle/>
          <a:p>
            <a:endParaRPr lang="en-US" dirty="0"/>
          </a:p>
        </p:txBody>
      </p:sp>
      <p:sp>
        <p:nvSpPr>
          <p:cNvPr id="33" name="Shape 33"/>
          <p:cNvSpPr txBox="1"/>
          <p:nvPr/>
        </p:nvSpPr>
        <p:spPr>
          <a:xfrm>
            <a:off x="660400" y="4876800"/>
            <a:ext cx="10871200" cy="7112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Record every contact. </a:t>
            </a:r>
            <a:r>
              <a:rPr lang="en-US" sz="1500" dirty="0">
                <a:solidFill>
                  <a:srgbClr val="DCE4F2"/>
                </a:solidFill>
              </a:rPr>
              <a:t>Pass any suspected adverse event to pharmacovigilance within the program’s reporting timeline, even if it seems minor or unrelated.</a:t>
            </a:r>
          </a:p>
        </p:txBody>
      </p:sp>
      <p:sp>
        <p:nvSpPr>
          <p:cNvPr id="34"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Akyol MU et al. Orphanet J Rare Dis 2019;14:137; Akyol MU et al. Orphanet J Rare Dis 2019;14:118; Lampe C et al. Mol Genet Metab Rep 2019;21:100508.</a:t>
            </a:r>
          </a:p>
        </p:txBody>
      </p:sp>
      <p:pic>
        <p:nvPicPr>
          <p:cNvPr id="35" name="Graphic 35" descr="Adherenc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200" y="1778000"/>
            <a:ext cx="508000" cy="508000"/>
          </a:xfrm>
          <a:prstGeom prst="rect">
            <a:avLst/>
          </a:prstGeom>
        </p:spPr>
      </p:pic>
      <p:pic>
        <p:nvPicPr>
          <p:cNvPr id="36" name="Graphic 36" descr="Toleranc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60700" y="1778000"/>
            <a:ext cx="508000" cy="508000"/>
          </a:xfrm>
          <a:prstGeom prst="rect">
            <a:avLst/>
          </a:prstGeom>
        </p:spPr>
      </p:pic>
      <p:pic>
        <p:nvPicPr>
          <p:cNvPr id="37" name="Graphic 37" descr="Assessment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05700" y="1778000"/>
            <a:ext cx="508000" cy="508000"/>
          </a:xfrm>
          <a:prstGeom prst="rect">
            <a:avLst/>
          </a:prstGeom>
        </p:spPr>
      </p:pic>
      <p:pic>
        <p:nvPicPr>
          <p:cNvPr id="38" name="Graphic 38" descr="Wellbei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28200" y="1778000"/>
            <a:ext cx="508000" cy="508000"/>
          </a:xfrm>
          <a:prstGeom prst="rect">
            <a:avLst/>
          </a:prstGeom>
        </p:spPr>
      </p:pic>
      <p:pic>
        <p:nvPicPr>
          <p:cNvPr id="39" name="Graphic 39" descr="Symptom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83200" y="1778000"/>
            <a:ext cx="508000" cy="508000"/>
          </a:xfrm>
          <a:prstGeom prst="rect">
            <a:avLst/>
          </a:prstGeom>
        </p:spPr>
      </p:pic>
    </p:spTree>
    <p:extLst>
      <p:ext uri="{BB962C8B-B14F-4D97-AF65-F5344CB8AC3E}">
        <p14:creationId xmlns:p14="http://schemas.microsoft.com/office/powerpoint/2010/main" val="32592899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Living with MPS</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a:t>Key messages for families</a:t>
            </a:r>
            <a:endParaRPr lang="en-US" dirty="0"/>
          </a:p>
        </p:txBody>
      </p:sp>
      <p:sp>
        <p:nvSpPr>
          <p:cNvPr id="12" name="Shape 12"/>
          <p:cNvSpPr txBox="1"/>
          <p:nvPr/>
        </p:nvSpPr>
        <p:spPr>
          <a:xfrm>
            <a:off x="660400" y="1524000"/>
            <a:ext cx="431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2200" b="1" dirty="0">
                <a:solidFill>
                  <a:srgbClr val="28509C"/>
                </a:solidFill>
              </a:rPr>
              <a:t>1</a:t>
            </a:r>
          </a:p>
        </p:txBody>
      </p:sp>
      <p:sp>
        <p:nvSpPr>
          <p:cNvPr id="13" name="Shape 13"/>
          <p:cNvSpPr txBox="1"/>
          <p:nvPr/>
        </p:nvSpPr>
        <p:spPr>
          <a:xfrm>
            <a:off x="1168400" y="15494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“Every weekly infusion counts.”</a:t>
            </a:r>
          </a:p>
        </p:txBody>
      </p:sp>
      <p:sp>
        <p:nvSpPr>
          <p:cNvPr id="14" name="Shape 14"/>
          <p:cNvSpPr txBox="1"/>
          <p:nvPr/>
        </p:nvSpPr>
        <p:spPr>
          <a:xfrm>
            <a:off x="1168400" y="18288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646464"/>
                </a:solidFill>
              </a:rPr>
              <a:t>The effect of ERT is temporary, so missed doses let GAGs build up again</a:t>
            </a:r>
          </a:p>
        </p:txBody>
      </p:sp>
      <p:cxnSp>
        <p:nvCxnSpPr>
          <p:cNvPr id="15" name="Line 15"/>
          <p:cNvCxnSpPr/>
          <p:nvPr/>
        </p:nvCxnSpPr>
        <p:spPr>
          <a:xfrm>
            <a:off x="660400" y="2159000"/>
            <a:ext cx="6832600" cy="0"/>
          </a:xfrm>
          <a:prstGeom prst="line">
            <a:avLst/>
          </a:prstGeom>
          <a:ln w="9525">
            <a:solidFill>
              <a:srgbClr val="E0E0E0"/>
            </a:solidFill>
          </a:ln>
        </p:spPr>
      </p:cxnSp>
      <p:sp>
        <p:nvSpPr>
          <p:cNvPr id="16" name="Shape 16"/>
          <p:cNvSpPr txBox="1"/>
          <p:nvPr/>
        </p:nvSpPr>
        <p:spPr>
          <a:xfrm>
            <a:off x="660400" y="2197100"/>
            <a:ext cx="431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2200" b="1" dirty="0">
                <a:solidFill>
                  <a:srgbClr val="28509C"/>
                </a:solidFill>
              </a:rPr>
              <a:t>2</a:t>
            </a:r>
          </a:p>
        </p:txBody>
      </p:sp>
      <p:sp>
        <p:nvSpPr>
          <p:cNvPr id="17" name="Shape 17"/>
          <p:cNvSpPr txBox="1"/>
          <p:nvPr/>
        </p:nvSpPr>
        <p:spPr>
          <a:xfrm>
            <a:off x="1168400" y="22225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“ERT slows MPS; it does not undo damage.”</a:t>
            </a:r>
          </a:p>
        </p:txBody>
      </p:sp>
      <p:sp>
        <p:nvSpPr>
          <p:cNvPr id="18" name="Shape 18"/>
          <p:cNvSpPr txBox="1"/>
          <p:nvPr/>
        </p:nvSpPr>
        <p:spPr>
          <a:xfrm>
            <a:off x="1168400" y="25019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646464"/>
                </a:solidFill>
              </a:rPr>
              <a:t>Set realistic expectations from the start</a:t>
            </a:r>
          </a:p>
        </p:txBody>
      </p:sp>
      <p:cxnSp>
        <p:nvCxnSpPr>
          <p:cNvPr id="19" name="Line 19"/>
          <p:cNvCxnSpPr/>
          <p:nvPr/>
        </p:nvCxnSpPr>
        <p:spPr>
          <a:xfrm>
            <a:off x="660400" y="2832100"/>
            <a:ext cx="6832600" cy="0"/>
          </a:xfrm>
          <a:prstGeom prst="line">
            <a:avLst/>
          </a:prstGeom>
          <a:ln w="9525">
            <a:solidFill>
              <a:srgbClr val="E0E0E0"/>
            </a:solidFill>
          </a:ln>
        </p:spPr>
      </p:cxnSp>
      <p:sp>
        <p:nvSpPr>
          <p:cNvPr id="20" name="Shape 20"/>
          <p:cNvSpPr txBox="1"/>
          <p:nvPr/>
        </p:nvSpPr>
        <p:spPr>
          <a:xfrm>
            <a:off x="660400" y="2870200"/>
            <a:ext cx="431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2200" b="1" dirty="0">
                <a:solidFill>
                  <a:srgbClr val="28509C"/>
                </a:solidFill>
              </a:rPr>
              <a:t>3</a:t>
            </a:r>
          </a:p>
        </p:txBody>
      </p:sp>
      <p:sp>
        <p:nvSpPr>
          <p:cNvPr id="21" name="Shape 21"/>
          <p:cNvSpPr txBox="1"/>
          <p:nvPr/>
        </p:nvSpPr>
        <p:spPr>
          <a:xfrm>
            <a:off x="1168400" y="28956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“Tell us early.”</a:t>
            </a:r>
          </a:p>
        </p:txBody>
      </p:sp>
      <p:sp>
        <p:nvSpPr>
          <p:cNvPr id="22" name="Shape 22"/>
          <p:cNvSpPr txBox="1"/>
          <p:nvPr/>
        </p:nvSpPr>
        <p:spPr>
          <a:xfrm>
            <a:off x="1168400" y="31750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646464"/>
                </a:solidFill>
              </a:rPr>
              <a:t>Report warning signs and reactions without waiting for the next visit</a:t>
            </a:r>
          </a:p>
        </p:txBody>
      </p:sp>
      <p:cxnSp>
        <p:nvCxnSpPr>
          <p:cNvPr id="23" name="Line 23"/>
          <p:cNvCxnSpPr/>
          <p:nvPr/>
        </p:nvCxnSpPr>
        <p:spPr>
          <a:xfrm>
            <a:off x="660400" y="3505200"/>
            <a:ext cx="6832600" cy="0"/>
          </a:xfrm>
          <a:prstGeom prst="line">
            <a:avLst/>
          </a:prstGeom>
          <a:ln w="9525">
            <a:solidFill>
              <a:srgbClr val="E0E0E0"/>
            </a:solidFill>
          </a:ln>
        </p:spPr>
      </p:cxnSp>
      <p:sp>
        <p:nvSpPr>
          <p:cNvPr id="24" name="Shape 24"/>
          <p:cNvSpPr txBox="1"/>
          <p:nvPr/>
        </p:nvSpPr>
        <p:spPr>
          <a:xfrm>
            <a:off x="660400" y="3543300"/>
            <a:ext cx="431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2200" b="1" dirty="0">
                <a:solidFill>
                  <a:srgbClr val="28509C"/>
                </a:solidFill>
              </a:rPr>
              <a:t>4</a:t>
            </a:r>
          </a:p>
        </p:txBody>
      </p:sp>
      <p:sp>
        <p:nvSpPr>
          <p:cNvPr id="25" name="Shape 25"/>
          <p:cNvSpPr txBox="1"/>
          <p:nvPr/>
        </p:nvSpPr>
        <p:spPr>
          <a:xfrm>
            <a:off x="1168400" y="35687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“Mention MPS before any procedure.”</a:t>
            </a:r>
          </a:p>
        </p:txBody>
      </p:sp>
      <p:sp>
        <p:nvSpPr>
          <p:cNvPr id="26" name="Shape 26"/>
          <p:cNvSpPr txBox="1"/>
          <p:nvPr/>
        </p:nvSpPr>
        <p:spPr>
          <a:xfrm>
            <a:off x="1168400" y="38481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646464"/>
                </a:solidFill>
              </a:rPr>
              <a:t>Doctors, dentists and anaesthetists must know; carry an alert card</a:t>
            </a:r>
          </a:p>
        </p:txBody>
      </p:sp>
      <p:cxnSp>
        <p:nvCxnSpPr>
          <p:cNvPr id="27" name="Line 27"/>
          <p:cNvCxnSpPr/>
          <p:nvPr/>
        </p:nvCxnSpPr>
        <p:spPr>
          <a:xfrm>
            <a:off x="660400" y="4178300"/>
            <a:ext cx="6832600" cy="0"/>
          </a:xfrm>
          <a:prstGeom prst="line">
            <a:avLst/>
          </a:prstGeom>
          <a:ln w="9525">
            <a:solidFill>
              <a:srgbClr val="E0E0E0"/>
            </a:solidFill>
          </a:ln>
        </p:spPr>
      </p:cxnSp>
      <p:sp>
        <p:nvSpPr>
          <p:cNvPr id="28" name="Shape 28"/>
          <p:cNvSpPr txBox="1"/>
          <p:nvPr/>
        </p:nvSpPr>
        <p:spPr>
          <a:xfrm>
            <a:off x="660400" y="4216400"/>
            <a:ext cx="431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2200" b="1" dirty="0">
                <a:solidFill>
                  <a:srgbClr val="28509C"/>
                </a:solidFill>
              </a:rPr>
              <a:t>5</a:t>
            </a:r>
          </a:p>
        </p:txBody>
      </p:sp>
      <p:sp>
        <p:nvSpPr>
          <p:cNvPr id="29" name="Shape 29"/>
          <p:cNvSpPr txBox="1"/>
          <p:nvPr/>
        </p:nvSpPr>
        <p:spPr>
          <a:xfrm>
            <a:off x="1168400" y="42418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“Keep every check-up.”</a:t>
            </a:r>
          </a:p>
        </p:txBody>
      </p:sp>
      <p:sp>
        <p:nvSpPr>
          <p:cNvPr id="30" name="Shape 30"/>
          <p:cNvSpPr txBox="1"/>
          <p:nvPr/>
        </p:nvSpPr>
        <p:spPr>
          <a:xfrm>
            <a:off x="1168400" y="45212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646464"/>
                </a:solidFill>
              </a:rPr>
              <a:t>Regular tests show how the disease and treatment are going</a:t>
            </a:r>
          </a:p>
        </p:txBody>
      </p:sp>
      <p:cxnSp>
        <p:nvCxnSpPr>
          <p:cNvPr id="31" name="Line 31"/>
          <p:cNvCxnSpPr/>
          <p:nvPr/>
        </p:nvCxnSpPr>
        <p:spPr>
          <a:xfrm>
            <a:off x="660400" y="4851400"/>
            <a:ext cx="6832600" cy="0"/>
          </a:xfrm>
          <a:prstGeom prst="line">
            <a:avLst/>
          </a:prstGeom>
          <a:ln w="9525">
            <a:solidFill>
              <a:srgbClr val="E0E0E0"/>
            </a:solidFill>
          </a:ln>
        </p:spPr>
      </p:cxnSp>
      <p:sp>
        <p:nvSpPr>
          <p:cNvPr id="32" name="Shape 32"/>
          <p:cNvSpPr txBox="1"/>
          <p:nvPr/>
        </p:nvSpPr>
        <p:spPr>
          <a:xfrm>
            <a:off x="660400" y="4889500"/>
            <a:ext cx="431800" cy="584200"/>
          </a:xfrm>
          <a:prstGeom prst="rect">
            <a:avLst/>
          </a:prstGeom>
          <a:noFill/>
          <a:ln>
            <a:noFill/>
          </a:ln>
        </p:spPr>
        <p:txBody>
          <a:bodyPr wrap="square" lIns="0" tIns="0" rIns="0" bIns="0" rtlCol="0" anchor="ctr">
            <a:noAutofit/>
          </a:bodyPr>
          <a:lstStyle/>
          <a:p>
            <a:pPr>
              <a:spcBef>
                <a:spcPts val="0"/>
              </a:spcBef>
              <a:spcAft>
                <a:spcPts val="0"/>
              </a:spcAft>
              <a:buNone/>
            </a:pPr>
            <a:r>
              <a:rPr lang="en-US" sz="2200" b="1" dirty="0">
                <a:solidFill>
                  <a:srgbClr val="28509C"/>
                </a:solidFill>
              </a:rPr>
              <a:t>6</a:t>
            </a:r>
          </a:p>
        </p:txBody>
      </p:sp>
      <p:sp>
        <p:nvSpPr>
          <p:cNvPr id="33" name="Shape 33"/>
          <p:cNvSpPr txBox="1"/>
          <p:nvPr/>
        </p:nvSpPr>
        <p:spPr>
          <a:xfrm>
            <a:off x="1168400" y="49149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002E56"/>
                </a:solidFill>
              </a:rPr>
              <a:t>“Plan early for adult care.”</a:t>
            </a:r>
          </a:p>
        </p:txBody>
      </p:sp>
      <p:sp>
        <p:nvSpPr>
          <p:cNvPr id="34" name="Shape 34"/>
          <p:cNvSpPr txBox="1"/>
          <p:nvPr/>
        </p:nvSpPr>
        <p:spPr>
          <a:xfrm>
            <a:off x="1168400" y="5194300"/>
            <a:ext cx="6350000" cy="279400"/>
          </a:xfrm>
          <a:prstGeom prst="rect">
            <a:avLst/>
          </a:prstGeom>
          <a:noFill/>
          <a:ln>
            <a:noFill/>
          </a:ln>
        </p:spPr>
        <p:txBody>
          <a:bodyPr wrap="square" lIns="0" tIns="0" rIns="0" bIns="0" rtlCol="0" anchor="t">
            <a:noAutofit/>
          </a:bodyPr>
          <a:lstStyle/>
          <a:p>
            <a:pPr>
              <a:spcBef>
                <a:spcPts val="0"/>
              </a:spcBef>
              <a:spcAft>
                <a:spcPts val="0"/>
              </a:spcAft>
              <a:buNone/>
            </a:pPr>
            <a:r>
              <a:rPr lang="en-US" sz="1400" dirty="0">
                <a:solidFill>
                  <a:srgbClr val="646464"/>
                </a:solidFill>
              </a:rPr>
              <a:t>Preparation for transition starts around age 12</a:t>
            </a:r>
          </a:p>
        </p:txBody>
      </p:sp>
      <p:sp>
        <p:nvSpPr>
          <p:cNvPr id="35" name="Shape 35"/>
          <p:cNvSpPr/>
          <p:nvPr/>
        </p:nvSpPr>
        <p:spPr>
          <a:xfrm>
            <a:off x="7874000" y="1549400"/>
            <a:ext cx="3657600" cy="4013200"/>
          </a:xfrm>
          <a:prstGeom prst="roundRect">
            <a:avLst>
              <a:gd name="adj" fmla="val 3125"/>
            </a:avLst>
          </a:prstGeom>
          <a:solidFill>
            <a:srgbClr val="002E56"/>
          </a:solidFill>
          <a:ln>
            <a:noFill/>
          </a:ln>
        </p:spPr>
        <p:txBody>
          <a:bodyPr wrap="square" lIns="0" tIns="0" rIns="0" bIns="0" rtlCol="0" anchor="t">
            <a:noAutofit/>
          </a:bodyPr>
          <a:lstStyle/>
          <a:p>
            <a:endParaRPr lang="en-US" dirty="0"/>
          </a:p>
        </p:txBody>
      </p:sp>
      <p:sp>
        <p:nvSpPr>
          <p:cNvPr id="36" name="Shape 36"/>
          <p:cNvSpPr txBox="1"/>
          <p:nvPr/>
        </p:nvSpPr>
        <p:spPr>
          <a:xfrm>
            <a:off x="8128000" y="1727200"/>
            <a:ext cx="3200400" cy="304800"/>
          </a:xfrm>
          <a:prstGeom prst="rect">
            <a:avLst/>
          </a:prstGeom>
          <a:noFill/>
          <a:ln>
            <a:noFill/>
          </a:ln>
        </p:spPr>
        <p:txBody>
          <a:bodyPr wrap="square" lIns="0" tIns="0" rIns="0" bIns="0" rtlCol="0" anchor="t">
            <a:noAutofit/>
          </a:bodyPr>
          <a:lstStyle/>
          <a:p>
            <a:pPr>
              <a:spcBef>
                <a:spcPts val="0"/>
              </a:spcBef>
              <a:spcAft>
                <a:spcPts val="0"/>
              </a:spcAft>
              <a:buNone/>
            </a:pPr>
            <a:r>
              <a:rPr lang="en-US" sz="1200" b="1" spc="80" dirty="0">
                <a:solidFill>
                  <a:srgbClr val="9DB3D9"/>
                </a:solidFill>
              </a:rPr>
              <a:t>Stay within your role</a:t>
            </a:r>
          </a:p>
        </p:txBody>
      </p:sp>
      <p:sp>
        <p:nvSpPr>
          <p:cNvPr id="37" name="Shape 37"/>
          <p:cNvSpPr txBox="1"/>
          <p:nvPr/>
        </p:nvSpPr>
        <p:spPr>
          <a:xfrm>
            <a:off x="8128000" y="2108200"/>
            <a:ext cx="3251200" cy="3403600"/>
          </a:xfrm>
          <a:prstGeom prst="rect">
            <a:avLst/>
          </a:prstGeom>
          <a:noFill/>
          <a:ln>
            <a:noFill/>
          </a:ln>
        </p:spPr>
        <p:txBody>
          <a:bodyPr wrap="square" lIns="0" tIns="0" rIns="0" bIns="0" rtlCol="0" anchor="t">
            <a:noAutofit/>
          </a:bodyPr>
          <a:lstStyle/>
          <a:p>
            <a:pPr marL="177800" indent="-177800">
              <a:spcBef>
                <a:spcPts val="0"/>
              </a:spcBef>
              <a:spcAft>
                <a:spcPts val="900"/>
              </a:spcAft>
              <a:buClr>
                <a:srgbClr val="9DB3D9"/>
              </a:buClr>
              <a:buFont typeface="Arial"/>
              <a:buChar char="•"/>
            </a:pPr>
            <a:r>
              <a:rPr lang="en-US" sz="1400" dirty="0">
                <a:solidFill>
                  <a:srgbClr val="FFFFFF"/>
                </a:solidFill>
              </a:rPr>
              <a:t>Refer clinical questions to the treating physician</a:t>
            </a:r>
          </a:p>
          <a:p>
            <a:pPr marL="177800" indent="-177800">
              <a:spcBef>
                <a:spcPts val="0"/>
              </a:spcBef>
              <a:spcAft>
                <a:spcPts val="900"/>
              </a:spcAft>
              <a:buClr>
                <a:srgbClr val="9DB3D9"/>
              </a:buClr>
              <a:buFont typeface="Arial"/>
              <a:buChar char="•"/>
            </a:pPr>
            <a:r>
              <a:rPr lang="en-US" sz="1400" dirty="0">
                <a:solidFill>
                  <a:srgbClr val="FFFFFF"/>
                </a:solidFill>
              </a:rPr>
              <a:t>Never change doses, rates or premedication</a:t>
            </a:r>
          </a:p>
          <a:p>
            <a:pPr marL="177800" indent="-177800">
              <a:spcBef>
                <a:spcPts val="0"/>
              </a:spcBef>
              <a:spcAft>
                <a:spcPts val="900"/>
              </a:spcAft>
              <a:buClr>
                <a:srgbClr val="9DB3D9"/>
              </a:buClr>
              <a:buFont typeface="Arial"/>
              <a:buChar char="•"/>
            </a:pPr>
            <a:r>
              <a:rPr lang="en-US" sz="1400" dirty="0">
                <a:solidFill>
                  <a:srgbClr val="FFFFFF"/>
                </a:solidFill>
              </a:rPr>
              <a:t>Discuss only approved uses of medicines</a:t>
            </a:r>
          </a:p>
          <a:p>
            <a:pPr marL="177800" indent="-177800">
              <a:spcBef>
                <a:spcPts val="0"/>
              </a:spcBef>
              <a:spcAft>
                <a:spcPts val="900"/>
              </a:spcAft>
              <a:buClr>
                <a:srgbClr val="9DB3D9"/>
              </a:buClr>
              <a:buFont typeface="Arial"/>
              <a:buChar char="•"/>
            </a:pPr>
            <a:r>
              <a:rPr lang="en-US" sz="1400" dirty="0">
                <a:solidFill>
                  <a:srgbClr val="FFFFFF"/>
                </a:solidFill>
              </a:rPr>
              <a:t>Do not promise specific outcomes</a:t>
            </a:r>
          </a:p>
          <a:p>
            <a:pPr marL="177800" indent="-177800">
              <a:spcBef>
                <a:spcPts val="0"/>
              </a:spcBef>
              <a:spcAft>
                <a:spcPts val="900"/>
              </a:spcAft>
              <a:buClr>
                <a:srgbClr val="9DB3D9"/>
              </a:buClr>
              <a:buFont typeface="Arial"/>
              <a:buChar char="•"/>
            </a:pPr>
            <a:r>
              <a:rPr lang="en-US" sz="1400" dirty="0">
                <a:solidFill>
                  <a:srgbClr val="FFFFFF"/>
                </a:solidFill>
              </a:rPr>
              <a:t>Use program-approved materials only</a:t>
            </a:r>
          </a:p>
        </p:txBody>
      </p:sp>
      <p:sp>
        <p:nvSpPr>
          <p:cNvPr id="38" name="Abbreviations"/>
          <p:cNvSpPr txBox="1"/>
          <p:nvPr/>
        </p:nvSpPr>
        <p:spPr>
          <a:xfrm>
            <a:off x="660400" y="5715000"/>
            <a:ext cx="10871200" cy="228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ERT, enzyme replacement therapy; GAG, glycosaminoglycan; MPS, mucopolysaccharidosis</a:t>
            </a:r>
          </a:p>
        </p:txBody>
      </p:sp>
      <p:sp>
        <p:nvSpPr>
          <p:cNvPr id="39"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Concolino D et al. Ital J Pediatr 2018;44(Suppl 2):120; Akyol MU et al. Orphanet J Rare Dis 2019;14:137; Akyol MU et al. Orphanet J Rare Dis 2019;14:118; Lampe C et al. Mol Genet Metab Rep 2019;21:100508.</a:t>
            </a:r>
          </a:p>
        </p:txBody>
      </p:sp>
    </p:spTree>
    <p:extLst>
      <p:ext uri="{BB962C8B-B14F-4D97-AF65-F5344CB8AC3E}">
        <p14:creationId xmlns:p14="http://schemas.microsoft.com/office/powerpoint/2010/main" val="28015965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Section number"/>
          <p:cNvSpPr txBox="1"/>
          <p:nvPr/>
        </p:nvSpPr>
        <p:spPr>
          <a:xfrm>
            <a:off x="914400" y="1625600"/>
            <a:ext cx="5334000" cy="1219200"/>
          </a:xfrm>
          <a:prstGeom prst="rect">
            <a:avLst/>
          </a:prstGeom>
          <a:noFill/>
          <a:ln>
            <a:noFill/>
          </a:ln>
        </p:spPr>
        <p:txBody>
          <a:bodyPr wrap="square" lIns="0" tIns="0" rIns="0" bIns="0" anchor="b">
            <a:noAutofit/>
          </a:bodyPr>
          <a:lstStyle/>
          <a:p>
            <a:pPr>
              <a:spcBef>
                <a:spcPts val="0"/>
              </a:spcBef>
              <a:buNone/>
            </a:pPr>
            <a:r>
              <a:rPr lang="en-GB" sz="8000" b="1" dirty="0">
                <a:solidFill>
                  <a:srgbClr val="9DB3D9"/>
                </a:solidFill>
              </a:rPr>
              <a:t>08</a:t>
            </a:r>
          </a:p>
        </p:txBody>
      </p:sp>
      <p:sp>
        <p:nvSpPr>
          <p:cNvPr id="403" name="Title"/>
          <p:cNvSpPr>
            <a:spLocks noGrp="1"/>
          </p:cNvSpPr>
          <p:nvPr>
            <p:ph type="title"/>
          </p:nvPr>
        </p:nvSpPr>
        <p:spPr>
          <a:xfrm>
            <a:off x="914400" y="3327400"/>
            <a:ext cx="5842000" cy="812800"/>
          </a:xfrm>
        </p:spPr>
        <p:txBody>
          <a:bodyPr wrap="square" lIns="0" tIns="0" rIns="0" bIns="0" anchor="t">
            <a:normAutofit/>
          </a:bodyPr>
          <a:lstStyle/>
          <a:p>
            <a:pPr algn="l"/>
            <a:r>
              <a:rPr lang="en-GB" sz="4400" b="1" dirty="0">
                <a:solidFill>
                  <a:srgbClr val="FFFFFF"/>
                </a:solidFill>
              </a:rPr>
              <a:t>Pharmacovigilance</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spcBef>
                <a:spcPts val="0"/>
              </a:spcBef>
              <a:buNone/>
            </a:pPr>
            <a:r>
              <a:rPr lang="en-GB" sz="1800" dirty="0">
                <a:solidFill>
                  <a:srgbClr val="C9D5EA"/>
                </a:solidFill>
              </a:rPr>
              <a:t>Reporting adverse events, special situations and product complaints</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5969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Why pharmacovigilance matters</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5969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Adverse events and special situations</a:t>
            </a:r>
          </a:p>
        </p:txBody>
      </p:sp>
      <p:cxnSp>
        <p:nvCxnSpPr>
          <p:cNvPr id="410" name="Divider"/>
          <p:cNvCxnSpPr/>
          <p:nvPr/>
        </p:nvCxnSpPr>
        <p:spPr>
          <a:xfrm>
            <a:off x="7620000" y="3302000"/>
            <a:ext cx="4064000" cy="0"/>
          </a:xfrm>
          <a:prstGeom prst="line">
            <a:avLst/>
          </a:prstGeom>
          <a:ln w="9525">
            <a:solidFill>
              <a:srgbClr val="3E5C80"/>
            </a:solidFill>
          </a:ln>
        </p:spPr>
      </p:cxnSp>
      <p:sp>
        <p:nvSpPr>
          <p:cNvPr id="411" name="Item 3"/>
          <p:cNvSpPr txBox="1"/>
          <p:nvPr/>
        </p:nvSpPr>
        <p:spPr>
          <a:xfrm>
            <a:off x="7620000" y="3302000"/>
            <a:ext cx="4064000" cy="5969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Your role and what to collect</a:t>
            </a:r>
          </a:p>
        </p:txBody>
      </p:sp>
      <p:cxnSp>
        <p:nvCxnSpPr>
          <p:cNvPr id="412" name="Divider"/>
          <p:cNvCxnSpPr/>
          <p:nvPr/>
        </p:nvCxnSpPr>
        <p:spPr>
          <a:xfrm>
            <a:off x="7620000" y="3937000"/>
            <a:ext cx="4064000" cy="0"/>
          </a:xfrm>
          <a:prstGeom prst="line">
            <a:avLst/>
          </a:prstGeom>
          <a:ln w="9525">
            <a:solidFill>
              <a:srgbClr val="3E5C80"/>
            </a:solidFill>
          </a:ln>
        </p:spPr>
      </p:cxnSp>
      <p:sp>
        <p:nvSpPr>
          <p:cNvPr id="413" name="Item 4"/>
          <p:cNvSpPr txBox="1"/>
          <p:nvPr/>
        </p:nvSpPr>
        <p:spPr>
          <a:xfrm>
            <a:off x="7620000" y="3937000"/>
            <a:ext cx="4064000" cy="5969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Report or not? Three scenarios</a:t>
            </a:r>
          </a:p>
        </p:txBody>
      </p:sp>
      <p:cxnSp>
        <p:nvCxnSpPr>
          <p:cNvPr id="414" name="Divider"/>
          <p:cNvCxnSpPr/>
          <p:nvPr/>
        </p:nvCxnSpPr>
        <p:spPr>
          <a:xfrm>
            <a:off x="7620000" y="4572000"/>
            <a:ext cx="4064000" cy="0"/>
          </a:xfrm>
          <a:prstGeom prst="line">
            <a:avLst/>
          </a:prstGeom>
          <a:ln w="9525">
            <a:solidFill>
              <a:srgbClr val="3E5C80"/>
            </a:solidFill>
          </a:ln>
        </p:spPr>
      </p:cxnSp>
      <p:sp>
        <p:nvSpPr>
          <p:cNvPr id="415" name="Item 5"/>
          <p:cNvSpPr txBox="1"/>
          <p:nvPr/>
        </p:nvSpPr>
        <p:spPr>
          <a:xfrm>
            <a:off x="7620000" y="4572000"/>
            <a:ext cx="4064000" cy="5969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Product complaints</a:t>
            </a:r>
          </a:p>
        </p:txBody>
      </p:sp>
    </p:spTree>
    <p:extLst>
      <p:ext uri="{BB962C8B-B14F-4D97-AF65-F5344CB8AC3E}">
        <p14:creationId xmlns:p14="http://schemas.microsoft.com/office/powerpoint/2010/main" val="34053228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Pharmacovigilance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Why pharmacovigilance matters</a:t>
            </a:r>
          </a:p>
        </p:txBody>
      </p:sp>
      <p:sp>
        <p:nvSpPr>
          <p:cNvPr id="302" name="Purpose"/>
          <p:cNvSpPr/>
          <p:nvPr/>
        </p:nvSpPr>
        <p:spPr>
          <a:xfrm>
            <a:off x="660400" y="1422400"/>
            <a:ext cx="10871200" cy="889000"/>
          </a:xfrm>
          <a:prstGeom prst="roundRect">
            <a:avLst>
              <a:gd name="adj" fmla="val 8000"/>
            </a:avLst>
          </a:prstGeom>
          <a:solidFill>
            <a:srgbClr val="E3EAF5"/>
          </a:solidFill>
          <a:ln>
            <a:noFill/>
          </a:ln>
        </p:spPr>
        <p:txBody>
          <a:bodyPr wrap="square" lIns="177800" tIns="177800" rIns="177800" bIns="177800" anchor="ctr">
            <a:noAutofit/>
          </a:bodyPr>
          <a:lstStyle/>
          <a:p>
            <a:pPr>
              <a:spcBef>
                <a:spcPts val="0"/>
              </a:spcBef>
              <a:buNone/>
            </a:pPr>
            <a:r>
              <a:rPr lang="en-GB" sz="1100" b="1" spc="60" dirty="0">
                <a:solidFill>
                  <a:srgbClr val="28509C"/>
                </a:solidFill>
              </a:rPr>
              <a:t>Why we collect adverse event and special situation reports</a:t>
            </a:r>
          </a:p>
          <a:p>
            <a:pPr>
              <a:spcBef>
                <a:spcPts val="300"/>
              </a:spcBef>
              <a:buNone/>
            </a:pPr>
            <a:r>
              <a:rPr lang="en-GB" sz="1500" b="1" dirty="0">
                <a:solidFill>
                  <a:srgbClr val="002E56"/>
                </a:solidFill>
              </a:rPr>
              <a:t>To keep evaluating the product's safety (signal detection): identify, evaluate, communicate and manage new safety information as quickly as possible</a:t>
            </a:r>
          </a:p>
        </p:txBody>
      </p:sp>
      <p:sp>
        <p:nvSpPr>
          <p:cNvPr id="303" name="Step 1"/>
          <p:cNvSpPr/>
          <p:nvPr/>
        </p:nvSpPr>
        <p:spPr>
          <a:xfrm>
            <a:off x="660400" y="2489200"/>
            <a:ext cx="3505200" cy="30226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3200" b="1" dirty="0">
                <a:solidFill>
                  <a:srgbClr val="28509C"/>
                </a:solidFill>
              </a:rPr>
              <a:t>1</a:t>
            </a:r>
          </a:p>
          <a:p>
            <a:pPr>
              <a:spcBef>
                <a:spcPts val="200"/>
              </a:spcBef>
              <a:buNone/>
            </a:pPr>
            <a:r>
              <a:rPr lang="en-GB" sz="1800" b="1" dirty="0">
                <a:solidFill>
                  <a:srgbClr val="002E56"/>
                </a:solidFill>
              </a:rPr>
              <a:t>Collect</a:t>
            </a:r>
          </a:p>
          <a:p>
            <a:pPr>
              <a:spcBef>
                <a:spcPts val="400"/>
              </a:spcBef>
              <a:buNone/>
            </a:pPr>
            <a:r>
              <a:rPr lang="en-GB" sz="1400" dirty="0">
                <a:solidFill>
                  <a:srgbClr val="2B2B2B"/>
                </a:solidFill>
              </a:rPr>
              <a:t>Every source counts: patients and caregivers, HCPs, medical information, support programmes, field staff, registries, literature and social media</a:t>
            </a:r>
          </a:p>
        </p:txBody>
      </p:sp>
      <p:sp>
        <p:nvSpPr>
          <p:cNvPr id="304" name="Step 2"/>
          <p:cNvSpPr/>
          <p:nvPr/>
        </p:nvSpPr>
        <p:spPr>
          <a:xfrm>
            <a:off x="4343400" y="2489200"/>
            <a:ext cx="3505200" cy="30226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3200" b="1" dirty="0">
                <a:solidFill>
                  <a:srgbClr val="28509C"/>
                </a:solidFill>
              </a:rPr>
              <a:t>2</a:t>
            </a:r>
          </a:p>
          <a:p>
            <a:pPr>
              <a:spcBef>
                <a:spcPts val="200"/>
              </a:spcBef>
              <a:buNone/>
            </a:pPr>
            <a:r>
              <a:rPr lang="en-GB" sz="1800" b="1" dirty="0">
                <a:solidFill>
                  <a:srgbClr val="002E56"/>
                </a:solidFill>
              </a:rPr>
              <a:t>Review</a:t>
            </a:r>
          </a:p>
          <a:p>
            <a:pPr>
              <a:spcBef>
                <a:spcPts val="400"/>
              </a:spcBef>
              <a:buNone/>
            </a:pPr>
            <a:r>
              <a:rPr lang="en-GB" sz="1400" dirty="0">
                <a:solidFill>
                  <a:srgbClr val="2B2B2B"/>
                </a:solidFill>
              </a:rPr>
              <a:t>All safety data are used for signal detection, looking for changes in the risk–benefit profile</a:t>
            </a:r>
          </a:p>
        </p:txBody>
      </p:sp>
      <p:sp>
        <p:nvSpPr>
          <p:cNvPr id="305" name="Step 3"/>
          <p:cNvSpPr/>
          <p:nvPr/>
        </p:nvSpPr>
        <p:spPr>
          <a:xfrm>
            <a:off x="8026400" y="2489200"/>
            <a:ext cx="3505200" cy="3022600"/>
          </a:xfrm>
          <a:prstGeom prst="roundRect">
            <a:avLst>
              <a:gd name="adj" fmla="val 8000"/>
            </a:avLst>
          </a:prstGeom>
          <a:solidFill>
            <a:srgbClr val="F1F4F9"/>
          </a:solidFill>
          <a:ln>
            <a:noFill/>
          </a:ln>
        </p:spPr>
        <p:txBody>
          <a:bodyPr wrap="square" lIns="203200" tIns="203200" rIns="203200" bIns="203200" anchor="t">
            <a:noAutofit/>
          </a:bodyPr>
          <a:lstStyle/>
          <a:p>
            <a:pPr>
              <a:spcBef>
                <a:spcPts val="0"/>
              </a:spcBef>
              <a:buNone/>
            </a:pPr>
            <a:r>
              <a:rPr lang="en-GB" sz="3200" b="1" dirty="0">
                <a:solidFill>
                  <a:srgbClr val="A9218E"/>
                </a:solidFill>
              </a:rPr>
              <a:t>3</a:t>
            </a:r>
          </a:p>
          <a:p>
            <a:pPr>
              <a:spcBef>
                <a:spcPts val="200"/>
              </a:spcBef>
              <a:buNone/>
            </a:pPr>
            <a:r>
              <a:rPr lang="en-GB" sz="1800" b="1" dirty="0">
                <a:solidFill>
                  <a:srgbClr val="002E56"/>
                </a:solidFill>
              </a:rPr>
              <a:t>Act</a:t>
            </a:r>
          </a:p>
          <a:p>
            <a:pPr>
              <a:spcBef>
                <a:spcPts val="400"/>
              </a:spcBef>
              <a:buNone/>
            </a:pPr>
            <a:r>
              <a:rPr lang="en-GB" sz="1400" dirty="0">
                <a:solidFill>
                  <a:srgbClr val="2B2B2B"/>
                </a:solidFill>
              </a:rPr>
              <a:t>If a new concern emerges: communicate to physicians (Dear Doctor letters) and update the prescribing information (label)</a:t>
            </a:r>
          </a:p>
        </p:txBody>
      </p:sp>
      <p:sp>
        <p:nvSpPr>
          <p:cNvPr id="306"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HCP, healthcare professional</a:t>
            </a:r>
          </a:p>
        </p:txBody>
      </p:sp>
      <p:sp>
        <p:nvSpPr>
          <p:cNvPr id="307"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Source: BioMarin adverse event identification and reporting training.</a:t>
            </a:r>
          </a:p>
        </p:txBody>
      </p:sp>
    </p:spTree>
    <p:extLst>
      <p:ext uri="{BB962C8B-B14F-4D97-AF65-F5344CB8AC3E}">
        <p14:creationId xmlns:p14="http://schemas.microsoft.com/office/powerpoint/2010/main" val="17890654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Pharmacovigilance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Adverse events and special situation events</a:t>
            </a:r>
          </a:p>
        </p:txBody>
      </p:sp>
      <p:sp>
        <p:nvSpPr>
          <p:cNvPr id="302" name="AE"/>
          <p:cNvSpPr/>
          <p:nvPr/>
        </p:nvSpPr>
        <p:spPr>
          <a:xfrm>
            <a:off x="660400" y="1422400"/>
            <a:ext cx="5346700" cy="1320800"/>
          </a:xfrm>
          <a:prstGeom prst="roundRect">
            <a:avLst>
              <a:gd name="adj" fmla="val 8000"/>
            </a:avLst>
          </a:prstGeom>
          <a:solidFill>
            <a:srgbClr val="E3EAF5"/>
          </a:solidFill>
          <a:ln>
            <a:noFill/>
          </a:ln>
        </p:spPr>
        <p:txBody>
          <a:bodyPr wrap="square" lIns="152400" tIns="152400" rIns="152400" bIns="152400" anchor="t">
            <a:noAutofit/>
          </a:bodyPr>
          <a:lstStyle/>
          <a:p>
            <a:pPr>
              <a:spcBef>
                <a:spcPts val="0"/>
              </a:spcBef>
              <a:buNone/>
            </a:pPr>
            <a:r>
              <a:rPr lang="en-GB" sz="1600" b="1" dirty="0">
                <a:solidFill>
                  <a:srgbClr val="28509C"/>
                </a:solidFill>
              </a:rPr>
              <a:t>Adverse event (AE)</a:t>
            </a:r>
          </a:p>
          <a:p>
            <a:pPr>
              <a:spcBef>
                <a:spcPts val="200"/>
              </a:spcBef>
              <a:buNone/>
            </a:pPr>
            <a:r>
              <a:rPr lang="en-GB" sz="1300" dirty="0">
                <a:solidFill>
                  <a:srgbClr val="2B2B2B"/>
                </a:solidFill>
              </a:rPr>
              <a:t>Any untoward medical occurrence in a patient given a medicinal product, whether or not it is considered related to the product: an unfavourable sign, symptom or disease linked in time to its use</a:t>
            </a:r>
          </a:p>
        </p:txBody>
      </p:sp>
      <p:sp>
        <p:nvSpPr>
          <p:cNvPr id="303" name="SSE"/>
          <p:cNvSpPr/>
          <p:nvPr/>
        </p:nvSpPr>
        <p:spPr>
          <a:xfrm>
            <a:off x="6184900" y="1422400"/>
            <a:ext cx="5346700" cy="1320800"/>
          </a:xfrm>
          <a:prstGeom prst="roundRect">
            <a:avLst>
              <a:gd name="adj" fmla="val 8000"/>
            </a:avLst>
          </a:prstGeom>
          <a:solidFill>
            <a:srgbClr val="F7EAF3"/>
          </a:solidFill>
          <a:ln>
            <a:noFill/>
          </a:ln>
        </p:spPr>
        <p:txBody>
          <a:bodyPr wrap="square" lIns="152400" tIns="152400" rIns="152400" bIns="152400" anchor="t">
            <a:noAutofit/>
          </a:bodyPr>
          <a:lstStyle/>
          <a:p>
            <a:pPr>
              <a:spcBef>
                <a:spcPts val="0"/>
              </a:spcBef>
              <a:buNone/>
            </a:pPr>
            <a:r>
              <a:rPr lang="en-GB" sz="1600" b="1" dirty="0">
                <a:solidFill>
                  <a:srgbClr val="A9218E"/>
                </a:solidFill>
              </a:rPr>
              <a:t>Special situation event (SSE)</a:t>
            </a:r>
          </a:p>
          <a:p>
            <a:pPr>
              <a:spcBef>
                <a:spcPts val="200"/>
              </a:spcBef>
              <a:buNone/>
            </a:pPr>
            <a:r>
              <a:rPr lang="en-GB" sz="1300" dirty="0">
                <a:solidFill>
                  <a:srgbClr val="2B2B2B"/>
                </a:solidFill>
              </a:rPr>
              <a:t>A situation that is not necessarily linked to an adverse event but must still be reported to support continuous monitoring of patient safety</a:t>
            </a:r>
          </a:p>
        </p:txBody>
      </p:sp>
      <p:sp>
        <p:nvSpPr>
          <p:cNvPr id="304" name="Sub"/>
          <p:cNvSpPr txBox="1"/>
          <p:nvPr/>
        </p:nvSpPr>
        <p:spPr>
          <a:xfrm>
            <a:off x="660400" y="2895600"/>
            <a:ext cx="108712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Special situation events to report</a:t>
            </a:r>
          </a:p>
        </p:txBody>
      </p:sp>
      <p:sp>
        <p:nvSpPr>
          <p:cNvPr id="305" name="SSE item"/>
          <p:cNvSpPr/>
          <p:nvPr/>
        </p:nvSpPr>
        <p:spPr>
          <a:xfrm>
            <a:off x="660400" y="31750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Overdose*</a:t>
            </a:r>
          </a:p>
          <a:p>
            <a:pPr>
              <a:spcBef>
                <a:spcPts val="200"/>
              </a:spcBef>
              <a:buNone/>
            </a:pPr>
            <a:r>
              <a:rPr lang="en-GB" sz="1100" dirty="0">
                <a:solidFill>
                  <a:srgbClr val="404040"/>
                </a:solidFill>
              </a:rPr>
              <a:t>Dose above the maximum recommended</a:t>
            </a:r>
          </a:p>
        </p:txBody>
      </p:sp>
      <p:sp>
        <p:nvSpPr>
          <p:cNvPr id="306" name="SSE item"/>
          <p:cNvSpPr/>
          <p:nvPr/>
        </p:nvSpPr>
        <p:spPr>
          <a:xfrm>
            <a:off x="2854960" y="31750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Off-label use*</a:t>
            </a:r>
          </a:p>
          <a:p>
            <a:pPr>
              <a:spcBef>
                <a:spcPts val="200"/>
              </a:spcBef>
              <a:buNone/>
            </a:pPr>
            <a:r>
              <a:rPr lang="en-GB" sz="1100" dirty="0">
                <a:solidFill>
                  <a:srgbClr val="404040"/>
                </a:solidFill>
              </a:rPr>
              <a:t>Use for a purpose not in the product information</a:t>
            </a:r>
          </a:p>
        </p:txBody>
      </p:sp>
      <p:sp>
        <p:nvSpPr>
          <p:cNvPr id="307" name="SSE item"/>
          <p:cNvSpPr/>
          <p:nvPr/>
        </p:nvSpPr>
        <p:spPr>
          <a:xfrm>
            <a:off x="5049520" y="31750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Misuse or abuse*</a:t>
            </a:r>
          </a:p>
          <a:p>
            <a:pPr>
              <a:spcBef>
                <a:spcPts val="200"/>
              </a:spcBef>
              <a:buNone/>
            </a:pPr>
            <a:r>
              <a:rPr lang="en-GB" sz="1100" dirty="0">
                <a:solidFill>
                  <a:srgbClr val="404040"/>
                </a:solidFill>
              </a:rPr>
              <a:t>Intentional, inappropriate or excessive use with harmful effects</a:t>
            </a:r>
          </a:p>
        </p:txBody>
      </p:sp>
      <p:sp>
        <p:nvSpPr>
          <p:cNvPr id="308" name="SSE item"/>
          <p:cNvSpPr/>
          <p:nvPr/>
        </p:nvSpPr>
        <p:spPr>
          <a:xfrm>
            <a:off x="7244080" y="31750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Occupational exposure*</a:t>
            </a:r>
          </a:p>
          <a:p>
            <a:pPr>
              <a:spcBef>
                <a:spcPts val="200"/>
              </a:spcBef>
              <a:buNone/>
            </a:pPr>
            <a:r>
              <a:rPr lang="en-GB" sz="1100" dirty="0">
                <a:solidFill>
                  <a:srgbClr val="404040"/>
                </a:solidFill>
              </a:rPr>
              <a:t>Exposure through one's job</a:t>
            </a:r>
          </a:p>
        </p:txBody>
      </p:sp>
      <p:sp>
        <p:nvSpPr>
          <p:cNvPr id="309" name="SSE item"/>
          <p:cNvSpPr/>
          <p:nvPr/>
        </p:nvSpPr>
        <p:spPr>
          <a:xfrm>
            <a:off x="9438640" y="31750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Infection transmission</a:t>
            </a:r>
          </a:p>
          <a:p>
            <a:pPr>
              <a:spcBef>
                <a:spcPts val="200"/>
              </a:spcBef>
              <a:buNone/>
            </a:pPr>
            <a:r>
              <a:rPr lang="en-GB" sz="1100" dirty="0">
                <a:solidFill>
                  <a:srgbClr val="404040"/>
                </a:solidFill>
              </a:rPr>
              <a:t>Infection suspected from a contaminated product</a:t>
            </a:r>
          </a:p>
        </p:txBody>
      </p:sp>
      <p:sp>
        <p:nvSpPr>
          <p:cNvPr id="310" name="SSE item"/>
          <p:cNvSpPr/>
          <p:nvPr/>
        </p:nvSpPr>
        <p:spPr>
          <a:xfrm>
            <a:off x="660400" y="43434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Product complaint*</a:t>
            </a:r>
          </a:p>
          <a:p>
            <a:pPr>
              <a:spcBef>
                <a:spcPts val="200"/>
              </a:spcBef>
              <a:buNone/>
            </a:pPr>
            <a:r>
              <a:rPr lang="en-GB" sz="1100" dirty="0">
                <a:solidFill>
                  <a:srgbClr val="404040"/>
                </a:solidFill>
              </a:rPr>
              <a:t>Alleged problem with quality, label, stability, purity, appearance or effectiveness</a:t>
            </a:r>
          </a:p>
        </p:txBody>
      </p:sp>
      <p:sp>
        <p:nvSpPr>
          <p:cNvPr id="311" name="SSE item"/>
          <p:cNvSpPr/>
          <p:nvPr/>
        </p:nvSpPr>
        <p:spPr>
          <a:xfrm>
            <a:off x="2854960" y="43434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Lack of effect*</a:t>
            </a:r>
          </a:p>
          <a:p>
            <a:pPr>
              <a:spcBef>
                <a:spcPts val="200"/>
              </a:spcBef>
              <a:buNone/>
            </a:pPr>
            <a:r>
              <a:rPr lang="en-GB" sz="1100" dirty="0">
                <a:solidFill>
                  <a:srgbClr val="404040"/>
                </a:solidFill>
              </a:rPr>
              <a:t>Product does not produce the expected effect</a:t>
            </a:r>
          </a:p>
        </p:txBody>
      </p:sp>
      <p:sp>
        <p:nvSpPr>
          <p:cNvPr id="312" name="SSE item"/>
          <p:cNvSpPr/>
          <p:nvPr/>
        </p:nvSpPr>
        <p:spPr>
          <a:xfrm>
            <a:off x="5049520" y="43434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Medication error*</a:t>
            </a:r>
          </a:p>
          <a:p>
            <a:pPr>
              <a:spcBef>
                <a:spcPts val="200"/>
              </a:spcBef>
              <a:buNone/>
            </a:pPr>
            <a:r>
              <a:rPr lang="en-GB" sz="1100" dirty="0">
                <a:solidFill>
                  <a:srgbClr val="404040"/>
                </a:solidFill>
              </a:rPr>
              <a:t>Error in prescribing, dispensing or giving the product</a:t>
            </a:r>
          </a:p>
        </p:txBody>
      </p:sp>
      <p:sp>
        <p:nvSpPr>
          <p:cNvPr id="313" name="SSE item"/>
          <p:cNvSpPr/>
          <p:nvPr/>
        </p:nvSpPr>
        <p:spPr>
          <a:xfrm>
            <a:off x="7244080" y="43434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Interaction</a:t>
            </a:r>
          </a:p>
          <a:p>
            <a:pPr>
              <a:spcBef>
                <a:spcPts val="200"/>
              </a:spcBef>
              <a:buNone/>
            </a:pPr>
            <a:r>
              <a:rPr lang="en-GB" sz="1100" dirty="0">
                <a:solidFill>
                  <a:srgbClr val="404040"/>
                </a:solidFill>
              </a:rPr>
              <a:t>Drug–drug or drug–food interaction changing the effect</a:t>
            </a:r>
          </a:p>
        </p:txBody>
      </p:sp>
      <p:sp>
        <p:nvSpPr>
          <p:cNvPr id="314" name="SSE item"/>
          <p:cNvSpPr/>
          <p:nvPr/>
        </p:nvSpPr>
        <p:spPr>
          <a:xfrm>
            <a:off x="9438640" y="4343400"/>
            <a:ext cx="2092960" cy="1066800"/>
          </a:xfrm>
          <a:prstGeom prst="roundRect">
            <a:avLst>
              <a:gd name="adj" fmla="val 8000"/>
            </a:avLst>
          </a:prstGeom>
          <a:solidFill>
            <a:srgbClr val="F1F4F9"/>
          </a:solidFill>
          <a:ln>
            <a:noFill/>
          </a:ln>
        </p:spPr>
        <p:txBody>
          <a:bodyPr wrap="square" lIns="101600" tIns="101600" rIns="101600" bIns="101600" anchor="t">
            <a:noAutofit/>
          </a:bodyPr>
          <a:lstStyle/>
          <a:p>
            <a:pPr>
              <a:spcBef>
                <a:spcPts val="0"/>
              </a:spcBef>
              <a:buNone/>
            </a:pPr>
            <a:r>
              <a:rPr lang="en-GB" sz="1200" b="1" dirty="0">
                <a:solidFill>
                  <a:srgbClr val="002E56"/>
                </a:solidFill>
              </a:rPr>
              <a:t>Pregnancy or breastfeeding*</a:t>
            </a:r>
          </a:p>
          <a:p>
            <a:pPr>
              <a:spcBef>
                <a:spcPts val="200"/>
              </a:spcBef>
              <a:buNone/>
            </a:pPr>
            <a:r>
              <a:rPr lang="en-GB" sz="1100" dirty="0">
                <a:solidFill>
                  <a:srgbClr val="404040"/>
                </a:solidFill>
              </a:rPr>
              <a:t>Exposure at conception, during pregnancy, delivery or breastfeeding</a:t>
            </a:r>
          </a:p>
        </p:txBody>
      </p:sp>
      <p:sp>
        <p:nvSpPr>
          <p:cNvPr id="315" name="Abbreviations"/>
          <p:cNvSpPr txBox="1"/>
          <p:nvPr/>
        </p:nvSpPr>
        <p:spPr>
          <a:xfrm>
            <a:off x="660400" y="55880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*Reportable even if not associated with an AE. AE, adverse event; SSE, special situation event</a:t>
            </a:r>
          </a:p>
        </p:txBody>
      </p:sp>
      <p:sp>
        <p:nvSpPr>
          <p:cNvPr id="316"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Source: BioMarin adverse event identification and reporting training.</a:t>
            </a:r>
          </a:p>
        </p:txBody>
      </p:sp>
    </p:spTree>
    <p:extLst>
      <p:ext uri="{BB962C8B-B14F-4D97-AF65-F5344CB8AC3E}">
        <p14:creationId xmlns:p14="http://schemas.microsoft.com/office/powerpoint/2010/main" val="37323702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Pharmacovigilance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Your role: report within 1 business day</a:t>
            </a:r>
          </a:p>
        </p:txBody>
      </p:sp>
      <p:sp>
        <p:nvSpPr>
          <p:cNvPr id="302" name="Timeline"/>
          <p:cNvSpPr/>
          <p:nvPr/>
        </p:nvSpPr>
        <p:spPr>
          <a:xfrm>
            <a:off x="660400" y="1422400"/>
            <a:ext cx="3810000" cy="4089400"/>
          </a:xfrm>
          <a:prstGeom prst="roundRect">
            <a:avLst>
              <a:gd name="adj" fmla="val 8000"/>
            </a:avLst>
          </a:prstGeom>
          <a:solidFill>
            <a:srgbClr val="F7EAF3"/>
          </a:solidFill>
          <a:ln>
            <a:noFill/>
          </a:ln>
        </p:spPr>
        <p:txBody>
          <a:bodyPr wrap="square" lIns="228600" tIns="228600" rIns="228600" bIns="228600" anchor="t">
            <a:noAutofit/>
          </a:bodyPr>
          <a:lstStyle/>
          <a:p>
            <a:pPr>
              <a:spcBef>
                <a:spcPts val="0"/>
              </a:spcBef>
              <a:buNone/>
            </a:pPr>
            <a:r>
              <a:rPr lang="en-GB" sz="3200" b="1" dirty="0">
                <a:solidFill>
                  <a:srgbClr val="A9218E"/>
                </a:solidFill>
              </a:rPr>
              <a:t>1 business day</a:t>
            </a:r>
          </a:p>
          <a:p>
            <a:pPr>
              <a:spcBef>
                <a:spcPts val="300"/>
              </a:spcBef>
              <a:buNone/>
            </a:pPr>
            <a:r>
              <a:rPr lang="en-GB" sz="1400" b="1" dirty="0">
                <a:solidFill>
                  <a:srgbClr val="002E56"/>
                </a:solidFill>
              </a:rPr>
              <a:t>to forward any AE or special situation event to BioMarin Pharmacovigilance once you become aware of it</a:t>
            </a:r>
          </a:p>
          <a:p>
            <a:pPr>
              <a:spcBef>
                <a:spcPts val="900"/>
              </a:spcBef>
              <a:buNone/>
            </a:pPr>
            <a:r>
              <a:rPr lang="en-GB" sz="1400" dirty="0">
                <a:solidFill>
                  <a:srgbClr val="2B2B2B"/>
                </a:solidFill>
              </a:rPr>
              <a:t>Record the date you became aware of the event (the initial receipt date)</a:t>
            </a:r>
          </a:p>
        </p:txBody>
      </p:sp>
      <p:sp>
        <p:nvSpPr>
          <p:cNvPr id="303" name="Sub"/>
          <p:cNvSpPr txBox="1"/>
          <p:nvPr/>
        </p:nvSpPr>
        <p:spPr>
          <a:xfrm>
            <a:off x="4724400" y="1422400"/>
            <a:ext cx="6807200" cy="203200"/>
          </a:xfrm>
          <a:prstGeom prst="rect">
            <a:avLst/>
          </a:prstGeom>
          <a:noFill/>
        </p:spPr>
        <p:txBody>
          <a:bodyPr wrap="square" lIns="0" tIns="0" rIns="0" bIns="0" anchor="t">
            <a:noAutofit/>
          </a:bodyPr>
          <a:lstStyle/>
          <a:p>
            <a:pPr>
              <a:spcBef>
                <a:spcPts val="0"/>
              </a:spcBef>
              <a:buNone/>
            </a:pPr>
            <a:r>
              <a:rPr lang="en-GB" sz="1100" b="1" spc="60" dirty="0">
                <a:solidFill>
                  <a:srgbClr val="28509C"/>
                </a:solidFill>
              </a:rPr>
              <a:t>Four key data points to collect</a:t>
            </a:r>
          </a:p>
        </p:txBody>
      </p:sp>
      <p:sp>
        <p:nvSpPr>
          <p:cNvPr id="304" name="Data 1"/>
          <p:cNvSpPr/>
          <p:nvPr/>
        </p:nvSpPr>
        <p:spPr>
          <a:xfrm>
            <a:off x="4724400" y="1727200"/>
            <a:ext cx="6807200" cy="863600"/>
          </a:xfrm>
          <a:prstGeom prst="roundRect">
            <a:avLst>
              <a:gd name="adj" fmla="val 8000"/>
            </a:avLst>
          </a:prstGeom>
          <a:solidFill>
            <a:srgbClr val="F1F4F9"/>
          </a:solidFill>
          <a:ln>
            <a:noFill/>
          </a:ln>
        </p:spPr>
        <p:txBody>
          <a:bodyPr wrap="square" lIns="127000" tIns="127000" rIns="127000" bIns="127000" anchor="ctr">
            <a:noAutofit/>
          </a:bodyPr>
          <a:lstStyle/>
          <a:p>
            <a:pPr>
              <a:spcBef>
                <a:spcPts val="0"/>
              </a:spcBef>
              <a:buNone/>
            </a:pPr>
            <a:r>
              <a:rPr lang="en-GB" sz="1800" b="1" dirty="0">
                <a:solidFill>
                  <a:srgbClr val="28509C"/>
                </a:solidFill>
              </a:rPr>
              <a:t>1  </a:t>
            </a:r>
            <a:r>
              <a:rPr lang="en-GB" sz="1500" b="1" dirty="0">
                <a:solidFill>
                  <a:srgbClr val="002E56"/>
                </a:solidFill>
              </a:rPr>
              <a:t>An identifiable reporter</a:t>
            </a:r>
          </a:p>
          <a:p>
            <a:pPr>
              <a:spcBef>
                <a:spcPts val="200"/>
              </a:spcBef>
              <a:buNone/>
            </a:pPr>
            <a:r>
              <a:rPr lang="en-GB" sz="1300" dirty="0">
                <a:solidFill>
                  <a:srgbClr val="2B2B2B"/>
                </a:solidFill>
              </a:rPr>
              <a:t>Name and occupation, address, phone, email or other contact details if available</a:t>
            </a:r>
          </a:p>
        </p:txBody>
      </p:sp>
      <p:sp>
        <p:nvSpPr>
          <p:cNvPr id="305" name="Data 2"/>
          <p:cNvSpPr/>
          <p:nvPr/>
        </p:nvSpPr>
        <p:spPr>
          <a:xfrm>
            <a:off x="4724400" y="2692400"/>
            <a:ext cx="6807200" cy="863600"/>
          </a:xfrm>
          <a:prstGeom prst="roundRect">
            <a:avLst>
              <a:gd name="adj" fmla="val 8000"/>
            </a:avLst>
          </a:prstGeom>
          <a:solidFill>
            <a:srgbClr val="F1F4F9"/>
          </a:solidFill>
          <a:ln>
            <a:noFill/>
          </a:ln>
        </p:spPr>
        <p:txBody>
          <a:bodyPr wrap="square" lIns="127000" tIns="127000" rIns="127000" bIns="127000" anchor="ctr">
            <a:noAutofit/>
          </a:bodyPr>
          <a:lstStyle/>
          <a:p>
            <a:pPr>
              <a:spcBef>
                <a:spcPts val="0"/>
              </a:spcBef>
              <a:buNone/>
            </a:pPr>
            <a:r>
              <a:rPr lang="en-GB" sz="1800" b="1" dirty="0">
                <a:solidFill>
                  <a:srgbClr val="28509C"/>
                </a:solidFill>
              </a:rPr>
              <a:t>2  </a:t>
            </a:r>
            <a:r>
              <a:rPr lang="en-GB" sz="1500" b="1" dirty="0">
                <a:solidFill>
                  <a:srgbClr val="002E56"/>
                </a:solidFill>
              </a:rPr>
              <a:t>An identifiable patient</a:t>
            </a:r>
          </a:p>
          <a:p>
            <a:pPr>
              <a:spcBef>
                <a:spcPts val="200"/>
              </a:spcBef>
              <a:buNone/>
            </a:pPr>
            <a:r>
              <a:rPr lang="en-GB" sz="1300" dirty="0">
                <a:solidFill>
                  <a:srgbClr val="2B2B2B"/>
                </a:solidFill>
              </a:rPr>
              <a:t>Age, date of birth, age group, initials and/or gender</a:t>
            </a:r>
          </a:p>
        </p:txBody>
      </p:sp>
      <p:sp>
        <p:nvSpPr>
          <p:cNvPr id="306" name="Data 3"/>
          <p:cNvSpPr/>
          <p:nvPr/>
        </p:nvSpPr>
        <p:spPr>
          <a:xfrm>
            <a:off x="4724400" y="3657600"/>
            <a:ext cx="6807200" cy="863600"/>
          </a:xfrm>
          <a:prstGeom prst="roundRect">
            <a:avLst>
              <a:gd name="adj" fmla="val 8000"/>
            </a:avLst>
          </a:prstGeom>
          <a:solidFill>
            <a:srgbClr val="F1F4F9"/>
          </a:solidFill>
          <a:ln>
            <a:noFill/>
          </a:ln>
        </p:spPr>
        <p:txBody>
          <a:bodyPr wrap="square" lIns="127000" tIns="127000" rIns="127000" bIns="127000" anchor="ctr">
            <a:noAutofit/>
          </a:bodyPr>
          <a:lstStyle/>
          <a:p>
            <a:pPr>
              <a:spcBef>
                <a:spcPts val="0"/>
              </a:spcBef>
              <a:buNone/>
            </a:pPr>
            <a:r>
              <a:rPr lang="en-GB" sz="1800" b="1" dirty="0">
                <a:solidFill>
                  <a:srgbClr val="28509C"/>
                </a:solidFill>
              </a:rPr>
              <a:t>3  </a:t>
            </a:r>
            <a:r>
              <a:rPr lang="en-GB" sz="1500" b="1" dirty="0">
                <a:solidFill>
                  <a:srgbClr val="002E56"/>
                </a:solidFill>
              </a:rPr>
              <a:t>The suspected product</a:t>
            </a:r>
          </a:p>
          <a:p>
            <a:pPr>
              <a:spcBef>
                <a:spcPts val="200"/>
              </a:spcBef>
              <a:buNone/>
            </a:pPr>
            <a:r>
              <a:rPr lang="en-GB" sz="1300" dirty="0">
                <a:solidFill>
                  <a:srgbClr val="2B2B2B"/>
                </a:solidFill>
              </a:rPr>
              <a:t>BioMarin product name, dose, treatment duration, indication and lot number if available</a:t>
            </a:r>
          </a:p>
        </p:txBody>
      </p:sp>
      <p:sp>
        <p:nvSpPr>
          <p:cNvPr id="307" name="Data 4"/>
          <p:cNvSpPr/>
          <p:nvPr/>
        </p:nvSpPr>
        <p:spPr>
          <a:xfrm>
            <a:off x="4724400" y="4622800"/>
            <a:ext cx="6807200" cy="863600"/>
          </a:xfrm>
          <a:prstGeom prst="roundRect">
            <a:avLst>
              <a:gd name="adj" fmla="val 8000"/>
            </a:avLst>
          </a:prstGeom>
          <a:solidFill>
            <a:srgbClr val="F1F4F9"/>
          </a:solidFill>
          <a:ln>
            <a:noFill/>
          </a:ln>
        </p:spPr>
        <p:txBody>
          <a:bodyPr wrap="square" lIns="127000" tIns="127000" rIns="127000" bIns="127000" anchor="ctr">
            <a:noAutofit/>
          </a:bodyPr>
          <a:lstStyle/>
          <a:p>
            <a:pPr>
              <a:spcBef>
                <a:spcPts val="0"/>
              </a:spcBef>
              <a:buNone/>
            </a:pPr>
            <a:r>
              <a:rPr lang="en-GB" sz="1800" b="1" dirty="0">
                <a:solidFill>
                  <a:srgbClr val="28509C"/>
                </a:solidFill>
              </a:rPr>
              <a:t>4  </a:t>
            </a:r>
            <a:r>
              <a:rPr lang="en-GB" sz="1500" b="1" dirty="0">
                <a:solidFill>
                  <a:srgbClr val="002E56"/>
                </a:solidFill>
              </a:rPr>
              <a:t>At least one adverse event</a:t>
            </a:r>
          </a:p>
          <a:p>
            <a:pPr>
              <a:spcBef>
                <a:spcPts val="200"/>
              </a:spcBef>
              <a:buNone/>
            </a:pPr>
            <a:r>
              <a:rPr lang="en-GB" sz="1300" dirty="0">
                <a:solidFill>
                  <a:srgbClr val="2B2B2B"/>
                </a:solidFill>
              </a:rPr>
              <a:t>A brief summary of the event</a:t>
            </a:r>
          </a:p>
        </p:txBody>
      </p:sp>
      <p:sp>
        <p:nvSpPr>
          <p:cNvPr id="308"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AE, adverse event</a:t>
            </a:r>
          </a:p>
        </p:txBody>
      </p:sp>
      <p:sp>
        <p:nvSpPr>
          <p:cNvPr id="309"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Source: BioMarin adverse event identification and reporting training.</a:t>
            </a:r>
          </a:p>
        </p:txBody>
      </p:sp>
    </p:spTree>
    <p:extLst>
      <p:ext uri="{BB962C8B-B14F-4D97-AF65-F5344CB8AC3E}">
        <p14:creationId xmlns:p14="http://schemas.microsoft.com/office/powerpoint/2010/main" val="31743607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Pharmacovigilance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Report or not? Three scenarios</a:t>
            </a:r>
          </a:p>
        </p:txBody>
      </p:sp>
      <p:sp>
        <p:nvSpPr>
          <p:cNvPr id="302" name="Scenario 1"/>
          <p:cNvSpPr/>
          <p:nvPr/>
        </p:nvSpPr>
        <p:spPr>
          <a:xfrm>
            <a:off x="660400" y="1422400"/>
            <a:ext cx="3522133" cy="26670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1100" b="1" dirty="0">
                <a:solidFill>
                  <a:srgbClr val="646464"/>
                </a:solidFill>
              </a:rPr>
              <a:t>Scenario 1</a:t>
            </a:r>
          </a:p>
          <a:p>
            <a:pPr>
              <a:spcBef>
                <a:spcPts val="200"/>
              </a:spcBef>
              <a:buNone/>
            </a:pPr>
            <a:r>
              <a:rPr lang="en-GB" sz="1700" b="1" dirty="0">
                <a:solidFill>
                  <a:srgbClr val="002E56"/>
                </a:solidFill>
              </a:rPr>
              <a:t>Pregnancy</a:t>
            </a:r>
          </a:p>
          <a:p>
            <a:pPr>
              <a:spcBef>
                <a:spcPts val="400"/>
              </a:spcBef>
              <a:buNone/>
            </a:pPr>
            <a:r>
              <a:rPr lang="en-GB" sz="1400" dirty="0">
                <a:solidFill>
                  <a:srgbClr val="2B2B2B"/>
                </a:solidFill>
              </a:rPr>
              <a:t>A patient has just found out she is pregnant and asks whether it is safe to continue her BioMarin product</a:t>
            </a:r>
          </a:p>
        </p:txBody>
      </p:sp>
      <p:sp>
        <p:nvSpPr>
          <p:cNvPr id="303" name="Answer 1"/>
          <p:cNvSpPr/>
          <p:nvPr/>
        </p:nvSpPr>
        <p:spPr>
          <a:xfrm>
            <a:off x="660400" y="4191000"/>
            <a:ext cx="3522133" cy="1320800"/>
          </a:xfrm>
          <a:prstGeom prst="roundRect">
            <a:avLst>
              <a:gd name="adj" fmla="val 8000"/>
            </a:avLst>
          </a:prstGeom>
          <a:solidFill>
            <a:srgbClr val="A9218E"/>
          </a:solidFill>
          <a:ln>
            <a:noFill/>
          </a:ln>
        </p:spPr>
        <p:txBody>
          <a:bodyPr wrap="square" lIns="177800" tIns="177800" rIns="177800" bIns="177800" anchor="ctr">
            <a:noAutofit/>
          </a:bodyPr>
          <a:lstStyle/>
          <a:p>
            <a:pPr>
              <a:spcBef>
                <a:spcPts val="0"/>
              </a:spcBef>
              <a:buNone/>
            </a:pPr>
            <a:r>
              <a:rPr lang="en-GB" sz="2200" b="1" dirty="0">
                <a:solidFill>
                  <a:srgbClr val="FFFFFF"/>
                </a:solidFill>
              </a:rPr>
              <a:t>REPORT</a:t>
            </a:r>
          </a:p>
          <a:p>
            <a:pPr>
              <a:spcBef>
                <a:spcPts val="200"/>
              </a:spcBef>
              <a:buNone/>
            </a:pPr>
            <a:r>
              <a:rPr lang="en-GB" sz="1300" dirty="0">
                <a:solidFill>
                  <a:srgbClr val="FFFFFF"/>
                </a:solidFill>
              </a:rPr>
              <a:t>Pregnancy, with or without an AE, is a special situation event</a:t>
            </a:r>
          </a:p>
        </p:txBody>
      </p:sp>
      <p:sp>
        <p:nvSpPr>
          <p:cNvPr id="304" name="Scenario 2"/>
          <p:cNvSpPr/>
          <p:nvPr/>
        </p:nvSpPr>
        <p:spPr>
          <a:xfrm>
            <a:off x="4334933" y="1422400"/>
            <a:ext cx="3522133" cy="26670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1100" b="1" dirty="0">
                <a:solidFill>
                  <a:srgbClr val="646464"/>
                </a:solidFill>
              </a:rPr>
              <a:t>Scenario 2</a:t>
            </a:r>
          </a:p>
          <a:p>
            <a:pPr>
              <a:spcBef>
                <a:spcPts val="200"/>
              </a:spcBef>
              <a:buNone/>
            </a:pPr>
            <a:r>
              <a:rPr lang="en-GB" sz="1700" b="1" dirty="0">
                <a:solidFill>
                  <a:srgbClr val="002E56"/>
                </a:solidFill>
              </a:rPr>
              <a:t>Missed infusion</a:t>
            </a:r>
          </a:p>
          <a:p>
            <a:pPr>
              <a:spcBef>
                <a:spcPts val="400"/>
              </a:spcBef>
              <a:buNone/>
            </a:pPr>
            <a:r>
              <a:rPr lang="en-GB" sz="1400" dirty="0">
                <a:solidFill>
                  <a:srgbClr val="2B2B2B"/>
                </a:solidFill>
              </a:rPr>
              <a:t>A mother tells you her daughter on a BioMarin product was hospitalised with bronchitis and will miss her weekly infusion</a:t>
            </a:r>
          </a:p>
        </p:txBody>
      </p:sp>
      <p:sp>
        <p:nvSpPr>
          <p:cNvPr id="305" name="Answer 2"/>
          <p:cNvSpPr/>
          <p:nvPr/>
        </p:nvSpPr>
        <p:spPr>
          <a:xfrm>
            <a:off x="4334933" y="4191000"/>
            <a:ext cx="3522133" cy="1320800"/>
          </a:xfrm>
          <a:prstGeom prst="roundRect">
            <a:avLst>
              <a:gd name="adj" fmla="val 8000"/>
            </a:avLst>
          </a:prstGeom>
          <a:solidFill>
            <a:srgbClr val="A9218E"/>
          </a:solidFill>
          <a:ln>
            <a:noFill/>
          </a:ln>
        </p:spPr>
        <p:txBody>
          <a:bodyPr wrap="square" lIns="177800" tIns="177800" rIns="177800" bIns="177800" anchor="ctr">
            <a:noAutofit/>
          </a:bodyPr>
          <a:lstStyle/>
          <a:p>
            <a:pPr>
              <a:spcBef>
                <a:spcPts val="0"/>
              </a:spcBef>
              <a:buNone/>
            </a:pPr>
            <a:r>
              <a:rPr lang="en-GB" sz="2200" b="1" dirty="0">
                <a:solidFill>
                  <a:srgbClr val="FFFFFF"/>
                </a:solidFill>
              </a:rPr>
              <a:t>REPORT</a:t>
            </a:r>
          </a:p>
          <a:p>
            <a:pPr>
              <a:spcBef>
                <a:spcPts val="200"/>
              </a:spcBef>
              <a:buNone/>
            </a:pPr>
            <a:r>
              <a:rPr lang="en-GB" sz="1300" dirty="0">
                <a:solidFill>
                  <a:srgbClr val="FFFFFF"/>
                </a:solidFill>
              </a:rPr>
              <a:t>The patient had an adverse event while on a BioMarin product</a:t>
            </a:r>
          </a:p>
        </p:txBody>
      </p:sp>
      <p:sp>
        <p:nvSpPr>
          <p:cNvPr id="306" name="Scenario 3"/>
          <p:cNvSpPr/>
          <p:nvPr/>
        </p:nvSpPr>
        <p:spPr>
          <a:xfrm>
            <a:off x="8009467" y="1422400"/>
            <a:ext cx="3522133" cy="2667000"/>
          </a:xfrm>
          <a:prstGeom prst="roundRect">
            <a:avLst>
              <a:gd name="adj" fmla="val 8000"/>
            </a:avLst>
          </a:prstGeom>
          <a:solidFill>
            <a:srgbClr val="F1F4F9"/>
          </a:solidFill>
          <a:ln>
            <a:noFill/>
          </a:ln>
        </p:spPr>
        <p:txBody>
          <a:bodyPr wrap="square" lIns="177800" tIns="177800" rIns="177800" bIns="177800" anchor="t">
            <a:noAutofit/>
          </a:bodyPr>
          <a:lstStyle/>
          <a:p>
            <a:pPr>
              <a:spcBef>
                <a:spcPts val="0"/>
              </a:spcBef>
              <a:buNone/>
            </a:pPr>
            <a:r>
              <a:rPr lang="en-GB" sz="1100" b="1" dirty="0">
                <a:solidFill>
                  <a:srgbClr val="646464"/>
                </a:solidFill>
              </a:rPr>
              <a:t>Scenario 3</a:t>
            </a:r>
          </a:p>
          <a:p>
            <a:pPr>
              <a:spcBef>
                <a:spcPts val="200"/>
              </a:spcBef>
              <a:buNone/>
            </a:pPr>
            <a:r>
              <a:rPr lang="en-GB" sz="1700" b="1" dirty="0">
                <a:solidFill>
                  <a:srgbClr val="002E56"/>
                </a:solidFill>
              </a:rPr>
              <a:t>Infusion reactions</a:t>
            </a:r>
          </a:p>
          <a:p>
            <a:pPr>
              <a:spcBef>
                <a:spcPts val="400"/>
              </a:spcBef>
              <a:buNone/>
            </a:pPr>
            <a:r>
              <a:rPr lang="en-GB" sz="1400" dirty="0">
                <a:solidFill>
                  <a:srgbClr val="2B2B2B"/>
                </a:solidFill>
              </a:rPr>
              <a:t>A patient on a BioMarin product has coughing, breathing difficulty, nausea and vomiting at every infusion and is thinking of stopping</a:t>
            </a:r>
          </a:p>
        </p:txBody>
      </p:sp>
      <p:sp>
        <p:nvSpPr>
          <p:cNvPr id="307" name="Answer 3"/>
          <p:cNvSpPr/>
          <p:nvPr/>
        </p:nvSpPr>
        <p:spPr>
          <a:xfrm>
            <a:off x="8009467" y="4191000"/>
            <a:ext cx="3522133" cy="1320800"/>
          </a:xfrm>
          <a:prstGeom prst="roundRect">
            <a:avLst>
              <a:gd name="adj" fmla="val 8000"/>
            </a:avLst>
          </a:prstGeom>
          <a:solidFill>
            <a:srgbClr val="A9218E"/>
          </a:solidFill>
          <a:ln>
            <a:noFill/>
          </a:ln>
        </p:spPr>
        <p:txBody>
          <a:bodyPr wrap="square" lIns="177800" tIns="177800" rIns="177800" bIns="177800" anchor="ctr">
            <a:noAutofit/>
          </a:bodyPr>
          <a:lstStyle/>
          <a:p>
            <a:pPr>
              <a:spcBef>
                <a:spcPts val="0"/>
              </a:spcBef>
              <a:buNone/>
            </a:pPr>
            <a:r>
              <a:rPr lang="en-GB" sz="2200" b="1" dirty="0">
                <a:solidFill>
                  <a:srgbClr val="FFFFFF"/>
                </a:solidFill>
              </a:rPr>
              <a:t>REPORT</a:t>
            </a:r>
          </a:p>
          <a:p>
            <a:pPr>
              <a:spcBef>
                <a:spcPts val="200"/>
              </a:spcBef>
              <a:buNone/>
            </a:pPr>
            <a:r>
              <a:rPr lang="en-GB" sz="1300" dirty="0">
                <a:solidFill>
                  <a:srgbClr val="FFFFFF"/>
                </a:solidFill>
              </a:rPr>
              <a:t>Infusion reactions are adverse events</a:t>
            </a:r>
          </a:p>
        </p:txBody>
      </p:sp>
      <p:sp>
        <p:nvSpPr>
          <p:cNvPr id="308"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AE, adverse event. “BioMarin product” is the product the patient was prescribed. Click to reveal each answer</a:t>
            </a:r>
          </a:p>
        </p:txBody>
      </p:sp>
      <p:sp>
        <p:nvSpPr>
          <p:cNvPr id="309"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Source: BioMarin adverse event identification and reporting training.</a:t>
            </a:r>
          </a:p>
        </p:txBody>
      </p:sp>
    </p:spTree>
    <p:extLst>
      <p:ext uri="{BB962C8B-B14F-4D97-AF65-F5344CB8AC3E}">
        <p14:creationId xmlns:p14="http://schemas.microsoft.com/office/powerpoint/2010/main" val="329265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500"/>
                                        <p:tgtEl>
                                          <p:spTgt spid="3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5"/>
                                        </p:tgtEl>
                                        <p:attrNameLst>
                                          <p:attrName>style.visibility</p:attrName>
                                        </p:attrNameLst>
                                      </p:cBhvr>
                                      <p:to>
                                        <p:strVal val="visible"/>
                                      </p:to>
                                    </p:set>
                                    <p:animEffect transition="in" filter="fade">
                                      <p:cBhvr>
                                        <p:cTn id="12" dur="500"/>
                                        <p:tgtEl>
                                          <p:spTgt spid="3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
                                        </p:tgtEl>
                                        <p:attrNameLst>
                                          <p:attrName>style.visibility</p:attrName>
                                        </p:attrNameLst>
                                      </p:cBhvr>
                                      <p:to>
                                        <p:strVal val="visible"/>
                                      </p:to>
                                    </p:set>
                                    <p:animEffect transition="in" filter="fade">
                                      <p:cBhvr>
                                        <p:cTn id="17" dur="500"/>
                                        <p:tgtEl>
                                          <p:spTgt spid="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animBg="1"/>
      <p:bldP spid="305" grpId="0" animBg="1"/>
      <p:bldP spid="30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Pharmacovigilance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Product complaints</a:t>
            </a:r>
          </a:p>
        </p:txBody>
      </p:sp>
      <p:sp>
        <p:nvSpPr>
          <p:cNvPr id="302" name="Definition"/>
          <p:cNvSpPr/>
          <p:nvPr/>
        </p:nvSpPr>
        <p:spPr>
          <a:xfrm>
            <a:off x="660400" y="1422400"/>
            <a:ext cx="10871200" cy="787400"/>
          </a:xfrm>
          <a:prstGeom prst="roundRect">
            <a:avLst>
              <a:gd name="adj" fmla="val 8000"/>
            </a:avLst>
          </a:prstGeom>
          <a:solidFill>
            <a:srgbClr val="E3EAF5"/>
          </a:solidFill>
          <a:ln>
            <a:noFill/>
          </a:ln>
        </p:spPr>
        <p:txBody>
          <a:bodyPr wrap="square" lIns="177800" tIns="177800" rIns="177800" bIns="177800" anchor="ctr">
            <a:noAutofit/>
          </a:bodyPr>
          <a:lstStyle/>
          <a:p>
            <a:pPr>
              <a:spcBef>
                <a:spcPts val="0"/>
              </a:spcBef>
              <a:buNone/>
            </a:pPr>
            <a:r>
              <a:rPr lang="en-GB" sz="1400" b="1" dirty="0">
                <a:solidFill>
                  <a:srgbClr val="002E56"/>
                </a:solidFill>
              </a:rPr>
              <a:t>A product complaint </a:t>
            </a:r>
            <a:r>
              <a:rPr lang="en-GB" sz="1400" dirty="0">
                <a:solidFill>
                  <a:srgbClr val="2B2B2B"/>
                </a:solidFill>
              </a:rPr>
              <a:t>is any information expressing dissatisfaction that alleges a deficiency in a drug product's identity, quality, durability, labelling, purity, stability, appearance, performance, effectiveness, safety or design after release for distribution</a:t>
            </a:r>
          </a:p>
        </p:txBody>
      </p:sp>
      <p:sp>
        <p:nvSpPr>
          <p:cNvPr id="303" name="Example"/>
          <p:cNvSpPr/>
          <p:nvPr/>
        </p:nvSpPr>
        <p:spPr>
          <a:xfrm>
            <a:off x="660400" y="2362200"/>
            <a:ext cx="2092960" cy="1397000"/>
          </a:xfrm>
          <a:prstGeom prst="roundRect">
            <a:avLst>
              <a:gd name="adj" fmla="val 8000"/>
            </a:avLst>
          </a:prstGeom>
          <a:solidFill>
            <a:srgbClr val="F1F4F9"/>
          </a:solidFill>
          <a:ln>
            <a:noFill/>
          </a:ln>
        </p:spPr>
        <p:txBody>
          <a:bodyPr wrap="square" lIns="127000" tIns="127000" rIns="127000" bIns="127000" anchor="t">
            <a:noAutofit/>
          </a:bodyPr>
          <a:lstStyle/>
          <a:p>
            <a:pPr>
              <a:spcBef>
                <a:spcPts val="0"/>
              </a:spcBef>
              <a:buNone/>
            </a:pPr>
            <a:r>
              <a:rPr lang="en-GB" sz="1400" b="1" dirty="0">
                <a:solidFill>
                  <a:srgbClr val="28509C"/>
                </a:solidFill>
              </a:rPr>
              <a:t>Particles in solution</a:t>
            </a:r>
          </a:p>
        </p:txBody>
      </p:sp>
      <p:sp>
        <p:nvSpPr>
          <p:cNvPr id="304" name="Example"/>
          <p:cNvSpPr/>
          <p:nvPr/>
        </p:nvSpPr>
        <p:spPr>
          <a:xfrm>
            <a:off x="2854960" y="2362200"/>
            <a:ext cx="2092960" cy="1397000"/>
          </a:xfrm>
          <a:prstGeom prst="roundRect">
            <a:avLst>
              <a:gd name="adj" fmla="val 8000"/>
            </a:avLst>
          </a:prstGeom>
          <a:solidFill>
            <a:srgbClr val="F1F4F9"/>
          </a:solidFill>
          <a:ln>
            <a:noFill/>
          </a:ln>
        </p:spPr>
        <p:txBody>
          <a:bodyPr wrap="square" lIns="127000" tIns="127000" rIns="127000" bIns="127000" anchor="t">
            <a:noAutofit/>
          </a:bodyPr>
          <a:lstStyle/>
          <a:p>
            <a:pPr>
              <a:spcBef>
                <a:spcPts val="0"/>
              </a:spcBef>
              <a:buNone/>
            </a:pPr>
            <a:r>
              <a:rPr lang="en-GB" sz="1400" b="1" dirty="0">
                <a:solidFill>
                  <a:srgbClr val="28509C"/>
                </a:solidFill>
              </a:rPr>
              <a:t>Container or closure</a:t>
            </a:r>
          </a:p>
          <a:p>
            <a:pPr marL="177800" indent="-177800">
              <a:spcBef>
                <a:spcPts val="300"/>
              </a:spcBef>
              <a:buClr>
                <a:srgbClr val="28509C"/>
              </a:buClr>
              <a:buFont typeface="Arial"/>
              <a:buChar char="•"/>
            </a:pPr>
            <a:r>
              <a:rPr lang="en-GB" sz="1200" dirty="0">
                <a:solidFill>
                  <a:srgbClr val="2B2B2B"/>
                </a:solidFill>
              </a:rPr>
              <a:t>Bent needle</a:t>
            </a:r>
          </a:p>
          <a:p>
            <a:pPr marL="177800" indent="-177800">
              <a:spcBef>
                <a:spcPts val="300"/>
              </a:spcBef>
              <a:buClr>
                <a:srgbClr val="28509C"/>
              </a:buClr>
              <a:buFont typeface="Arial"/>
              <a:buChar char="•"/>
            </a:pPr>
            <a:r>
              <a:rPr lang="en-GB" sz="1200" dirty="0">
                <a:solidFill>
                  <a:srgbClr val="2B2B2B"/>
                </a:solidFill>
              </a:rPr>
              <a:t>Syringe malfunction</a:t>
            </a:r>
          </a:p>
        </p:txBody>
      </p:sp>
      <p:sp>
        <p:nvSpPr>
          <p:cNvPr id="305" name="Example"/>
          <p:cNvSpPr/>
          <p:nvPr/>
        </p:nvSpPr>
        <p:spPr>
          <a:xfrm>
            <a:off x="5049520" y="2362200"/>
            <a:ext cx="2092960" cy="1397000"/>
          </a:xfrm>
          <a:prstGeom prst="roundRect">
            <a:avLst>
              <a:gd name="adj" fmla="val 8000"/>
            </a:avLst>
          </a:prstGeom>
          <a:solidFill>
            <a:srgbClr val="F1F4F9"/>
          </a:solidFill>
          <a:ln>
            <a:noFill/>
          </a:ln>
        </p:spPr>
        <p:txBody>
          <a:bodyPr wrap="square" lIns="127000" tIns="127000" rIns="127000" bIns="127000" anchor="t">
            <a:noAutofit/>
          </a:bodyPr>
          <a:lstStyle/>
          <a:p>
            <a:pPr>
              <a:spcBef>
                <a:spcPts val="0"/>
              </a:spcBef>
              <a:buNone/>
            </a:pPr>
            <a:r>
              <a:rPr lang="en-GB" sz="1400" b="1" dirty="0">
                <a:solidFill>
                  <a:srgbClr val="28509C"/>
                </a:solidFill>
              </a:rPr>
              <a:t>Appearance</a:t>
            </a:r>
          </a:p>
          <a:p>
            <a:pPr marL="177800" indent="-177800">
              <a:spcBef>
                <a:spcPts val="300"/>
              </a:spcBef>
              <a:buClr>
                <a:srgbClr val="28509C"/>
              </a:buClr>
              <a:buFont typeface="Arial"/>
              <a:buChar char="•"/>
            </a:pPr>
            <a:r>
              <a:rPr lang="en-GB" sz="1200" dirty="0">
                <a:solidFill>
                  <a:srgbClr val="2B2B2B"/>
                </a:solidFill>
              </a:rPr>
              <a:t>Discolouration</a:t>
            </a:r>
          </a:p>
          <a:p>
            <a:pPr marL="177800" indent="-177800">
              <a:spcBef>
                <a:spcPts val="300"/>
              </a:spcBef>
              <a:buClr>
                <a:srgbClr val="28509C"/>
              </a:buClr>
              <a:buFont typeface="Arial"/>
              <a:buChar char="•"/>
            </a:pPr>
            <a:r>
              <a:rPr lang="en-GB" sz="1200" dirty="0">
                <a:solidFill>
                  <a:srgbClr val="2B2B2B"/>
                </a:solidFill>
              </a:rPr>
              <a:t>Damaged product or packaging</a:t>
            </a:r>
          </a:p>
        </p:txBody>
      </p:sp>
      <p:sp>
        <p:nvSpPr>
          <p:cNvPr id="306" name="Example"/>
          <p:cNvSpPr/>
          <p:nvPr/>
        </p:nvSpPr>
        <p:spPr>
          <a:xfrm>
            <a:off x="7244080" y="2362200"/>
            <a:ext cx="2092960" cy="1397000"/>
          </a:xfrm>
          <a:prstGeom prst="roundRect">
            <a:avLst>
              <a:gd name="adj" fmla="val 8000"/>
            </a:avLst>
          </a:prstGeom>
          <a:solidFill>
            <a:srgbClr val="F1F4F9"/>
          </a:solidFill>
          <a:ln>
            <a:noFill/>
          </a:ln>
        </p:spPr>
        <p:txBody>
          <a:bodyPr wrap="square" lIns="127000" tIns="127000" rIns="127000" bIns="127000" anchor="t">
            <a:noAutofit/>
          </a:bodyPr>
          <a:lstStyle/>
          <a:p>
            <a:pPr>
              <a:spcBef>
                <a:spcPts val="0"/>
              </a:spcBef>
              <a:buNone/>
            </a:pPr>
            <a:r>
              <a:rPr lang="en-GB" sz="1400" b="1" dirty="0">
                <a:solidFill>
                  <a:srgbClr val="28509C"/>
                </a:solidFill>
              </a:rPr>
              <a:t>Labelling</a:t>
            </a:r>
          </a:p>
          <a:p>
            <a:pPr marL="177800" indent="-177800">
              <a:spcBef>
                <a:spcPts val="300"/>
              </a:spcBef>
              <a:buClr>
                <a:srgbClr val="28509C"/>
              </a:buClr>
              <a:buFont typeface="Arial"/>
              <a:buChar char="•"/>
            </a:pPr>
            <a:r>
              <a:rPr lang="en-GB" sz="1200" dirty="0">
                <a:solidFill>
                  <a:srgbClr val="2B2B2B"/>
                </a:solidFill>
              </a:rPr>
              <a:t>Missing, unreadable or damaged label</a:t>
            </a:r>
          </a:p>
        </p:txBody>
      </p:sp>
      <p:sp>
        <p:nvSpPr>
          <p:cNvPr id="307" name="Example"/>
          <p:cNvSpPr/>
          <p:nvPr/>
        </p:nvSpPr>
        <p:spPr>
          <a:xfrm>
            <a:off x="9438640" y="2362200"/>
            <a:ext cx="2092960" cy="1397000"/>
          </a:xfrm>
          <a:prstGeom prst="roundRect">
            <a:avLst>
              <a:gd name="adj" fmla="val 8000"/>
            </a:avLst>
          </a:prstGeom>
          <a:solidFill>
            <a:srgbClr val="F1F4F9"/>
          </a:solidFill>
          <a:ln>
            <a:noFill/>
          </a:ln>
        </p:spPr>
        <p:txBody>
          <a:bodyPr wrap="square" lIns="127000" tIns="127000" rIns="127000" bIns="127000" anchor="t">
            <a:noAutofit/>
          </a:bodyPr>
          <a:lstStyle/>
          <a:p>
            <a:pPr>
              <a:spcBef>
                <a:spcPts val="0"/>
              </a:spcBef>
              <a:buNone/>
            </a:pPr>
            <a:r>
              <a:rPr lang="en-GB" sz="1400" b="1" dirty="0">
                <a:solidFill>
                  <a:srgbClr val="28509C"/>
                </a:solidFill>
              </a:rPr>
              <a:t>Product</a:t>
            </a:r>
          </a:p>
          <a:p>
            <a:pPr marL="177800" indent="-177800">
              <a:spcBef>
                <a:spcPts val="300"/>
              </a:spcBef>
              <a:buClr>
                <a:srgbClr val="28509C"/>
              </a:buClr>
              <a:buFont typeface="Arial"/>
              <a:buChar char="•"/>
            </a:pPr>
            <a:r>
              <a:rPr lang="en-GB" sz="1200" dirty="0">
                <a:solidFill>
                  <a:srgbClr val="2B2B2B"/>
                </a:solidFill>
              </a:rPr>
              <a:t>Extra</a:t>
            </a:r>
          </a:p>
          <a:p>
            <a:pPr marL="177800" indent="-177800">
              <a:spcBef>
                <a:spcPts val="300"/>
              </a:spcBef>
              <a:buClr>
                <a:srgbClr val="28509C"/>
              </a:buClr>
              <a:buFont typeface="Arial"/>
              <a:buChar char="•"/>
            </a:pPr>
            <a:r>
              <a:rPr lang="en-GB" sz="1200" dirty="0">
                <a:solidFill>
                  <a:srgbClr val="2B2B2B"/>
                </a:solidFill>
              </a:rPr>
              <a:t>Missing</a:t>
            </a:r>
          </a:p>
          <a:p>
            <a:pPr marL="177800" indent="-177800">
              <a:spcBef>
                <a:spcPts val="300"/>
              </a:spcBef>
              <a:buClr>
                <a:srgbClr val="28509C"/>
              </a:buClr>
              <a:buFont typeface="Arial"/>
              <a:buChar char="•"/>
            </a:pPr>
            <a:r>
              <a:rPr lang="en-GB" sz="1200" dirty="0">
                <a:solidFill>
                  <a:srgbClr val="2B2B2B"/>
                </a:solidFill>
              </a:rPr>
              <a:t>Tampered</a:t>
            </a:r>
          </a:p>
        </p:txBody>
      </p:sp>
      <p:sp>
        <p:nvSpPr>
          <p:cNvPr id="308" name="Step"/>
          <p:cNvSpPr/>
          <p:nvPr/>
        </p:nvSpPr>
        <p:spPr>
          <a:xfrm>
            <a:off x="660400" y="3911600"/>
            <a:ext cx="3522133" cy="1600200"/>
          </a:xfrm>
          <a:prstGeom prst="roundRect">
            <a:avLst>
              <a:gd name="adj" fmla="val 8000"/>
            </a:avLst>
          </a:prstGeom>
          <a:solidFill>
            <a:srgbClr val="F1F4F9"/>
          </a:solidFill>
          <a:ln>
            <a:noFill/>
          </a:ln>
        </p:spPr>
        <p:txBody>
          <a:bodyPr wrap="square" lIns="152400" tIns="152400" rIns="152400" bIns="152400" anchor="t">
            <a:noAutofit/>
          </a:bodyPr>
          <a:lstStyle/>
          <a:p>
            <a:pPr>
              <a:spcBef>
                <a:spcPts val="0"/>
              </a:spcBef>
              <a:buNone/>
            </a:pPr>
            <a:r>
              <a:rPr lang="en-GB" sz="1800" b="1" dirty="0">
                <a:solidFill>
                  <a:srgbClr val="A9218E"/>
                </a:solidFill>
              </a:rPr>
              <a:t>1  </a:t>
            </a:r>
            <a:r>
              <a:rPr lang="en-GB" sz="1500" b="1" dirty="0">
                <a:solidFill>
                  <a:srgbClr val="002E56"/>
                </a:solidFill>
              </a:rPr>
              <a:t>Received</a:t>
            </a:r>
          </a:p>
          <a:p>
            <a:pPr>
              <a:spcBef>
                <a:spcPts val="300"/>
              </a:spcBef>
              <a:buNone/>
            </a:pPr>
            <a:r>
              <a:rPr lang="en-GB" sz="1300" dirty="0">
                <a:solidFill>
                  <a:srgbClr val="2B2B2B"/>
                </a:solidFill>
              </a:rPr>
              <a:t>QAPC receives the complaint by fax, phone or email and gives it a unique tracking number</a:t>
            </a:r>
          </a:p>
        </p:txBody>
      </p:sp>
      <p:sp>
        <p:nvSpPr>
          <p:cNvPr id="309" name="Step"/>
          <p:cNvSpPr/>
          <p:nvPr/>
        </p:nvSpPr>
        <p:spPr>
          <a:xfrm>
            <a:off x="4334933" y="3911600"/>
            <a:ext cx="3522133" cy="1600200"/>
          </a:xfrm>
          <a:prstGeom prst="roundRect">
            <a:avLst>
              <a:gd name="adj" fmla="val 8000"/>
            </a:avLst>
          </a:prstGeom>
          <a:solidFill>
            <a:srgbClr val="F1F4F9"/>
          </a:solidFill>
          <a:ln>
            <a:noFill/>
          </a:ln>
        </p:spPr>
        <p:txBody>
          <a:bodyPr wrap="square" lIns="152400" tIns="152400" rIns="152400" bIns="152400" anchor="t">
            <a:noAutofit/>
          </a:bodyPr>
          <a:lstStyle/>
          <a:p>
            <a:pPr>
              <a:spcBef>
                <a:spcPts val="0"/>
              </a:spcBef>
              <a:buNone/>
            </a:pPr>
            <a:r>
              <a:rPr lang="en-GB" sz="1800" b="1" dirty="0">
                <a:solidFill>
                  <a:srgbClr val="A9218E"/>
                </a:solidFill>
              </a:rPr>
              <a:t>2  </a:t>
            </a:r>
            <a:r>
              <a:rPr lang="en-GB" sz="1500" b="1" dirty="0">
                <a:solidFill>
                  <a:srgbClr val="002E56"/>
                </a:solidFill>
              </a:rPr>
              <a:t>Assessed</a:t>
            </a:r>
          </a:p>
          <a:p>
            <a:pPr>
              <a:spcBef>
                <a:spcPts val="300"/>
              </a:spcBef>
              <a:buNone/>
            </a:pPr>
            <a:r>
              <a:rPr lang="en-GB" sz="1300" dirty="0">
                <a:solidFill>
                  <a:srgbClr val="2B2B2B"/>
                </a:solidFill>
              </a:rPr>
              <a:t>QAPC assesses it, alerts Pharmacovigilance if an AE may be involved, and acknowledges receipt</a:t>
            </a:r>
          </a:p>
        </p:txBody>
      </p:sp>
      <p:sp>
        <p:nvSpPr>
          <p:cNvPr id="310" name="Step"/>
          <p:cNvSpPr/>
          <p:nvPr/>
        </p:nvSpPr>
        <p:spPr>
          <a:xfrm>
            <a:off x="8009467" y="3911600"/>
            <a:ext cx="3522133" cy="1600200"/>
          </a:xfrm>
          <a:prstGeom prst="roundRect">
            <a:avLst>
              <a:gd name="adj" fmla="val 8000"/>
            </a:avLst>
          </a:prstGeom>
          <a:solidFill>
            <a:srgbClr val="F1F4F9"/>
          </a:solidFill>
          <a:ln>
            <a:noFill/>
          </a:ln>
        </p:spPr>
        <p:txBody>
          <a:bodyPr wrap="square" lIns="152400" tIns="152400" rIns="152400" bIns="152400" anchor="t">
            <a:noAutofit/>
          </a:bodyPr>
          <a:lstStyle/>
          <a:p>
            <a:pPr>
              <a:spcBef>
                <a:spcPts val="0"/>
              </a:spcBef>
              <a:buNone/>
            </a:pPr>
            <a:r>
              <a:rPr lang="en-GB" sz="1800" b="1" dirty="0">
                <a:solidFill>
                  <a:srgbClr val="A9218E"/>
                </a:solidFill>
              </a:rPr>
              <a:t>3  </a:t>
            </a:r>
            <a:r>
              <a:rPr lang="en-GB" sz="1500" b="1" dirty="0">
                <a:solidFill>
                  <a:srgbClr val="002E56"/>
                </a:solidFill>
              </a:rPr>
              <a:t>Investigated</a:t>
            </a:r>
          </a:p>
          <a:p>
            <a:pPr>
              <a:spcBef>
                <a:spcPts val="300"/>
              </a:spcBef>
              <a:buNone/>
            </a:pPr>
            <a:r>
              <a:rPr lang="en-GB" sz="1300" dirty="0">
                <a:solidFill>
                  <a:srgbClr val="2B2B2B"/>
                </a:solidFill>
              </a:rPr>
              <a:t>Cross-functional review: QA lot release, QC testing, Pharmacovigilance, clinicians; trends reviewed quarterly</a:t>
            </a:r>
          </a:p>
        </p:txBody>
      </p:sp>
      <p:sp>
        <p:nvSpPr>
          <p:cNvPr id="311"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AE, adverse event; QA, quality assurance; QAPC, Quality Assurance Product Complaints; QC, quality control</a:t>
            </a:r>
          </a:p>
        </p:txBody>
      </p:sp>
      <p:sp>
        <p:nvSpPr>
          <p:cNvPr id="312"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Source: BioMarin product complaint training.</a:t>
            </a:r>
          </a:p>
        </p:txBody>
      </p:sp>
    </p:spTree>
    <p:extLst>
      <p:ext uri="{BB962C8B-B14F-4D97-AF65-F5344CB8AC3E}">
        <p14:creationId xmlns:p14="http://schemas.microsoft.com/office/powerpoint/2010/main" val="7101687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Kicker"/>
          <p:cNvSpPr txBox="1"/>
          <p:nvPr/>
        </p:nvSpPr>
        <p:spPr>
          <a:xfrm>
            <a:off x="660400" y="190500"/>
            <a:ext cx="10871200" cy="203200"/>
          </a:xfrm>
          <a:prstGeom prst="rect">
            <a:avLst/>
          </a:prstGeom>
          <a:noFill/>
        </p:spPr>
        <p:txBody>
          <a:bodyPr wrap="square" lIns="0" tIns="0" rIns="0" bIns="0" anchor="t">
            <a:noAutofit/>
          </a:bodyPr>
          <a:lstStyle/>
          <a:p>
            <a:pPr>
              <a:spcBef>
                <a:spcPts val="0"/>
              </a:spcBef>
              <a:buNone/>
            </a:pPr>
            <a:r>
              <a:rPr lang="en-GB" sz="1050" b="1" spc="100" dirty="0">
                <a:solidFill>
                  <a:srgbClr val="28509C"/>
                </a:solidFill>
              </a:rPr>
              <a:t>Pharmacovigilance</a:t>
            </a:r>
          </a:p>
        </p:txBody>
      </p:sp>
      <p:sp>
        <p:nvSpPr>
          <p:cNvPr id="301" name="Title"/>
          <p:cNvSpPr>
            <a:spLocks noGrp="1"/>
          </p:cNvSpPr>
          <p:nvPr>
            <p:ph type="title"/>
          </p:nvPr>
        </p:nvSpPr>
        <p:spPr>
          <a:xfrm>
            <a:off x="660400" y="444500"/>
            <a:ext cx="10871200" cy="889000"/>
          </a:xfrm>
        </p:spPr>
        <p:txBody>
          <a:bodyPr wrap="square" lIns="0" tIns="0" rIns="0" bIns="0" anchor="t">
            <a:noAutofit/>
          </a:bodyPr>
          <a:lstStyle/>
          <a:p>
            <a:r>
              <a:rPr lang="en-GB" dirty="0"/>
              <a:t>Reporting a product complaint</a:t>
            </a:r>
          </a:p>
        </p:txBody>
      </p:sp>
      <p:sp>
        <p:nvSpPr>
          <p:cNvPr id="302" name="Timeline"/>
          <p:cNvSpPr/>
          <p:nvPr/>
        </p:nvSpPr>
        <p:spPr>
          <a:xfrm>
            <a:off x="660400" y="1422400"/>
            <a:ext cx="3810000" cy="4089400"/>
          </a:xfrm>
          <a:prstGeom prst="roundRect">
            <a:avLst>
              <a:gd name="adj" fmla="val 8000"/>
            </a:avLst>
          </a:prstGeom>
          <a:solidFill>
            <a:srgbClr val="F7EAF3"/>
          </a:solidFill>
          <a:ln>
            <a:noFill/>
          </a:ln>
        </p:spPr>
        <p:txBody>
          <a:bodyPr wrap="square" lIns="228600" tIns="228600" rIns="228600" bIns="228600" anchor="t">
            <a:noAutofit/>
          </a:bodyPr>
          <a:lstStyle/>
          <a:p>
            <a:pPr>
              <a:spcBef>
                <a:spcPts val="0"/>
              </a:spcBef>
              <a:buNone/>
            </a:pPr>
            <a:r>
              <a:rPr lang="en-GB" sz="3200" b="1" dirty="0">
                <a:solidFill>
                  <a:srgbClr val="A9218E"/>
                </a:solidFill>
              </a:rPr>
              <a:t>5 business days</a:t>
            </a:r>
          </a:p>
          <a:p>
            <a:pPr>
              <a:spcBef>
                <a:spcPts val="300"/>
              </a:spcBef>
              <a:buNone/>
            </a:pPr>
            <a:r>
              <a:rPr lang="en-GB" sz="1400" b="1" dirty="0">
                <a:solidFill>
                  <a:srgbClr val="002E56"/>
                </a:solidFill>
              </a:rPr>
              <a:t>to notify BioMarin of a product complaint</a:t>
            </a:r>
          </a:p>
          <a:p>
            <a:pPr>
              <a:spcBef>
                <a:spcPts val="900"/>
              </a:spcBef>
              <a:buNone/>
            </a:pPr>
            <a:r>
              <a:rPr lang="en-GB" sz="1500" b="1" dirty="0">
                <a:solidFill>
                  <a:srgbClr val="28509C"/>
                </a:solidFill>
              </a:rPr>
              <a:t>productcomplaint@bmrn.com</a:t>
            </a:r>
          </a:p>
        </p:txBody>
      </p:sp>
      <p:sp>
        <p:nvSpPr>
          <p:cNvPr id="303" name="Step 1"/>
          <p:cNvSpPr/>
          <p:nvPr/>
        </p:nvSpPr>
        <p:spPr>
          <a:xfrm>
            <a:off x="4724400" y="1422400"/>
            <a:ext cx="6807200" cy="1498600"/>
          </a:xfrm>
          <a:prstGeom prst="roundRect">
            <a:avLst>
              <a:gd name="adj" fmla="val 8000"/>
            </a:avLst>
          </a:prstGeom>
          <a:solidFill>
            <a:srgbClr val="F1F4F9"/>
          </a:solidFill>
          <a:ln>
            <a:noFill/>
          </a:ln>
        </p:spPr>
        <p:txBody>
          <a:bodyPr wrap="square" lIns="152400" tIns="152400" rIns="152400" bIns="152400" anchor="t">
            <a:noAutofit/>
          </a:bodyPr>
          <a:lstStyle/>
          <a:p>
            <a:pPr>
              <a:spcBef>
                <a:spcPts val="0"/>
              </a:spcBef>
              <a:buNone/>
            </a:pPr>
            <a:r>
              <a:rPr lang="en-GB" sz="1500" b="1" dirty="0">
                <a:solidFill>
                  <a:srgbClr val="002E56"/>
                </a:solidFill>
              </a:rPr>
              <a:t>1  Document the details</a:t>
            </a:r>
          </a:p>
          <a:p>
            <a:pPr marL="177800" indent="-177800">
              <a:spcBef>
                <a:spcPts val="300"/>
              </a:spcBef>
              <a:buClr>
                <a:srgbClr val="28509C"/>
              </a:buClr>
              <a:buFont typeface="Arial"/>
              <a:buChar char="•"/>
            </a:pPr>
            <a:r>
              <a:rPr lang="en-GB" sz="1300" dirty="0">
                <a:solidFill>
                  <a:srgbClr val="2B2B2B"/>
                </a:solidFill>
              </a:rPr>
              <a:t>Nature of the complaint</a:t>
            </a:r>
          </a:p>
          <a:p>
            <a:pPr marL="177800" indent="-177800">
              <a:spcBef>
                <a:spcPts val="300"/>
              </a:spcBef>
              <a:buClr>
                <a:srgbClr val="28509C"/>
              </a:buClr>
              <a:buFont typeface="Arial"/>
              <a:buChar char="•"/>
            </a:pPr>
            <a:r>
              <a:rPr lang="en-GB" sz="1300" dirty="0">
                <a:solidFill>
                  <a:srgbClr val="2B2B2B"/>
                </a:solidFill>
              </a:rPr>
              <a:t>Complainant and contact information</a:t>
            </a:r>
          </a:p>
          <a:p>
            <a:pPr marL="177800" indent="-177800">
              <a:spcBef>
                <a:spcPts val="300"/>
              </a:spcBef>
              <a:buClr>
                <a:srgbClr val="28509C"/>
              </a:buClr>
              <a:buFont typeface="Arial"/>
              <a:buChar char="•"/>
            </a:pPr>
            <a:r>
              <a:rPr lang="en-GB" sz="1300" dirty="0">
                <a:solidFill>
                  <a:srgbClr val="2B2B2B"/>
                </a:solidFill>
              </a:rPr>
              <a:t>Product information, including lot number and storage conditions if available</a:t>
            </a:r>
          </a:p>
        </p:txBody>
      </p:sp>
      <p:sp>
        <p:nvSpPr>
          <p:cNvPr id="304" name="Step 2"/>
          <p:cNvSpPr/>
          <p:nvPr/>
        </p:nvSpPr>
        <p:spPr>
          <a:xfrm>
            <a:off x="4724400" y="2997200"/>
            <a:ext cx="6807200" cy="812800"/>
          </a:xfrm>
          <a:prstGeom prst="roundRect">
            <a:avLst>
              <a:gd name="adj" fmla="val 8000"/>
            </a:avLst>
          </a:prstGeom>
          <a:solidFill>
            <a:srgbClr val="F1F4F9"/>
          </a:solidFill>
          <a:ln>
            <a:noFill/>
          </a:ln>
        </p:spPr>
        <p:txBody>
          <a:bodyPr wrap="square" lIns="152400" tIns="152400" rIns="152400" bIns="152400" anchor="t">
            <a:noAutofit/>
          </a:bodyPr>
          <a:lstStyle/>
          <a:p>
            <a:pPr>
              <a:spcBef>
                <a:spcPts val="0"/>
              </a:spcBef>
              <a:buNone/>
            </a:pPr>
            <a:r>
              <a:rPr lang="en-GB" sz="1500" b="1" dirty="0">
                <a:solidFill>
                  <a:srgbClr val="002E56"/>
                </a:solidFill>
              </a:rPr>
              <a:t>2  Notify BioMarin</a:t>
            </a:r>
          </a:p>
          <a:p>
            <a:pPr marL="177800" indent="-177800">
              <a:spcBef>
                <a:spcPts val="300"/>
              </a:spcBef>
              <a:buClr>
                <a:srgbClr val="28509C"/>
              </a:buClr>
              <a:buFont typeface="Arial"/>
              <a:buChar char="•"/>
            </a:pPr>
            <a:r>
              <a:rPr lang="en-GB" sz="1300" dirty="0">
                <a:solidFill>
                  <a:srgbClr val="2B2B2B"/>
                </a:solidFill>
              </a:rPr>
              <a:t>Within 5 business days, by email to productcomplaint@bmrn.com</a:t>
            </a:r>
          </a:p>
        </p:txBody>
      </p:sp>
      <p:sp>
        <p:nvSpPr>
          <p:cNvPr id="305" name="Step 3"/>
          <p:cNvSpPr/>
          <p:nvPr/>
        </p:nvSpPr>
        <p:spPr>
          <a:xfrm>
            <a:off x="4724400" y="3886200"/>
            <a:ext cx="6807200" cy="1625600"/>
          </a:xfrm>
          <a:prstGeom prst="roundRect">
            <a:avLst>
              <a:gd name="adj" fmla="val 8000"/>
            </a:avLst>
          </a:prstGeom>
          <a:solidFill>
            <a:srgbClr val="F1F4F9"/>
          </a:solidFill>
          <a:ln>
            <a:noFill/>
          </a:ln>
        </p:spPr>
        <p:txBody>
          <a:bodyPr wrap="square" lIns="152400" tIns="152400" rIns="152400" bIns="152400" anchor="t">
            <a:noAutofit/>
          </a:bodyPr>
          <a:lstStyle/>
          <a:p>
            <a:pPr>
              <a:spcBef>
                <a:spcPts val="0"/>
              </a:spcBef>
              <a:buNone/>
            </a:pPr>
            <a:r>
              <a:rPr lang="en-GB" sz="1500" b="1" dirty="0">
                <a:solidFill>
                  <a:srgbClr val="002E56"/>
                </a:solidFill>
              </a:rPr>
              <a:t>3  Support the investigation</a:t>
            </a:r>
          </a:p>
          <a:p>
            <a:pPr marL="177800" indent="-177800">
              <a:spcBef>
                <a:spcPts val="300"/>
              </a:spcBef>
              <a:buClr>
                <a:srgbClr val="28509C"/>
              </a:buClr>
              <a:buFont typeface="Arial"/>
              <a:buChar char="•"/>
            </a:pPr>
            <a:r>
              <a:rPr lang="en-GB" sz="1300" dirty="0">
                <a:solidFill>
                  <a:srgbClr val="2B2B2B"/>
                </a:solidFill>
              </a:rPr>
              <a:t>Coordinated by BioMarin QAPC</a:t>
            </a:r>
          </a:p>
          <a:p>
            <a:pPr marL="177800" indent="-177800">
              <a:spcBef>
                <a:spcPts val="300"/>
              </a:spcBef>
              <a:buClr>
                <a:srgbClr val="28509C"/>
              </a:buClr>
              <a:buFont typeface="Arial"/>
              <a:buChar char="•"/>
            </a:pPr>
            <a:r>
              <a:rPr lang="en-GB" sz="1300" dirty="0">
                <a:solidFill>
                  <a:srgbClr val="2B2B2B"/>
                </a:solidFill>
              </a:rPr>
              <a:t>Document findings, keep records and send copies to BioMarin</a:t>
            </a:r>
          </a:p>
          <a:p>
            <a:pPr marL="177800" indent="-177800">
              <a:spcBef>
                <a:spcPts val="300"/>
              </a:spcBef>
              <a:buClr>
                <a:srgbClr val="28509C"/>
              </a:buClr>
              <a:buFont typeface="Arial"/>
              <a:buChar char="•"/>
            </a:pPr>
            <a:r>
              <a:rPr lang="en-GB" sz="1300" dirty="0">
                <a:solidFill>
                  <a:srgbClr val="2B2B2B"/>
                </a:solidFill>
              </a:rPr>
              <a:t>Train employees and agents on complaint reporting</a:t>
            </a:r>
          </a:p>
        </p:txBody>
      </p:sp>
      <p:sp>
        <p:nvSpPr>
          <p:cNvPr id="306" name="Abbreviations"/>
          <p:cNvSpPr txBox="1"/>
          <p:nvPr/>
        </p:nvSpPr>
        <p:spPr>
          <a:xfrm>
            <a:off x="660400" y="5664200"/>
            <a:ext cx="10871200" cy="228600"/>
          </a:xfrm>
          <a:prstGeom prst="rect">
            <a:avLst/>
          </a:prstGeom>
          <a:noFill/>
        </p:spPr>
        <p:txBody>
          <a:bodyPr wrap="square" lIns="0" tIns="0" rIns="0" bIns="0" anchor="b">
            <a:noAutofit/>
          </a:bodyPr>
          <a:lstStyle/>
          <a:p>
            <a:pPr>
              <a:spcBef>
                <a:spcPts val="0"/>
              </a:spcBef>
              <a:buNone/>
            </a:pPr>
            <a:r>
              <a:rPr lang="en-GB" sz="1100" i="1" dirty="0">
                <a:solidFill>
                  <a:srgbClr val="404040"/>
                </a:solidFill>
              </a:rPr>
              <a:t>QAPC, Quality Assurance Product Complaints</a:t>
            </a:r>
          </a:p>
        </p:txBody>
      </p:sp>
      <p:sp>
        <p:nvSpPr>
          <p:cNvPr id="307" name="References"/>
          <p:cNvSpPr txBox="1"/>
          <p:nvPr/>
        </p:nvSpPr>
        <p:spPr>
          <a:xfrm>
            <a:off x="660400" y="6019800"/>
            <a:ext cx="10871200" cy="482600"/>
          </a:xfrm>
          <a:prstGeom prst="rect">
            <a:avLst/>
          </a:prstGeom>
          <a:noFill/>
        </p:spPr>
        <p:txBody>
          <a:bodyPr wrap="square" lIns="0" tIns="0" rIns="0" bIns="0" anchor="t">
            <a:noAutofit/>
          </a:bodyPr>
          <a:lstStyle/>
          <a:p>
            <a:pPr>
              <a:spcBef>
                <a:spcPts val="0"/>
              </a:spcBef>
              <a:buNone/>
            </a:pPr>
            <a:r>
              <a:rPr lang="en-GB" sz="900" dirty="0">
                <a:solidFill>
                  <a:srgbClr val="646464"/>
                </a:solidFill>
              </a:rPr>
              <a:t>Source: BioMarin product complaint training.</a:t>
            </a:r>
          </a:p>
        </p:txBody>
      </p:sp>
    </p:spTree>
    <p:extLst>
      <p:ext uri="{BB962C8B-B14F-4D97-AF65-F5344CB8AC3E}">
        <p14:creationId xmlns:p14="http://schemas.microsoft.com/office/powerpoint/2010/main" val="10236982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a:spLocks noGrp="1"/>
          </p:cNvSpPr>
          <p:nvPr>
            <p:ph type="title"/>
          </p:nvPr>
        </p:nvSpPr>
        <p:spPr/>
        <p:txBody>
          <a:bodyPr wrap="square" lIns="0" tIns="0" rIns="0" bIns="0" rtlCol="0" anchor="t">
            <a:noAutofit/>
          </a:bodyPr>
          <a:lstStyle/>
          <a:p>
            <a:pPr>
              <a:spcBef>
                <a:spcPts val="0"/>
              </a:spcBef>
              <a:spcAft>
                <a:spcPts val="0"/>
              </a:spcAft>
              <a:buNone/>
            </a:pPr>
            <a:r>
              <a:rPr lang="en-US" dirty="0"/>
              <a:t>References</a:t>
            </a:r>
          </a:p>
        </p:txBody>
      </p:sp>
      <p:sp>
        <p:nvSpPr>
          <p:cNvPr id="11" name="Shape 11"/>
          <p:cNvSpPr txBox="1"/>
          <p:nvPr/>
        </p:nvSpPr>
        <p:spPr>
          <a:xfrm>
            <a:off x="660400" y="1422400"/>
            <a:ext cx="5283200" cy="4191000"/>
          </a:xfrm>
          <a:prstGeom prst="rect">
            <a:avLst/>
          </a:prstGeom>
          <a:noFill/>
          <a:ln>
            <a:noFill/>
          </a:ln>
        </p:spPr>
        <p:txBody>
          <a:bodyPr wrap="square" lIns="0" tIns="0" rIns="0" bIns="0" rtlCol="0" anchor="t">
            <a:noAutofit/>
          </a:bodyPr>
          <a:lstStyle/>
          <a:p>
            <a:pPr marL="279400" indent="-279400">
              <a:spcAft>
                <a:spcPts val="500"/>
              </a:spcAft>
              <a:buClr>
                <a:srgbClr val="28509C"/>
              </a:buClr>
              <a:buFont typeface="+mj-lt"/>
              <a:buAutoNum type="arabicPeriod"/>
            </a:pPr>
            <a:r>
              <a:rPr lang="en-US" sz="1200" dirty="0">
                <a:solidFill>
                  <a:srgbClr val="2B2B2B"/>
                </a:solidFill>
              </a:rPr>
              <a:t>Akyol MU et al. Recommendations for the management of MPS IVA. Orphanet J Rare Dis 2019;14:137.</a:t>
            </a:r>
          </a:p>
          <a:p>
            <a:pPr marL="279400" indent="-279400">
              <a:spcAft>
                <a:spcPts val="500"/>
              </a:spcAft>
              <a:buClr>
                <a:srgbClr val="28509C"/>
              </a:buClr>
              <a:buFont typeface="+mj-lt"/>
              <a:buAutoNum type="arabicPeriod" startAt="2"/>
            </a:pPr>
            <a:r>
              <a:rPr lang="en-US" sz="1200" dirty="0">
                <a:solidFill>
                  <a:srgbClr val="2B2B2B"/>
                </a:solidFill>
              </a:rPr>
              <a:t>Akyol MU et al. Recommendations for the management of MPS VI. Orphanet J Rare Dis 2019;14:118.</a:t>
            </a:r>
          </a:p>
          <a:p>
            <a:pPr marL="279400" indent="-279400">
              <a:spcAft>
                <a:spcPts val="500"/>
              </a:spcAft>
              <a:buClr>
                <a:srgbClr val="28509C"/>
              </a:buClr>
              <a:buFont typeface="+mj-lt"/>
              <a:buAutoNum type="arabicPeriod" startAt="3"/>
            </a:pPr>
            <a:r>
              <a:rPr lang="en-US" sz="1200" dirty="0">
                <a:solidFill>
                  <a:srgbClr val="2B2B2B"/>
                </a:solidFill>
              </a:rPr>
              <a:t>Burton BK et al. Mol Genet Metab 2025;145:109135.</a:t>
            </a:r>
          </a:p>
          <a:p>
            <a:pPr marL="279400" indent="-279400">
              <a:spcAft>
                <a:spcPts val="500"/>
              </a:spcAft>
              <a:buClr>
                <a:srgbClr val="28509C"/>
              </a:buClr>
              <a:buFont typeface="+mj-lt"/>
              <a:buAutoNum type="arabicPeriod" startAt="4"/>
            </a:pPr>
            <a:r>
              <a:rPr lang="en-US" sz="1200" dirty="0">
                <a:solidFill>
                  <a:srgbClr val="2B2B2B"/>
                </a:solidFill>
              </a:rPr>
              <a:t>Clarke L et al. J Inborn Errors Metab Screen 2018;6:1–12.</a:t>
            </a:r>
          </a:p>
          <a:p>
            <a:pPr marL="279400" indent="-279400">
              <a:spcAft>
                <a:spcPts val="500"/>
              </a:spcAft>
              <a:buClr>
                <a:srgbClr val="28509C"/>
              </a:buClr>
              <a:buFont typeface="+mj-lt"/>
              <a:buAutoNum type="arabicPeriod" startAt="5"/>
            </a:pPr>
            <a:r>
              <a:rPr lang="en-US" sz="1200" dirty="0">
                <a:solidFill>
                  <a:srgbClr val="2B2B2B"/>
                </a:solidFill>
              </a:rPr>
              <a:t>Concolino D et al. Ital J Pediatr 2018;44(Suppl 2):120.</a:t>
            </a:r>
          </a:p>
          <a:p>
            <a:pPr marL="279400" indent="-279400">
              <a:spcAft>
                <a:spcPts val="500"/>
              </a:spcAft>
              <a:buClr>
                <a:srgbClr val="28509C"/>
              </a:buClr>
              <a:buFont typeface="+mj-lt"/>
              <a:buAutoNum type="arabicPeriod" startAt="6"/>
            </a:pPr>
            <a:r>
              <a:rPr lang="en-US" sz="1200" dirty="0">
                <a:solidFill>
                  <a:srgbClr val="2B2B2B"/>
                </a:solidFill>
              </a:rPr>
              <a:t>D’Avanzo F et al. Int J Mol Sci 2021;22:13456.</a:t>
            </a:r>
          </a:p>
          <a:p>
            <a:pPr marL="279400" indent="-279400">
              <a:spcAft>
                <a:spcPts val="500"/>
              </a:spcAft>
              <a:buClr>
                <a:srgbClr val="28509C"/>
              </a:buClr>
              <a:buFont typeface="+mj-lt"/>
              <a:buAutoNum type="arabicPeriod" startAt="7"/>
            </a:pPr>
            <a:r>
              <a:rPr lang="en-US" sz="1200" dirty="0">
                <a:solidFill>
                  <a:srgbClr val="2B2B2B"/>
                </a:solidFill>
              </a:rPr>
              <a:t>Elosulfase alfa Summary of Product Characteristics.</a:t>
            </a:r>
          </a:p>
          <a:p>
            <a:pPr marL="279400" indent="-279400">
              <a:spcAft>
                <a:spcPts val="500"/>
              </a:spcAft>
              <a:buClr>
                <a:srgbClr val="28509C"/>
              </a:buClr>
              <a:buFont typeface="+mj-lt"/>
              <a:buAutoNum type="arabicPeriod" startAt="8"/>
            </a:pPr>
            <a:r>
              <a:rPr lang="en-US" sz="1200" dirty="0">
                <a:solidFill>
                  <a:srgbClr val="2B2B2B"/>
                </a:solidFill>
              </a:rPr>
              <a:t>Galsulfase Summary of Product Characteristics.</a:t>
            </a:r>
          </a:p>
          <a:p>
            <a:pPr marL="279400" indent="-279400">
              <a:spcAft>
                <a:spcPts val="500"/>
              </a:spcAft>
              <a:buClr>
                <a:srgbClr val="28509C"/>
              </a:buClr>
              <a:buFont typeface="+mj-lt"/>
              <a:buAutoNum type="arabicPeriod" startAt="9"/>
            </a:pPr>
            <a:r>
              <a:rPr lang="en-US" sz="1200" dirty="0">
                <a:solidFill>
                  <a:srgbClr val="2B2B2B"/>
                </a:solidFill>
              </a:rPr>
              <a:t>Giugliani R et al. Pediatrics 2007;120:405–18.</a:t>
            </a:r>
          </a:p>
          <a:p>
            <a:pPr marL="279400" indent="-279400">
              <a:spcAft>
                <a:spcPts val="500"/>
              </a:spcAft>
              <a:buClr>
                <a:srgbClr val="28509C"/>
              </a:buClr>
              <a:buFont typeface="+mj-lt"/>
              <a:buAutoNum type="arabicPeriod" startAt="10"/>
            </a:pPr>
            <a:r>
              <a:rPr lang="en-US" sz="1200" dirty="0">
                <a:solidFill>
                  <a:srgbClr val="2B2B2B"/>
                </a:solidFill>
              </a:rPr>
              <a:t>Gökdoğan C et al. Braz J Otorhinolaryngol 2016;82:281–4.</a:t>
            </a:r>
          </a:p>
          <a:p>
            <a:pPr marL="279400" indent="-279400">
              <a:spcAft>
                <a:spcPts val="500"/>
              </a:spcAft>
              <a:buClr>
                <a:srgbClr val="28509C"/>
              </a:buClr>
              <a:buFont typeface="+mj-lt"/>
              <a:buAutoNum type="arabicPeriod" startAt="11"/>
            </a:pPr>
            <a:r>
              <a:rPr lang="en-US" sz="1200" dirty="0">
                <a:solidFill>
                  <a:srgbClr val="2B2B2B"/>
                </a:solidFill>
              </a:rPr>
              <a:t>Harmatz P et al. J Pediatr 2006;148:533–9.</a:t>
            </a:r>
          </a:p>
          <a:p>
            <a:pPr marL="279400" indent="-279400">
              <a:spcAft>
                <a:spcPts val="500"/>
              </a:spcAft>
              <a:buClr>
                <a:srgbClr val="28509C"/>
              </a:buClr>
              <a:buFont typeface="+mj-lt"/>
              <a:buAutoNum type="arabicPeriod" startAt="12"/>
            </a:pPr>
            <a:r>
              <a:rPr lang="en-US" sz="1200" dirty="0">
                <a:solidFill>
                  <a:srgbClr val="2B2B2B"/>
                </a:solidFill>
              </a:rPr>
              <a:t>Harmatz P et al. Mol Genet Metab 2008;94:469–75.</a:t>
            </a:r>
          </a:p>
        </p:txBody>
      </p:sp>
      <p:sp>
        <p:nvSpPr>
          <p:cNvPr id="12" name="Shape 12"/>
          <p:cNvSpPr txBox="1"/>
          <p:nvPr/>
        </p:nvSpPr>
        <p:spPr>
          <a:xfrm>
            <a:off x="6248400" y="1422400"/>
            <a:ext cx="5283200" cy="4191000"/>
          </a:xfrm>
          <a:prstGeom prst="rect">
            <a:avLst/>
          </a:prstGeom>
          <a:noFill/>
          <a:ln>
            <a:noFill/>
          </a:ln>
        </p:spPr>
        <p:txBody>
          <a:bodyPr wrap="square" lIns="0" tIns="0" rIns="0" bIns="0" rtlCol="0" anchor="t">
            <a:noAutofit/>
          </a:bodyPr>
          <a:lstStyle/>
          <a:p>
            <a:pPr marL="279400" indent="-279400">
              <a:spcAft>
                <a:spcPts val="500"/>
              </a:spcAft>
              <a:buClr>
                <a:srgbClr val="28509C"/>
              </a:buClr>
              <a:buFont typeface="+mj-lt"/>
              <a:buAutoNum type="arabicPeriod" startAt="13"/>
            </a:pPr>
            <a:r>
              <a:rPr lang="en-US" sz="1200" dirty="0">
                <a:solidFill>
                  <a:srgbClr val="2B2B2B"/>
                </a:solidFill>
              </a:rPr>
              <a:t>Hendriksz CJ et al. Mol Genet Metab 2013;110:54–64.</a:t>
            </a:r>
          </a:p>
          <a:p>
            <a:pPr marL="279400" indent="-279400">
              <a:spcAft>
                <a:spcPts val="500"/>
              </a:spcAft>
              <a:buClr>
                <a:srgbClr val="28509C"/>
              </a:buClr>
              <a:buFont typeface="+mj-lt"/>
              <a:buAutoNum type="arabicPeriod" startAt="14"/>
            </a:pPr>
            <a:r>
              <a:rPr lang="en-US" sz="1200" dirty="0">
                <a:solidFill>
                  <a:srgbClr val="2B2B2B"/>
                </a:solidFill>
              </a:rPr>
              <a:t>Hendriksz CJ et al. J Inherit Metab Dis 2014;37:979–90.</a:t>
            </a:r>
          </a:p>
          <a:p>
            <a:pPr marL="279400" indent="-279400">
              <a:spcAft>
                <a:spcPts val="500"/>
              </a:spcAft>
              <a:buClr>
                <a:srgbClr val="28509C"/>
              </a:buClr>
              <a:buFont typeface="+mj-lt"/>
              <a:buAutoNum type="arabicPeriod" startAt="15"/>
            </a:pPr>
            <a:r>
              <a:rPr lang="en-US" sz="1200" dirty="0">
                <a:solidFill>
                  <a:srgbClr val="2B2B2B"/>
                </a:solidFill>
              </a:rPr>
              <a:t>Hendriksz CJ et al. Am J Med Genet A 2015;167A:11–25.</a:t>
            </a:r>
          </a:p>
          <a:p>
            <a:pPr marL="279400" indent="-279400">
              <a:spcAft>
                <a:spcPts val="500"/>
              </a:spcAft>
              <a:buClr>
                <a:srgbClr val="28509C"/>
              </a:buClr>
              <a:buFont typeface="+mj-lt"/>
              <a:buAutoNum type="arabicPeriod" startAt="16"/>
            </a:pPr>
            <a:r>
              <a:rPr lang="en-US" sz="1200" dirty="0">
                <a:solidFill>
                  <a:srgbClr val="2B2B2B"/>
                </a:solidFill>
              </a:rPr>
              <a:t>Hendriksz CJ et al. Mol Genet Metab 2016;119:131–43.</a:t>
            </a:r>
          </a:p>
          <a:p>
            <a:pPr marL="279400" indent="-279400">
              <a:spcAft>
                <a:spcPts val="500"/>
              </a:spcAft>
              <a:buClr>
                <a:srgbClr val="28509C"/>
              </a:buClr>
              <a:buFont typeface="+mj-lt"/>
              <a:buAutoNum type="arabicPeriod" startAt="17"/>
            </a:pPr>
            <a:r>
              <a:rPr lang="en-US" sz="1200" dirty="0">
                <a:solidFill>
                  <a:srgbClr val="2B2B2B"/>
                </a:solidFill>
              </a:rPr>
              <a:t>Lampe C et al. Mol Genet Metab Rep 2019;21:100508.</a:t>
            </a:r>
          </a:p>
          <a:p>
            <a:pPr marL="279400" indent="-279400">
              <a:spcAft>
                <a:spcPts val="500"/>
              </a:spcAft>
              <a:buClr>
                <a:srgbClr val="28509C"/>
              </a:buClr>
              <a:buFont typeface="+mj-lt"/>
              <a:buAutoNum type="arabicPeriod" startAt="18"/>
            </a:pPr>
            <a:r>
              <a:rPr lang="en-US" sz="1200" dirty="0">
                <a:solidFill>
                  <a:srgbClr val="2B2B2B"/>
                </a:solidFill>
              </a:rPr>
              <a:t>McGill JJ et al. Clin Genet 2010;77:492–8.</a:t>
            </a:r>
          </a:p>
          <a:p>
            <a:pPr marL="279400" indent="-279400">
              <a:spcAft>
                <a:spcPts val="500"/>
              </a:spcAft>
              <a:buClr>
                <a:srgbClr val="28509C"/>
              </a:buClr>
              <a:buFont typeface="+mj-lt"/>
              <a:buAutoNum type="arabicPeriod" startAt="19"/>
            </a:pPr>
            <a:r>
              <a:rPr lang="en-US" sz="1200" dirty="0">
                <a:solidFill>
                  <a:srgbClr val="2B2B2B"/>
                </a:solidFill>
              </a:rPr>
              <a:t>Miebach E. Int J Clin Pharmacol Ther 2009;47(Suppl 1):S100–6.</a:t>
            </a:r>
          </a:p>
          <a:p>
            <a:pPr marL="279400" indent="-279400">
              <a:spcAft>
                <a:spcPts val="500"/>
              </a:spcAft>
              <a:buClr>
                <a:srgbClr val="28509C"/>
              </a:buClr>
              <a:buFont typeface="+mj-lt"/>
              <a:buAutoNum type="arabicPeriod" startAt="20"/>
            </a:pPr>
            <a:r>
              <a:rPr lang="en-US" sz="1200" dirty="0">
                <a:solidFill>
                  <a:srgbClr val="2B2B2B"/>
                </a:solidFill>
              </a:rPr>
              <a:t>Mitchell J et al. Presenting signs and symptoms of MPS. WORLDSymposium 2018, poster 244.</a:t>
            </a:r>
          </a:p>
          <a:p>
            <a:pPr marL="279400" indent="-279400">
              <a:spcAft>
                <a:spcPts val="500"/>
              </a:spcAft>
              <a:buClr>
                <a:srgbClr val="28509C"/>
              </a:buClr>
              <a:buFont typeface="+mj-lt"/>
              <a:buAutoNum type="arabicPeriod" startAt="21"/>
            </a:pPr>
            <a:r>
              <a:rPr lang="en-US" sz="1200" dirty="0">
                <a:solidFill>
                  <a:srgbClr val="2B2B2B"/>
                </a:solidFill>
              </a:rPr>
              <a:t>Mitchell JJ et al. Morquio A Registry Study (MARS) 10-year data. WORLDSymposium 2025, poster.</a:t>
            </a:r>
          </a:p>
          <a:p>
            <a:pPr marL="279400" indent="-279400">
              <a:spcAft>
                <a:spcPts val="500"/>
              </a:spcAft>
              <a:buClr>
                <a:srgbClr val="28509C"/>
              </a:buClr>
              <a:buFont typeface="+mj-lt"/>
              <a:buAutoNum type="arabicPeriod" startAt="22"/>
            </a:pPr>
            <a:r>
              <a:rPr lang="en-US" sz="1200" dirty="0">
                <a:solidFill>
                  <a:srgbClr val="2B2B2B"/>
                </a:solidFill>
              </a:rPr>
              <a:t>Muenzer J. Rheumatology (Oxford) 2011;50(Suppl 5):v4–12.</a:t>
            </a:r>
          </a:p>
          <a:p>
            <a:pPr marL="279400" indent="-279400">
              <a:spcAft>
                <a:spcPts val="500"/>
              </a:spcAft>
              <a:buClr>
                <a:srgbClr val="28509C"/>
              </a:buClr>
              <a:buFont typeface="+mj-lt"/>
              <a:buAutoNum type="arabicPeriod" startAt="23"/>
            </a:pPr>
            <a:r>
              <a:rPr lang="en-US" sz="1200" dirty="0">
                <a:solidFill>
                  <a:srgbClr val="2B2B2B"/>
                </a:solidFill>
              </a:rPr>
              <a:t>Neufeld EF, Muenzer J. In: The Metabolic and Molecular Bases of Inherited Disease. 8th ed. McGraw-Hill; 2001:3421–52.</a:t>
            </a:r>
          </a:p>
        </p:txBody>
      </p:sp>
    </p:spTree>
    <p:extLst>
      <p:ext uri="{BB962C8B-B14F-4D97-AF65-F5344CB8AC3E}">
        <p14:creationId xmlns:p14="http://schemas.microsoft.com/office/powerpoint/2010/main" val="15776920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Kicker"/>
          <p:cNvSpPr txBox="1"/>
          <p:nvPr/>
        </p:nvSpPr>
        <p:spPr>
          <a:xfrm>
            <a:off x="914400" y="2997200"/>
            <a:ext cx="5334000" cy="254000"/>
          </a:xfrm>
          <a:prstGeom prst="rect">
            <a:avLst/>
          </a:prstGeom>
          <a:noFill/>
          <a:ln>
            <a:noFill/>
          </a:ln>
        </p:spPr>
        <p:txBody>
          <a:bodyPr wrap="square" lIns="0" tIns="0" rIns="0" bIns="0" anchor="t">
            <a:noAutofit/>
          </a:bodyPr>
          <a:lstStyle/>
          <a:p>
            <a:pPr>
              <a:spcBef>
                <a:spcPts val="0"/>
              </a:spcBef>
              <a:buNone/>
            </a:pPr>
            <a:r>
              <a:rPr lang="en-GB" sz="1200" b="1" spc="200" dirty="0">
                <a:solidFill>
                  <a:srgbClr val="9DB3D9"/>
                </a:solidFill>
              </a:rPr>
              <a:t>For reference</a:t>
            </a:r>
          </a:p>
        </p:txBody>
      </p:sp>
      <p:sp>
        <p:nvSpPr>
          <p:cNvPr id="403" name="Title"/>
          <p:cNvSpPr>
            <a:spLocks noGrp="1"/>
          </p:cNvSpPr>
          <p:nvPr>
            <p:ph type="title"/>
          </p:nvPr>
        </p:nvSpPr>
        <p:spPr>
          <a:xfrm>
            <a:off x="914400" y="3327400"/>
            <a:ext cx="5842000" cy="812800"/>
          </a:xfrm>
        </p:spPr>
        <p:txBody>
          <a:bodyPr wrap="square" lIns="0" tIns="0" rIns="0" bIns="0" anchor="t">
            <a:normAutofit/>
          </a:bodyPr>
          <a:lstStyle/>
          <a:p>
            <a:pPr algn="l"/>
            <a:r>
              <a:rPr lang="en-GB" sz="4400" b="1" dirty="0">
                <a:solidFill>
                  <a:srgbClr val="FFFFFF"/>
                </a:solidFill>
              </a:rPr>
              <a:t>Appendix</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spcBef>
                <a:spcPts val="0"/>
              </a:spcBef>
              <a:buNone/>
            </a:pPr>
            <a:r>
              <a:rPr lang="en-GB" sz="1800" dirty="0">
                <a:solidFill>
                  <a:srgbClr val="C9D5EA"/>
                </a:solidFill>
              </a:rPr>
              <a:t>Reference material for questions and further reading</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Glossary of terms</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Diagnosis and laboratory tests</a:t>
            </a:r>
          </a:p>
        </p:txBody>
      </p:sp>
      <p:cxnSp>
        <p:nvCxnSpPr>
          <p:cNvPr id="410" name="Divider"/>
          <p:cNvCxnSpPr/>
          <p:nvPr/>
        </p:nvCxnSpPr>
        <p:spPr>
          <a:xfrm>
            <a:off x="7620000" y="3302000"/>
            <a:ext cx="4064000" cy="0"/>
          </a:xfrm>
          <a:prstGeom prst="line">
            <a:avLst/>
          </a:prstGeom>
          <a:ln w="9525">
            <a:solidFill>
              <a:srgbClr val="3E5C80"/>
            </a:solidFill>
          </a:ln>
        </p:spPr>
      </p:cxnSp>
      <p:sp>
        <p:nvSpPr>
          <p:cNvPr id="411" name="Item 3"/>
          <p:cNvSpPr txBox="1"/>
          <p:nvPr/>
        </p:nvSpPr>
        <p:spPr>
          <a:xfrm>
            <a:off x="7620000" y="3302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Biology of MPS</a:t>
            </a:r>
          </a:p>
        </p:txBody>
      </p:sp>
      <p:cxnSp>
        <p:nvCxnSpPr>
          <p:cNvPr id="412" name="Divider"/>
          <p:cNvCxnSpPr/>
          <p:nvPr/>
        </p:nvCxnSpPr>
        <p:spPr>
          <a:xfrm>
            <a:off x="7620000" y="3937000"/>
            <a:ext cx="4064000" cy="0"/>
          </a:xfrm>
          <a:prstGeom prst="line">
            <a:avLst/>
          </a:prstGeom>
          <a:ln w="9525">
            <a:solidFill>
              <a:srgbClr val="3E5C80"/>
            </a:solidFill>
          </a:ln>
        </p:spPr>
      </p:cxnSp>
      <p:sp>
        <p:nvSpPr>
          <p:cNvPr id="413" name="Item 4"/>
          <p:cNvSpPr txBox="1"/>
          <p:nvPr/>
        </p:nvSpPr>
        <p:spPr>
          <a:xfrm>
            <a:off x="7620000" y="3937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Skeletal and radiology detail</a:t>
            </a:r>
          </a:p>
        </p:txBody>
      </p:sp>
      <p:cxnSp>
        <p:nvCxnSpPr>
          <p:cNvPr id="414" name="Divider"/>
          <p:cNvCxnSpPr/>
          <p:nvPr/>
        </p:nvCxnSpPr>
        <p:spPr>
          <a:xfrm>
            <a:off x="7620000" y="4572000"/>
            <a:ext cx="4064000" cy="0"/>
          </a:xfrm>
          <a:prstGeom prst="line">
            <a:avLst/>
          </a:prstGeom>
          <a:ln w="9525">
            <a:solidFill>
              <a:srgbClr val="3E5C80"/>
            </a:solidFill>
          </a:ln>
        </p:spPr>
      </p:cxnSp>
      <p:sp>
        <p:nvSpPr>
          <p:cNvPr id="415" name="Item 5"/>
          <p:cNvSpPr txBox="1"/>
          <p:nvPr/>
        </p:nvSpPr>
        <p:spPr>
          <a:xfrm>
            <a:off x="7620000" y="4572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SmPC dosing and infusion detail</a:t>
            </a:r>
          </a:p>
        </p:txBody>
      </p:sp>
      <p:cxnSp>
        <p:nvCxnSpPr>
          <p:cNvPr id="416" name="Divider"/>
          <p:cNvCxnSpPr/>
          <p:nvPr/>
        </p:nvCxnSpPr>
        <p:spPr>
          <a:xfrm>
            <a:off x="7620000" y="5207000"/>
            <a:ext cx="4064000" cy="0"/>
          </a:xfrm>
          <a:prstGeom prst="line">
            <a:avLst/>
          </a:prstGeom>
          <a:ln w="9525">
            <a:solidFill>
              <a:srgbClr val="3E5C80"/>
            </a:solidFill>
          </a:ln>
        </p:spPr>
      </p:cxnSp>
      <p:sp>
        <p:nvSpPr>
          <p:cNvPr id="417" name="Item 6"/>
          <p:cNvSpPr txBox="1"/>
          <p:nvPr/>
        </p:nvSpPr>
        <p:spPr>
          <a:xfrm>
            <a:off x="7620000" y="5207000"/>
            <a:ext cx="4064000" cy="647700"/>
          </a:xfrm>
          <a:prstGeom prst="rect">
            <a:avLst/>
          </a:prstGeom>
          <a:noFill/>
          <a:ln>
            <a:noFill/>
          </a:ln>
        </p:spPr>
        <p:txBody>
          <a:bodyPr wrap="square" lIns="0" tIns="0" rIns="0" bIns="0" anchor="ctr">
            <a:noAutofit/>
          </a:bodyPr>
          <a:lstStyle/>
          <a:p>
            <a:pPr>
              <a:spcBef>
                <a:spcPts val="0"/>
              </a:spcBef>
              <a:buNone/>
            </a:pPr>
            <a:r>
              <a:rPr lang="en-GB" sz="1600" dirty="0">
                <a:solidFill>
                  <a:srgbClr val="FFFFFF"/>
                </a:solidFill>
              </a:rPr>
              <a:t>Clinical trial evidence</a:t>
            </a:r>
          </a:p>
        </p:txBody>
      </p:sp>
    </p:spTree>
    <p:extLst>
      <p:ext uri="{BB962C8B-B14F-4D97-AF65-F5344CB8AC3E}">
        <p14:creationId xmlns:p14="http://schemas.microsoft.com/office/powerpoint/2010/main" val="31911230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Appendix</a:t>
            </a:r>
          </a:p>
        </p:txBody>
      </p:sp>
      <p:sp>
        <p:nvSpPr>
          <p:cNvPr id="11" name="Title"/>
          <p:cNvSpPr>
            <a:spLocks noGrp="1"/>
          </p:cNvSpPr>
          <p:nvPr>
            <p:ph type="title"/>
          </p:nvPr>
        </p:nvSpPr>
        <p:spPr/>
        <p:txBody>
          <a:bodyPr wrap="square" lIns="0" tIns="0" rIns="0" bIns="0" rtlCol="0" anchor="t">
            <a:noAutofit/>
          </a:bodyPr>
          <a:lstStyle/>
          <a:p>
            <a:pPr>
              <a:spcBef>
                <a:spcPts val="0"/>
              </a:spcBef>
              <a:spcAft>
                <a:spcPts val="0"/>
              </a:spcAft>
              <a:buNone/>
            </a:pPr>
            <a:r>
              <a:rPr lang="en-US" dirty="0"/>
              <a:t>Glossary</a:t>
            </a:r>
          </a:p>
        </p:txBody>
      </p:sp>
      <p:sp>
        <p:nvSpPr>
          <p:cNvPr id="12" name="Shape 12"/>
          <p:cNvSpPr txBox="1"/>
          <p:nvPr/>
        </p:nvSpPr>
        <p:spPr>
          <a:xfrm>
            <a:off x="660400" y="14732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6MWT / 12MWT</a:t>
            </a:r>
          </a:p>
        </p:txBody>
      </p:sp>
      <p:sp>
        <p:nvSpPr>
          <p:cNvPr id="13" name="Shape 13"/>
          <p:cNvSpPr txBox="1"/>
          <p:nvPr/>
        </p:nvSpPr>
        <p:spPr>
          <a:xfrm>
            <a:off x="2616200" y="14732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Distance walked in 6 or 12 minutes; a measure of endurance</a:t>
            </a:r>
          </a:p>
        </p:txBody>
      </p:sp>
      <p:cxnSp>
        <p:nvCxnSpPr>
          <p:cNvPr id="14" name="Line 14"/>
          <p:cNvCxnSpPr/>
          <p:nvPr/>
        </p:nvCxnSpPr>
        <p:spPr>
          <a:xfrm>
            <a:off x="660400" y="1981200"/>
            <a:ext cx="5283200" cy="0"/>
          </a:xfrm>
          <a:prstGeom prst="line">
            <a:avLst/>
          </a:prstGeom>
          <a:ln w="9525">
            <a:solidFill>
              <a:srgbClr val="E0E0E0"/>
            </a:solidFill>
          </a:ln>
        </p:spPr>
      </p:cxnSp>
      <p:sp>
        <p:nvSpPr>
          <p:cNvPr id="15" name="Shape 15"/>
          <p:cNvSpPr txBox="1"/>
          <p:nvPr/>
        </p:nvSpPr>
        <p:spPr>
          <a:xfrm>
            <a:off x="660400" y="19939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ARSB</a:t>
            </a:r>
          </a:p>
        </p:txBody>
      </p:sp>
      <p:sp>
        <p:nvSpPr>
          <p:cNvPr id="16" name="Shape 16"/>
          <p:cNvSpPr txBox="1"/>
          <p:nvPr/>
        </p:nvSpPr>
        <p:spPr>
          <a:xfrm>
            <a:off x="2616200" y="19939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Arylsulfatase B, the enzyme missing in MPS VI</a:t>
            </a:r>
          </a:p>
        </p:txBody>
      </p:sp>
      <p:cxnSp>
        <p:nvCxnSpPr>
          <p:cNvPr id="17" name="Line 17"/>
          <p:cNvCxnSpPr/>
          <p:nvPr/>
        </p:nvCxnSpPr>
        <p:spPr>
          <a:xfrm>
            <a:off x="660400" y="2501900"/>
            <a:ext cx="5283200" cy="0"/>
          </a:xfrm>
          <a:prstGeom prst="line">
            <a:avLst/>
          </a:prstGeom>
          <a:ln w="9525">
            <a:solidFill>
              <a:srgbClr val="E0E0E0"/>
            </a:solidFill>
          </a:ln>
        </p:spPr>
      </p:cxnSp>
      <p:sp>
        <p:nvSpPr>
          <p:cNvPr id="18" name="Shape 18"/>
          <p:cNvSpPr txBox="1"/>
          <p:nvPr/>
        </p:nvSpPr>
        <p:spPr>
          <a:xfrm>
            <a:off x="660400" y="25146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CPAP / BiPAP</a:t>
            </a:r>
          </a:p>
        </p:txBody>
      </p:sp>
      <p:sp>
        <p:nvSpPr>
          <p:cNvPr id="19" name="Shape 19"/>
          <p:cNvSpPr txBox="1"/>
          <p:nvPr/>
        </p:nvSpPr>
        <p:spPr>
          <a:xfrm>
            <a:off x="2616200" y="25146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Machines that keep the airway open with air pressure during sleep</a:t>
            </a:r>
          </a:p>
        </p:txBody>
      </p:sp>
      <p:cxnSp>
        <p:nvCxnSpPr>
          <p:cNvPr id="20" name="Line 20"/>
          <p:cNvCxnSpPr/>
          <p:nvPr/>
        </p:nvCxnSpPr>
        <p:spPr>
          <a:xfrm>
            <a:off x="660400" y="3022600"/>
            <a:ext cx="5283200" cy="0"/>
          </a:xfrm>
          <a:prstGeom prst="line">
            <a:avLst/>
          </a:prstGeom>
          <a:ln w="9525">
            <a:solidFill>
              <a:srgbClr val="E0E0E0"/>
            </a:solidFill>
          </a:ln>
        </p:spPr>
      </p:cxnSp>
      <p:sp>
        <p:nvSpPr>
          <p:cNvPr id="21" name="Shape 21"/>
          <p:cNvSpPr txBox="1"/>
          <p:nvPr/>
        </p:nvSpPr>
        <p:spPr>
          <a:xfrm>
            <a:off x="660400" y="30353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Dysostosis multiplex</a:t>
            </a:r>
          </a:p>
        </p:txBody>
      </p:sp>
      <p:sp>
        <p:nvSpPr>
          <p:cNvPr id="22" name="Shape 22"/>
          <p:cNvSpPr txBox="1"/>
          <p:nvPr/>
        </p:nvSpPr>
        <p:spPr>
          <a:xfrm>
            <a:off x="2616200" y="30353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Pattern of bone changes seen on X-ray in MPS</a:t>
            </a:r>
          </a:p>
        </p:txBody>
      </p:sp>
      <p:cxnSp>
        <p:nvCxnSpPr>
          <p:cNvPr id="23" name="Line 23"/>
          <p:cNvCxnSpPr/>
          <p:nvPr/>
        </p:nvCxnSpPr>
        <p:spPr>
          <a:xfrm>
            <a:off x="660400" y="3543300"/>
            <a:ext cx="5283200" cy="0"/>
          </a:xfrm>
          <a:prstGeom prst="line">
            <a:avLst/>
          </a:prstGeom>
          <a:ln w="9525">
            <a:solidFill>
              <a:srgbClr val="E0E0E0"/>
            </a:solidFill>
          </a:ln>
        </p:spPr>
      </p:cxnSp>
      <p:sp>
        <p:nvSpPr>
          <p:cNvPr id="24" name="Shape 24"/>
          <p:cNvSpPr txBox="1"/>
          <p:nvPr/>
        </p:nvSpPr>
        <p:spPr>
          <a:xfrm>
            <a:off x="660400" y="35560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ERT</a:t>
            </a:r>
          </a:p>
        </p:txBody>
      </p:sp>
      <p:sp>
        <p:nvSpPr>
          <p:cNvPr id="25" name="Shape 25"/>
          <p:cNvSpPr txBox="1"/>
          <p:nvPr/>
        </p:nvSpPr>
        <p:spPr>
          <a:xfrm>
            <a:off x="2616200" y="35560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Enzyme replacement therapy</a:t>
            </a:r>
          </a:p>
        </p:txBody>
      </p:sp>
      <p:cxnSp>
        <p:nvCxnSpPr>
          <p:cNvPr id="26" name="Line 26"/>
          <p:cNvCxnSpPr/>
          <p:nvPr/>
        </p:nvCxnSpPr>
        <p:spPr>
          <a:xfrm>
            <a:off x="660400" y="4064000"/>
            <a:ext cx="5283200" cy="0"/>
          </a:xfrm>
          <a:prstGeom prst="line">
            <a:avLst/>
          </a:prstGeom>
          <a:ln w="9525">
            <a:solidFill>
              <a:srgbClr val="E0E0E0"/>
            </a:solidFill>
          </a:ln>
        </p:spPr>
      </p:cxnSp>
      <p:sp>
        <p:nvSpPr>
          <p:cNvPr id="27" name="Shape 27"/>
          <p:cNvSpPr txBox="1"/>
          <p:nvPr/>
        </p:nvSpPr>
        <p:spPr>
          <a:xfrm>
            <a:off x="660400" y="40767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FVC / FEV1</a:t>
            </a:r>
          </a:p>
        </p:txBody>
      </p:sp>
      <p:sp>
        <p:nvSpPr>
          <p:cNvPr id="28" name="Shape 28"/>
          <p:cNvSpPr txBox="1"/>
          <p:nvPr/>
        </p:nvSpPr>
        <p:spPr>
          <a:xfrm>
            <a:off x="2616200" y="40767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Air breathed out forcefully: total, and in the first second</a:t>
            </a:r>
          </a:p>
        </p:txBody>
      </p:sp>
      <p:cxnSp>
        <p:nvCxnSpPr>
          <p:cNvPr id="29" name="Line 29"/>
          <p:cNvCxnSpPr/>
          <p:nvPr/>
        </p:nvCxnSpPr>
        <p:spPr>
          <a:xfrm>
            <a:off x="660400" y="4584700"/>
            <a:ext cx="5283200" cy="0"/>
          </a:xfrm>
          <a:prstGeom prst="line">
            <a:avLst/>
          </a:prstGeom>
          <a:ln w="9525">
            <a:solidFill>
              <a:srgbClr val="E0E0E0"/>
            </a:solidFill>
          </a:ln>
        </p:spPr>
      </p:cxnSp>
      <p:sp>
        <p:nvSpPr>
          <p:cNvPr id="30" name="Shape 30"/>
          <p:cNvSpPr txBox="1"/>
          <p:nvPr/>
        </p:nvSpPr>
        <p:spPr>
          <a:xfrm>
            <a:off x="660400" y="45974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GAG</a:t>
            </a:r>
          </a:p>
        </p:txBody>
      </p:sp>
      <p:sp>
        <p:nvSpPr>
          <p:cNvPr id="31" name="Shape 31"/>
          <p:cNvSpPr txBox="1"/>
          <p:nvPr/>
        </p:nvSpPr>
        <p:spPr>
          <a:xfrm>
            <a:off x="2616200" y="45974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Glycosaminoglycan: long sugar chains stored in MPS</a:t>
            </a:r>
          </a:p>
        </p:txBody>
      </p:sp>
      <p:cxnSp>
        <p:nvCxnSpPr>
          <p:cNvPr id="32" name="Line 32"/>
          <p:cNvCxnSpPr/>
          <p:nvPr/>
        </p:nvCxnSpPr>
        <p:spPr>
          <a:xfrm>
            <a:off x="660400" y="5105400"/>
            <a:ext cx="5283200" cy="0"/>
          </a:xfrm>
          <a:prstGeom prst="line">
            <a:avLst/>
          </a:prstGeom>
          <a:ln w="9525">
            <a:solidFill>
              <a:srgbClr val="E0E0E0"/>
            </a:solidFill>
          </a:ln>
        </p:spPr>
      </p:cxnSp>
      <p:sp>
        <p:nvSpPr>
          <p:cNvPr id="33" name="Shape 33"/>
          <p:cNvSpPr txBox="1"/>
          <p:nvPr/>
        </p:nvSpPr>
        <p:spPr>
          <a:xfrm>
            <a:off x="660400" y="51181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GALNS</a:t>
            </a:r>
          </a:p>
        </p:txBody>
      </p:sp>
      <p:sp>
        <p:nvSpPr>
          <p:cNvPr id="34" name="Shape 34"/>
          <p:cNvSpPr txBox="1"/>
          <p:nvPr/>
        </p:nvSpPr>
        <p:spPr>
          <a:xfrm>
            <a:off x="2616200" y="51181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N-acetylgalactosamine-6-sulfatase, the enzyme missing in MPS IVA</a:t>
            </a:r>
          </a:p>
        </p:txBody>
      </p:sp>
      <p:sp>
        <p:nvSpPr>
          <p:cNvPr id="35" name="Shape 35"/>
          <p:cNvSpPr txBox="1"/>
          <p:nvPr/>
        </p:nvSpPr>
        <p:spPr>
          <a:xfrm>
            <a:off x="6248400" y="14732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HSCT</a:t>
            </a:r>
          </a:p>
        </p:txBody>
      </p:sp>
      <p:sp>
        <p:nvSpPr>
          <p:cNvPr id="36" name="Shape 36"/>
          <p:cNvSpPr txBox="1"/>
          <p:nvPr/>
        </p:nvSpPr>
        <p:spPr>
          <a:xfrm>
            <a:off x="8204200" y="14732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Haematopoietic stem cell transplantation</a:t>
            </a:r>
          </a:p>
        </p:txBody>
      </p:sp>
      <p:cxnSp>
        <p:nvCxnSpPr>
          <p:cNvPr id="37" name="Line 37"/>
          <p:cNvCxnSpPr/>
          <p:nvPr/>
        </p:nvCxnSpPr>
        <p:spPr>
          <a:xfrm>
            <a:off x="6248400" y="1981200"/>
            <a:ext cx="5283200" cy="0"/>
          </a:xfrm>
          <a:prstGeom prst="line">
            <a:avLst/>
          </a:prstGeom>
          <a:ln w="9525">
            <a:solidFill>
              <a:srgbClr val="E0E0E0"/>
            </a:solidFill>
          </a:ln>
        </p:spPr>
      </p:cxnSp>
      <p:sp>
        <p:nvSpPr>
          <p:cNvPr id="38" name="Shape 38"/>
          <p:cNvSpPr txBox="1"/>
          <p:nvPr/>
        </p:nvSpPr>
        <p:spPr>
          <a:xfrm>
            <a:off x="6248400" y="19939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IAR</a:t>
            </a:r>
          </a:p>
        </p:txBody>
      </p:sp>
      <p:sp>
        <p:nvSpPr>
          <p:cNvPr id="39" name="Shape 39"/>
          <p:cNvSpPr txBox="1"/>
          <p:nvPr/>
        </p:nvSpPr>
        <p:spPr>
          <a:xfrm>
            <a:off x="8204200" y="19939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Infusion-associated reaction</a:t>
            </a:r>
          </a:p>
        </p:txBody>
      </p:sp>
      <p:cxnSp>
        <p:nvCxnSpPr>
          <p:cNvPr id="40" name="Line 40"/>
          <p:cNvCxnSpPr/>
          <p:nvPr/>
        </p:nvCxnSpPr>
        <p:spPr>
          <a:xfrm>
            <a:off x="6248400" y="2501900"/>
            <a:ext cx="5283200" cy="0"/>
          </a:xfrm>
          <a:prstGeom prst="line">
            <a:avLst/>
          </a:prstGeom>
          <a:ln w="9525">
            <a:solidFill>
              <a:srgbClr val="E0E0E0"/>
            </a:solidFill>
          </a:ln>
        </p:spPr>
      </p:cxnSp>
      <p:sp>
        <p:nvSpPr>
          <p:cNvPr id="41" name="Shape 41"/>
          <p:cNvSpPr txBox="1"/>
          <p:nvPr/>
        </p:nvSpPr>
        <p:spPr>
          <a:xfrm>
            <a:off x="6248400" y="25146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KS / DS</a:t>
            </a:r>
          </a:p>
        </p:txBody>
      </p:sp>
      <p:sp>
        <p:nvSpPr>
          <p:cNvPr id="42" name="Shape 42"/>
          <p:cNvSpPr txBox="1"/>
          <p:nvPr/>
        </p:nvSpPr>
        <p:spPr>
          <a:xfrm>
            <a:off x="8204200" y="25146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Keratan sulfate / dermatan sulfate, the GAGs stored in MPS IVA / VI</a:t>
            </a:r>
          </a:p>
        </p:txBody>
      </p:sp>
      <p:cxnSp>
        <p:nvCxnSpPr>
          <p:cNvPr id="43" name="Line 43"/>
          <p:cNvCxnSpPr/>
          <p:nvPr/>
        </p:nvCxnSpPr>
        <p:spPr>
          <a:xfrm>
            <a:off x="6248400" y="3022600"/>
            <a:ext cx="5283200" cy="0"/>
          </a:xfrm>
          <a:prstGeom prst="line">
            <a:avLst/>
          </a:prstGeom>
          <a:ln w="9525">
            <a:solidFill>
              <a:srgbClr val="E0E0E0"/>
            </a:solidFill>
          </a:ln>
        </p:spPr>
      </p:cxnSp>
      <p:sp>
        <p:nvSpPr>
          <p:cNvPr id="44" name="Shape 44"/>
          <p:cNvSpPr txBox="1"/>
          <p:nvPr/>
        </p:nvSpPr>
        <p:spPr>
          <a:xfrm>
            <a:off x="6248400" y="30353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Lysosome</a:t>
            </a:r>
          </a:p>
        </p:txBody>
      </p:sp>
      <p:sp>
        <p:nvSpPr>
          <p:cNvPr id="45" name="Shape 45"/>
          <p:cNvSpPr txBox="1"/>
          <p:nvPr/>
        </p:nvSpPr>
        <p:spPr>
          <a:xfrm>
            <a:off x="8204200" y="30353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Compartment of the cell where GAGs are normally broken down</a:t>
            </a:r>
          </a:p>
        </p:txBody>
      </p:sp>
      <p:cxnSp>
        <p:nvCxnSpPr>
          <p:cNvPr id="46" name="Line 46"/>
          <p:cNvCxnSpPr/>
          <p:nvPr/>
        </p:nvCxnSpPr>
        <p:spPr>
          <a:xfrm>
            <a:off x="6248400" y="3543300"/>
            <a:ext cx="5283200" cy="0"/>
          </a:xfrm>
          <a:prstGeom prst="line">
            <a:avLst/>
          </a:prstGeom>
          <a:ln w="9525">
            <a:solidFill>
              <a:srgbClr val="E0E0E0"/>
            </a:solidFill>
          </a:ln>
        </p:spPr>
      </p:cxnSp>
      <p:sp>
        <p:nvSpPr>
          <p:cNvPr id="47" name="Shape 47"/>
          <p:cNvSpPr txBox="1"/>
          <p:nvPr/>
        </p:nvSpPr>
        <p:spPr>
          <a:xfrm>
            <a:off x="6248400" y="35560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MVV</a:t>
            </a:r>
          </a:p>
        </p:txBody>
      </p:sp>
      <p:sp>
        <p:nvSpPr>
          <p:cNvPr id="48" name="Shape 48"/>
          <p:cNvSpPr txBox="1"/>
          <p:nvPr/>
        </p:nvSpPr>
        <p:spPr>
          <a:xfrm>
            <a:off x="8204200" y="35560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Maximum voluntary ventilation, a test of breathing capacity</a:t>
            </a:r>
          </a:p>
        </p:txBody>
      </p:sp>
      <p:cxnSp>
        <p:nvCxnSpPr>
          <p:cNvPr id="49" name="Line 49"/>
          <p:cNvCxnSpPr/>
          <p:nvPr/>
        </p:nvCxnSpPr>
        <p:spPr>
          <a:xfrm>
            <a:off x="6248400" y="4064000"/>
            <a:ext cx="5283200" cy="0"/>
          </a:xfrm>
          <a:prstGeom prst="line">
            <a:avLst/>
          </a:prstGeom>
          <a:ln w="9525">
            <a:solidFill>
              <a:srgbClr val="E0E0E0"/>
            </a:solidFill>
          </a:ln>
        </p:spPr>
      </p:cxnSp>
      <p:sp>
        <p:nvSpPr>
          <p:cNvPr id="50" name="Shape 50"/>
          <p:cNvSpPr txBox="1"/>
          <p:nvPr/>
        </p:nvSpPr>
        <p:spPr>
          <a:xfrm>
            <a:off x="6248400" y="40767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Odontoid hypoplasia</a:t>
            </a:r>
          </a:p>
        </p:txBody>
      </p:sp>
      <p:sp>
        <p:nvSpPr>
          <p:cNvPr id="51" name="Shape 51"/>
          <p:cNvSpPr txBox="1"/>
          <p:nvPr/>
        </p:nvSpPr>
        <p:spPr>
          <a:xfrm>
            <a:off x="8204200" y="40767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Underdeveloped peg of the second neck bone, causing instability</a:t>
            </a:r>
          </a:p>
        </p:txBody>
      </p:sp>
      <p:cxnSp>
        <p:nvCxnSpPr>
          <p:cNvPr id="52" name="Line 52"/>
          <p:cNvCxnSpPr/>
          <p:nvPr/>
        </p:nvCxnSpPr>
        <p:spPr>
          <a:xfrm>
            <a:off x="6248400" y="4584700"/>
            <a:ext cx="5283200" cy="0"/>
          </a:xfrm>
          <a:prstGeom prst="line">
            <a:avLst/>
          </a:prstGeom>
          <a:ln w="9525">
            <a:solidFill>
              <a:srgbClr val="E0E0E0"/>
            </a:solidFill>
          </a:ln>
        </p:spPr>
      </p:cxnSp>
      <p:sp>
        <p:nvSpPr>
          <p:cNvPr id="53" name="Shape 53"/>
          <p:cNvSpPr txBox="1"/>
          <p:nvPr/>
        </p:nvSpPr>
        <p:spPr>
          <a:xfrm>
            <a:off x="6248400" y="45974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Pharmacovigilance</a:t>
            </a:r>
          </a:p>
        </p:txBody>
      </p:sp>
      <p:sp>
        <p:nvSpPr>
          <p:cNvPr id="54" name="Shape 54"/>
          <p:cNvSpPr txBox="1"/>
          <p:nvPr/>
        </p:nvSpPr>
        <p:spPr>
          <a:xfrm>
            <a:off x="8204200" y="45974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Collecting and reporting side effects of medicines</a:t>
            </a:r>
          </a:p>
        </p:txBody>
      </p:sp>
      <p:cxnSp>
        <p:nvCxnSpPr>
          <p:cNvPr id="55" name="Line 55"/>
          <p:cNvCxnSpPr/>
          <p:nvPr/>
        </p:nvCxnSpPr>
        <p:spPr>
          <a:xfrm>
            <a:off x="6248400" y="5105400"/>
            <a:ext cx="5283200" cy="0"/>
          </a:xfrm>
          <a:prstGeom prst="line">
            <a:avLst/>
          </a:prstGeom>
          <a:ln w="9525">
            <a:solidFill>
              <a:srgbClr val="E0E0E0"/>
            </a:solidFill>
          </a:ln>
        </p:spPr>
      </p:cxnSp>
      <p:sp>
        <p:nvSpPr>
          <p:cNvPr id="56" name="Shape 56"/>
          <p:cNvSpPr txBox="1"/>
          <p:nvPr/>
        </p:nvSpPr>
        <p:spPr>
          <a:xfrm>
            <a:off x="6248400" y="5118100"/>
            <a:ext cx="19050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uGAG / uKS</a:t>
            </a:r>
          </a:p>
        </p:txBody>
      </p:sp>
      <p:sp>
        <p:nvSpPr>
          <p:cNvPr id="57" name="Shape 57"/>
          <p:cNvSpPr txBox="1"/>
          <p:nvPr/>
        </p:nvSpPr>
        <p:spPr>
          <a:xfrm>
            <a:off x="8204200" y="5118100"/>
            <a:ext cx="3327400" cy="482600"/>
          </a:xfrm>
          <a:prstGeom prst="rect">
            <a:avLst/>
          </a:prstGeom>
          <a:noFill/>
          <a:ln>
            <a:noFill/>
          </a:ln>
        </p:spPr>
        <p:txBody>
          <a:bodyPr wrap="square" lIns="0" tIns="0" rIns="0" bIns="0" rtlCol="0" anchor="ctr">
            <a:noAutofit/>
          </a:bodyPr>
          <a:lstStyle/>
          <a:p>
            <a:pPr>
              <a:spcBef>
                <a:spcPts val="0"/>
              </a:spcBef>
              <a:spcAft>
                <a:spcPts val="0"/>
              </a:spcAft>
              <a:buNone/>
            </a:pPr>
            <a:r>
              <a:rPr lang="en-US" sz="1300" dirty="0">
                <a:solidFill>
                  <a:srgbClr val="2B2B2B"/>
                </a:solidFill>
              </a:rPr>
              <a:t>Urinary GAG / keratan sulfate levels</a:t>
            </a:r>
          </a:p>
        </p:txBody>
      </p:sp>
    </p:spTree>
    <p:extLst>
      <p:ext uri="{BB962C8B-B14F-4D97-AF65-F5344CB8AC3E}">
        <p14:creationId xmlns:p14="http://schemas.microsoft.com/office/powerpoint/2010/main" val="23332743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1244600" y="444500"/>
            <a:ext cx="10287000" cy="889000"/>
          </a:xfrm>
        </p:spPr>
        <p:txBody>
          <a:bodyPr wrap="square" lIns="0" tIns="0" rIns="0" bIns="0" anchor="t">
            <a:noAutofit/>
          </a:bodyPr>
          <a:lstStyle/>
          <a:p>
            <a:pPr>
              <a:spcBef>
                <a:spcPts val="0"/>
              </a:spcBef>
              <a:spcAft>
                <a:spcPts val="0"/>
              </a:spcAft>
              <a:buNone/>
            </a:pPr>
            <a:r>
              <a:rPr lang="en-US" dirty="0">
                <a:solidFill>
                  <a:srgbClr val="A9218E"/>
                </a:solidFill>
              </a:rPr>
              <a:t>Orthopaedics: </a:t>
            </a:r>
            <a:r>
              <a:rPr lang="en-US" dirty="0"/>
              <a:t>skeletal involvement in MPS</a:t>
            </a:r>
          </a:p>
        </p:txBody>
      </p:sp>
      <p:sp>
        <p:nvSpPr>
          <p:cNvPr id="202" name="Box"/>
          <p:cNvSpPr txBox="1"/>
          <p:nvPr/>
        </p:nvSpPr>
        <p:spPr>
          <a:xfrm>
            <a:off x="660400" y="1549400"/>
            <a:ext cx="5969000" cy="3759200"/>
          </a:xfrm>
          <a:prstGeom prst="rect">
            <a:avLst/>
          </a:prstGeom>
          <a:noFill/>
          <a:ln>
            <a:noFill/>
          </a:ln>
        </p:spPr>
        <p:txBody>
          <a:bodyPr wrap="square" lIns="0" tIns="0" rIns="0" bIns="0" anchor="t">
            <a:noAutofit/>
          </a:bodyPr>
          <a:lstStyle/>
          <a:p>
            <a:pPr marL="171450" indent="-171450">
              <a:spcBef>
                <a:spcPts val="0"/>
              </a:spcBef>
              <a:spcAft>
                <a:spcPts val="0"/>
              </a:spcAft>
              <a:buClr>
                <a:srgbClr val="28509C"/>
              </a:buClr>
              <a:buFont typeface="Arial"/>
              <a:buChar char="•"/>
            </a:pPr>
            <a:r>
              <a:rPr lang="en-US" sz="1600" dirty="0">
                <a:solidFill>
                  <a:srgbClr val="2B2B2B"/>
                </a:solidFill>
              </a:rPr>
              <a:t>Skeletal impairment ranges from </a:t>
            </a:r>
            <a:r>
              <a:rPr lang="en-US" sz="1600" b="1" dirty="0">
                <a:solidFill>
                  <a:srgbClr val="002E56"/>
                </a:solidFill>
              </a:rPr>
              <a:t>mild platyspondyly</a:t>
            </a:r>
            <a:r>
              <a:rPr lang="en-US" sz="1600" dirty="0">
                <a:solidFill>
                  <a:srgbClr val="2B2B2B"/>
                </a:solidFill>
              </a:rPr>
              <a:t> (flattened vertebrae) to </a:t>
            </a:r>
            <a:r>
              <a:rPr lang="en-US" sz="1600" b="1" dirty="0">
                <a:solidFill>
                  <a:srgbClr val="002E56"/>
                </a:solidFill>
              </a:rPr>
              <a:t>severe deformities</a:t>
            </a:r>
            <a:r>
              <a:rPr lang="en-US" sz="1600" dirty="0">
                <a:solidFill>
                  <a:srgbClr val="2B2B2B"/>
                </a:solidFill>
              </a:rPr>
              <a:t> that cause disability and shorten life</a:t>
            </a:r>
            <a:r>
              <a:rPr lang="en-US" sz="1600" baseline="30000" dirty="0">
                <a:solidFill>
                  <a:srgbClr val="2B2B2B"/>
                </a:solidFill>
              </a:rPr>
              <a:t>1</a:t>
            </a:r>
          </a:p>
          <a:p>
            <a:pPr marL="171450" indent="-171450">
              <a:spcBef>
                <a:spcPts val="1800"/>
              </a:spcBef>
              <a:spcAft>
                <a:spcPts val="0"/>
              </a:spcAft>
              <a:buClr>
                <a:srgbClr val="28509C"/>
              </a:buClr>
              <a:buFont typeface="Arial"/>
              <a:buChar char="•"/>
            </a:pPr>
            <a:r>
              <a:rPr lang="en-US" sz="1600" b="1" dirty="0">
                <a:solidFill>
                  <a:srgbClr val="002E56"/>
                </a:solidFill>
              </a:rPr>
              <a:t>Short stature</a:t>
            </a:r>
            <a:r>
              <a:rPr lang="en-US" sz="1600" dirty="0">
                <a:solidFill>
                  <a:srgbClr val="2B2B2B"/>
                </a:solidFill>
              </a:rPr>
              <a:t> and slowed growth are typical of most MPS types</a:t>
            </a:r>
            <a:r>
              <a:rPr lang="en-US" sz="1600" baseline="30000" dirty="0">
                <a:solidFill>
                  <a:srgbClr val="2B2B2B"/>
                </a:solidFill>
              </a:rPr>
              <a:t>1</a:t>
            </a:r>
          </a:p>
          <a:p>
            <a:pPr marL="171450" indent="-171450">
              <a:spcBef>
                <a:spcPts val="1800"/>
              </a:spcBef>
              <a:spcAft>
                <a:spcPts val="0"/>
              </a:spcAft>
              <a:buClr>
                <a:srgbClr val="28509C"/>
              </a:buClr>
              <a:buFont typeface="Arial"/>
              <a:buChar char="•"/>
            </a:pPr>
            <a:r>
              <a:rPr lang="en-US" sz="1600" b="1" dirty="0">
                <a:solidFill>
                  <a:srgbClr val="002E56"/>
                </a:solidFill>
              </a:rPr>
              <a:t>Dysostosis multiplex</a:t>
            </a:r>
            <a:r>
              <a:rPr lang="en-US" sz="1600" dirty="0">
                <a:solidFill>
                  <a:srgbClr val="2B2B2B"/>
                </a:solidFill>
              </a:rPr>
              <a:t> (bone abnormalities) is identified on X-ray</a:t>
            </a:r>
            <a:r>
              <a:rPr lang="en-US" sz="1600" baseline="30000" dirty="0">
                <a:solidFill>
                  <a:srgbClr val="2B2B2B"/>
                </a:solidFill>
              </a:rPr>
              <a:t>2,3</a:t>
            </a:r>
          </a:p>
        </p:txBody>
      </p:sp>
      <p:sp>
        <p:nvSpPr>
          <p:cNvPr id="203" name="Box"/>
          <p:cNvSpPr/>
          <p:nvPr/>
        </p:nvSpPr>
        <p:spPr>
          <a:xfrm>
            <a:off x="6934200" y="1498600"/>
            <a:ext cx="4597400" cy="3810000"/>
          </a:xfrm>
          <a:prstGeom prst="roundRect">
            <a:avLst>
              <a:gd name="adj" fmla="val 3000"/>
            </a:avLst>
          </a:prstGeom>
          <a:solidFill>
            <a:srgbClr val="E3EAF5"/>
          </a:solidFill>
          <a:ln>
            <a:noFill/>
          </a:ln>
        </p:spPr>
        <p:txBody>
          <a:bodyPr wrap="square" lIns="0" tIns="0" rIns="0" bIns="0" anchor="t">
            <a:noAutofit/>
          </a:bodyPr>
          <a:lstStyle/>
          <a:p>
            <a:endParaRPr lang="en-US" dirty="0"/>
          </a:p>
        </p:txBody>
      </p:sp>
      <p:sp>
        <p:nvSpPr>
          <p:cNvPr id="205" name="Box"/>
          <p:cNvSpPr txBox="1"/>
          <p:nvPr/>
        </p:nvSpPr>
        <p:spPr>
          <a:xfrm>
            <a:off x="7162800" y="1676400"/>
            <a:ext cx="4191000" cy="3556000"/>
          </a:xfrm>
          <a:prstGeom prst="rect">
            <a:avLst/>
          </a:prstGeom>
          <a:noFill/>
          <a:ln>
            <a:noFill/>
          </a:ln>
        </p:spPr>
        <p:txBody>
          <a:bodyPr wrap="square" lIns="0" tIns="0" rIns="0" bIns="0" anchor="t">
            <a:noAutofit/>
          </a:bodyPr>
          <a:lstStyle/>
          <a:p>
            <a:pPr>
              <a:spcBef>
                <a:spcPts val="0"/>
              </a:spcBef>
              <a:spcAft>
                <a:spcPts val="0"/>
              </a:spcAft>
              <a:buNone/>
            </a:pPr>
            <a:r>
              <a:rPr lang="en-US" sz="1800" b="1" dirty="0">
                <a:solidFill>
                  <a:srgbClr val="28509C"/>
                </a:solidFill>
              </a:rPr>
              <a:t>How dysostosis multiplex develops</a:t>
            </a:r>
          </a:p>
          <a:p>
            <a:pPr marL="171450" indent="-171450">
              <a:spcBef>
                <a:spcPts val="1400"/>
              </a:spcBef>
              <a:spcAft>
                <a:spcPts val="0"/>
              </a:spcAft>
              <a:buClr>
                <a:srgbClr val="28509C"/>
              </a:buClr>
              <a:buFont typeface="Arial"/>
              <a:buChar char="•"/>
            </a:pPr>
            <a:r>
              <a:rPr lang="en-US" sz="1600" dirty="0">
                <a:solidFill>
                  <a:srgbClr val="2B2B2B"/>
                </a:solidFill>
              </a:rPr>
              <a:t>GAGs build up in bone and cartilage cells</a:t>
            </a:r>
            <a:r>
              <a:rPr lang="en-US" sz="1600" baseline="30000" dirty="0">
                <a:solidFill>
                  <a:srgbClr val="2B2B2B"/>
                </a:solidFill>
              </a:rPr>
              <a:t>4</a:t>
            </a:r>
          </a:p>
          <a:p>
            <a:pPr marL="171450" indent="-171450">
              <a:spcBef>
                <a:spcPts val="1200"/>
              </a:spcBef>
              <a:spcAft>
                <a:spcPts val="0"/>
              </a:spcAft>
              <a:buClr>
                <a:srgbClr val="28509C"/>
              </a:buClr>
              <a:buFont typeface="Arial"/>
              <a:buChar char="•"/>
            </a:pPr>
            <a:r>
              <a:rPr lang="en-US" sz="1600" dirty="0">
                <a:solidFill>
                  <a:srgbClr val="2B2B2B"/>
                </a:solidFill>
              </a:rPr>
              <a:t>Clusters of GAG-filled cells trigger abnormal apoptosis in the growth plate, disrupting its normal column structure</a:t>
            </a:r>
            <a:r>
              <a:rPr lang="en-US" sz="1600" baseline="30000" dirty="0">
                <a:solidFill>
                  <a:srgbClr val="2B2B2B"/>
                </a:solidFill>
              </a:rPr>
              <a:t>4</a:t>
            </a:r>
          </a:p>
        </p:txBody>
      </p:sp>
      <p:sp>
        <p:nvSpPr>
          <p:cNvPr id="206" name="Abbreviations"/>
          <p:cNvSpPr txBox="1"/>
          <p:nvPr/>
        </p:nvSpPr>
        <p:spPr>
          <a:xfrm>
            <a:off x="660400" y="5435600"/>
            <a:ext cx="10871200" cy="4318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Apoptosis, programmed cell death, in which the cell is packaged for removal by immune cells, unlike necrosis from injury. GAG, glycosaminoglycan; MPS, mucopolysaccharidosis</a:t>
            </a:r>
          </a:p>
        </p:txBody>
      </p:sp>
      <p:sp>
        <p:nvSpPr>
          <p:cNvPr id="207" name="References"/>
          <p:cNvSpPr txBox="1"/>
          <p:nvPr/>
        </p:nvSpPr>
        <p:spPr>
          <a:xfrm>
            <a:off x="660400" y="59690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Neufeld EF, Muenzer J. In: The Metabolic and Molecular Bases of Inherited Disease. 8th ed. McGraw-Hill; 2001:3421–52. 2. Lachman R et al. J Pediatr Rehabil Med 2010;3:109–18. 3. White KW et al. J Pediatr Rehabil Med 2010;3:101–7. 4. Simonaro CM et al. Pediatr Res 2005;57:701–7.</a:t>
            </a:r>
          </a:p>
        </p:txBody>
      </p:sp>
      <p:pic>
        <p:nvPicPr>
          <p:cNvPr id="208" name="Graphic 208" descr="Orthopaedic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0400" y="469900"/>
            <a:ext cx="457200" cy="457200"/>
          </a:xfrm>
          <a:prstGeom prst="rect">
            <a:avLst/>
          </a:prstGeom>
        </p:spPr>
      </p:pic>
    </p:spTree>
    <p:extLst>
      <p:ext uri="{BB962C8B-B14F-4D97-AF65-F5344CB8AC3E}">
        <p14:creationId xmlns:p14="http://schemas.microsoft.com/office/powerpoint/2010/main" val="27192458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Image frame"/>
          <p:cNvSpPr/>
          <p:nvPr/>
        </p:nvSpPr>
        <p:spPr>
          <a:xfrm>
            <a:off x="660400" y="1447800"/>
            <a:ext cx="7061200" cy="2951480"/>
          </a:xfrm>
          <a:prstGeom prst="roundRect">
            <a:avLst>
              <a:gd name="adj" fmla="val 3873"/>
            </a:avLst>
          </a:prstGeom>
          <a:solidFill>
            <a:srgbClr val="FFFFFF"/>
          </a:solidFill>
          <a:ln w="9525">
            <a:noFill/>
          </a:ln>
        </p:spPr>
        <p:txBody>
          <a:bodyPr wrap="square" lIns="0" tIns="0" rIns="0" bIns="0" rtlCol="0" anchor="t">
            <a:noAutofit/>
          </a:bodyPr>
          <a:lstStyle/>
          <a:p>
            <a:endParaRPr lang="en-US" dirty="0"/>
          </a:p>
        </p:txBody>
      </p:sp>
      <p:pic>
        <p:nvPicPr>
          <p:cNvPr id="4" name="Picture 3">
            <a:extLst>
              <a:ext uri="{FF2B5EF4-FFF2-40B4-BE49-F238E27FC236}">
                <a16:creationId xmlns:a16="http://schemas.microsoft.com/office/drawing/2014/main" id="{F9CE4D86-4016-724B-8B1A-BAC5EAC41A2D}"/>
              </a:ext>
            </a:extLst>
          </p:cNvPr>
          <p:cNvPicPr>
            <a:picLocks noChangeAspect="1"/>
          </p:cNvPicPr>
          <p:nvPr/>
        </p:nvPicPr>
        <p:blipFill>
          <a:blip r:embed="rId2"/>
          <a:stretch>
            <a:fillRect/>
          </a:stretch>
        </p:blipFill>
        <p:spPr>
          <a:xfrm>
            <a:off x="711200" y="1498600"/>
            <a:ext cx="6959600" cy="2849880"/>
          </a:xfrm>
          <a:prstGeom prst="rect">
            <a:avLst/>
          </a:prstGeom>
        </p:spPr>
      </p:pic>
      <p:sp>
        <p:nvSpPr>
          <p:cNvPr id="201" name="Box"/>
          <p:cNvSpPr/>
          <p:nvPr/>
        </p:nvSpPr>
        <p:spPr>
          <a:xfrm>
            <a:off x="660400" y="4577080"/>
            <a:ext cx="7061200" cy="660400"/>
          </a:xfrm>
          <a:prstGeom prst="roundRect">
            <a:avLst>
              <a:gd name="adj" fmla="val 17308"/>
            </a:avLst>
          </a:prstGeom>
          <a:solidFill>
            <a:srgbClr val="E3EAF5"/>
          </a:solidFill>
          <a:ln>
            <a:noFill/>
          </a:ln>
        </p:spPr>
        <p:txBody>
          <a:bodyPr wrap="square" lIns="0" tIns="0" rIns="0" bIns="0" rtlCol="0" anchor="t">
            <a:noAutofit/>
          </a:bodyPr>
          <a:lstStyle/>
          <a:p>
            <a:endParaRPr lang="en-US" dirty="0"/>
          </a:p>
        </p:txBody>
      </p:sp>
      <p:sp>
        <p:nvSpPr>
          <p:cNvPr id="203" name="Box"/>
          <p:cNvSpPr txBox="1"/>
          <p:nvPr/>
        </p:nvSpPr>
        <p:spPr>
          <a:xfrm>
            <a:off x="838200" y="4653280"/>
            <a:ext cx="6832600" cy="508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28509C"/>
                </a:solidFill>
              </a:rPr>
              <a:t>Dysostosis multiplex: </a:t>
            </a:r>
            <a:r>
              <a:rPr lang="en-US" sz="1400" dirty="0">
                <a:solidFill>
                  <a:srgbClr val="2B2B2B"/>
                </a:solidFill>
              </a:rPr>
              <a:t>the set of radiographic changes seen in MPS, here in the pelvis, knees and hands</a:t>
            </a:r>
            <a:r>
              <a:rPr lang="en-US" sz="1400" baseline="30000" dirty="0">
                <a:solidFill>
                  <a:srgbClr val="2B2B2B"/>
                </a:solidFill>
              </a:rPr>
              <a:t>4</a:t>
            </a:r>
          </a:p>
        </p:txBody>
      </p:sp>
      <p:sp>
        <p:nvSpPr>
          <p:cNvPr id="204"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Complications</a:t>
            </a:r>
          </a:p>
        </p:txBody>
      </p:sp>
      <p:sp>
        <p:nvSpPr>
          <p:cNvPr id="205" name="Title"/>
          <p:cNvSpPr>
            <a:spLocks noGrp="1"/>
          </p:cNvSpPr>
          <p:nvPr>
            <p:ph type="title"/>
          </p:nvPr>
        </p:nvSpPr>
        <p:spPr>
          <a:xfrm>
            <a:off x="1244600" y="444500"/>
            <a:ext cx="10287000" cy="889000"/>
          </a:xfrm>
        </p:spPr>
        <p:txBody>
          <a:bodyPr wrap="square" lIns="0" tIns="0" rIns="0" bIns="0" rtlCol="0" anchor="t">
            <a:noAutofit/>
          </a:bodyPr>
          <a:lstStyle/>
          <a:p>
            <a:pPr>
              <a:spcBef>
                <a:spcPts val="0"/>
              </a:spcBef>
              <a:spcAft>
                <a:spcPts val="0"/>
              </a:spcAft>
              <a:buNone/>
            </a:pPr>
            <a:r>
              <a:rPr lang="en-US" dirty="0">
                <a:solidFill>
                  <a:srgbClr val="A9218E"/>
                </a:solidFill>
              </a:rPr>
              <a:t>Orthopaedics: </a:t>
            </a:r>
            <a:r>
              <a:rPr lang="en-US" dirty="0"/>
              <a:t>general and specialist skeletal features</a:t>
            </a:r>
          </a:p>
        </p:txBody>
      </p:sp>
      <p:sp>
        <p:nvSpPr>
          <p:cNvPr id="206" name="Box"/>
          <p:cNvSpPr/>
          <p:nvPr/>
        </p:nvSpPr>
        <p:spPr>
          <a:xfrm>
            <a:off x="8026400" y="1447800"/>
            <a:ext cx="3505200" cy="1727200"/>
          </a:xfrm>
          <a:prstGeom prst="roundRect">
            <a:avLst>
              <a:gd name="adj" fmla="val 6618"/>
            </a:avLst>
          </a:prstGeom>
          <a:solidFill>
            <a:srgbClr val="F1F4F9"/>
          </a:solidFill>
          <a:ln>
            <a:noFill/>
          </a:ln>
        </p:spPr>
        <p:txBody>
          <a:bodyPr wrap="square" lIns="0" tIns="0" rIns="0" bIns="0" rtlCol="0" anchor="t">
            <a:noAutofit/>
          </a:bodyPr>
          <a:lstStyle/>
          <a:p>
            <a:endParaRPr lang="en-US" dirty="0"/>
          </a:p>
        </p:txBody>
      </p:sp>
      <p:sp>
        <p:nvSpPr>
          <p:cNvPr id="208" name="Box"/>
          <p:cNvSpPr txBox="1"/>
          <p:nvPr/>
        </p:nvSpPr>
        <p:spPr>
          <a:xfrm>
            <a:off x="8204200" y="1574800"/>
            <a:ext cx="3200400" cy="152400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002E56"/>
                </a:solidFill>
              </a:rPr>
              <a:t>General features</a:t>
            </a:r>
            <a:r>
              <a:rPr lang="en-US" sz="1400" baseline="30000" dirty="0">
                <a:solidFill>
                  <a:srgbClr val="2B2B2B"/>
                </a:solidFill>
              </a:rPr>
              <a:t>1–3</a:t>
            </a:r>
          </a:p>
          <a:p>
            <a:pPr>
              <a:spcBef>
                <a:spcPts val="300"/>
              </a:spcBef>
              <a:spcAft>
                <a:spcPts val="0"/>
              </a:spcAft>
              <a:buNone/>
            </a:pPr>
            <a:r>
              <a:rPr lang="en-US" sz="1400" dirty="0">
                <a:solidFill>
                  <a:srgbClr val="2B2B2B"/>
                </a:solidFill>
              </a:rPr>
              <a:t>Abnormal gait, bone dysplasia, claw hands, coarse facial features, joint pain, macrocephaly, pectus carinatum, reduced endurance, short stature</a:t>
            </a:r>
          </a:p>
        </p:txBody>
      </p:sp>
      <p:sp>
        <p:nvSpPr>
          <p:cNvPr id="209" name="Box"/>
          <p:cNvSpPr/>
          <p:nvPr/>
        </p:nvSpPr>
        <p:spPr>
          <a:xfrm>
            <a:off x="8026400" y="3327400"/>
            <a:ext cx="3505200" cy="1910080"/>
          </a:xfrm>
          <a:prstGeom prst="roundRect">
            <a:avLst>
              <a:gd name="adj" fmla="val 5984"/>
            </a:avLst>
          </a:prstGeom>
          <a:solidFill>
            <a:srgbClr val="F1F4F9"/>
          </a:solidFill>
          <a:ln>
            <a:noFill/>
          </a:ln>
        </p:spPr>
        <p:txBody>
          <a:bodyPr wrap="square" lIns="0" tIns="0" rIns="0" bIns="0" rtlCol="0" anchor="t">
            <a:noAutofit/>
          </a:bodyPr>
          <a:lstStyle/>
          <a:p>
            <a:endParaRPr lang="en-US" dirty="0"/>
          </a:p>
        </p:txBody>
      </p:sp>
      <p:sp>
        <p:nvSpPr>
          <p:cNvPr id="211" name="Box"/>
          <p:cNvSpPr txBox="1"/>
          <p:nvPr/>
        </p:nvSpPr>
        <p:spPr>
          <a:xfrm>
            <a:off x="8204200" y="3454400"/>
            <a:ext cx="3200400" cy="170688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002E56"/>
                </a:solidFill>
              </a:rPr>
              <a:t>Found on specialist assessment</a:t>
            </a:r>
            <a:r>
              <a:rPr lang="en-US" sz="1400" baseline="30000" dirty="0">
                <a:solidFill>
                  <a:srgbClr val="2B2B2B"/>
                </a:solidFill>
              </a:rPr>
              <a:t>1–3</a:t>
            </a:r>
          </a:p>
          <a:p>
            <a:pPr>
              <a:spcBef>
                <a:spcPts val="300"/>
              </a:spcBef>
              <a:spcAft>
                <a:spcPts val="0"/>
              </a:spcAft>
              <a:buNone/>
            </a:pPr>
            <a:r>
              <a:rPr lang="en-US" sz="1400" dirty="0">
                <a:solidFill>
                  <a:srgbClr val="2B2B2B"/>
                </a:solidFill>
              </a:rPr>
              <a:t>Bone deformities, dysostosis multiplex, genu valgum, joint contractures or laxity without inflammation, spinal subluxation</a:t>
            </a:r>
          </a:p>
        </p:txBody>
      </p:sp>
      <p:sp>
        <p:nvSpPr>
          <p:cNvPr id="212" name="Abbreviations"/>
          <p:cNvSpPr txBox="1"/>
          <p:nvPr/>
        </p:nvSpPr>
        <p:spPr>
          <a:xfrm>
            <a:off x="660400" y="5435600"/>
            <a:ext cx="10871200" cy="4064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MPS, mucopolysaccharidosis. Carpus, the wrist bones joining hand to forearm; dysplasia, abnormal growth or development of a tissue or organ; genu valgum, knock-knee</a:t>
            </a:r>
          </a:p>
        </p:txBody>
      </p:sp>
      <p:sp>
        <p:nvSpPr>
          <p:cNvPr id="213" name="References"/>
          <p:cNvSpPr txBox="1"/>
          <p:nvPr/>
        </p:nvSpPr>
        <p:spPr>
          <a:xfrm>
            <a:off x="660400" y="59436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Lehman TJ et al. Rheumatology (Oxford) 2011;50(Suppl 5):v41–8. 2. Morishita K, Petty RE. Rheumatology (Oxford) 2011;50(Suppl 5):v19–25. 3. Lachman RS et al. Skeletal Radiol 2014;43:359–69. 4. Palmucci S et al. Insights Imaging 2013;4:443–59.</a:t>
            </a:r>
          </a:p>
        </p:txBody>
      </p:sp>
      <p:pic>
        <p:nvPicPr>
          <p:cNvPr id="214" name="Graphic 214" descr="Orthopaedic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400" y="469900"/>
            <a:ext cx="457200" cy="457200"/>
          </a:xfrm>
          <a:prstGeom prst="rect">
            <a:avLst/>
          </a:prstGeom>
        </p:spPr>
      </p:pic>
    </p:spTree>
    <p:extLst>
      <p:ext uri="{BB962C8B-B14F-4D97-AF65-F5344CB8AC3E}">
        <p14:creationId xmlns:p14="http://schemas.microsoft.com/office/powerpoint/2010/main" val="37686900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Complications</a:t>
            </a:r>
          </a:p>
        </p:txBody>
      </p:sp>
      <p:sp>
        <p:nvSpPr>
          <p:cNvPr id="301" name="Title"/>
          <p:cNvSpPr>
            <a:spLocks noGrp="1"/>
          </p:cNvSpPr>
          <p:nvPr>
            <p:ph type="title"/>
          </p:nvPr>
        </p:nvSpPr>
        <p:spPr>
          <a:xfrm>
            <a:off x="1244600" y="444500"/>
            <a:ext cx="10287000" cy="889000"/>
          </a:xfrm>
        </p:spPr>
        <p:txBody>
          <a:bodyPr wrap="square" lIns="0" tIns="0" rIns="0" bIns="0" rtlCol="0" anchor="t">
            <a:noAutofit/>
          </a:bodyPr>
          <a:lstStyle/>
          <a:p>
            <a:pPr>
              <a:spcBef>
                <a:spcPts val="0"/>
              </a:spcBef>
              <a:spcAft>
                <a:spcPts val="0"/>
              </a:spcAft>
              <a:buNone/>
            </a:pPr>
            <a:r>
              <a:rPr lang="en-US" dirty="0">
                <a:solidFill>
                  <a:srgbClr val="A9218E"/>
                </a:solidFill>
              </a:rPr>
              <a:t>Radiology: </a:t>
            </a:r>
            <a:r>
              <a:rPr lang="en-US" dirty="0"/>
              <a:t>skull, spine and chest</a:t>
            </a:r>
          </a:p>
        </p:txBody>
      </p:sp>
      <p:sp>
        <p:nvSpPr>
          <p:cNvPr id="302" name="Box"/>
          <p:cNvSpPr/>
          <p:nvPr/>
        </p:nvSpPr>
        <p:spPr>
          <a:xfrm>
            <a:off x="660400" y="1422400"/>
            <a:ext cx="5359400" cy="1955800"/>
          </a:xfrm>
          <a:prstGeom prst="roundRect">
            <a:avLst>
              <a:gd name="adj" fmla="val 5844"/>
            </a:avLst>
          </a:prstGeom>
          <a:solidFill>
            <a:srgbClr val="F1F4F9"/>
          </a:solidFill>
          <a:ln>
            <a:noFill/>
          </a:ln>
        </p:spPr>
        <p:txBody>
          <a:bodyPr wrap="square" lIns="0" tIns="0" rIns="0" bIns="0" rtlCol="0" anchor="t">
            <a:noAutofit/>
          </a:bodyPr>
          <a:lstStyle/>
          <a:p>
            <a:endParaRPr lang="en-US" dirty="0"/>
          </a:p>
        </p:txBody>
      </p:sp>
      <p:sp>
        <p:nvSpPr>
          <p:cNvPr id="304" name="Image frame"/>
          <p:cNvSpPr/>
          <p:nvPr/>
        </p:nvSpPr>
        <p:spPr>
          <a:xfrm>
            <a:off x="812800" y="1549400"/>
            <a:ext cx="2413000" cy="1701800"/>
          </a:xfrm>
          <a:prstGeom prst="roundRect">
            <a:avLst>
              <a:gd name="adj" fmla="val 6716"/>
            </a:avLst>
          </a:prstGeom>
          <a:solidFill>
            <a:srgbClr val="FFFFFF"/>
          </a:solidFill>
          <a:ln w="9525">
            <a:noFill/>
          </a:ln>
        </p:spPr>
        <p:txBody>
          <a:bodyPr wrap="square" lIns="0" tIns="0" rIns="0" bIns="0" rtlCol="0" anchor="t">
            <a:noAutofit/>
          </a:bodyPr>
          <a:lstStyle/>
          <a:p>
            <a:endParaRPr lang="en-US" dirty="0"/>
          </a:p>
        </p:txBody>
      </p:sp>
      <p:pic>
        <p:nvPicPr>
          <p:cNvPr id="7" name="Picture 6">
            <a:extLst>
              <a:ext uri="{FF2B5EF4-FFF2-40B4-BE49-F238E27FC236}">
                <a16:creationId xmlns:a16="http://schemas.microsoft.com/office/drawing/2014/main" id="{8525BC18-7BAC-9345-B1FB-59429AC8F757}"/>
              </a:ext>
            </a:extLst>
          </p:cNvPr>
          <p:cNvPicPr>
            <a:picLocks noChangeAspect="1"/>
          </p:cNvPicPr>
          <p:nvPr/>
        </p:nvPicPr>
        <p:blipFill>
          <a:blip r:embed="rId2"/>
          <a:stretch>
            <a:fillRect/>
          </a:stretch>
        </p:blipFill>
        <p:spPr>
          <a:xfrm>
            <a:off x="863600" y="2006690"/>
            <a:ext cx="1083855" cy="787221"/>
          </a:xfrm>
          <a:prstGeom prst="rect">
            <a:avLst/>
          </a:prstGeom>
        </p:spPr>
      </p:pic>
      <p:pic>
        <p:nvPicPr>
          <p:cNvPr id="11" name="Picture 10">
            <a:extLst>
              <a:ext uri="{FF2B5EF4-FFF2-40B4-BE49-F238E27FC236}">
                <a16:creationId xmlns:a16="http://schemas.microsoft.com/office/drawing/2014/main" id="{0E86E5A3-C1AD-AE4C-96BA-F6EDB8AC4EFD}"/>
              </a:ext>
            </a:extLst>
          </p:cNvPr>
          <p:cNvPicPr>
            <a:picLocks noChangeAspect="1"/>
          </p:cNvPicPr>
          <p:nvPr/>
        </p:nvPicPr>
        <p:blipFill>
          <a:blip r:embed="rId3"/>
          <a:stretch>
            <a:fillRect/>
          </a:stretch>
        </p:blipFill>
        <p:spPr>
          <a:xfrm>
            <a:off x="1998255" y="2006690"/>
            <a:ext cx="1176745" cy="787221"/>
          </a:xfrm>
          <a:prstGeom prst="rect">
            <a:avLst/>
          </a:prstGeom>
        </p:spPr>
      </p:pic>
      <p:sp>
        <p:nvSpPr>
          <p:cNvPr id="305" name="Box"/>
          <p:cNvSpPr txBox="1"/>
          <p:nvPr/>
        </p:nvSpPr>
        <p:spPr>
          <a:xfrm>
            <a:off x="3403600" y="1574800"/>
            <a:ext cx="2463800" cy="1651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Skull</a:t>
            </a:r>
          </a:p>
          <a:p>
            <a:pPr marL="128016" indent="-128016">
              <a:spcBef>
                <a:spcPts val="300"/>
              </a:spcBef>
              <a:spcAft>
                <a:spcPts val="0"/>
              </a:spcAft>
              <a:buClr>
                <a:srgbClr val="646464"/>
              </a:buClr>
              <a:buFont typeface="Arial"/>
              <a:buChar char="•"/>
            </a:pPr>
            <a:r>
              <a:rPr lang="en-US" sz="1400" dirty="0">
                <a:solidFill>
                  <a:srgbClr val="2B2B2B"/>
                </a:solidFill>
              </a:rPr>
              <a:t>Macrocephaly, thick skull vault</a:t>
            </a:r>
          </a:p>
          <a:p>
            <a:pPr marL="128016" indent="-128016">
              <a:spcBef>
                <a:spcPts val="300"/>
              </a:spcBef>
              <a:spcAft>
                <a:spcPts val="0"/>
              </a:spcAft>
              <a:buClr>
                <a:srgbClr val="646464"/>
              </a:buClr>
              <a:buFont typeface="Arial"/>
              <a:buChar char="•"/>
            </a:pPr>
            <a:r>
              <a:rPr lang="en-US" sz="1400" dirty="0">
                <a:solidFill>
                  <a:srgbClr val="2B2B2B"/>
                </a:solidFill>
              </a:rPr>
              <a:t>Scaphocephaly: long, narrow head</a:t>
            </a:r>
          </a:p>
          <a:p>
            <a:pPr marL="128016" indent="-128016">
              <a:spcBef>
                <a:spcPts val="300"/>
              </a:spcBef>
              <a:spcAft>
                <a:spcPts val="0"/>
              </a:spcAft>
              <a:buClr>
                <a:srgbClr val="646464"/>
              </a:buClr>
              <a:buFont typeface="Arial"/>
              <a:buChar char="•"/>
            </a:pPr>
            <a:r>
              <a:rPr lang="en-US" sz="1400" dirty="0">
                <a:solidFill>
                  <a:srgbClr val="2B2B2B"/>
                </a:solidFill>
              </a:rPr>
              <a:t>J-shaped sella turcica, thick diploic space</a:t>
            </a:r>
            <a:r>
              <a:rPr lang="en-US" sz="1400" baseline="30000" dirty="0">
                <a:solidFill>
                  <a:srgbClr val="2B2B2B"/>
                </a:solidFill>
              </a:rPr>
              <a:t>1</a:t>
            </a:r>
          </a:p>
        </p:txBody>
      </p:sp>
      <p:sp>
        <p:nvSpPr>
          <p:cNvPr id="306" name="Box"/>
          <p:cNvSpPr/>
          <p:nvPr/>
        </p:nvSpPr>
        <p:spPr>
          <a:xfrm>
            <a:off x="6172200" y="1422400"/>
            <a:ext cx="5359400" cy="1955800"/>
          </a:xfrm>
          <a:prstGeom prst="roundRect">
            <a:avLst>
              <a:gd name="adj" fmla="val 5844"/>
            </a:avLst>
          </a:prstGeom>
          <a:solidFill>
            <a:srgbClr val="E3EAF5"/>
          </a:solidFill>
          <a:ln>
            <a:noFill/>
          </a:ln>
        </p:spPr>
        <p:txBody>
          <a:bodyPr wrap="square" lIns="0" tIns="0" rIns="0" bIns="0" rtlCol="0" anchor="t">
            <a:noAutofit/>
          </a:bodyPr>
          <a:lstStyle/>
          <a:p>
            <a:endParaRPr lang="en-US" dirty="0"/>
          </a:p>
        </p:txBody>
      </p:sp>
      <p:sp>
        <p:nvSpPr>
          <p:cNvPr id="308" name="Image frame"/>
          <p:cNvSpPr/>
          <p:nvPr/>
        </p:nvSpPr>
        <p:spPr>
          <a:xfrm>
            <a:off x="6324600" y="1549400"/>
            <a:ext cx="2413000" cy="1701800"/>
          </a:xfrm>
          <a:prstGeom prst="roundRect">
            <a:avLst>
              <a:gd name="adj" fmla="val 6716"/>
            </a:avLst>
          </a:prstGeom>
          <a:solidFill>
            <a:srgbClr val="FFFFFF"/>
          </a:solidFill>
          <a:ln w="9525">
            <a:noFill/>
          </a:ln>
        </p:spPr>
        <p:txBody>
          <a:bodyPr wrap="square" lIns="0" tIns="0" rIns="0" bIns="0" rtlCol="0" anchor="t">
            <a:noAutofit/>
          </a:bodyPr>
          <a:lstStyle/>
          <a:p>
            <a:endParaRPr lang="en-US" dirty="0"/>
          </a:p>
        </p:txBody>
      </p:sp>
      <p:pic>
        <p:nvPicPr>
          <p:cNvPr id="14" name="Copied Picture 14">
            <a:extLst>
              <a:ext uri="{FF2B5EF4-FFF2-40B4-BE49-F238E27FC236}">
                <a16:creationId xmlns:a16="http://schemas.microsoft.com/office/drawing/2014/main" id="{D5B066E6-09D2-F74B-BAE6-A24EEA834363}"/>
              </a:ext>
            </a:extLst>
          </p:cNvPr>
          <p:cNvPicPr>
            <a:picLocks noChangeAspect="1"/>
          </p:cNvPicPr>
          <p:nvPr/>
        </p:nvPicPr>
        <p:blipFill>
          <a:blip r:embed="rId4"/>
          <a:stretch>
            <a:fillRect/>
          </a:stretch>
        </p:blipFill>
        <p:spPr>
          <a:xfrm>
            <a:off x="6773463" y="1600200"/>
            <a:ext cx="1515273" cy="1600200"/>
          </a:xfrm>
          <a:prstGeom prst="rect">
            <a:avLst/>
          </a:prstGeom>
        </p:spPr>
      </p:pic>
      <p:sp>
        <p:nvSpPr>
          <p:cNvPr id="309" name="Box"/>
          <p:cNvSpPr txBox="1"/>
          <p:nvPr/>
        </p:nvSpPr>
        <p:spPr>
          <a:xfrm>
            <a:off x="8915400" y="1574800"/>
            <a:ext cx="2463800" cy="1651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28509C"/>
                </a:solidFill>
              </a:rPr>
              <a:t>Cervical spine</a:t>
            </a:r>
          </a:p>
          <a:p>
            <a:pPr marL="128016" indent="-128016">
              <a:spcBef>
                <a:spcPts val="300"/>
              </a:spcBef>
              <a:spcAft>
                <a:spcPts val="0"/>
              </a:spcAft>
              <a:buClr>
                <a:srgbClr val="28509C"/>
              </a:buClr>
              <a:buFont typeface="Arial"/>
              <a:buChar char="•"/>
            </a:pPr>
            <a:r>
              <a:rPr lang="en-US" sz="1400" dirty="0">
                <a:solidFill>
                  <a:srgbClr val="2B2B2B"/>
                </a:solidFill>
              </a:rPr>
              <a:t>Skull-base and atlas–axis deformity</a:t>
            </a:r>
            <a:r>
              <a:rPr lang="en-US" sz="1400" baseline="30000" dirty="0">
                <a:solidFill>
                  <a:srgbClr val="2B2B2B"/>
                </a:solidFill>
              </a:rPr>
              <a:t>2,3</a:t>
            </a:r>
          </a:p>
          <a:p>
            <a:pPr marL="128016" indent="-128016">
              <a:spcBef>
                <a:spcPts val="300"/>
              </a:spcBef>
              <a:spcAft>
                <a:spcPts val="0"/>
              </a:spcAft>
              <a:buClr>
                <a:srgbClr val="28509C"/>
              </a:buClr>
              <a:buFont typeface="Arial"/>
              <a:buChar char="•"/>
            </a:pPr>
            <a:r>
              <a:rPr lang="en-US" sz="1400" dirty="0">
                <a:solidFill>
                  <a:srgbClr val="2B2B2B"/>
                </a:solidFill>
              </a:rPr>
              <a:t>Cervical instability puts the cord at risk</a:t>
            </a:r>
            <a:r>
              <a:rPr lang="en-US" sz="1400" baseline="30000" dirty="0">
                <a:solidFill>
                  <a:srgbClr val="2B2B2B"/>
                </a:solidFill>
              </a:rPr>
              <a:t>2,3</a:t>
            </a:r>
          </a:p>
          <a:p>
            <a:pPr marL="128016" indent="-128016">
              <a:spcBef>
                <a:spcPts val="300"/>
              </a:spcBef>
              <a:spcAft>
                <a:spcPts val="0"/>
              </a:spcAft>
              <a:buClr>
                <a:srgbClr val="28509C"/>
              </a:buClr>
              <a:buFont typeface="Arial"/>
              <a:buChar char="•"/>
            </a:pPr>
            <a:r>
              <a:rPr lang="en-US" sz="1400" dirty="0">
                <a:solidFill>
                  <a:srgbClr val="2B2B2B"/>
                </a:solidFill>
              </a:rPr>
              <a:t>Severe cases need decompression</a:t>
            </a:r>
            <a:r>
              <a:rPr lang="en-US" sz="1400" baseline="30000" dirty="0">
                <a:solidFill>
                  <a:srgbClr val="2B2B2B"/>
                </a:solidFill>
              </a:rPr>
              <a:t>2</a:t>
            </a:r>
          </a:p>
        </p:txBody>
      </p:sp>
      <p:sp>
        <p:nvSpPr>
          <p:cNvPr id="310" name="Box"/>
          <p:cNvSpPr/>
          <p:nvPr/>
        </p:nvSpPr>
        <p:spPr>
          <a:xfrm>
            <a:off x="660400" y="3479800"/>
            <a:ext cx="5359400" cy="1955800"/>
          </a:xfrm>
          <a:prstGeom prst="roundRect">
            <a:avLst>
              <a:gd name="adj" fmla="val 5844"/>
            </a:avLst>
          </a:prstGeom>
          <a:solidFill>
            <a:srgbClr val="F1F4F9"/>
          </a:solidFill>
          <a:ln>
            <a:noFill/>
          </a:ln>
        </p:spPr>
        <p:txBody>
          <a:bodyPr wrap="square" lIns="0" tIns="0" rIns="0" bIns="0" rtlCol="0" anchor="t">
            <a:noAutofit/>
          </a:bodyPr>
          <a:lstStyle/>
          <a:p>
            <a:endParaRPr lang="en-US" dirty="0"/>
          </a:p>
        </p:txBody>
      </p:sp>
      <p:sp>
        <p:nvSpPr>
          <p:cNvPr id="312" name="Image frame"/>
          <p:cNvSpPr/>
          <p:nvPr/>
        </p:nvSpPr>
        <p:spPr>
          <a:xfrm>
            <a:off x="812800" y="3606800"/>
            <a:ext cx="2413000" cy="1701800"/>
          </a:xfrm>
          <a:prstGeom prst="roundRect">
            <a:avLst>
              <a:gd name="adj" fmla="val 6716"/>
            </a:avLst>
          </a:prstGeom>
          <a:solidFill>
            <a:srgbClr val="FFFFFF"/>
          </a:solidFill>
          <a:ln w="9525">
            <a:noFill/>
          </a:ln>
        </p:spPr>
        <p:txBody>
          <a:bodyPr wrap="square" lIns="0" tIns="0" rIns="0" bIns="0" rtlCol="0" anchor="t">
            <a:noAutofit/>
          </a:bodyPr>
          <a:lstStyle/>
          <a:p>
            <a:endParaRPr lang="en-US" dirty="0"/>
          </a:p>
        </p:txBody>
      </p:sp>
      <p:pic>
        <p:nvPicPr>
          <p:cNvPr id="15" name="Copied Picture 15" descr="page60image29345824">
            <a:extLst>
              <a:ext uri="{FF2B5EF4-FFF2-40B4-BE49-F238E27FC236}">
                <a16:creationId xmlns:a16="http://schemas.microsoft.com/office/drawing/2014/main" id="{B0E7403B-397F-B049-80A8-D80CBED561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3600" y="4053637"/>
            <a:ext cx="1072918" cy="808127"/>
          </a:xfrm>
          <a:prstGeom prst="rect">
            <a:avLst/>
          </a:prstGeom>
          <a:noFill/>
          <a:extLst>
            <a:ext uri="{909E8E84-426E-40DD-AFC4-6F175D3DCCD1}">
              <a14:hiddenFill xmlns:a14="http://schemas.microsoft.com/office/drawing/2010/main">
                <a:solidFill>
                  <a:srgbClr val="FFFFFF"/>
                </a:solidFill>
              </a14:hiddenFill>
            </a:ext>
          </a:extLst>
        </p:spPr>
      </p:pic>
      <p:pic>
        <p:nvPicPr>
          <p:cNvPr id="16" name="Copied Picture 16" descr="page60image29352272">
            <a:extLst>
              <a:ext uri="{FF2B5EF4-FFF2-40B4-BE49-F238E27FC236}">
                <a16:creationId xmlns:a16="http://schemas.microsoft.com/office/drawing/2014/main" id="{01C9E19D-71F1-5241-83D1-80F2EBAB2F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7318" y="4053637"/>
            <a:ext cx="763585" cy="808127"/>
          </a:xfrm>
          <a:prstGeom prst="rect">
            <a:avLst/>
          </a:prstGeom>
          <a:noFill/>
          <a:extLst>
            <a:ext uri="{909E8E84-426E-40DD-AFC4-6F175D3DCCD1}">
              <a14:hiddenFill xmlns:a14="http://schemas.microsoft.com/office/drawing/2010/main">
                <a:solidFill>
                  <a:srgbClr val="FFFFFF"/>
                </a:solidFill>
              </a14:hiddenFill>
            </a:ext>
          </a:extLst>
        </p:spPr>
      </p:pic>
      <p:pic>
        <p:nvPicPr>
          <p:cNvPr id="17" name="Copied Picture 17" descr="page61image29208560">
            <a:extLst>
              <a:ext uri="{FF2B5EF4-FFF2-40B4-BE49-F238E27FC236}">
                <a16:creationId xmlns:a16="http://schemas.microsoft.com/office/drawing/2014/main" id="{D84CC994-C888-7B4E-B272-0A054787DCE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1702" y="4053637"/>
            <a:ext cx="373298" cy="808127"/>
          </a:xfrm>
          <a:prstGeom prst="rect">
            <a:avLst/>
          </a:prstGeom>
          <a:noFill/>
          <a:extLst>
            <a:ext uri="{909E8E84-426E-40DD-AFC4-6F175D3DCCD1}">
              <a14:hiddenFill xmlns:a14="http://schemas.microsoft.com/office/drawing/2010/main">
                <a:solidFill>
                  <a:srgbClr val="FFFFFF"/>
                </a:solidFill>
              </a14:hiddenFill>
            </a:ext>
          </a:extLst>
        </p:spPr>
      </p:pic>
      <p:sp>
        <p:nvSpPr>
          <p:cNvPr id="313" name="Box"/>
          <p:cNvSpPr txBox="1"/>
          <p:nvPr/>
        </p:nvSpPr>
        <p:spPr>
          <a:xfrm>
            <a:off x="3403600" y="3632200"/>
            <a:ext cx="2463800" cy="1651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Vertebral column</a:t>
            </a:r>
          </a:p>
          <a:p>
            <a:pPr marL="128016" indent="-128016">
              <a:spcBef>
                <a:spcPts val="300"/>
              </a:spcBef>
              <a:spcAft>
                <a:spcPts val="0"/>
              </a:spcAft>
              <a:buClr>
                <a:srgbClr val="646464"/>
              </a:buClr>
              <a:buFont typeface="Arial"/>
              <a:buChar char="•"/>
            </a:pPr>
            <a:r>
              <a:rPr lang="en-US" sz="1400" dirty="0">
                <a:solidFill>
                  <a:srgbClr val="2B2B2B"/>
                </a:solidFill>
              </a:rPr>
              <a:t>Oval vertebrae, beaked inferiorly</a:t>
            </a:r>
            <a:r>
              <a:rPr lang="en-US" sz="1400" baseline="30000" dirty="0">
                <a:solidFill>
                  <a:srgbClr val="2B2B2B"/>
                </a:solidFill>
              </a:rPr>
              <a:t>2–4</a:t>
            </a:r>
          </a:p>
          <a:p>
            <a:pPr marL="128016" indent="-128016">
              <a:spcBef>
                <a:spcPts val="300"/>
              </a:spcBef>
              <a:spcAft>
                <a:spcPts val="0"/>
              </a:spcAft>
              <a:buClr>
                <a:srgbClr val="646464"/>
              </a:buClr>
              <a:buFont typeface="Arial"/>
              <a:buChar char="•"/>
            </a:pPr>
            <a:r>
              <a:rPr lang="en-US" sz="1400" dirty="0">
                <a:solidFill>
                  <a:srgbClr val="2B2B2B"/>
                </a:solidFill>
              </a:rPr>
              <a:t>Platyspondyly: flattened vertebrae</a:t>
            </a:r>
            <a:r>
              <a:rPr lang="en-US" sz="1400" baseline="30000" dirty="0">
                <a:solidFill>
                  <a:srgbClr val="2B2B2B"/>
                </a:solidFill>
              </a:rPr>
              <a:t>4</a:t>
            </a:r>
          </a:p>
          <a:p>
            <a:pPr marL="128016" indent="-128016">
              <a:spcBef>
                <a:spcPts val="300"/>
              </a:spcBef>
              <a:spcAft>
                <a:spcPts val="0"/>
              </a:spcAft>
              <a:buClr>
                <a:srgbClr val="646464"/>
              </a:buClr>
              <a:buFont typeface="Arial"/>
              <a:buChar char="•"/>
            </a:pPr>
            <a:r>
              <a:rPr lang="en-US" sz="1400" dirty="0">
                <a:solidFill>
                  <a:srgbClr val="2B2B2B"/>
                </a:solidFill>
              </a:rPr>
              <a:t>Kyphosis, scoliosis, gibbus; worse in severe MPS</a:t>
            </a:r>
            <a:r>
              <a:rPr lang="en-US" sz="1400" baseline="30000" dirty="0">
                <a:solidFill>
                  <a:srgbClr val="2B2B2B"/>
                </a:solidFill>
              </a:rPr>
              <a:t>2,3</a:t>
            </a:r>
          </a:p>
        </p:txBody>
      </p:sp>
      <p:sp>
        <p:nvSpPr>
          <p:cNvPr id="314" name="Box"/>
          <p:cNvSpPr/>
          <p:nvPr/>
        </p:nvSpPr>
        <p:spPr>
          <a:xfrm>
            <a:off x="6172200" y="3479800"/>
            <a:ext cx="5359400" cy="1955800"/>
          </a:xfrm>
          <a:prstGeom prst="roundRect">
            <a:avLst>
              <a:gd name="adj" fmla="val 5844"/>
            </a:avLst>
          </a:prstGeom>
          <a:solidFill>
            <a:srgbClr val="F1F4F9"/>
          </a:solidFill>
          <a:ln>
            <a:noFill/>
          </a:ln>
        </p:spPr>
        <p:txBody>
          <a:bodyPr wrap="square" lIns="0" tIns="0" rIns="0" bIns="0" rtlCol="0" anchor="t">
            <a:noAutofit/>
          </a:bodyPr>
          <a:lstStyle/>
          <a:p>
            <a:endParaRPr lang="en-US" dirty="0"/>
          </a:p>
        </p:txBody>
      </p:sp>
      <p:sp>
        <p:nvSpPr>
          <p:cNvPr id="316" name="Image frame"/>
          <p:cNvSpPr/>
          <p:nvPr/>
        </p:nvSpPr>
        <p:spPr>
          <a:xfrm>
            <a:off x="6324600" y="3606800"/>
            <a:ext cx="2413000" cy="1701800"/>
          </a:xfrm>
          <a:prstGeom prst="roundRect">
            <a:avLst>
              <a:gd name="adj" fmla="val 6716"/>
            </a:avLst>
          </a:prstGeom>
          <a:solidFill>
            <a:srgbClr val="FFFFFF"/>
          </a:solidFill>
          <a:ln w="9525">
            <a:noFill/>
          </a:ln>
        </p:spPr>
        <p:txBody>
          <a:bodyPr wrap="square" lIns="0" tIns="0" rIns="0" bIns="0" rtlCol="0" anchor="t">
            <a:noAutofit/>
          </a:bodyPr>
          <a:lstStyle/>
          <a:p>
            <a:endParaRPr lang="en-US" dirty="0"/>
          </a:p>
        </p:txBody>
      </p:sp>
      <p:pic>
        <p:nvPicPr>
          <p:cNvPr id="18" name="Copied Picture 18">
            <a:extLst>
              <a:ext uri="{FF2B5EF4-FFF2-40B4-BE49-F238E27FC236}">
                <a16:creationId xmlns:a16="http://schemas.microsoft.com/office/drawing/2014/main" id="{AC5F6144-F396-F84A-8418-2F00E07BB5F2}"/>
              </a:ext>
            </a:extLst>
          </p:cNvPr>
          <p:cNvPicPr>
            <a:picLocks noChangeAspect="1"/>
          </p:cNvPicPr>
          <p:nvPr/>
        </p:nvPicPr>
        <p:blipFill>
          <a:blip r:embed="rId8"/>
          <a:stretch>
            <a:fillRect/>
          </a:stretch>
        </p:blipFill>
        <p:spPr>
          <a:xfrm>
            <a:off x="6375400" y="4068594"/>
            <a:ext cx="1794874" cy="778212"/>
          </a:xfrm>
          <a:prstGeom prst="rect">
            <a:avLst/>
          </a:prstGeom>
        </p:spPr>
      </p:pic>
      <p:pic>
        <p:nvPicPr>
          <p:cNvPr id="19" name="Copied Picture 19" descr="page62image9368480">
            <a:extLst>
              <a:ext uri="{FF2B5EF4-FFF2-40B4-BE49-F238E27FC236}">
                <a16:creationId xmlns:a16="http://schemas.microsoft.com/office/drawing/2014/main" id="{71477C1A-EFE4-9E41-9577-6AD6B6B17DE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21074" y="4068594"/>
            <a:ext cx="465726" cy="778212"/>
          </a:xfrm>
          <a:prstGeom prst="rect">
            <a:avLst/>
          </a:prstGeom>
          <a:noFill/>
          <a:extLst>
            <a:ext uri="{909E8E84-426E-40DD-AFC4-6F175D3DCCD1}">
              <a14:hiddenFill xmlns:a14="http://schemas.microsoft.com/office/drawing/2010/main">
                <a:solidFill>
                  <a:srgbClr val="FFFFFF"/>
                </a:solidFill>
              </a14:hiddenFill>
            </a:ext>
          </a:extLst>
        </p:spPr>
      </p:pic>
      <p:sp>
        <p:nvSpPr>
          <p:cNvPr id="317" name="Box"/>
          <p:cNvSpPr txBox="1"/>
          <p:nvPr/>
        </p:nvSpPr>
        <p:spPr>
          <a:xfrm>
            <a:off x="8915400" y="3632200"/>
            <a:ext cx="2463800" cy="1651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002E56"/>
                </a:solidFill>
              </a:rPr>
              <a:t>Chest</a:t>
            </a:r>
          </a:p>
          <a:p>
            <a:pPr marL="128016" indent="-128016">
              <a:spcBef>
                <a:spcPts val="300"/>
              </a:spcBef>
              <a:spcAft>
                <a:spcPts val="0"/>
              </a:spcAft>
              <a:buClr>
                <a:srgbClr val="646464"/>
              </a:buClr>
              <a:buFont typeface="Arial"/>
              <a:buChar char="•"/>
            </a:pPr>
            <a:r>
              <a:rPr lang="en-US" sz="1400" dirty="0">
                <a:solidFill>
                  <a:srgbClr val="2B2B2B"/>
                </a:solidFill>
              </a:rPr>
              <a:t>Oar-shaped ribs are characteristic</a:t>
            </a:r>
            <a:r>
              <a:rPr lang="en-US" sz="1400" baseline="30000" dirty="0">
                <a:solidFill>
                  <a:srgbClr val="2B2B2B"/>
                </a:solidFill>
              </a:rPr>
              <a:t>2,4</a:t>
            </a:r>
          </a:p>
          <a:p>
            <a:pPr marL="128016" indent="-128016">
              <a:spcBef>
                <a:spcPts val="300"/>
              </a:spcBef>
              <a:spcAft>
                <a:spcPts val="0"/>
              </a:spcAft>
              <a:buClr>
                <a:srgbClr val="646464"/>
              </a:buClr>
              <a:buFont typeface="Arial"/>
              <a:buChar char="•"/>
            </a:pPr>
            <a:r>
              <a:rPr lang="en-US" sz="1400" dirty="0">
                <a:solidFill>
                  <a:srgbClr val="2B2B2B"/>
                </a:solidFill>
              </a:rPr>
              <a:t>Short, thick clavicles</a:t>
            </a:r>
            <a:r>
              <a:rPr lang="en-US" sz="1400" baseline="30000" dirty="0">
                <a:solidFill>
                  <a:srgbClr val="2B2B2B"/>
                </a:solidFill>
              </a:rPr>
              <a:t>2,4</a:t>
            </a:r>
          </a:p>
          <a:p>
            <a:pPr marL="128016" indent="-128016">
              <a:spcBef>
                <a:spcPts val="300"/>
              </a:spcBef>
              <a:spcAft>
                <a:spcPts val="0"/>
              </a:spcAft>
              <a:buClr>
                <a:srgbClr val="646464"/>
              </a:buClr>
              <a:buFont typeface="Arial"/>
              <a:buChar char="•"/>
            </a:pPr>
            <a:r>
              <a:rPr lang="en-US" sz="1400" dirty="0">
                <a:solidFill>
                  <a:srgbClr val="2B2B2B"/>
                </a:solidFill>
              </a:rPr>
              <a:t>A rigid chest causes breathing problems</a:t>
            </a:r>
            <a:r>
              <a:rPr lang="en-US" sz="1400" baseline="30000" dirty="0">
                <a:solidFill>
                  <a:srgbClr val="2B2B2B"/>
                </a:solidFill>
              </a:rPr>
              <a:t>2</a:t>
            </a:r>
          </a:p>
        </p:txBody>
      </p:sp>
      <p:sp>
        <p:nvSpPr>
          <p:cNvPr id="318" name="Abbreviations"/>
          <p:cNvSpPr txBox="1"/>
          <p:nvPr/>
        </p:nvSpPr>
        <p:spPr>
          <a:xfrm>
            <a:off x="660400" y="5664200"/>
            <a:ext cx="10871200" cy="3810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MPS, mucopolysaccharidosis. Diploic space, spongy bone between the inner and outer skull tables; gibbus, a sharp spinal hump; macrocephaly, head size above the 98th percentile; platyspondyly, flattened vertebral bodies; sella turcica, the bony saddle at the skull base that holds the pituitary gland</a:t>
            </a:r>
          </a:p>
        </p:txBody>
      </p:sp>
      <p:sp>
        <p:nvSpPr>
          <p:cNvPr id="319" name="References"/>
          <p:cNvSpPr txBox="1"/>
          <p:nvPr/>
        </p:nvSpPr>
        <p:spPr>
          <a:xfrm>
            <a:off x="660400" y="6121400"/>
            <a:ext cx="10871200" cy="3556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Lachman R et al. J Pediatr Rehabil Med 2010;3:109–18. 2. Neufeld EF, Muenzer J. In: The Metabolic and Molecular Bases of Inherited Disease. 8th ed. McGraw-Hill; 2001:3421–52. 3. Beck M et al. J Pediatr Rehabil Med 2010;3:39–46. 4. Lachman RS et al. Skeletal Radiol 2014;43:359–69.</a:t>
            </a:r>
          </a:p>
        </p:txBody>
      </p:sp>
      <p:pic>
        <p:nvPicPr>
          <p:cNvPr id="320" name="Graphic 320" descr="Radiology"/>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0400" y="469900"/>
            <a:ext cx="457200" cy="457200"/>
          </a:xfrm>
          <a:prstGeom prst="rect">
            <a:avLst/>
          </a:prstGeom>
        </p:spPr>
      </p:pic>
    </p:spTree>
    <p:extLst>
      <p:ext uri="{BB962C8B-B14F-4D97-AF65-F5344CB8AC3E}">
        <p14:creationId xmlns:p14="http://schemas.microsoft.com/office/powerpoint/2010/main" val="41816865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Complications</a:t>
            </a:r>
          </a:p>
        </p:txBody>
      </p:sp>
      <p:sp>
        <p:nvSpPr>
          <p:cNvPr id="301" name="Title"/>
          <p:cNvSpPr>
            <a:spLocks noGrp="1"/>
          </p:cNvSpPr>
          <p:nvPr>
            <p:ph type="title"/>
          </p:nvPr>
        </p:nvSpPr>
        <p:spPr>
          <a:xfrm>
            <a:off x="1244600" y="444500"/>
            <a:ext cx="10287000" cy="889000"/>
          </a:xfrm>
        </p:spPr>
        <p:txBody>
          <a:bodyPr wrap="square" lIns="0" tIns="0" rIns="0" bIns="0" rtlCol="0" anchor="t">
            <a:noAutofit/>
          </a:bodyPr>
          <a:lstStyle/>
          <a:p>
            <a:pPr>
              <a:spcBef>
                <a:spcPts val="0"/>
              </a:spcBef>
              <a:spcAft>
                <a:spcPts val="0"/>
              </a:spcAft>
              <a:buNone/>
            </a:pPr>
            <a:r>
              <a:rPr lang="en-US" dirty="0">
                <a:solidFill>
                  <a:srgbClr val="A9218E"/>
                </a:solidFill>
              </a:rPr>
              <a:t>Radiology: </a:t>
            </a:r>
            <a:r>
              <a:rPr lang="en-US" dirty="0"/>
              <a:t>hands, long bones and pelvis</a:t>
            </a:r>
          </a:p>
        </p:txBody>
      </p:sp>
      <p:sp>
        <p:nvSpPr>
          <p:cNvPr id="302" name="Box"/>
          <p:cNvSpPr/>
          <p:nvPr/>
        </p:nvSpPr>
        <p:spPr>
          <a:xfrm>
            <a:off x="660400" y="1422400"/>
            <a:ext cx="3810000" cy="4013200"/>
          </a:xfrm>
          <a:prstGeom prst="roundRect">
            <a:avLst>
              <a:gd name="adj" fmla="val 3000"/>
            </a:avLst>
          </a:prstGeom>
          <a:solidFill>
            <a:srgbClr val="F1F4F9"/>
          </a:solidFill>
          <a:ln>
            <a:noFill/>
          </a:ln>
        </p:spPr>
        <p:txBody>
          <a:bodyPr wrap="square" lIns="0" tIns="0" rIns="0" bIns="0" rtlCol="0" anchor="t">
            <a:noAutofit/>
          </a:bodyPr>
          <a:lstStyle/>
          <a:p>
            <a:endParaRPr lang="en-US" dirty="0"/>
          </a:p>
        </p:txBody>
      </p:sp>
      <p:sp>
        <p:nvSpPr>
          <p:cNvPr id="304" name="Image frame"/>
          <p:cNvSpPr/>
          <p:nvPr/>
        </p:nvSpPr>
        <p:spPr>
          <a:xfrm>
            <a:off x="787400" y="1600200"/>
            <a:ext cx="3556000" cy="2184400"/>
          </a:xfrm>
          <a:prstGeom prst="roundRect">
            <a:avLst>
              <a:gd name="adj" fmla="val 5233"/>
            </a:avLst>
          </a:prstGeom>
          <a:solidFill>
            <a:srgbClr val="FFFFFF"/>
          </a:solidFill>
          <a:ln w="9525">
            <a:solidFill>
              <a:srgbClr val="C9D5EA"/>
            </a:solidFill>
          </a:ln>
        </p:spPr>
        <p:txBody>
          <a:bodyPr wrap="square" lIns="0" tIns="0" rIns="0" bIns="0" rtlCol="0" anchor="t">
            <a:noAutofit/>
          </a:bodyPr>
          <a:lstStyle/>
          <a:p>
            <a:endParaRPr lang="en-US" dirty="0"/>
          </a:p>
        </p:txBody>
      </p:sp>
      <p:pic>
        <p:nvPicPr>
          <p:cNvPr id="5" name="Picture 4">
            <a:extLst>
              <a:ext uri="{FF2B5EF4-FFF2-40B4-BE49-F238E27FC236}">
                <a16:creationId xmlns:a16="http://schemas.microsoft.com/office/drawing/2014/main" id="{CF91F99F-D91C-A741-9999-3FF6AC4CAC25}"/>
              </a:ext>
            </a:extLst>
          </p:cNvPr>
          <p:cNvPicPr>
            <a:picLocks noChangeAspect="1"/>
          </p:cNvPicPr>
          <p:nvPr/>
        </p:nvPicPr>
        <p:blipFill>
          <a:blip r:embed="rId2"/>
          <a:stretch>
            <a:fillRect/>
          </a:stretch>
        </p:blipFill>
        <p:spPr>
          <a:xfrm>
            <a:off x="1362300" y="1651000"/>
            <a:ext cx="2406200" cy="1328582"/>
          </a:xfrm>
          <a:prstGeom prst="rect">
            <a:avLst/>
          </a:prstGeom>
        </p:spPr>
      </p:pic>
      <p:pic>
        <p:nvPicPr>
          <p:cNvPr id="9" name="Picture 8">
            <a:extLst>
              <a:ext uri="{FF2B5EF4-FFF2-40B4-BE49-F238E27FC236}">
                <a16:creationId xmlns:a16="http://schemas.microsoft.com/office/drawing/2014/main" id="{D0327E60-4DDE-594A-B04A-C81780E85131}"/>
              </a:ext>
            </a:extLst>
          </p:cNvPr>
          <p:cNvPicPr>
            <a:picLocks noChangeAspect="1"/>
          </p:cNvPicPr>
          <p:nvPr/>
        </p:nvPicPr>
        <p:blipFill>
          <a:blip r:embed="rId3"/>
          <a:stretch>
            <a:fillRect/>
          </a:stretch>
        </p:blipFill>
        <p:spPr>
          <a:xfrm>
            <a:off x="1346885" y="3030382"/>
            <a:ext cx="1252021" cy="703418"/>
          </a:xfrm>
          <a:prstGeom prst="rect">
            <a:avLst/>
          </a:prstGeom>
        </p:spPr>
      </p:pic>
      <p:pic>
        <p:nvPicPr>
          <p:cNvPr id="10" name="Picture 9">
            <a:extLst>
              <a:ext uri="{FF2B5EF4-FFF2-40B4-BE49-F238E27FC236}">
                <a16:creationId xmlns:a16="http://schemas.microsoft.com/office/drawing/2014/main" id="{5EA70FB6-8203-4B4F-A182-B2E80140F589}"/>
              </a:ext>
            </a:extLst>
          </p:cNvPr>
          <p:cNvPicPr>
            <a:picLocks noChangeAspect="1"/>
          </p:cNvPicPr>
          <p:nvPr/>
        </p:nvPicPr>
        <p:blipFill>
          <a:blip r:embed="rId4"/>
          <a:stretch>
            <a:fillRect/>
          </a:stretch>
        </p:blipFill>
        <p:spPr>
          <a:xfrm>
            <a:off x="2649706" y="3030382"/>
            <a:ext cx="655035" cy="703418"/>
          </a:xfrm>
          <a:prstGeom prst="rect">
            <a:avLst/>
          </a:prstGeom>
        </p:spPr>
      </p:pic>
      <p:pic>
        <p:nvPicPr>
          <p:cNvPr id="15" name="Picture 14" descr="Diagram&#10;&#10;Description automatically generated">
            <a:extLst>
              <a:ext uri="{FF2B5EF4-FFF2-40B4-BE49-F238E27FC236}">
                <a16:creationId xmlns:a16="http://schemas.microsoft.com/office/drawing/2014/main" id="{437F32F8-8151-A140-A285-87CF6FD62CFE}"/>
              </a:ext>
            </a:extLst>
          </p:cNvPr>
          <p:cNvPicPr>
            <a:picLocks noChangeAspect="1"/>
          </p:cNvPicPr>
          <p:nvPr/>
        </p:nvPicPr>
        <p:blipFill>
          <a:blip r:embed="rId5"/>
          <a:stretch>
            <a:fillRect/>
          </a:stretch>
        </p:blipFill>
        <p:spPr>
          <a:xfrm>
            <a:off x="3355541" y="3030382"/>
            <a:ext cx="428374" cy="703418"/>
          </a:xfrm>
          <a:prstGeom prst="rect">
            <a:avLst/>
          </a:prstGeom>
        </p:spPr>
      </p:pic>
      <p:sp>
        <p:nvSpPr>
          <p:cNvPr id="305" name="Box"/>
          <p:cNvSpPr txBox="1"/>
          <p:nvPr/>
        </p:nvSpPr>
        <p:spPr>
          <a:xfrm>
            <a:off x="838200" y="3937000"/>
            <a:ext cx="3454400" cy="139700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002E56"/>
                </a:solidFill>
              </a:rPr>
              <a:t>Hands: ‘claw hands’</a:t>
            </a:r>
          </a:p>
          <a:p>
            <a:pPr marL="128016" indent="-128016">
              <a:spcBef>
                <a:spcPts val="300"/>
              </a:spcBef>
              <a:spcAft>
                <a:spcPts val="0"/>
              </a:spcAft>
              <a:buClr>
                <a:srgbClr val="646464"/>
              </a:buClr>
              <a:buFont typeface="Arial"/>
              <a:buChar char="•"/>
            </a:pPr>
            <a:r>
              <a:rPr lang="en-US" sz="1400" dirty="0">
                <a:solidFill>
                  <a:srgbClr val="2B2B2B"/>
                </a:solidFill>
              </a:rPr>
              <a:t>Short, thick fingers</a:t>
            </a:r>
          </a:p>
          <a:p>
            <a:pPr marL="128016" indent="-128016">
              <a:spcBef>
                <a:spcPts val="300"/>
              </a:spcBef>
              <a:spcAft>
                <a:spcPts val="0"/>
              </a:spcAft>
              <a:buClr>
                <a:srgbClr val="646464"/>
              </a:buClr>
              <a:buFont typeface="Arial"/>
              <a:buChar char="•"/>
            </a:pPr>
            <a:r>
              <a:rPr lang="en-US" sz="1400" dirty="0">
                <a:solidFill>
                  <a:srgbClr val="2B2B2B"/>
                </a:solidFill>
              </a:rPr>
              <a:t>Fixed flexion and poor dexterity</a:t>
            </a:r>
          </a:p>
          <a:p>
            <a:pPr marL="128016" indent="-128016">
              <a:spcBef>
                <a:spcPts val="300"/>
              </a:spcBef>
              <a:spcAft>
                <a:spcPts val="0"/>
              </a:spcAft>
              <a:buClr>
                <a:srgbClr val="646464"/>
              </a:buClr>
              <a:buFont typeface="Arial"/>
              <a:buChar char="•"/>
            </a:pPr>
            <a:r>
              <a:rPr lang="en-US" sz="1400" dirty="0">
                <a:solidFill>
                  <a:srgbClr val="2B2B2B"/>
                </a:solidFill>
              </a:rPr>
              <a:t>Irregular metaphyseal plates and wide, bullet-shaped phalanges</a:t>
            </a:r>
            <a:r>
              <a:rPr lang="en-US" sz="1400" baseline="30000" dirty="0">
                <a:solidFill>
                  <a:srgbClr val="2B2B2B"/>
                </a:solidFill>
              </a:rPr>
              <a:t>1</a:t>
            </a:r>
          </a:p>
        </p:txBody>
      </p:sp>
      <p:sp>
        <p:nvSpPr>
          <p:cNvPr id="306" name="Box"/>
          <p:cNvSpPr/>
          <p:nvPr/>
        </p:nvSpPr>
        <p:spPr>
          <a:xfrm>
            <a:off x="4622800" y="1422400"/>
            <a:ext cx="3810000" cy="4013200"/>
          </a:xfrm>
          <a:prstGeom prst="roundRect">
            <a:avLst>
              <a:gd name="adj" fmla="val 3000"/>
            </a:avLst>
          </a:prstGeom>
          <a:solidFill>
            <a:srgbClr val="F1F4F9"/>
          </a:solidFill>
          <a:ln>
            <a:noFill/>
          </a:ln>
        </p:spPr>
        <p:txBody>
          <a:bodyPr wrap="square" lIns="0" tIns="0" rIns="0" bIns="0" rtlCol="0" anchor="t">
            <a:noAutofit/>
          </a:bodyPr>
          <a:lstStyle/>
          <a:p>
            <a:endParaRPr lang="en-US" dirty="0"/>
          </a:p>
        </p:txBody>
      </p:sp>
      <p:sp>
        <p:nvSpPr>
          <p:cNvPr id="308" name="Image frame"/>
          <p:cNvSpPr/>
          <p:nvPr/>
        </p:nvSpPr>
        <p:spPr>
          <a:xfrm>
            <a:off x="4749800" y="1600200"/>
            <a:ext cx="3556000" cy="2184400"/>
          </a:xfrm>
          <a:prstGeom prst="roundRect">
            <a:avLst>
              <a:gd name="adj" fmla="val 5233"/>
            </a:avLst>
          </a:prstGeom>
          <a:solidFill>
            <a:srgbClr val="FFFFFF"/>
          </a:solidFill>
          <a:ln w="9525">
            <a:solidFill>
              <a:srgbClr val="C9D5EA"/>
            </a:solidFill>
          </a:ln>
        </p:spPr>
        <p:txBody>
          <a:bodyPr wrap="square" lIns="0" tIns="0" rIns="0" bIns="0" rtlCol="0" anchor="t">
            <a:noAutofit/>
          </a:bodyPr>
          <a:lstStyle/>
          <a:p>
            <a:endParaRPr lang="en-US" dirty="0"/>
          </a:p>
        </p:txBody>
      </p:sp>
      <p:pic>
        <p:nvPicPr>
          <p:cNvPr id="16" name="Copied Picture 16" descr="page65image29016272">
            <a:extLst>
              <a:ext uri="{FF2B5EF4-FFF2-40B4-BE49-F238E27FC236}">
                <a16:creationId xmlns:a16="http://schemas.microsoft.com/office/drawing/2014/main" id="{0B25E956-DC94-D242-8EA2-6427EA2988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9046" y="1651000"/>
            <a:ext cx="2297508" cy="1111896"/>
          </a:xfrm>
          <a:prstGeom prst="rect">
            <a:avLst/>
          </a:prstGeom>
          <a:noFill/>
          <a:extLst>
            <a:ext uri="{909E8E84-426E-40DD-AFC4-6F175D3DCCD1}">
              <a14:hiddenFill xmlns:a14="http://schemas.microsoft.com/office/drawing/2010/main">
                <a:solidFill>
                  <a:srgbClr val="FFFFFF"/>
                </a:solidFill>
              </a14:hiddenFill>
            </a:ext>
          </a:extLst>
        </p:spPr>
      </p:pic>
      <p:pic>
        <p:nvPicPr>
          <p:cNvPr id="17" name="Copied Picture 17" descr="page65image29031248">
            <a:extLst>
              <a:ext uri="{FF2B5EF4-FFF2-40B4-BE49-F238E27FC236}">
                <a16:creationId xmlns:a16="http://schemas.microsoft.com/office/drawing/2014/main" id="{035FB81B-263B-E64F-961A-20F834DC4D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2033" y="2813696"/>
            <a:ext cx="755978" cy="920104"/>
          </a:xfrm>
          <a:prstGeom prst="rect">
            <a:avLst/>
          </a:prstGeom>
          <a:noFill/>
          <a:extLst>
            <a:ext uri="{909E8E84-426E-40DD-AFC4-6F175D3DCCD1}">
              <a14:hiddenFill xmlns:a14="http://schemas.microsoft.com/office/drawing/2010/main">
                <a:solidFill>
                  <a:srgbClr val="FFFFFF"/>
                </a:solidFill>
              </a14:hiddenFill>
            </a:ext>
          </a:extLst>
        </p:spPr>
      </p:pic>
      <p:pic>
        <p:nvPicPr>
          <p:cNvPr id="18" name="Copied Picture 18">
            <a:extLst>
              <a:ext uri="{FF2B5EF4-FFF2-40B4-BE49-F238E27FC236}">
                <a16:creationId xmlns:a16="http://schemas.microsoft.com/office/drawing/2014/main" id="{82CA7E2F-2DEF-0F43-96F4-2C7146AE90E3}"/>
              </a:ext>
            </a:extLst>
          </p:cNvPr>
          <p:cNvPicPr>
            <a:picLocks noChangeAspect="1"/>
          </p:cNvPicPr>
          <p:nvPr/>
        </p:nvPicPr>
        <p:blipFill>
          <a:blip r:embed="rId8"/>
          <a:stretch>
            <a:fillRect/>
          </a:stretch>
        </p:blipFill>
        <p:spPr>
          <a:xfrm>
            <a:off x="6168811" y="2813696"/>
            <a:ext cx="783074" cy="920104"/>
          </a:xfrm>
          <a:prstGeom prst="rect">
            <a:avLst/>
          </a:prstGeom>
        </p:spPr>
      </p:pic>
      <p:pic>
        <p:nvPicPr>
          <p:cNvPr id="19" name="Copied Picture 19" descr="page66image11766064">
            <a:extLst>
              <a:ext uri="{FF2B5EF4-FFF2-40B4-BE49-F238E27FC236}">
                <a16:creationId xmlns:a16="http://schemas.microsoft.com/office/drawing/2014/main" id="{3E9EEED0-EA27-0645-B713-DCA9D15160F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02685" y="2813696"/>
            <a:ext cx="690882" cy="920104"/>
          </a:xfrm>
          <a:prstGeom prst="rect">
            <a:avLst/>
          </a:prstGeom>
          <a:noFill/>
          <a:extLst>
            <a:ext uri="{909E8E84-426E-40DD-AFC4-6F175D3DCCD1}">
              <a14:hiddenFill xmlns:a14="http://schemas.microsoft.com/office/drawing/2010/main">
                <a:solidFill>
                  <a:srgbClr val="FFFFFF"/>
                </a:solidFill>
              </a14:hiddenFill>
            </a:ext>
          </a:extLst>
        </p:spPr>
      </p:pic>
      <p:sp>
        <p:nvSpPr>
          <p:cNvPr id="309" name="Box"/>
          <p:cNvSpPr txBox="1"/>
          <p:nvPr/>
        </p:nvSpPr>
        <p:spPr>
          <a:xfrm>
            <a:off x="4800600" y="3937000"/>
            <a:ext cx="3454400" cy="139700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002E56"/>
                </a:solidFill>
              </a:rPr>
              <a:t>Long bones and knees</a:t>
            </a:r>
          </a:p>
          <a:p>
            <a:pPr marL="128016" indent="-128016">
              <a:spcBef>
                <a:spcPts val="300"/>
              </a:spcBef>
              <a:spcAft>
                <a:spcPts val="0"/>
              </a:spcAft>
              <a:buClr>
                <a:srgbClr val="646464"/>
              </a:buClr>
              <a:buFont typeface="Arial"/>
              <a:buChar char="•"/>
            </a:pPr>
            <a:r>
              <a:rPr lang="en-US" sz="1400" dirty="0">
                <a:solidFill>
                  <a:srgbClr val="2B2B2B"/>
                </a:solidFill>
              </a:rPr>
              <a:t>Mildly hypoplastic epiphyses, displaced growth plates</a:t>
            </a:r>
            <a:r>
              <a:rPr lang="en-US" sz="1400" baseline="30000" dirty="0">
                <a:solidFill>
                  <a:srgbClr val="2B2B2B"/>
                </a:solidFill>
              </a:rPr>
              <a:t>1</a:t>
            </a:r>
          </a:p>
          <a:p>
            <a:pPr marL="128016" indent="-128016">
              <a:spcBef>
                <a:spcPts val="300"/>
              </a:spcBef>
              <a:spcAft>
                <a:spcPts val="0"/>
              </a:spcAft>
              <a:buClr>
                <a:srgbClr val="646464"/>
              </a:buClr>
              <a:buFont typeface="Arial"/>
              <a:buChar char="•"/>
            </a:pPr>
            <a:r>
              <a:rPr lang="en-US" sz="1400" dirty="0">
                <a:solidFill>
                  <a:srgbClr val="2B2B2B"/>
                </a:solidFill>
              </a:rPr>
              <a:t>Thick, shortened diaphysis</a:t>
            </a:r>
            <a:r>
              <a:rPr lang="en-US" sz="1400" baseline="30000" dirty="0">
                <a:solidFill>
                  <a:srgbClr val="2B2B2B"/>
                </a:solidFill>
              </a:rPr>
              <a:t>1</a:t>
            </a:r>
          </a:p>
          <a:p>
            <a:pPr marL="128016" indent="-128016">
              <a:spcBef>
                <a:spcPts val="300"/>
              </a:spcBef>
              <a:spcAft>
                <a:spcPts val="0"/>
              </a:spcAft>
              <a:buClr>
                <a:srgbClr val="646464"/>
              </a:buClr>
              <a:buFont typeface="Arial"/>
              <a:buChar char="•"/>
            </a:pPr>
            <a:r>
              <a:rPr lang="en-US" sz="1400" dirty="0">
                <a:solidFill>
                  <a:srgbClr val="2B2B2B"/>
                </a:solidFill>
              </a:rPr>
              <a:t>Bent-knee posture from genu valgum plus spine and pelvis deformity</a:t>
            </a:r>
            <a:r>
              <a:rPr lang="en-US" sz="1400" baseline="30000" dirty="0">
                <a:solidFill>
                  <a:srgbClr val="2B2B2B"/>
                </a:solidFill>
              </a:rPr>
              <a:t>1,2</a:t>
            </a:r>
          </a:p>
        </p:txBody>
      </p:sp>
      <p:sp>
        <p:nvSpPr>
          <p:cNvPr id="310" name="Box"/>
          <p:cNvSpPr/>
          <p:nvPr/>
        </p:nvSpPr>
        <p:spPr>
          <a:xfrm>
            <a:off x="8585200" y="1422400"/>
            <a:ext cx="2946400" cy="4013200"/>
          </a:xfrm>
          <a:prstGeom prst="roundRect">
            <a:avLst>
              <a:gd name="adj" fmla="val 3879"/>
            </a:avLst>
          </a:prstGeom>
          <a:solidFill>
            <a:srgbClr val="E3EAF5"/>
          </a:solidFill>
          <a:ln>
            <a:noFill/>
          </a:ln>
        </p:spPr>
        <p:txBody>
          <a:bodyPr wrap="square" lIns="0" tIns="0" rIns="0" bIns="0" rtlCol="0" anchor="t">
            <a:noAutofit/>
          </a:bodyPr>
          <a:lstStyle/>
          <a:p>
            <a:endParaRPr lang="en-US" dirty="0"/>
          </a:p>
        </p:txBody>
      </p:sp>
      <p:sp>
        <p:nvSpPr>
          <p:cNvPr id="312" name="Image frame"/>
          <p:cNvSpPr/>
          <p:nvPr/>
        </p:nvSpPr>
        <p:spPr>
          <a:xfrm>
            <a:off x="8712200" y="1600200"/>
            <a:ext cx="2692400" cy="2184400"/>
          </a:xfrm>
          <a:prstGeom prst="roundRect">
            <a:avLst>
              <a:gd name="adj" fmla="val 5233"/>
            </a:avLst>
          </a:prstGeom>
          <a:solidFill>
            <a:srgbClr val="FFFFFF"/>
          </a:solidFill>
          <a:ln w="9525">
            <a:solidFill>
              <a:srgbClr val="C9D5EA"/>
            </a:solidFill>
          </a:ln>
        </p:spPr>
        <p:txBody>
          <a:bodyPr wrap="square" lIns="0" tIns="0" rIns="0" bIns="0" rtlCol="0" anchor="t">
            <a:noAutofit/>
          </a:bodyPr>
          <a:lstStyle/>
          <a:p>
            <a:endParaRPr lang="en-US" dirty="0"/>
          </a:p>
        </p:txBody>
      </p:sp>
      <p:pic>
        <p:nvPicPr>
          <p:cNvPr id="20" name="Copied Picture 20" descr="page68image29329440">
            <a:extLst>
              <a:ext uri="{FF2B5EF4-FFF2-40B4-BE49-F238E27FC236}">
                <a16:creationId xmlns:a16="http://schemas.microsoft.com/office/drawing/2014/main" id="{2DFCCD3B-5BEF-9241-82F4-6E37A48F38B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63000" y="1817646"/>
            <a:ext cx="2590800" cy="1749507"/>
          </a:xfrm>
          <a:prstGeom prst="rect">
            <a:avLst/>
          </a:prstGeom>
          <a:noFill/>
          <a:extLst>
            <a:ext uri="{909E8E84-426E-40DD-AFC4-6F175D3DCCD1}">
              <a14:hiddenFill xmlns:a14="http://schemas.microsoft.com/office/drawing/2010/main">
                <a:solidFill>
                  <a:srgbClr val="FFFFFF"/>
                </a:solidFill>
              </a14:hiddenFill>
            </a:ext>
          </a:extLst>
        </p:spPr>
      </p:pic>
      <p:sp>
        <p:nvSpPr>
          <p:cNvPr id="313" name="Box"/>
          <p:cNvSpPr txBox="1"/>
          <p:nvPr/>
        </p:nvSpPr>
        <p:spPr>
          <a:xfrm>
            <a:off x="8763000" y="3937000"/>
            <a:ext cx="2590800" cy="1397000"/>
          </a:xfrm>
          <a:prstGeom prst="rect">
            <a:avLst/>
          </a:prstGeom>
          <a:noFill/>
          <a:ln>
            <a:noFill/>
          </a:ln>
        </p:spPr>
        <p:txBody>
          <a:bodyPr wrap="square" lIns="0" tIns="0" rIns="0" bIns="0" rtlCol="0" anchor="t">
            <a:noAutofit/>
          </a:bodyPr>
          <a:lstStyle/>
          <a:p>
            <a:pPr>
              <a:spcBef>
                <a:spcPts val="0"/>
              </a:spcBef>
              <a:spcAft>
                <a:spcPts val="0"/>
              </a:spcAft>
              <a:buNone/>
            </a:pPr>
            <a:r>
              <a:rPr lang="en-US" sz="1400" b="1" dirty="0">
                <a:solidFill>
                  <a:srgbClr val="28509C"/>
                </a:solidFill>
              </a:rPr>
              <a:t>Pelvis</a:t>
            </a:r>
          </a:p>
          <a:p>
            <a:pPr marL="128016" indent="-128016">
              <a:spcBef>
                <a:spcPts val="300"/>
              </a:spcBef>
              <a:spcAft>
                <a:spcPts val="0"/>
              </a:spcAft>
              <a:buClr>
                <a:srgbClr val="28509C"/>
              </a:buClr>
              <a:buFont typeface="Arial"/>
              <a:buChar char="•"/>
            </a:pPr>
            <a:r>
              <a:rPr lang="en-US" sz="1400" dirty="0">
                <a:solidFill>
                  <a:srgbClr val="2B2B2B"/>
                </a:solidFill>
              </a:rPr>
              <a:t>Hip dysplasia from abnormal bone growth</a:t>
            </a:r>
            <a:r>
              <a:rPr lang="en-US" sz="1400" baseline="30000" dirty="0">
                <a:solidFill>
                  <a:srgbClr val="2B2B2B"/>
                </a:solidFill>
              </a:rPr>
              <a:t>1</a:t>
            </a:r>
          </a:p>
          <a:p>
            <a:pPr marL="128016" indent="-128016">
              <a:spcBef>
                <a:spcPts val="300"/>
              </a:spcBef>
              <a:spcAft>
                <a:spcPts val="0"/>
              </a:spcAft>
              <a:buClr>
                <a:srgbClr val="28509C"/>
              </a:buClr>
              <a:buFont typeface="Arial"/>
              <a:buChar char="•"/>
            </a:pPr>
            <a:r>
              <a:rPr lang="en-US" sz="1400" dirty="0">
                <a:solidFill>
                  <a:srgbClr val="2B2B2B"/>
                </a:solidFill>
              </a:rPr>
              <a:t>Rounded iliac wings</a:t>
            </a:r>
            <a:r>
              <a:rPr lang="en-US" sz="1400" baseline="30000" dirty="0">
                <a:solidFill>
                  <a:srgbClr val="2B2B2B"/>
                </a:solidFill>
              </a:rPr>
              <a:t>1</a:t>
            </a:r>
          </a:p>
          <a:p>
            <a:pPr marL="128016" indent="-128016">
              <a:spcBef>
                <a:spcPts val="300"/>
              </a:spcBef>
              <a:spcAft>
                <a:spcPts val="0"/>
              </a:spcAft>
              <a:buClr>
                <a:srgbClr val="28509C"/>
              </a:buClr>
              <a:buFont typeface="Arial"/>
              <a:buChar char="•"/>
            </a:pPr>
            <a:r>
              <a:rPr lang="en-US" sz="1400" dirty="0">
                <a:solidFill>
                  <a:srgbClr val="2B2B2B"/>
                </a:solidFill>
              </a:rPr>
              <a:t>Orthopaedic surgery is often needed</a:t>
            </a:r>
            <a:r>
              <a:rPr lang="en-US" sz="1400" baseline="30000" dirty="0">
                <a:solidFill>
                  <a:srgbClr val="2B2B2B"/>
                </a:solidFill>
              </a:rPr>
              <a:t>1</a:t>
            </a:r>
          </a:p>
        </p:txBody>
      </p:sp>
      <p:sp>
        <p:nvSpPr>
          <p:cNvPr id="314" name="Abbreviations"/>
          <p:cNvSpPr txBox="1"/>
          <p:nvPr/>
        </p:nvSpPr>
        <p:spPr>
          <a:xfrm>
            <a:off x="660400" y="5588000"/>
            <a:ext cx="10871200" cy="3810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MPS, mucopolysaccharidosis. Dexterity, skill in using the hands; diaphysis, the shaft of a long bone; epiphysis, the rounded end of a long bone; genu valgum, knock-knee; hypoplastic, underdeveloped; phalanges, the bones of the fingers and toes</a:t>
            </a:r>
          </a:p>
        </p:txBody>
      </p:sp>
      <p:sp>
        <p:nvSpPr>
          <p:cNvPr id="315" name="References"/>
          <p:cNvSpPr txBox="1"/>
          <p:nvPr/>
        </p:nvSpPr>
        <p:spPr>
          <a:xfrm>
            <a:off x="660400" y="6096000"/>
            <a:ext cx="10871200" cy="381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Lachman R et al. J Pediatr Rehabil Med 2010;3:109–18. 2. Garcia P et al. J Pediatr Rehabil Med 2010;3:63–9.</a:t>
            </a:r>
          </a:p>
        </p:txBody>
      </p:sp>
      <p:pic>
        <p:nvPicPr>
          <p:cNvPr id="316" name="Graphic 316" descr="Radiology"/>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60400" y="469900"/>
            <a:ext cx="457200" cy="457200"/>
          </a:xfrm>
          <a:prstGeom prst="rect">
            <a:avLst/>
          </a:prstGeom>
        </p:spPr>
      </p:pic>
    </p:spTree>
    <p:extLst>
      <p:ext uri="{BB962C8B-B14F-4D97-AF65-F5344CB8AC3E}">
        <p14:creationId xmlns:p14="http://schemas.microsoft.com/office/powerpoint/2010/main" val="36705404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1244600" y="444500"/>
            <a:ext cx="10287000" cy="889000"/>
          </a:xfrm>
        </p:spPr>
        <p:txBody>
          <a:bodyPr wrap="square" lIns="0" tIns="0" rIns="0" bIns="0" anchor="t">
            <a:noAutofit/>
          </a:bodyPr>
          <a:lstStyle/>
          <a:p>
            <a:pPr>
              <a:spcBef>
                <a:spcPts val="0"/>
              </a:spcBef>
              <a:spcAft>
                <a:spcPts val="0"/>
              </a:spcAft>
              <a:buNone/>
            </a:pPr>
            <a:r>
              <a:rPr lang="en-US" dirty="0">
                <a:solidFill>
                  <a:srgbClr val="A9218E"/>
                </a:solidFill>
              </a:rPr>
              <a:t>Orthopaedics: </a:t>
            </a:r>
            <a:r>
              <a:rPr lang="en-US" dirty="0"/>
              <a:t>eight signs that point to MPS</a:t>
            </a:r>
            <a:r>
              <a:rPr lang="en-US" baseline="30000" dirty="0"/>
              <a:t>1,2</a:t>
            </a:r>
          </a:p>
        </p:txBody>
      </p:sp>
      <p:sp>
        <p:nvSpPr>
          <p:cNvPr id="202" name="Box"/>
          <p:cNvSpPr/>
          <p:nvPr/>
        </p:nvSpPr>
        <p:spPr>
          <a:xfrm>
            <a:off x="660400" y="1549400"/>
            <a:ext cx="2584450" cy="1854200"/>
          </a:xfrm>
          <a:prstGeom prst="roundRect">
            <a:avLst>
              <a:gd name="adj" fmla="val 6164"/>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38200" y="1778000"/>
            <a:ext cx="2228850" cy="1498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01</a:t>
            </a:r>
          </a:p>
          <a:p>
            <a:pPr>
              <a:spcBef>
                <a:spcPts val="600"/>
              </a:spcBef>
              <a:spcAft>
                <a:spcPts val="0"/>
              </a:spcAft>
              <a:buNone/>
            </a:pPr>
            <a:r>
              <a:rPr lang="en-US" sz="1600" b="1" dirty="0">
                <a:solidFill>
                  <a:srgbClr val="002E56"/>
                </a:solidFill>
              </a:rPr>
              <a:t>Dysostosis multiplex</a:t>
            </a:r>
          </a:p>
        </p:txBody>
      </p:sp>
      <p:sp>
        <p:nvSpPr>
          <p:cNvPr id="205" name="Box"/>
          <p:cNvSpPr/>
          <p:nvPr/>
        </p:nvSpPr>
        <p:spPr>
          <a:xfrm>
            <a:off x="3422650" y="1549400"/>
            <a:ext cx="2584450" cy="1854200"/>
          </a:xfrm>
          <a:prstGeom prst="roundRect">
            <a:avLst>
              <a:gd name="adj" fmla="val 6164"/>
            </a:avLst>
          </a:prstGeom>
          <a:solidFill>
            <a:srgbClr val="F1F4F9"/>
          </a:solidFill>
          <a:ln>
            <a:noFill/>
          </a:ln>
        </p:spPr>
        <p:txBody>
          <a:bodyPr wrap="square" lIns="0" tIns="0" rIns="0" bIns="0" anchor="t">
            <a:noAutofit/>
          </a:bodyPr>
          <a:lstStyle/>
          <a:p>
            <a:endParaRPr lang="en-US" dirty="0"/>
          </a:p>
        </p:txBody>
      </p:sp>
      <p:sp>
        <p:nvSpPr>
          <p:cNvPr id="207" name="Box"/>
          <p:cNvSpPr txBox="1"/>
          <p:nvPr/>
        </p:nvSpPr>
        <p:spPr>
          <a:xfrm>
            <a:off x="3600450" y="1778000"/>
            <a:ext cx="2228850" cy="1498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02</a:t>
            </a:r>
          </a:p>
          <a:p>
            <a:pPr>
              <a:spcBef>
                <a:spcPts val="600"/>
              </a:spcBef>
              <a:spcAft>
                <a:spcPts val="0"/>
              </a:spcAft>
              <a:buNone/>
            </a:pPr>
            <a:r>
              <a:rPr lang="en-US" sz="1600" b="1" dirty="0">
                <a:solidFill>
                  <a:srgbClr val="002E56"/>
                </a:solidFill>
              </a:rPr>
              <a:t>Kyphosis or scoliosis</a:t>
            </a:r>
          </a:p>
        </p:txBody>
      </p:sp>
      <p:sp>
        <p:nvSpPr>
          <p:cNvPr id="208" name="Box"/>
          <p:cNvSpPr/>
          <p:nvPr/>
        </p:nvSpPr>
        <p:spPr>
          <a:xfrm>
            <a:off x="6184900" y="1549400"/>
            <a:ext cx="2584450" cy="1854200"/>
          </a:xfrm>
          <a:prstGeom prst="roundRect">
            <a:avLst>
              <a:gd name="adj" fmla="val 6164"/>
            </a:avLst>
          </a:prstGeom>
          <a:solidFill>
            <a:srgbClr val="F1F4F9"/>
          </a:solidFill>
          <a:ln>
            <a:noFill/>
          </a:ln>
        </p:spPr>
        <p:txBody>
          <a:bodyPr wrap="square" lIns="0" tIns="0" rIns="0" bIns="0" anchor="t">
            <a:noAutofit/>
          </a:bodyPr>
          <a:lstStyle/>
          <a:p>
            <a:endParaRPr lang="en-US" dirty="0"/>
          </a:p>
        </p:txBody>
      </p:sp>
      <p:sp>
        <p:nvSpPr>
          <p:cNvPr id="210" name="Box"/>
          <p:cNvSpPr txBox="1"/>
          <p:nvPr/>
        </p:nvSpPr>
        <p:spPr>
          <a:xfrm>
            <a:off x="6362700" y="1778000"/>
            <a:ext cx="2228850" cy="1498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03</a:t>
            </a:r>
          </a:p>
          <a:p>
            <a:pPr>
              <a:spcBef>
                <a:spcPts val="600"/>
              </a:spcBef>
              <a:spcAft>
                <a:spcPts val="0"/>
              </a:spcAft>
              <a:buNone/>
            </a:pPr>
            <a:r>
              <a:rPr lang="en-US" sz="1600" b="1" dirty="0">
                <a:solidFill>
                  <a:srgbClr val="002E56"/>
                </a:solidFill>
              </a:rPr>
              <a:t>Vertebral body abnormality</a:t>
            </a:r>
          </a:p>
          <a:p>
            <a:pPr>
              <a:spcBef>
                <a:spcPts val="300"/>
              </a:spcBef>
              <a:spcAft>
                <a:spcPts val="0"/>
              </a:spcAft>
              <a:buNone/>
            </a:pPr>
            <a:r>
              <a:rPr lang="en-US" sz="1400" dirty="0">
                <a:solidFill>
                  <a:srgbClr val="646464"/>
                </a:solidFill>
              </a:rPr>
              <a:t>hypoplasia, beaking, platyspondyly, kyphosis/gibbus</a:t>
            </a:r>
          </a:p>
        </p:txBody>
      </p:sp>
      <p:sp>
        <p:nvSpPr>
          <p:cNvPr id="211" name="Box"/>
          <p:cNvSpPr/>
          <p:nvPr/>
        </p:nvSpPr>
        <p:spPr>
          <a:xfrm>
            <a:off x="8947150" y="1549400"/>
            <a:ext cx="2584450" cy="1854200"/>
          </a:xfrm>
          <a:prstGeom prst="roundRect">
            <a:avLst>
              <a:gd name="adj" fmla="val 6164"/>
            </a:avLst>
          </a:prstGeom>
          <a:solidFill>
            <a:srgbClr val="F1F4F9"/>
          </a:solidFill>
          <a:ln>
            <a:noFill/>
          </a:ln>
        </p:spPr>
        <p:txBody>
          <a:bodyPr wrap="square" lIns="0" tIns="0" rIns="0" bIns="0" anchor="t">
            <a:noAutofit/>
          </a:bodyPr>
          <a:lstStyle/>
          <a:p>
            <a:endParaRPr lang="en-US" dirty="0"/>
          </a:p>
        </p:txBody>
      </p:sp>
      <p:sp>
        <p:nvSpPr>
          <p:cNvPr id="213" name="Box"/>
          <p:cNvSpPr txBox="1"/>
          <p:nvPr/>
        </p:nvSpPr>
        <p:spPr>
          <a:xfrm>
            <a:off x="9124950" y="1778000"/>
            <a:ext cx="2228850" cy="1498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04</a:t>
            </a:r>
          </a:p>
          <a:p>
            <a:pPr>
              <a:spcBef>
                <a:spcPts val="600"/>
              </a:spcBef>
              <a:spcAft>
                <a:spcPts val="0"/>
              </a:spcAft>
              <a:buNone/>
            </a:pPr>
            <a:r>
              <a:rPr lang="en-US" sz="1600" b="1" dirty="0">
                <a:solidFill>
                  <a:srgbClr val="002E56"/>
                </a:solidFill>
              </a:rPr>
              <a:t>Bilateral hip dysplasia</a:t>
            </a:r>
          </a:p>
          <a:p>
            <a:pPr>
              <a:spcBef>
                <a:spcPts val="300"/>
              </a:spcBef>
              <a:spcAft>
                <a:spcPts val="0"/>
              </a:spcAft>
              <a:buNone/>
            </a:pPr>
            <a:r>
              <a:rPr lang="en-US" sz="1400" dirty="0">
                <a:solidFill>
                  <a:srgbClr val="646464"/>
                </a:solidFill>
              </a:rPr>
              <a:t>or Perthes-like osteonecrosis</a:t>
            </a:r>
          </a:p>
        </p:txBody>
      </p:sp>
      <p:sp>
        <p:nvSpPr>
          <p:cNvPr id="214" name="Box"/>
          <p:cNvSpPr/>
          <p:nvPr/>
        </p:nvSpPr>
        <p:spPr>
          <a:xfrm>
            <a:off x="660400" y="3581400"/>
            <a:ext cx="2584450" cy="1854200"/>
          </a:xfrm>
          <a:prstGeom prst="roundRect">
            <a:avLst>
              <a:gd name="adj" fmla="val 6164"/>
            </a:avLst>
          </a:prstGeom>
          <a:solidFill>
            <a:srgbClr val="F1F4F9"/>
          </a:solidFill>
          <a:ln>
            <a:noFill/>
          </a:ln>
        </p:spPr>
        <p:txBody>
          <a:bodyPr wrap="square" lIns="0" tIns="0" rIns="0" bIns="0" anchor="t">
            <a:noAutofit/>
          </a:bodyPr>
          <a:lstStyle/>
          <a:p>
            <a:endParaRPr lang="en-US" dirty="0"/>
          </a:p>
        </p:txBody>
      </p:sp>
      <p:sp>
        <p:nvSpPr>
          <p:cNvPr id="216" name="Box"/>
          <p:cNvSpPr txBox="1"/>
          <p:nvPr/>
        </p:nvSpPr>
        <p:spPr>
          <a:xfrm>
            <a:off x="838200" y="3810000"/>
            <a:ext cx="2228850" cy="1498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05</a:t>
            </a:r>
          </a:p>
          <a:p>
            <a:pPr>
              <a:spcBef>
                <a:spcPts val="600"/>
              </a:spcBef>
              <a:spcAft>
                <a:spcPts val="0"/>
              </a:spcAft>
              <a:buNone/>
            </a:pPr>
            <a:r>
              <a:rPr lang="en-US" sz="1600" b="1" dirty="0">
                <a:solidFill>
                  <a:srgbClr val="002E56"/>
                </a:solidFill>
              </a:rPr>
              <a:t>Claw hands</a:t>
            </a:r>
          </a:p>
        </p:txBody>
      </p:sp>
      <p:sp>
        <p:nvSpPr>
          <p:cNvPr id="217" name="Box"/>
          <p:cNvSpPr/>
          <p:nvPr/>
        </p:nvSpPr>
        <p:spPr>
          <a:xfrm>
            <a:off x="3422650" y="3581400"/>
            <a:ext cx="2584450" cy="1854200"/>
          </a:xfrm>
          <a:prstGeom prst="roundRect">
            <a:avLst>
              <a:gd name="adj" fmla="val 6164"/>
            </a:avLst>
          </a:prstGeom>
          <a:solidFill>
            <a:srgbClr val="F1F4F9"/>
          </a:solidFill>
          <a:ln>
            <a:noFill/>
          </a:ln>
        </p:spPr>
        <p:txBody>
          <a:bodyPr wrap="square" lIns="0" tIns="0" rIns="0" bIns="0" anchor="t">
            <a:noAutofit/>
          </a:bodyPr>
          <a:lstStyle/>
          <a:p>
            <a:endParaRPr lang="en-US" dirty="0"/>
          </a:p>
        </p:txBody>
      </p:sp>
      <p:sp>
        <p:nvSpPr>
          <p:cNvPr id="219" name="Box"/>
          <p:cNvSpPr txBox="1"/>
          <p:nvPr/>
        </p:nvSpPr>
        <p:spPr>
          <a:xfrm>
            <a:off x="3600450" y="3810000"/>
            <a:ext cx="2228850" cy="1498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06</a:t>
            </a:r>
          </a:p>
          <a:p>
            <a:pPr>
              <a:spcBef>
                <a:spcPts val="600"/>
              </a:spcBef>
              <a:spcAft>
                <a:spcPts val="0"/>
              </a:spcAft>
              <a:buNone/>
            </a:pPr>
            <a:r>
              <a:rPr lang="en-US" sz="1600" b="1" dirty="0">
                <a:solidFill>
                  <a:srgbClr val="002E56"/>
                </a:solidFill>
              </a:rPr>
              <a:t>Coarse facial features</a:t>
            </a:r>
          </a:p>
        </p:txBody>
      </p:sp>
      <p:sp>
        <p:nvSpPr>
          <p:cNvPr id="220" name="Box"/>
          <p:cNvSpPr/>
          <p:nvPr/>
        </p:nvSpPr>
        <p:spPr>
          <a:xfrm>
            <a:off x="6184900" y="3581400"/>
            <a:ext cx="2584450" cy="1854200"/>
          </a:xfrm>
          <a:prstGeom prst="roundRect">
            <a:avLst>
              <a:gd name="adj" fmla="val 6164"/>
            </a:avLst>
          </a:prstGeom>
          <a:solidFill>
            <a:srgbClr val="F1F4F9"/>
          </a:solidFill>
          <a:ln>
            <a:noFill/>
          </a:ln>
        </p:spPr>
        <p:txBody>
          <a:bodyPr wrap="square" lIns="0" tIns="0" rIns="0" bIns="0" anchor="t">
            <a:noAutofit/>
          </a:bodyPr>
          <a:lstStyle/>
          <a:p>
            <a:endParaRPr lang="en-US" dirty="0"/>
          </a:p>
        </p:txBody>
      </p:sp>
      <p:sp>
        <p:nvSpPr>
          <p:cNvPr id="222" name="Box"/>
          <p:cNvSpPr txBox="1"/>
          <p:nvPr/>
        </p:nvSpPr>
        <p:spPr>
          <a:xfrm>
            <a:off x="6362700" y="3810000"/>
            <a:ext cx="2228850" cy="1498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07</a:t>
            </a:r>
          </a:p>
          <a:p>
            <a:pPr>
              <a:spcBef>
                <a:spcPts val="600"/>
              </a:spcBef>
              <a:spcAft>
                <a:spcPts val="0"/>
              </a:spcAft>
              <a:buNone/>
            </a:pPr>
            <a:r>
              <a:rPr lang="en-US" sz="1600" b="1" dirty="0">
                <a:solidFill>
                  <a:srgbClr val="002E56"/>
                </a:solidFill>
              </a:rPr>
              <a:t>Joint restriction or laxity</a:t>
            </a:r>
          </a:p>
          <a:p>
            <a:pPr>
              <a:spcBef>
                <a:spcPts val="300"/>
              </a:spcBef>
              <a:spcAft>
                <a:spcPts val="0"/>
              </a:spcAft>
              <a:buNone/>
            </a:pPr>
            <a:r>
              <a:rPr lang="en-US" sz="1400" dirty="0">
                <a:solidFill>
                  <a:srgbClr val="646464"/>
                </a:solidFill>
              </a:rPr>
              <a:t>stiffness, or hypermobility</a:t>
            </a:r>
          </a:p>
        </p:txBody>
      </p:sp>
      <p:sp>
        <p:nvSpPr>
          <p:cNvPr id="223" name="Box"/>
          <p:cNvSpPr/>
          <p:nvPr/>
        </p:nvSpPr>
        <p:spPr>
          <a:xfrm>
            <a:off x="8947150" y="3581400"/>
            <a:ext cx="2584450" cy="1854200"/>
          </a:xfrm>
          <a:prstGeom prst="roundRect">
            <a:avLst>
              <a:gd name="adj" fmla="val 6164"/>
            </a:avLst>
          </a:prstGeom>
          <a:solidFill>
            <a:srgbClr val="F1F4F9"/>
          </a:solidFill>
          <a:ln>
            <a:noFill/>
          </a:ln>
        </p:spPr>
        <p:txBody>
          <a:bodyPr wrap="square" lIns="0" tIns="0" rIns="0" bIns="0" anchor="t">
            <a:noAutofit/>
          </a:bodyPr>
          <a:lstStyle/>
          <a:p>
            <a:endParaRPr lang="en-US" dirty="0"/>
          </a:p>
        </p:txBody>
      </p:sp>
      <p:sp>
        <p:nvSpPr>
          <p:cNvPr id="225" name="Box"/>
          <p:cNvSpPr txBox="1"/>
          <p:nvPr/>
        </p:nvSpPr>
        <p:spPr>
          <a:xfrm>
            <a:off x="9124950" y="3810000"/>
            <a:ext cx="2228850" cy="14986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0A0A0"/>
                </a:solidFill>
              </a:rPr>
              <a:t>08</a:t>
            </a:r>
          </a:p>
          <a:p>
            <a:pPr>
              <a:spcBef>
                <a:spcPts val="600"/>
              </a:spcBef>
              <a:spcAft>
                <a:spcPts val="0"/>
              </a:spcAft>
              <a:buNone/>
            </a:pPr>
            <a:r>
              <a:rPr lang="en-US" sz="1600" b="1" dirty="0">
                <a:solidFill>
                  <a:srgbClr val="002E56"/>
                </a:solidFill>
              </a:rPr>
              <a:t>Short stature</a:t>
            </a:r>
          </a:p>
        </p:txBody>
      </p:sp>
      <p:sp>
        <p:nvSpPr>
          <p:cNvPr id="226" name="Abbreviations"/>
          <p:cNvSpPr txBox="1"/>
          <p:nvPr/>
        </p:nvSpPr>
        <p:spPr>
          <a:xfrm>
            <a:off x="660400" y="5664200"/>
            <a:ext cx="10871200" cy="2286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MPS, mucopolysaccharidosis</a:t>
            </a:r>
          </a:p>
        </p:txBody>
      </p:sp>
      <p:sp>
        <p:nvSpPr>
          <p:cNvPr id="227" name="References"/>
          <p:cNvSpPr txBox="1"/>
          <p:nvPr/>
        </p:nvSpPr>
        <p:spPr>
          <a:xfrm>
            <a:off x="660400" y="60198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Lachman RS et al. Skeletal Radiol 2014;43:359–69. 2. Lachman R et al. J Pediatr Rehabil Med 2010;3:109–18.</a:t>
            </a:r>
          </a:p>
        </p:txBody>
      </p:sp>
      <p:pic>
        <p:nvPicPr>
          <p:cNvPr id="228" name="Graphic 228" descr="Orthopaedic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0400" y="469900"/>
            <a:ext cx="457200" cy="457200"/>
          </a:xfrm>
          <a:prstGeom prst="rect">
            <a:avLst/>
          </a:prstGeom>
        </p:spPr>
      </p:pic>
    </p:spTree>
    <p:extLst>
      <p:ext uri="{BB962C8B-B14F-4D97-AF65-F5344CB8AC3E}">
        <p14:creationId xmlns:p14="http://schemas.microsoft.com/office/powerpoint/2010/main" val="31727650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ection label"/>
          <p:cNvSpPr txBox="1"/>
          <p:nvPr/>
        </p:nvSpPr>
        <p:spPr>
          <a:xfrm>
            <a:off x="660400" y="190500"/>
            <a:ext cx="7620000" cy="203200"/>
          </a:xfrm>
          <a:prstGeom prst="rect">
            <a:avLst/>
          </a:prstGeom>
          <a:noFill/>
          <a:ln>
            <a:noFill/>
          </a:ln>
        </p:spPr>
        <p:txBody>
          <a:bodyPr wrap="square" lIns="0" tIns="0" rIns="0" bIns="0" anchor="t">
            <a:noAutofit/>
          </a:bodyPr>
          <a:lstStyle/>
          <a:p>
            <a:pPr>
              <a:spcBef>
                <a:spcPts val="0"/>
              </a:spcBef>
              <a:spcAft>
                <a:spcPts val="0"/>
              </a:spcAft>
              <a:buNone/>
            </a:pPr>
            <a:r>
              <a:rPr lang="en-US" sz="1050" b="1" spc="100" dirty="0">
                <a:solidFill>
                  <a:srgbClr val="28509C"/>
                </a:solidFill>
              </a:rPr>
              <a:t>Complications</a:t>
            </a:r>
          </a:p>
        </p:txBody>
      </p:sp>
      <p:sp>
        <p:nvSpPr>
          <p:cNvPr id="201" name="Title"/>
          <p:cNvSpPr>
            <a:spLocks noGrp="1"/>
          </p:cNvSpPr>
          <p:nvPr>
            <p:ph type="title"/>
          </p:nvPr>
        </p:nvSpPr>
        <p:spPr>
          <a:xfrm>
            <a:off x="1244600" y="444500"/>
            <a:ext cx="10287000" cy="889000"/>
          </a:xfrm>
        </p:spPr>
        <p:txBody>
          <a:bodyPr wrap="square" lIns="0" tIns="0" rIns="0" bIns="0" anchor="t">
            <a:noAutofit/>
          </a:bodyPr>
          <a:lstStyle/>
          <a:p>
            <a:pPr>
              <a:spcBef>
                <a:spcPts val="0"/>
              </a:spcBef>
              <a:spcAft>
                <a:spcPts val="0"/>
              </a:spcAft>
              <a:buNone/>
            </a:pPr>
            <a:r>
              <a:rPr lang="en-US" dirty="0">
                <a:solidFill>
                  <a:srgbClr val="A9218E"/>
                </a:solidFill>
              </a:rPr>
              <a:t>Rheumatology: </a:t>
            </a:r>
            <a:r>
              <a:rPr lang="en-US" dirty="0"/>
              <a:t>joints and short stature in MPS IVA and MPS VI</a:t>
            </a:r>
          </a:p>
        </p:txBody>
      </p:sp>
      <p:sp>
        <p:nvSpPr>
          <p:cNvPr id="202" name="Box"/>
          <p:cNvSpPr/>
          <p:nvPr/>
        </p:nvSpPr>
        <p:spPr>
          <a:xfrm>
            <a:off x="660400" y="1498600"/>
            <a:ext cx="3505200" cy="1498600"/>
          </a:xfrm>
          <a:prstGeom prst="roundRect">
            <a:avLst>
              <a:gd name="adj" fmla="val 7627"/>
            </a:avLst>
          </a:prstGeom>
          <a:solidFill>
            <a:srgbClr val="F1F4F9"/>
          </a:solidFill>
          <a:ln>
            <a:noFill/>
          </a:ln>
        </p:spPr>
        <p:txBody>
          <a:bodyPr wrap="square" lIns="0" tIns="0" rIns="0" bIns="0" anchor="t">
            <a:noAutofit/>
          </a:bodyPr>
          <a:lstStyle/>
          <a:p>
            <a:endParaRPr lang="en-US" dirty="0"/>
          </a:p>
        </p:txBody>
      </p:sp>
      <p:sp>
        <p:nvSpPr>
          <p:cNvPr id="204" name="Box"/>
          <p:cNvSpPr txBox="1"/>
          <p:nvPr/>
        </p:nvSpPr>
        <p:spPr>
          <a:xfrm>
            <a:off x="863600" y="1651000"/>
            <a:ext cx="3149600" cy="1193800"/>
          </a:xfrm>
          <a:prstGeom prst="rect">
            <a:avLst/>
          </a:prstGeom>
          <a:noFill/>
          <a:ln>
            <a:noFill/>
          </a:ln>
        </p:spPr>
        <p:txBody>
          <a:bodyPr wrap="square" lIns="0" tIns="0" rIns="0" bIns="0" anchor="ctr">
            <a:noAutofit/>
          </a:bodyPr>
          <a:lstStyle/>
          <a:p>
            <a:pPr>
              <a:spcBef>
                <a:spcPts val="0"/>
              </a:spcBef>
              <a:spcAft>
                <a:spcPts val="0"/>
              </a:spcAft>
              <a:buNone/>
            </a:pPr>
            <a:r>
              <a:rPr lang="en-US" sz="1600" b="1" dirty="0">
                <a:solidFill>
                  <a:srgbClr val="002E56"/>
                </a:solidFill>
              </a:rPr>
              <a:t>Joint hypermobility</a:t>
            </a:r>
          </a:p>
          <a:p>
            <a:pPr>
              <a:spcBef>
                <a:spcPts val="800"/>
              </a:spcBef>
              <a:spcAft>
                <a:spcPts val="0"/>
              </a:spcAft>
              <a:buNone/>
            </a:pPr>
            <a:r>
              <a:rPr lang="en-US" sz="1600" dirty="0">
                <a:solidFill>
                  <a:srgbClr val="2B2B2B"/>
                </a:solidFill>
              </a:rPr>
              <a:t>Specific to MPS IVA</a:t>
            </a:r>
            <a:r>
              <a:rPr lang="en-US" sz="1600" baseline="30000" dirty="0">
                <a:solidFill>
                  <a:srgbClr val="2B2B2B"/>
                </a:solidFill>
              </a:rPr>
              <a:t>1</a:t>
            </a:r>
          </a:p>
        </p:txBody>
      </p:sp>
      <p:sp>
        <p:nvSpPr>
          <p:cNvPr id="205" name="Box"/>
          <p:cNvSpPr/>
          <p:nvPr/>
        </p:nvSpPr>
        <p:spPr>
          <a:xfrm>
            <a:off x="4343400" y="1498600"/>
            <a:ext cx="3505200" cy="1498600"/>
          </a:xfrm>
          <a:prstGeom prst="roundRect">
            <a:avLst>
              <a:gd name="adj" fmla="val 7627"/>
            </a:avLst>
          </a:prstGeom>
          <a:solidFill>
            <a:srgbClr val="F1F4F9"/>
          </a:solidFill>
          <a:ln>
            <a:noFill/>
          </a:ln>
        </p:spPr>
        <p:txBody>
          <a:bodyPr wrap="square" lIns="0" tIns="0" rIns="0" bIns="0" anchor="t">
            <a:noAutofit/>
          </a:bodyPr>
          <a:lstStyle/>
          <a:p>
            <a:endParaRPr lang="en-US" dirty="0"/>
          </a:p>
        </p:txBody>
      </p:sp>
      <p:sp>
        <p:nvSpPr>
          <p:cNvPr id="207" name="Box"/>
          <p:cNvSpPr txBox="1"/>
          <p:nvPr/>
        </p:nvSpPr>
        <p:spPr>
          <a:xfrm>
            <a:off x="4546600" y="1651000"/>
            <a:ext cx="3149600" cy="1193800"/>
          </a:xfrm>
          <a:prstGeom prst="rect">
            <a:avLst/>
          </a:prstGeom>
          <a:noFill/>
          <a:ln>
            <a:noFill/>
          </a:ln>
        </p:spPr>
        <p:txBody>
          <a:bodyPr wrap="square" lIns="0" tIns="0" rIns="0" bIns="0" anchor="ctr">
            <a:noAutofit/>
          </a:bodyPr>
          <a:lstStyle/>
          <a:p>
            <a:pPr>
              <a:spcBef>
                <a:spcPts val="0"/>
              </a:spcBef>
              <a:spcAft>
                <a:spcPts val="0"/>
              </a:spcAft>
              <a:buNone/>
            </a:pPr>
            <a:r>
              <a:rPr lang="en-US" sz="1600" b="1" dirty="0">
                <a:solidFill>
                  <a:srgbClr val="002E56"/>
                </a:solidFill>
              </a:rPr>
              <a:t>Joint stiffness and contractures</a:t>
            </a:r>
          </a:p>
          <a:p>
            <a:pPr>
              <a:spcBef>
                <a:spcPts val="800"/>
              </a:spcBef>
              <a:spcAft>
                <a:spcPts val="0"/>
              </a:spcAft>
              <a:buNone/>
            </a:pPr>
            <a:r>
              <a:rPr lang="en-US" sz="1600" dirty="0">
                <a:solidFill>
                  <a:srgbClr val="2B2B2B"/>
                </a:solidFill>
              </a:rPr>
              <a:t>All MPS types except MPS IVA and MPS IX</a:t>
            </a:r>
            <a:r>
              <a:rPr lang="en-US" sz="1600" baseline="30000" dirty="0">
                <a:solidFill>
                  <a:srgbClr val="2B2B2B"/>
                </a:solidFill>
              </a:rPr>
              <a:t>1</a:t>
            </a:r>
          </a:p>
        </p:txBody>
      </p:sp>
      <p:sp>
        <p:nvSpPr>
          <p:cNvPr id="208" name="Box"/>
          <p:cNvSpPr/>
          <p:nvPr/>
        </p:nvSpPr>
        <p:spPr>
          <a:xfrm>
            <a:off x="8026400" y="1498600"/>
            <a:ext cx="3505200" cy="1498600"/>
          </a:xfrm>
          <a:prstGeom prst="roundRect">
            <a:avLst>
              <a:gd name="adj" fmla="val 7627"/>
            </a:avLst>
          </a:prstGeom>
          <a:solidFill>
            <a:srgbClr val="F1F4F9"/>
          </a:solidFill>
          <a:ln>
            <a:noFill/>
          </a:ln>
        </p:spPr>
        <p:txBody>
          <a:bodyPr wrap="square" lIns="0" tIns="0" rIns="0" bIns="0" anchor="t">
            <a:noAutofit/>
          </a:bodyPr>
          <a:lstStyle/>
          <a:p>
            <a:endParaRPr lang="en-US" dirty="0"/>
          </a:p>
        </p:txBody>
      </p:sp>
      <p:sp>
        <p:nvSpPr>
          <p:cNvPr id="210" name="Box"/>
          <p:cNvSpPr txBox="1"/>
          <p:nvPr/>
        </p:nvSpPr>
        <p:spPr>
          <a:xfrm>
            <a:off x="8229600" y="1651000"/>
            <a:ext cx="3149600" cy="1193800"/>
          </a:xfrm>
          <a:prstGeom prst="rect">
            <a:avLst/>
          </a:prstGeom>
          <a:noFill/>
          <a:ln>
            <a:noFill/>
          </a:ln>
        </p:spPr>
        <p:txBody>
          <a:bodyPr wrap="square" lIns="0" tIns="0" rIns="0" bIns="0" anchor="ctr">
            <a:noAutofit/>
          </a:bodyPr>
          <a:lstStyle/>
          <a:p>
            <a:pPr>
              <a:spcBef>
                <a:spcPts val="0"/>
              </a:spcBef>
              <a:spcAft>
                <a:spcPts val="0"/>
              </a:spcAft>
              <a:buNone/>
            </a:pPr>
            <a:r>
              <a:rPr lang="en-US" sz="1600" b="1" dirty="0">
                <a:solidFill>
                  <a:srgbClr val="002E56"/>
                </a:solidFill>
              </a:rPr>
              <a:t>Carpal tunnel syndrome</a:t>
            </a:r>
          </a:p>
          <a:p>
            <a:pPr>
              <a:spcBef>
                <a:spcPts val="800"/>
              </a:spcBef>
              <a:spcAft>
                <a:spcPts val="0"/>
              </a:spcAft>
              <a:buNone/>
            </a:pPr>
            <a:r>
              <a:rPr lang="en-US" sz="1600" dirty="0">
                <a:solidFill>
                  <a:srgbClr val="2B2B2B"/>
                </a:solidFill>
              </a:rPr>
              <a:t>May be one of the first signs of MPS VI</a:t>
            </a:r>
          </a:p>
        </p:txBody>
      </p:sp>
      <p:sp>
        <p:nvSpPr>
          <p:cNvPr id="211" name="Box"/>
          <p:cNvSpPr txBox="1"/>
          <p:nvPr/>
        </p:nvSpPr>
        <p:spPr>
          <a:xfrm>
            <a:off x="660400" y="3175000"/>
            <a:ext cx="10871200" cy="279400"/>
          </a:xfrm>
          <a:prstGeom prst="rect">
            <a:avLst/>
          </a:prstGeom>
          <a:noFill/>
          <a:ln>
            <a:noFill/>
          </a:ln>
        </p:spPr>
        <p:txBody>
          <a:bodyPr wrap="square" lIns="0" tIns="0" rIns="0" bIns="0" anchor="t">
            <a:noAutofit/>
          </a:bodyPr>
          <a:lstStyle/>
          <a:p>
            <a:pPr>
              <a:spcBef>
                <a:spcPts val="0"/>
              </a:spcBef>
              <a:spcAft>
                <a:spcPts val="0"/>
              </a:spcAft>
              <a:buNone/>
            </a:pPr>
            <a:r>
              <a:rPr lang="en-US" sz="1600" b="1" dirty="0">
                <a:solidFill>
                  <a:srgbClr val="002E56"/>
                </a:solidFill>
              </a:rPr>
              <a:t>Short stature is common in both MPS IVA (Morquio A) and MPS VI (Maroteaux-Lamy)</a:t>
            </a:r>
          </a:p>
        </p:txBody>
      </p:sp>
      <p:sp>
        <p:nvSpPr>
          <p:cNvPr id="212" name="Box"/>
          <p:cNvSpPr/>
          <p:nvPr/>
        </p:nvSpPr>
        <p:spPr>
          <a:xfrm>
            <a:off x="660400" y="3556000"/>
            <a:ext cx="5346700" cy="1905000"/>
          </a:xfrm>
          <a:prstGeom prst="roundRect">
            <a:avLst>
              <a:gd name="adj" fmla="val 6000"/>
            </a:avLst>
          </a:prstGeom>
          <a:solidFill>
            <a:srgbClr val="E3EAF5"/>
          </a:solidFill>
          <a:ln>
            <a:noFill/>
          </a:ln>
        </p:spPr>
        <p:txBody>
          <a:bodyPr wrap="square" lIns="0" tIns="0" rIns="0" bIns="0" anchor="t">
            <a:noAutofit/>
          </a:bodyPr>
          <a:lstStyle/>
          <a:p>
            <a:endParaRPr lang="en-US" dirty="0"/>
          </a:p>
        </p:txBody>
      </p:sp>
      <p:sp>
        <p:nvSpPr>
          <p:cNvPr id="214" name="Box"/>
          <p:cNvSpPr txBox="1"/>
          <p:nvPr/>
        </p:nvSpPr>
        <p:spPr>
          <a:xfrm>
            <a:off x="863600" y="3708400"/>
            <a:ext cx="4991100" cy="16510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28509C"/>
                </a:solidFill>
              </a:rPr>
              <a:t>MPS IVA</a:t>
            </a:r>
          </a:p>
          <a:p>
            <a:pPr>
              <a:spcBef>
                <a:spcPts val="800"/>
              </a:spcBef>
              <a:spcAft>
                <a:spcPts val="0"/>
              </a:spcAft>
              <a:buNone/>
            </a:pPr>
            <a:r>
              <a:rPr lang="en-US" sz="1600" dirty="0">
                <a:solidFill>
                  <a:srgbClr val="2B2B2B"/>
                </a:solidFill>
              </a:rPr>
              <a:t>Most patients are below the 3rd percentile on the CDC growth chart for children over 2 years (&lt;120 cm)</a:t>
            </a:r>
            <a:r>
              <a:rPr lang="en-US" sz="1600" baseline="30000" dirty="0">
                <a:solidFill>
                  <a:srgbClr val="2B2B2B"/>
                </a:solidFill>
              </a:rPr>
              <a:t>1</a:t>
            </a:r>
          </a:p>
        </p:txBody>
      </p:sp>
      <p:sp>
        <p:nvSpPr>
          <p:cNvPr id="215" name="Box"/>
          <p:cNvSpPr/>
          <p:nvPr/>
        </p:nvSpPr>
        <p:spPr>
          <a:xfrm>
            <a:off x="6184900" y="3556000"/>
            <a:ext cx="5346700" cy="1905000"/>
          </a:xfrm>
          <a:prstGeom prst="roundRect">
            <a:avLst>
              <a:gd name="adj" fmla="val 6000"/>
            </a:avLst>
          </a:prstGeom>
          <a:solidFill>
            <a:srgbClr val="E3EAF5"/>
          </a:solidFill>
          <a:ln>
            <a:noFill/>
          </a:ln>
        </p:spPr>
        <p:txBody>
          <a:bodyPr wrap="square" lIns="0" tIns="0" rIns="0" bIns="0" anchor="t">
            <a:noAutofit/>
          </a:bodyPr>
          <a:lstStyle/>
          <a:p>
            <a:endParaRPr lang="en-US" dirty="0"/>
          </a:p>
        </p:txBody>
      </p:sp>
      <p:sp>
        <p:nvSpPr>
          <p:cNvPr id="217" name="Box"/>
          <p:cNvSpPr txBox="1"/>
          <p:nvPr/>
        </p:nvSpPr>
        <p:spPr>
          <a:xfrm>
            <a:off x="6388100" y="3708400"/>
            <a:ext cx="4991100" cy="1651000"/>
          </a:xfrm>
          <a:prstGeom prst="rect">
            <a:avLst/>
          </a:prstGeom>
          <a:noFill/>
          <a:ln>
            <a:noFill/>
          </a:ln>
        </p:spPr>
        <p:txBody>
          <a:bodyPr wrap="square" lIns="0" tIns="0" rIns="0" bIns="0" anchor="t">
            <a:noAutofit/>
          </a:bodyPr>
          <a:lstStyle/>
          <a:p>
            <a:pPr>
              <a:spcBef>
                <a:spcPts val="0"/>
              </a:spcBef>
              <a:spcAft>
                <a:spcPts val="0"/>
              </a:spcAft>
              <a:buNone/>
            </a:pPr>
            <a:r>
              <a:rPr lang="en-US" sz="2000" b="1" dirty="0">
                <a:solidFill>
                  <a:srgbClr val="A9218E"/>
                </a:solidFill>
              </a:rPr>
              <a:t>MPS VI</a:t>
            </a:r>
          </a:p>
          <a:p>
            <a:pPr>
              <a:spcBef>
                <a:spcPts val="800"/>
              </a:spcBef>
              <a:spcAft>
                <a:spcPts val="0"/>
              </a:spcAft>
              <a:buNone/>
            </a:pPr>
            <a:r>
              <a:rPr lang="en-US" sz="1600" dirty="0">
                <a:solidFill>
                  <a:srgbClr val="2B2B2B"/>
                </a:solidFill>
              </a:rPr>
              <a:t>Growth stalls at about 6–8 years; average adult height is &lt;100 cm in rapidly progressing disease and 140–150 cm in slowly progressing disease</a:t>
            </a:r>
            <a:r>
              <a:rPr lang="en-US" sz="1600" baseline="30000" dirty="0">
                <a:solidFill>
                  <a:srgbClr val="2B2B2B"/>
                </a:solidFill>
              </a:rPr>
              <a:t>2,3</a:t>
            </a:r>
          </a:p>
        </p:txBody>
      </p:sp>
      <p:sp>
        <p:nvSpPr>
          <p:cNvPr id="218" name="Abbreviations"/>
          <p:cNvSpPr txBox="1"/>
          <p:nvPr/>
        </p:nvSpPr>
        <p:spPr>
          <a:xfrm>
            <a:off x="660400" y="5664200"/>
            <a:ext cx="10871200" cy="228600"/>
          </a:xfrm>
          <a:prstGeom prst="rect">
            <a:avLst/>
          </a:prstGeom>
          <a:noFill/>
          <a:ln>
            <a:noFill/>
          </a:ln>
        </p:spPr>
        <p:txBody>
          <a:bodyPr wrap="square" lIns="0" tIns="0" rIns="0" bIns="0" anchor="b">
            <a:noAutofit/>
          </a:bodyPr>
          <a:lstStyle/>
          <a:p>
            <a:pPr>
              <a:spcBef>
                <a:spcPts val="0"/>
              </a:spcBef>
              <a:spcAft>
                <a:spcPts val="0"/>
              </a:spcAft>
              <a:buNone/>
            </a:pPr>
            <a:r>
              <a:rPr lang="en-US" sz="1100" i="1" dirty="0">
                <a:solidFill>
                  <a:srgbClr val="404040"/>
                </a:solidFill>
              </a:rPr>
              <a:t>CDC, Centers for Disease Control and Prevention; MPS, mucopolysaccharidosis</a:t>
            </a:r>
          </a:p>
        </p:txBody>
      </p:sp>
      <p:sp>
        <p:nvSpPr>
          <p:cNvPr id="219" name="References"/>
          <p:cNvSpPr txBox="1"/>
          <p:nvPr/>
        </p:nvSpPr>
        <p:spPr>
          <a:xfrm>
            <a:off x="660400" y="6019800"/>
            <a:ext cx="10871200" cy="508000"/>
          </a:xfrm>
          <a:prstGeom prst="rect">
            <a:avLst/>
          </a:prstGeom>
          <a:noFill/>
          <a:ln>
            <a:noFill/>
          </a:ln>
        </p:spPr>
        <p:txBody>
          <a:bodyPr wrap="square" lIns="0" tIns="0" rIns="0" bIns="0" anchor="t">
            <a:noAutofit/>
          </a:bodyPr>
          <a:lstStyle/>
          <a:p>
            <a:pPr>
              <a:spcBef>
                <a:spcPts val="0"/>
              </a:spcBef>
              <a:spcAft>
                <a:spcPts val="0"/>
              </a:spcAft>
              <a:buNone/>
            </a:pPr>
            <a:r>
              <a:rPr lang="en-US" sz="900" dirty="0">
                <a:solidFill>
                  <a:srgbClr val="646464"/>
                </a:solidFill>
              </a:rPr>
              <a:t>1. Harmatz P et al. Mol Genet Metab 2013;109:54–61. 2. Giugliani R et al. Genet Mol Biol 2010;33:589–604. 3. Giugliani R et al. Pediatrics 2007;120:405–18. 4. Morishita K, Petty RE. Rheumatology (Oxford) 2011;50(Suppl 5):v19–25.</a:t>
            </a:r>
          </a:p>
        </p:txBody>
      </p:sp>
      <p:pic>
        <p:nvPicPr>
          <p:cNvPr id="220" name="Graphic 220" descr="Rheumatology"/>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0400" y="469900"/>
            <a:ext cx="457200" cy="457200"/>
          </a:xfrm>
          <a:prstGeom prst="rect">
            <a:avLst/>
          </a:prstGeom>
        </p:spPr>
      </p:pic>
    </p:spTree>
    <p:extLst>
      <p:ext uri="{BB962C8B-B14F-4D97-AF65-F5344CB8AC3E}">
        <p14:creationId xmlns:p14="http://schemas.microsoft.com/office/powerpoint/2010/main" val="31890807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For Medical Affairs review  |  Hidden in Slide Show</a:t>
            </a:r>
          </a:p>
        </p:txBody>
      </p:sp>
      <p:sp>
        <p:nvSpPr>
          <p:cNvPr id="12" name="Title"/>
          <p:cNvSpPr>
            <a:spLocks noGrp="1"/>
          </p:cNvSpPr>
          <p:nvPr>
            <p:ph type="title"/>
          </p:nvPr>
        </p:nvSpPr>
        <p:spPr/>
        <p:txBody>
          <a:bodyPr wrap="square" lIns="0" tIns="0" rIns="0" bIns="0" rtlCol="0" anchor="t">
            <a:noAutofit/>
          </a:bodyPr>
          <a:lstStyle/>
          <a:p>
            <a:pPr>
              <a:spcBef>
                <a:spcPts val="0"/>
              </a:spcBef>
              <a:spcAft>
                <a:spcPts val="0"/>
              </a:spcAft>
              <a:buNone/>
            </a:pPr>
            <a:r>
              <a:rPr lang="en-US"/>
              <a:t>Reviewer note: what changed from the original deck</a:t>
            </a:r>
            <a:endParaRPr lang="en-US" dirty="0"/>
          </a:p>
        </p:txBody>
      </p:sp>
      <p:graphicFrame>
        <p:nvGraphicFramePr>
          <p:cNvPr id="13" name="Changes table"/>
          <p:cNvGraphicFramePr>
            <a:graphicFrameLocks noGrp="1"/>
          </p:cNvGraphicFramePr>
          <p:nvPr/>
        </p:nvGraphicFramePr>
        <p:xfrm>
          <a:off x="660400" y="1320800"/>
          <a:ext cx="10871200" cy="3901000"/>
        </p:xfrm>
        <a:graphic>
          <a:graphicData uri="http://schemas.openxmlformats.org/drawingml/2006/table">
            <a:tbl>
              <a:tblPr firstRow="1"/>
              <a:tblGrid>
                <a:gridCol w="2032000"/>
                <a:gridCol w="5689600"/>
                <a:gridCol w="3149600"/>
              </a:tblGrid>
              <a:tr h="381000">
                <a:tc>
                  <a:txBody>
                    <a:bodyPr/>
                    <a:lstStyle/>
                    <a:p>
                      <a:r>
                        <a:rPr lang="en-US" sz="1100" b="1" dirty="0">
                          <a:solidFill>
                            <a:srgbClr val="002E56"/>
                          </a:solidFill>
                        </a:rPr>
                        <a:t>Change</a:t>
                      </a:r>
                    </a:p>
                  </a:txBody>
                  <a:tcPr marL="101600" marR="101600" marT="50800" marB="50800" anchor="ctr">
                    <a:lnL w="0">
                      <a:noFill/>
                    </a:lnL>
                    <a:lnR w="0">
                      <a:noFill/>
                    </a:lnR>
                    <a:lnT w="0">
                      <a:noFill/>
                    </a:lnT>
                    <a:lnB w="15875">
                      <a:solidFill>
                        <a:srgbClr val="002E56"/>
                      </a:solidFill>
                    </a:lnB>
                    <a:noFill/>
                  </a:tcPr>
                </a:tc>
                <a:tc>
                  <a:txBody>
                    <a:bodyPr/>
                    <a:lstStyle/>
                    <a:p>
                      <a:r>
                        <a:rPr lang="en-US" sz="1100" b="1" dirty="0">
                          <a:solidFill>
                            <a:srgbClr val="002E56"/>
                          </a:solidFill>
                        </a:rPr>
                        <a:t>What was done</a:t>
                      </a:r>
                    </a:p>
                  </a:txBody>
                  <a:tcPr marL="101600" marR="101600" marT="50800" marB="50800" anchor="ctr">
                    <a:lnL w="0">
                      <a:noFill/>
                    </a:lnL>
                    <a:lnR w="0">
                      <a:noFill/>
                    </a:lnR>
                    <a:lnT w="0">
                      <a:noFill/>
                    </a:lnT>
                    <a:lnB w="15875">
                      <a:solidFill>
                        <a:srgbClr val="002E56"/>
                      </a:solidFill>
                    </a:lnB>
                    <a:noFill/>
                  </a:tcPr>
                </a:tc>
                <a:tc>
                  <a:txBody>
                    <a:bodyPr/>
                    <a:lstStyle/>
                    <a:p>
                      <a:r>
                        <a:rPr lang="en-US" sz="1100" b="1" dirty="0">
                          <a:solidFill>
                            <a:srgbClr val="002E56"/>
                          </a:solidFill>
                        </a:rPr>
                        <a:t>Why</a:t>
                      </a:r>
                    </a:p>
                  </a:txBody>
                  <a:tcPr marL="101600" marR="101600" marT="50800" marB="50800" anchor="ctr">
                    <a:lnL w="0">
                      <a:noFill/>
                    </a:lnL>
                    <a:lnR w="0">
                      <a:noFill/>
                    </a:lnR>
                    <a:lnT w="0">
                      <a:noFill/>
                    </a:lnT>
                    <a:lnB w="15875">
                      <a:solidFill>
                        <a:srgbClr val="002E56"/>
                      </a:solidFill>
                    </a:lnB>
                    <a:noFill/>
                  </a:tcPr>
                </a:tc>
              </a:tr>
              <a:tr h="440000">
                <a:tc>
                  <a:txBody>
                    <a:bodyPr/>
                    <a:lstStyle/>
                    <a:p>
                      <a:r>
                        <a:rPr lang="en-US" sz="1100" b="1" dirty="0">
                          <a:solidFill>
                            <a:srgbClr val="002E56"/>
                          </a:solidFill>
                        </a:rPr>
                        <a:t>New order</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Rebuilt around the patient journey: your role → diagnosis → understanding MPS → starting treatment → infusion day → follow-up → living with MPS → pharmacovigilance</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Matches how educators meet families over time</a:t>
                      </a:r>
                    </a:p>
                  </a:txBody>
                  <a:tcPr marL="101600" marR="101600" marT="50800" marB="50800" anchor="ctr">
                    <a:lnL w="0">
                      <a:noFill/>
                    </a:lnL>
                    <a:lnR w="0">
                      <a:noFill/>
                    </a:lnR>
                    <a:lnT w="9525">
                      <a:solidFill>
                        <a:srgbClr val="E0E0E0"/>
                      </a:solidFill>
                    </a:lnT>
                    <a:lnB w="9525">
                      <a:solidFill>
                        <a:srgbClr val="E0E0E0"/>
                      </a:solidFill>
                    </a:lnB>
                    <a:noFill/>
                  </a:tcPr>
                </a:tc>
              </a:tr>
              <a:tr h="440000">
                <a:tc>
                  <a:txBody>
                    <a:bodyPr/>
                    <a:lstStyle/>
                    <a:p>
                      <a:r>
                        <a:rPr lang="en-US" sz="1100" b="1" dirty="0">
                          <a:solidFill>
                            <a:srgbClr val="002E56"/>
                          </a:solidFill>
                        </a:rPr>
                        <a:t>New slides (8)</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Role and boundaries; each family contact; how MPS is diagnosed; supporting adherence; surgery and emergencies; living with MPS; transition to adult care; plus 3 dividers</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Core topics for an outsourced, educate-only program</a:t>
                      </a:r>
                    </a:p>
                  </a:txBody>
                  <a:tcPr marL="101600" marR="101600" marT="50800" marB="50800" anchor="ctr">
                    <a:lnL w="0">
                      <a:noFill/>
                    </a:lnL>
                    <a:lnR w="0">
                      <a:noFill/>
                    </a:lnR>
                    <a:lnT w="9525">
                      <a:solidFill>
                        <a:srgbClr val="E0E0E0"/>
                      </a:solidFill>
                    </a:lnT>
                    <a:lnB w="9525">
                      <a:solidFill>
                        <a:srgbClr val="E0E0E0"/>
                      </a:solidFill>
                    </a:lnB>
                    <a:noFill/>
                  </a:tcPr>
                </a:tc>
              </a:tr>
              <a:tr h="440000">
                <a:tc>
                  <a:txBody>
                    <a:bodyPr/>
                    <a:lstStyle/>
                    <a:p>
                      <a:r>
                        <a:rPr lang="en-US" sz="1100" b="1" dirty="0">
                          <a:solidFill>
                            <a:srgbClr val="002E56"/>
                          </a:solidFill>
                        </a:rPr>
                        <a:t>Trial data</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~30 trial slides (MOR-004/005, MorCAP, Survey/Resurvey) cut to 3 plain-language slides; the rest moved to the appendix</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Educators explain what ERT does, not study design</a:t>
                      </a:r>
                    </a:p>
                  </a:txBody>
                  <a:tcPr marL="101600" marR="101600" marT="50800" marB="50800" anchor="ctr">
                    <a:lnL w="0">
                      <a:noFill/>
                    </a:lnL>
                    <a:lnR w="0">
                      <a:noFill/>
                    </a:lnR>
                    <a:lnT w="9525">
                      <a:solidFill>
                        <a:srgbClr val="E0E0E0"/>
                      </a:solidFill>
                    </a:lnT>
                    <a:lnB w="9525">
                      <a:solidFill>
                        <a:srgbClr val="E0E0E0"/>
                      </a:solidFill>
                    </a:lnB>
                    <a:noFill/>
                  </a:tcPr>
                </a:tc>
              </a:tr>
              <a:tr h="440000">
                <a:tc>
                  <a:txBody>
                    <a:bodyPr/>
                    <a:lstStyle/>
                    <a:p>
                      <a:r>
                        <a:rPr lang="en-US" sz="1100" b="1" dirty="0">
                          <a:solidFill>
                            <a:srgbClr val="002E56"/>
                          </a:solidFill>
                        </a:rPr>
                        <a:t>Diagnosis tests</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8 test and red-flag slides replaced by 1 summary; detail moved to the appendix</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Educators refer; they do not diagnose</a:t>
                      </a:r>
                    </a:p>
                  </a:txBody>
                  <a:tcPr marL="101600" marR="101600" marT="50800" marB="50800" anchor="ctr">
                    <a:lnL w="0">
                      <a:noFill/>
                    </a:lnL>
                    <a:lnR w="0">
                      <a:noFill/>
                    </a:lnR>
                    <a:lnT w="9525">
                      <a:solidFill>
                        <a:srgbClr val="E0E0E0"/>
                      </a:solidFill>
                    </a:lnT>
                    <a:lnB w="9525">
                      <a:solidFill>
                        <a:srgbClr val="E0E0E0"/>
                      </a:solidFill>
                    </a:lnB>
                    <a:noFill/>
                  </a:tcPr>
                </a:tc>
              </a:tr>
              <a:tr h="440000">
                <a:tc>
                  <a:txBody>
                    <a:bodyPr/>
                    <a:lstStyle/>
                    <a:p>
                      <a:r>
                        <a:rPr lang="en-US" sz="1100" b="1" dirty="0">
                          <a:solidFill>
                            <a:srgbClr val="002E56"/>
                          </a:solidFill>
                        </a:rPr>
                        <a:t>SmPC detail</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Dose, dilution and infusion-rate tables moved to the appendix; ERT overview and reaction management kept</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Educators do not prepare or give infusions</a:t>
                      </a:r>
                    </a:p>
                  </a:txBody>
                  <a:tcPr marL="101600" marR="101600" marT="50800" marB="50800" anchor="ctr">
                    <a:lnL w="0">
                      <a:noFill/>
                    </a:lnL>
                    <a:lnR w="0">
                      <a:noFill/>
                    </a:lnR>
                    <a:lnT w="9525">
                      <a:solidFill>
                        <a:srgbClr val="E0E0E0"/>
                      </a:solidFill>
                    </a:lnT>
                    <a:lnB w="9525">
                      <a:solidFill>
                        <a:srgbClr val="E0E0E0"/>
                      </a:solidFill>
                    </a:lnB>
                    <a:noFill/>
                  </a:tcPr>
                </a:tc>
              </a:tr>
              <a:tr h="440000">
                <a:tc>
                  <a:txBody>
                    <a:bodyPr/>
                    <a:lstStyle/>
                    <a:p>
                      <a:r>
                        <a:rPr lang="en-US" sz="1100" b="1" dirty="0">
                          <a:solidFill>
                            <a:srgbClr val="002E56"/>
                          </a:solidFill>
                        </a:rPr>
                        <a:t>Biology detail</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LSD and GAG chemistry and the 8-type table moved to the appendix</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More than educators need day to day</a:t>
                      </a:r>
                    </a:p>
                  </a:txBody>
                  <a:tcPr marL="101600" marR="101600" marT="50800" marB="50800" anchor="ctr">
                    <a:lnL w="0">
                      <a:noFill/>
                    </a:lnL>
                    <a:lnR w="0">
                      <a:noFill/>
                    </a:lnR>
                    <a:lnT w="9525">
                      <a:solidFill>
                        <a:srgbClr val="E0E0E0"/>
                      </a:solidFill>
                    </a:lnT>
                    <a:lnB w="9525">
                      <a:solidFill>
                        <a:srgbClr val="E0E0E0"/>
                      </a:solidFill>
                    </a:lnB>
                    <a:noFill/>
                  </a:tcPr>
                </a:tc>
              </a:tr>
              <a:tr h="440000">
                <a:tc>
                  <a:txBody>
                    <a:bodyPr/>
                    <a:lstStyle/>
                    <a:p>
                      <a:r>
                        <a:rPr lang="en-US" sz="1100" b="1" dirty="0">
                          <a:solidFill>
                            <a:srgbClr val="002E56"/>
                          </a:solidFill>
                        </a:rPr>
                        <a:t>Removed (1)</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MOR-004 safety slide, a duplicate of the elosulfase alfa safety slide</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Duplicate</a:t>
                      </a:r>
                    </a:p>
                  </a:txBody>
                  <a:tcPr marL="101600" marR="101600" marT="50800" marB="50800" anchor="ctr">
                    <a:lnL w="0">
                      <a:noFill/>
                    </a:lnL>
                    <a:lnR w="0">
                      <a:noFill/>
                    </a:lnR>
                    <a:lnT w="9525">
                      <a:solidFill>
                        <a:srgbClr val="E0E0E0"/>
                      </a:solidFill>
                    </a:lnT>
                    <a:lnB w="9525">
                      <a:solidFill>
                        <a:srgbClr val="E0E0E0"/>
                      </a:solidFill>
                    </a:lnB>
                    <a:noFill/>
                  </a:tcPr>
                </a:tc>
              </a:tr>
              <a:tr h="440000">
                <a:tc>
                  <a:txBody>
                    <a:bodyPr/>
                    <a:lstStyle/>
                    <a:p>
                      <a:r>
                        <a:rPr lang="en-US" sz="1100" b="1" dirty="0">
                          <a:solidFill>
                            <a:srgbClr val="002E56"/>
                          </a:solidFill>
                        </a:rPr>
                        <a:t>Unchanged</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Colours, layouts, the click-to-reveal animation on “Report or not?”, all PV and complaint slides</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100" dirty="0">
                          <a:solidFill>
                            <a:srgbClr val="2B2B2B"/>
                          </a:solidFill>
                        </a:rPr>
                        <a:t>Brand and PV process consistency</a:t>
                      </a:r>
                    </a:p>
                  </a:txBody>
                  <a:tcPr marL="101600" marR="101600" marT="50800" marB="50800" anchor="ctr">
                    <a:lnL w="0">
                      <a:noFill/>
                    </a:lnL>
                    <a:lnR w="0">
                      <a:noFill/>
                    </a:lnR>
                    <a:lnT w="9525">
                      <a:solidFill>
                        <a:srgbClr val="E0E0E0"/>
                      </a:solidFill>
                    </a:lnT>
                    <a:lnB w="9525">
                      <a:solidFill>
                        <a:srgbClr val="E0E0E0"/>
                      </a:solidFill>
                    </a:lnB>
                    <a:noFill/>
                  </a:tcPr>
                </a:tc>
              </a:tr>
            </a:tbl>
          </a:graphicData>
        </a:graphic>
      </p:graphicFrame>
      <p:sp>
        <p:nvSpPr>
          <p:cNvPr id="14" name="Banner"/>
          <p:cNvSpPr/>
          <p:nvPr/>
        </p:nvSpPr>
        <p:spPr>
          <a:xfrm>
            <a:off x="660400" y="5638800"/>
            <a:ext cx="10871200" cy="406400"/>
          </a:xfrm>
          <a:prstGeom prst="roundRect">
            <a:avLst>
              <a:gd name="adj" fmla="val 18000"/>
            </a:avLst>
          </a:prstGeom>
          <a:solidFill>
            <a:srgbClr val="002E56"/>
          </a:solidFill>
          <a:ln>
            <a:noFill/>
          </a:ln>
        </p:spPr>
        <p:txBody>
          <a:bodyPr wrap="square" lIns="0" tIns="0" rIns="0" bIns="0" rtlCol="0" anchor="t">
            <a:noAutofit/>
          </a:bodyPr>
          <a:lstStyle/>
          <a:p>
            <a:endParaRPr lang="en-US" dirty="0"/>
          </a:p>
        </p:txBody>
      </p:sp>
      <p:sp>
        <p:nvSpPr>
          <p:cNvPr id="15" name="Banner text"/>
          <p:cNvSpPr txBox="1"/>
          <p:nvPr/>
        </p:nvSpPr>
        <p:spPr>
          <a:xfrm>
            <a:off x="660400" y="5638800"/>
            <a:ext cx="10871200" cy="4064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Delete this slide before sharing with the vendor.</a:t>
            </a:r>
            <a:r>
              <a:rPr lang="en-US" sz="1500" dirty="0">
                <a:solidFill>
                  <a:srgbClr val="DCE4F2"/>
                </a:solidFill>
              </a:rPr>
              <a:t xml:space="preserve">  It is hidden in Slide Show but visible when editing.</a:t>
            </a:r>
          </a:p>
        </p:txBody>
      </p:sp>
    </p:spTree>
    <p:extLst>
      <p:ext uri="{BB962C8B-B14F-4D97-AF65-F5344CB8AC3E}">
        <p14:creationId xmlns:p14="http://schemas.microsoft.com/office/powerpoint/2010/main" val="1250357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Your role</a:t>
            </a:r>
          </a:p>
        </p:txBody>
      </p:sp>
      <p:sp>
        <p:nvSpPr>
          <p:cNvPr id="17" name="Title"/>
          <p:cNvSpPr>
            <a:spLocks noGrp="1"/>
          </p:cNvSpPr>
          <p:nvPr>
            <p:ph type="title"/>
          </p:nvPr>
        </p:nvSpPr>
        <p:spPr/>
        <p:txBody>
          <a:bodyPr wrap="square" lIns="0" tIns="0" rIns="0" bIns="0" rtlCol="0" anchor="t">
            <a:noAutofit/>
          </a:bodyPr>
          <a:lstStyle/>
          <a:p>
            <a:pPr>
              <a:spcBef>
                <a:spcPts val="0"/>
              </a:spcBef>
              <a:spcAft>
                <a:spcPts val="0"/>
              </a:spcAft>
              <a:buNone/>
            </a:pPr>
            <a:r>
              <a:rPr lang="en-US"/>
              <a:t>Your role: what you do, and what you never do</a:t>
            </a:r>
            <a:endParaRPr lang="en-US" dirty="0"/>
          </a:p>
        </p:txBody>
      </p:sp>
      <p:sp>
        <p:nvSpPr>
          <p:cNvPr id="18" name="Card"/>
          <p:cNvSpPr/>
          <p:nvPr/>
        </p:nvSpPr>
        <p:spPr>
          <a:xfrm>
            <a:off x="6604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9" name="Card header"/>
          <p:cNvSpPr/>
          <p:nvPr/>
        </p:nvSpPr>
        <p:spPr>
          <a:xfrm>
            <a:off x="660400" y="1549400"/>
            <a:ext cx="345440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You do</a:t>
            </a:r>
          </a:p>
        </p:txBody>
      </p:sp>
      <p:sp>
        <p:nvSpPr>
          <p:cNvPr id="20" name="Card body"/>
          <p:cNvSpPr txBox="1"/>
          <p:nvPr/>
        </p:nvSpPr>
        <p:spPr>
          <a:xfrm>
            <a:off x="6604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Educate families using program-approved materials only</a:t>
            </a:r>
          </a:p>
          <a:p>
            <a:pPr marL="177800" indent="-177800">
              <a:spcBef>
                <a:spcPts val="0"/>
              </a:spcBef>
              <a:spcAft>
                <a:spcPts val="900"/>
              </a:spcAft>
              <a:buClr>
                <a:srgbClr val="28509C"/>
              </a:buClr>
              <a:buFont typeface="Arial"/>
              <a:buChar char="•"/>
            </a:pPr>
            <a:r>
              <a:rPr lang="en-US" sz="1400" dirty="0">
                <a:solidFill>
                  <a:srgbClr val="2B2B2B"/>
                </a:solidFill>
              </a:rPr>
              <a:t>Remind: infusion dates, tests and MDT visits</a:t>
            </a:r>
          </a:p>
          <a:p>
            <a:pPr marL="177800" indent="-177800">
              <a:spcBef>
                <a:spcPts val="0"/>
              </a:spcBef>
              <a:spcAft>
                <a:spcPts val="900"/>
              </a:spcAft>
              <a:buClr>
                <a:srgbClr val="28509C"/>
              </a:buClr>
              <a:buFont typeface="Arial"/>
              <a:buChar char="•"/>
            </a:pPr>
            <a:r>
              <a:rPr lang="en-US" sz="1400" dirty="0">
                <a:solidFill>
                  <a:srgbClr val="2B2B2B"/>
                </a:solidFill>
              </a:rPr>
              <a:t>Listen, and record every contact accurately</a:t>
            </a:r>
          </a:p>
          <a:p>
            <a:pPr marL="177800" indent="-177800">
              <a:spcBef>
                <a:spcPts val="0"/>
              </a:spcBef>
              <a:spcAft>
                <a:spcPts val="900"/>
              </a:spcAft>
              <a:buClr>
                <a:srgbClr val="28509C"/>
              </a:buClr>
              <a:buFont typeface="Arial"/>
              <a:buChar char="•"/>
            </a:pPr>
            <a:r>
              <a:rPr lang="en-US" sz="1400" dirty="0">
                <a:solidFill>
                  <a:srgbClr val="2B2B2B"/>
                </a:solidFill>
              </a:rPr>
              <a:t>Escalate warning signs to the treating team the same day</a:t>
            </a:r>
          </a:p>
          <a:p>
            <a:pPr marL="177800" indent="-177800">
              <a:spcBef>
                <a:spcPts val="0"/>
              </a:spcBef>
              <a:spcAft>
                <a:spcPts val="900"/>
              </a:spcAft>
              <a:buClr>
                <a:srgbClr val="28509C"/>
              </a:buClr>
              <a:buFont typeface="Arial"/>
              <a:buChar char="•"/>
            </a:pPr>
            <a:r>
              <a:rPr lang="en-US" sz="1400" dirty="0">
                <a:solidFill>
                  <a:srgbClr val="2B2B2B"/>
                </a:solidFill>
              </a:rPr>
              <a:t>Report every AE, special situation and complaint</a:t>
            </a:r>
          </a:p>
        </p:txBody>
      </p:sp>
      <p:sp>
        <p:nvSpPr>
          <p:cNvPr id="21" name="Card"/>
          <p:cNvSpPr/>
          <p:nvPr/>
        </p:nvSpPr>
        <p:spPr>
          <a:xfrm>
            <a:off x="43688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22" name="Card header"/>
          <p:cNvSpPr/>
          <p:nvPr/>
        </p:nvSpPr>
        <p:spPr>
          <a:xfrm>
            <a:off x="4368800" y="1549400"/>
            <a:ext cx="3454400" cy="482600"/>
          </a:xfrm>
          <a:prstGeom prst="roundRect">
            <a:avLst>
              <a:gd name="adj" fmla="val 15789"/>
            </a:avLst>
          </a:prstGeom>
          <a:solidFill>
            <a:srgbClr val="D25D5D"/>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You never</a:t>
            </a:r>
          </a:p>
        </p:txBody>
      </p:sp>
      <p:sp>
        <p:nvSpPr>
          <p:cNvPr id="23" name="Card body"/>
          <p:cNvSpPr txBox="1"/>
          <p:nvPr/>
        </p:nvSpPr>
        <p:spPr>
          <a:xfrm>
            <a:off x="43688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D25D5D"/>
              </a:buClr>
              <a:buFont typeface="Arial"/>
              <a:buChar char="•"/>
            </a:pPr>
            <a:r>
              <a:rPr lang="en-US" sz="1400" dirty="0">
                <a:solidFill>
                  <a:srgbClr val="2B2B2B"/>
                </a:solidFill>
              </a:rPr>
              <a:t>Give medical advice or change doses, rates or premedication</a:t>
            </a:r>
          </a:p>
          <a:p>
            <a:pPr marL="177800" indent="-177800">
              <a:spcBef>
                <a:spcPts val="0"/>
              </a:spcBef>
              <a:spcAft>
                <a:spcPts val="900"/>
              </a:spcAft>
              <a:buClr>
                <a:srgbClr val="D25D5D"/>
              </a:buClr>
              <a:buFont typeface="Arial"/>
              <a:buChar char="•"/>
            </a:pPr>
            <a:r>
              <a:rPr lang="en-US" sz="1400" dirty="0">
                <a:solidFill>
                  <a:srgbClr val="2B2B2B"/>
                </a:solidFill>
              </a:rPr>
              <a:t>Promote products or discuss off-label use</a:t>
            </a:r>
          </a:p>
          <a:p>
            <a:pPr marL="177800" indent="-177800">
              <a:spcBef>
                <a:spcPts val="0"/>
              </a:spcBef>
              <a:spcAft>
                <a:spcPts val="900"/>
              </a:spcAft>
              <a:buClr>
                <a:srgbClr val="D25D5D"/>
              </a:buClr>
              <a:buFont typeface="Arial"/>
              <a:buChar char="•"/>
            </a:pPr>
            <a:r>
              <a:rPr lang="en-US" sz="1400" dirty="0">
                <a:solidFill>
                  <a:srgbClr val="2B2B2B"/>
                </a:solidFill>
              </a:rPr>
              <a:t>Promise outcomes or question the physician’s plan</a:t>
            </a:r>
          </a:p>
          <a:p>
            <a:pPr marL="177800" indent="-177800">
              <a:spcBef>
                <a:spcPts val="0"/>
              </a:spcBef>
              <a:spcAft>
                <a:spcPts val="900"/>
              </a:spcAft>
              <a:buClr>
                <a:srgbClr val="D25D5D"/>
              </a:buClr>
              <a:buFont typeface="Arial"/>
              <a:buChar char="•"/>
            </a:pPr>
            <a:r>
              <a:rPr lang="en-US" sz="1400" dirty="0">
                <a:solidFill>
                  <a:srgbClr val="2B2B2B"/>
                </a:solidFill>
              </a:rPr>
              <a:t>Share patient data outside the program</a:t>
            </a:r>
          </a:p>
          <a:p>
            <a:pPr marL="177800" indent="-177800">
              <a:spcBef>
                <a:spcPts val="0"/>
              </a:spcBef>
              <a:spcAft>
                <a:spcPts val="900"/>
              </a:spcAft>
              <a:buClr>
                <a:srgbClr val="D25D5D"/>
              </a:buClr>
              <a:buFont typeface="Arial"/>
              <a:buChar char="•"/>
            </a:pPr>
            <a:r>
              <a:rPr lang="en-US" sz="1400" dirty="0">
                <a:solidFill>
                  <a:srgbClr val="2B2B2B"/>
                </a:solidFill>
              </a:rPr>
              <a:t>Accept gifts or payments from families</a:t>
            </a:r>
          </a:p>
        </p:txBody>
      </p:sp>
      <p:sp>
        <p:nvSpPr>
          <p:cNvPr id="24" name="Card"/>
          <p:cNvSpPr/>
          <p:nvPr/>
        </p:nvSpPr>
        <p:spPr>
          <a:xfrm>
            <a:off x="80772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25" name="Card header"/>
          <p:cNvSpPr/>
          <p:nvPr/>
        </p:nvSpPr>
        <p:spPr>
          <a:xfrm>
            <a:off x="8077200" y="1549400"/>
            <a:ext cx="3454400" cy="482600"/>
          </a:xfrm>
          <a:prstGeom prst="roundRect">
            <a:avLst>
              <a:gd name="adj" fmla="val 15789"/>
            </a:avLst>
          </a:prstGeom>
          <a:solidFill>
            <a:srgbClr val="A9218E"/>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Before the first contact</a:t>
            </a:r>
          </a:p>
        </p:txBody>
      </p:sp>
      <p:sp>
        <p:nvSpPr>
          <p:cNvPr id="26" name="Card body"/>
          <p:cNvSpPr txBox="1"/>
          <p:nvPr/>
        </p:nvSpPr>
        <p:spPr>
          <a:xfrm>
            <a:off x="80772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A9218E"/>
              </a:buClr>
              <a:buFont typeface="Arial"/>
              <a:buChar char="•"/>
            </a:pPr>
            <a:r>
              <a:rPr lang="en-US" sz="1400" dirty="0">
                <a:solidFill>
                  <a:srgbClr val="2B2B2B"/>
                </a:solidFill>
              </a:rPr>
              <a:t>Signed consent from the patient or caregiver</a:t>
            </a:r>
          </a:p>
          <a:p>
            <a:pPr marL="177800" indent="-177800">
              <a:spcBef>
                <a:spcPts val="0"/>
              </a:spcBef>
              <a:spcAft>
                <a:spcPts val="900"/>
              </a:spcAft>
              <a:buClr>
                <a:srgbClr val="A9218E"/>
              </a:buClr>
              <a:buFont typeface="Arial"/>
              <a:buChar char="•"/>
            </a:pPr>
            <a:r>
              <a:rPr lang="en-US" sz="1400" dirty="0">
                <a:solidFill>
                  <a:srgbClr val="2B2B2B"/>
                </a:solidFill>
              </a:rPr>
              <a:t>Referral or agreement from the treating physician</a:t>
            </a:r>
          </a:p>
          <a:p>
            <a:pPr marL="177800" indent="-177800">
              <a:spcBef>
                <a:spcPts val="0"/>
              </a:spcBef>
              <a:spcAft>
                <a:spcPts val="900"/>
              </a:spcAft>
              <a:buClr>
                <a:srgbClr val="A9218E"/>
              </a:buClr>
              <a:buFont typeface="Arial"/>
              <a:buChar char="•"/>
            </a:pPr>
            <a:r>
              <a:rPr lang="en-US" sz="1400" dirty="0">
                <a:solidFill>
                  <a:srgbClr val="2B2B2B"/>
                </a:solidFill>
              </a:rPr>
              <a:t>Data privacy rules applied to every record</a:t>
            </a:r>
          </a:p>
          <a:p>
            <a:pPr marL="177800" indent="-177800">
              <a:spcBef>
                <a:spcPts val="0"/>
              </a:spcBef>
              <a:spcAft>
                <a:spcPts val="900"/>
              </a:spcAft>
              <a:buClr>
                <a:srgbClr val="A9218E"/>
              </a:buClr>
              <a:buFont typeface="Arial"/>
              <a:buChar char="•"/>
            </a:pPr>
            <a:r>
              <a:rPr lang="en-US" sz="1400" dirty="0">
                <a:solidFill>
                  <a:srgbClr val="2B2B2B"/>
                </a:solidFill>
              </a:rPr>
              <a:t>PV training completed, and refreshed yearly</a:t>
            </a:r>
          </a:p>
          <a:p>
            <a:pPr marL="177800" indent="-177800">
              <a:spcBef>
                <a:spcPts val="0"/>
              </a:spcBef>
              <a:spcAft>
                <a:spcPts val="900"/>
              </a:spcAft>
              <a:buClr>
                <a:srgbClr val="A9218E"/>
              </a:buClr>
              <a:buFont typeface="Arial"/>
              <a:buChar char="•"/>
            </a:pPr>
            <a:r>
              <a:rPr lang="en-US" sz="1400" dirty="0">
                <a:solidFill>
                  <a:srgbClr val="2B2B2B"/>
                </a:solidFill>
              </a:rPr>
              <a:t>Escalation and PV contacts saved</a:t>
            </a:r>
          </a:p>
        </p:txBody>
      </p:sp>
      <p:sp>
        <p:nvSpPr>
          <p:cNvPr id="27" name="Banner"/>
          <p:cNvSpPr/>
          <p:nvPr/>
        </p:nvSpPr>
        <p:spPr>
          <a:xfrm>
            <a:off x="660400" y="4927600"/>
            <a:ext cx="10871200" cy="635000"/>
          </a:xfrm>
          <a:prstGeom prst="roundRect">
            <a:avLst>
              <a:gd name="adj" fmla="val 18000"/>
            </a:avLst>
          </a:prstGeom>
          <a:solidFill>
            <a:srgbClr val="002E56"/>
          </a:solidFill>
          <a:ln>
            <a:noFill/>
          </a:ln>
        </p:spPr>
        <p:txBody>
          <a:bodyPr wrap="square" lIns="0" tIns="0" rIns="0" bIns="0" rtlCol="0" anchor="t">
            <a:noAutofit/>
          </a:bodyPr>
          <a:lstStyle/>
          <a:p>
            <a:endParaRPr lang="en-US" dirty="0"/>
          </a:p>
        </p:txBody>
      </p:sp>
      <p:sp>
        <p:nvSpPr>
          <p:cNvPr id="28" name="Banner text"/>
          <p:cNvSpPr txBox="1"/>
          <p:nvPr/>
        </p:nvSpPr>
        <p:spPr>
          <a:xfrm>
            <a:off x="660400" y="4927600"/>
            <a:ext cx="10871200" cy="6350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 xml:space="preserve">The program is educational and non-promotional. </a:t>
            </a:r>
            <a:r>
              <a:rPr lang="en-US" sz="1500" dirty="0">
                <a:solidFill>
                  <a:srgbClr val="DCE4F2"/>
                </a:solidFill>
              </a:rPr>
              <a:t>If in doubt, stop and ask your program manager or the treating physician.</a:t>
            </a:r>
          </a:p>
        </p:txBody>
      </p:sp>
      <p:sp>
        <p:nvSpPr>
          <p:cNvPr id="29"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AE, adverse event; MDT, multidisciplinary team; PV, pharmacovigilance</a:t>
            </a:r>
          </a:p>
        </p:txBody>
      </p:sp>
      <p:sp>
        <p:nvSpPr>
          <p:cNvPr id="30"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EMA. Guideline on good pharmacovigilance practices (GVP) Module VI; ABPI. Guidance notes for patient safety and pharmacovigilance in patient support programmes; local industry code of practice.</a:t>
            </a:r>
          </a:p>
        </p:txBody>
      </p:sp>
    </p:spTree>
    <p:extLst>
      <p:ext uri="{BB962C8B-B14F-4D97-AF65-F5344CB8AC3E}">
        <p14:creationId xmlns:p14="http://schemas.microsoft.com/office/powerpoint/2010/main" val="1250357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Your role</a:t>
            </a:r>
          </a:p>
        </p:txBody>
      </p:sp>
      <p:sp>
        <p:nvSpPr>
          <p:cNvPr id="32" name="Title"/>
          <p:cNvSpPr>
            <a:spLocks noGrp="1"/>
          </p:cNvSpPr>
          <p:nvPr>
            <p:ph type="title"/>
          </p:nvPr>
        </p:nvSpPr>
        <p:spPr/>
        <p:txBody>
          <a:bodyPr wrap="square" lIns="0" tIns="0" rIns="0" bIns="0" rtlCol="0" anchor="t">
            <a:noAutofit/>
          </a:bodyPr>
          <a:lstStyle/>
          <a:p>
            <a:pPr>
              <a:spcBef>
                <a:spcPts val="0"/>
              </a:spcBef>
              <a:spcAft>
                <a:spcPts val="0"/>
              </a:spcAft>
              <a:buNone/>
            </a:pPr>
            <a:r>
              <a:rPr lang="en-US"/>
              <a:t>Each family contact, step by step</a:t>
            </a:r>
            <a:endParaRPr lang="en-US" dirty="0"/>
          </a:p>
        </p:txBody>
      </p:sp>
      <p:sp>
        <p:nvSpPr>
          <p:cNvPr id="33" name="Card"/>
          <p:cNvSpPr/>
          <p:nvPr/>
        </p:nvSpPr>
        <p:spPr>
          <a:xfrm>
            <a:off x="66040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34" name="Card header"/>
          <p:cNvSpPr/>
          <p:nvPr/>
        </p:nvSpPr>
        <p:spPr>
          <a:xfrm>
            <a:off x="66040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1  Prepare</a:t>
            </a:r>
          </a:p>
        </p:txBody>
      </p:sp>
      <p:sp>
        <p:nvSpPr>
          <p:cNvPr id="35" name="Card body"/>
          <p:cNvSpPr txBox="1"/>
          <p:nvPr/>
        </p:nvSpPr>
        <p:spPr>
          <a:xfrm>
            <a:off x="66040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Read the notes from the last contact</a:t>
            </a:r>
          </a:p>
          <a:p>
            <a:pPr marL="177800" indent="-177800">
              <a:spcBef>
                <a:spcPts val="0"/>
              </a:spcBef>
              <a:spcAft>
                <a:spcPts val="900"/>
              </a:spcAft>
              <a:buClr>
                <a:srgbClr val="28509C"/>
              </a:buClr>
              <a:buFont typeface="Arial"/>
              <a:buChar char="•"/>
            </a:pPr>
            <a:r>
              <a:rPr lang="en-US" sz="1400" dirty="0">
                <a:solidFill>
                  <a:srgbClr val="2B2B2B"/>
                </a:solidFill>
              </a:rPr>
              <a:t>Check the last infusion and upcoming tests</a:t>
            </a:r>
          </a:p>
          <a:p>
            <a:pPr marL="177800" indent="-177800">
              <a:spcBef>
                <a:spcPts val="0"/>
              </a:spcBef>
              <a:spcAft>
                <a:spcPts val="900"/>
              </a:spcAft>
              <a:buClr>
                <a:srgbClr val="28509C"/>
              </a:buClr>
              <a:buFont typeface="Arial"/>
              <a:buChar char="•"/>
            </a:pPr>
            <a:r>
              <a:rPr lang="en-US" sz="1400" dirty="0">
                <a:solidFill>
                  <a:srgbClr val="2B2B2B"/>
                </a:solidFill>
              </a:rPr>
              <a:t>Confirm language and who will join</a:t>
            </a:r>
          </a:p>
        </p:txBody>
      </p:sp>
      <p:sp>
        <p:nvSpPr>
          <p:cNvPr id="36" name="Card"/>
          <p:cNvSpPr/>
          <p:nvPr/>
        </p:nvSpPr>
        <p:spPr>
          <a:xfrm>
            <a:off x="286512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37" name="Card header"/>
          <p:cNvSpPr/>
          <p:nvPr/>
        </p:nvSpPr>
        <p:spPr>
          <a:xfrm>
            <a:off x="286512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2  Open</a:t>
            </a:r>
          </a:p>
        </p:txBody>
      </p:sp>
      <p:sp>
        <p:nvSpPr>
          <p:cNvPr id="38" name="Card body"/>
          <p:cNvSpPr txBox="1"/>
          <p:nvPr/>
        </p:nvSpPr>
        <p:spPr>
          <a:xfrm>
            <a:off x="286512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Ask how the patient and family are doing</a:t>
            </a:r>
          </a:p>
          <a:p>
            <a:pPr marL="177800" indent="-177800">
              <a:spcBef>
                <a:spcPts val="0"/>
              </a:spcBef>
              <a:spcAft>
                <a:spcPts val="900"/>
              </a:spcAft>
              <a:buClr>
                <a:srgbClr val="28509C"/>
              </a:buClr>
              <a:buFont typeface="Arial"/>
              <a:buChar char="•"/>
            </a:pPr>
            <a:r>
              <a:rPr lang="en-US" sz="1400" dirty="0">
                <a:solidFill>
                  <a:srgbClr val="2B2B2B"/>
                </a:solidFill>
              </a:rPr>
              <a:t>Explain why you are calling and how long it takes</a:t>
            </a:r>
          </a:p>
        </p:txBody>
      </p:sp>
      <p:sp>
        <p:nvSpPr>
          <p:cNvPr id="39" name="Card"/>
          <p:cNvSpPr/>
          <p:nvPr/>
        </p:nvSpPr>
        <p:spPr>
          <a:xfrm>
            <a:off x="506984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40" name="Card header"/>
          <p:cNvSpPr/>
          <p:nvPr/>
        </p:nvSpPr>
        <p:spPr>
          <a:xfrm>
            <a:off x="506984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3  Explore</a:t>
            </a:r>
          </a:p>
        </p:txBody>
      </p:sp>
      <p:sp>
        <p:nvSpPr>
          <p:cNvPr id="41" name="Card body"/>
          <p:cNvSpPr txBox="1"/>
          <p:nvPr/>
        </p:nvSpPr>
        <p:spPr>
          <a:xfrm>
            <a:off x="506984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Ask open questions and listen</a:t>
            </a:r>
          </a:p>
          <a:p>
            <a:pPr marL="177800" indent="-177800">
              <a:spcBef>
                <a:spcPts val="0"/>
              </a:spcBef>
              <a:spcAft>
                <a:spcPts val="900"/>
              </a:spcAft>
              <a:buClr>
                <a:srgbClr val="28509C"/>
              </a:buClr>
              <a:buFont typeface="Arial"/>
              <a:buChar char="•"/>
            </a:pPr>
            <a:r>
              <a:rPr lang="en-US" sz="1400" dirty="0">
                <a:solidFill>
                  <a:srgbClr val="2B2B2B"/>
                </a:solidFill>
              </a:rPr>
              <a:t>Explore barriers without blame (motivational interviewing)</a:t>
            </a:r>
          </a:p>
        </p:txBody>
      </p:sp>
      <p:sp>
        <p:nvSpPr>
          <p:cNvPr id="42" name="Card"/>
          <p:cNvSpPr/>
          <p:nvPr/>
        </p:nvSpPr>
        <p:spPr>
          <a:xfrm>
            <a:off x="727456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43" name="Card header"/>
          <p:cNvSpPr/>
          <p:nvPr/>
        </p:nvSpPr>
        <p:spPr>
          <a:xfrm>
            <a:off x="727456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4  Educate</a:t>
            </a:r>
          </a:p>
        </p:txBody>
      </p:sp>
      <p:sp>
        <p:nvSpPr>
          <p:cNvPr id="44" name="Card body"/>
          <p:cNvSpPr txBox="1"/>
          <p:nvPr/>
        </p:nvSpPr>
        <p:spPr>
          <a:xfrm>
            <a:off x="727456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One or two key messages per contact</a:t>
            </a:r>
          </a:p>
          <a:p>
            <a:pPr marL="177800" indent="-177800">
              <a:spcBef>
                <a:spcPts val="0"/>
              </a:spcBef>
              <a:spcAft>
                <a:spcPts val="900"/>
              </a:spcAft>
              <a:buClr>
                <a:srgbClr val="28509C"/>
              </a:buClr>
              <a:buFont typeface="Arial"/>
              <a:buChar char="•"/>
            </a:pPr>
            <a:r>
              <a:rPr lang="en-US" sz="1400" dirty="0">
                <a:solidFill>
                  <a:srgbClr val="2B2B2B"/>
                </a:solidFill>
              </a:rPr>
              <a:t>Plain words, no jargon</a:t>
            </a:r>
          </a:p>
          <a:p>
            <a:pPr marL="177800" indent="-177800">
              <a:spcBef>
                <a:spcPts val="0"/>
              </a:spcBef>
              <a:spcAft>
                <a:spcPts val="900"/>
              </a:spcAft>
              <a:buClr>
                <a:srgbClr val="28509C"/>
              </a:buClr>
              <a:buFont typeface="Arial"/>
              <a:buChar char="•"/>
            </a:pPr>
            <a:r>
              <a:rPr lang="en-US" sz="1400" dirty="0">
                <a:solidFill>
                  <a:srgbClr val="2B2B2B"/>
                </a:solidFill>
              </a:rPr>
              <a:t>Check understanding with teach-back</a:t>
            </a:r>
          </a:p>
        </p:txBody>
      </p:sp>
      <p:sp>
        <p:nvSpPr>
          <p:cNvPr id="45" name="Card"/>
          <p:cNvSpPr/>
          <p:nvPr/>
        </p:nvSpPr>
        <p:spPr>
          <a:xfrm>
            <a:off x="947928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46" name="Card header"/>
          <p:cNvSpPr/>
          <p:nvPr/>
        </p:nvSpPr>
        <p:spPr>
          <a:xfrm>
            <a:off x="947928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5  Close</a:t>
            </a:r>
          </a:p>
        </p:txBody>
      </p:sp>
      <p:sp>
        <p:nvSpPr>
          <p:cNvPr id="47" name="Card body"/>
          <p:cNvSpPr txBox="1"/>
          <p:nvPr/>
        </p:nvSpPr>
        <p:spPr>
          <a:xfrm>
            <a:off x="947928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Agree next steps and dates</a:t>
            </a:r>
          </a:p>
          <a:p>
            <a:pPr marL="177800" indent="-177800">
              <a:spcBef>
                <a:spcPts val="0"/>
              </a:spcBef>
              <a:spcAft>
                <a:spcPts val="900"/>
              </a:spcAft>
              <a:buClr>
                <a:srgbClr val="28509C"/>
              </a:buClr>
              <a:buFont typeface="Arial"/>
              <a:buChar char="•"/>
            </a:pPr>
            <a:r>
              <a:rPr lang="en-US" sz="1400" dirty="0">
                <a:solidFill>
                  <a:srgbClr val="2B2B2B"/>
                </a:solidFill>
              </a:rPr>
              <a:t>Document the contact</a:t>
            </a:r>
          </a:p>
          <a:p>
            <a:pPr marL="177800" indent="-177800">
              <a:spcBef>
                <a:spcPts val="0"/>
              </a:spcBef>
              <a:spcAft>
                <a:spcPts val="900"/>
              </a:spcAft>
              <a:buClr>
                <a:srgbClr val="28509C"/>
              </a:buClr>
              <a:buFont typeface="Arial"/>
              <a:buChar char="•"/>
            </a:pPr>
            <a:r>
              <a:rPr lang="en-US" sz="1400" dirty="0">
                <a:solidFill>
                  <a:srgbClr val="2B2B2B"/>
                </a:solidFill>
              </a:rPr>
              <a:t>Escalate or report if needed</a:t>
            </a:r>
          </a:p>
        </p:txBody>
      </p:sp>
      <p:sp>
        <p:nvSpPr>
          <p:cNvPr id="48" name="Banner"/>
          <p:cNvSpPr/>
          <p:nvPr/>
        </p:nvSpPr>
        <p:spPr>
          <a:xfrm>
            <a:off x="660400" y="4927600"/>
            <a:ext cx="10871200" cy="635000"/>
          </a:xfrm>
          <a:prstGeom prst="roundRect">
            <a:avLst>
              <a:gd name="adj" fmla="val 18000"/>
            </a:avLst>
          </a:prstGeom>
          <a:solidFill>
            <a:srgbClr val="002E56"/>
          </a:solidFill>
          <a:ln>
            <a:noFill/>
          </a:ln>
        </p:spPr>
        <p:txBody>
          <a:bodyPr wrap="square" lIns="0" tIns="0" rIns="0" bIns="0" rtlCol="0" anchor="t">
            <a:noAutofit/>
          </a:bodyPr>
          <a:lstStyle/>
          <a:p>
            <a:endParaRPr lang="en-US" dirty="0"/>
          </a:p>
        </p:txBody>
      </p:sp>
      <p:sp>
        <p:nvSpPr>
          <p:cNvPr id="49" name="Banner text"/>
          <p:cNvSpPr txBox="1"/>
          <p:nvPr/>
        </p:nvSpPr>
        <p:spPr>
          <a:xfrm>
            <a:off x="660400" y="4927600"/>
            <a:ext cx="10871200" cy="6350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 xml:space="preserve">Teach-back: </a:t>
            </a:r>
            <a:r>
              <a:rPr lang="en-US" sz="1500" dirty="0">
                <a:solidFill>
                  <a:srgbClr val="DCE4F2"/>
                </a:solidFill>
              </a:rPr>
              <a:t>ask the family to explain it in their own words. If they can’t, the message wasn’t clear, so try again another way.</a:t>
            </a:r>
          </a:p>
        </p:txBody>
      </p:sp>
      <p:sp>
        <p:nvSpPr>
          <p:cNvPr id="50"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Respect culture and family roles, involve the patient more as they grow, and respond to anger or denial with patience and support.</a:t>
            </a:r>
          </a:p>
        </p:txBody>
      </p:sp>
      <p:sp>
        <p:nvSpPr>
          <p:cNvPr id="51"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Akyol MU et al. Orphanet J Rare Dis 2019;14:137; Akyol MU et al. Orphanet J Rare Dis 2019;14:118; Lampe C et al. Mol Genet Metab Rep 2019;21:100508.</a:t>
            </a:r>
          </a:p>
        </p:txBody>
      </p:sp>
    </p:spTree>
    <p:extLst>
      <p:ext uri="{BB962C8B-B14F-4D97-AF65-F5344CB8AC3E}">
        <p14:creationId xmlns:p14="http://schemas.microsoft.com/office/powerpoint/2010/main" val="1250357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First signs and diagnosis</a:t>
            </a:r>
          </a:p>
        </p:txBody>
      </p:sp>
      <p:sp>
        <p:nvSpPr>
          <p:cNvPr id="53" name="Title"/>
          <p:cNvSpPr>
            <a:spLocks noGrp="1"/>
          </p:cNvSpPr>
          <p:nvPr>
            <p:ph type="title"/>
          </p:nvPr>
        </p:nvSpPr>
        <p:spPr/>
        <p:txBody>
          <a:bodyPr wrap="square" lIns="0" tIns="0" rIns="0" bIns="0" rtlCol="0" anchor="t">
            <a:noAutofit/>
          </a:bodyPr>
          <a:lstStyle/>
          <a:p>
            <a:pPr>
              <a:spcBef>
                <a:spcPts val="0"/>
              </a:spcBef>
              <a:spcAft>
                <a:spcPts val="0"/>
              </a:spcAft>
              <a:buNone/>
            </a:pPr>
            <a:r>
              <a:rPr lang="en-US"/>
              <a:t>How MPS IVA and MPS VI are diagnosed</a:t>
            </a:r>
            <a:endParaRPr lang="en-US" dirty="0"/>
          </a:p>
        </p:txBody>
      </p:sp>
      <p:sp>
        <p:nvSpPr>
          <p:cNvPr id="54" name="Card"/>
          <p:cNvSpPr/>
          <p:nvPr/>
        </p:nvSpPr>
        <p:spPr>
          <a:xfrm>
            <a:off x="6604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55" name="Card header"/>
          <p:cNvSpPr/>
          <p:nvPr/>
        </p:nvSpPr>
        <p:spPr>
          <a:xfrm>
            <a:off x="660400" y="1549400"/>
            <a:ext cx="345440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1  Suspected</a:t>
            </a:r>
          </a:p>
        </p:txBody>
      </p:sp>
      <p:sp>
        <p:nvSpPr>
          <p:cNvPr id="56" name="Card body"/>
          <p:cNvSpPr txBox="1"/>
          <p:nvPr/>
        </p:nvSpPr>
        <p:spPr>
          <a:xfrm>
            <a:off x="6604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28509C"/>
              </a:buClr>
              <a:buFont typeface="Arial"/>
              <a:buChar char="•"/>
            </a:pPr>
            <a:r>
              <a:rPr lang="en-US" sz="1500" b="1" dirty="0">
                <a:solidFill>
                  <a:srgbClr val="002E56"/>
                </a:solidFill>
              </a:rPr>
              <a:t xml:space="preserve">Signs: </a:t>
            </a:r>
            <a:r>
              <a:rPr lang="en-US" sz="1500" dirty="0">
                <a:solidFill>
                  <a:srgbClr val="2B2B2B"/>
                </a:solidFill>
              </a:rPr>
              <a:t>short stature, skeletal or joint changes, corneal clouding, repeated ear or chest infections</a:t>
            </a:r>
          </a:p>
          <a:p>
            <a:pPr marL="177800" indent="-177800">
              <a:spcBef>
                <a:spcPts val="0"/>
              </a:spcBef>
              <a:spcAft>
                <a:spcPts val="1000"/>
              </a:spcAft>
              <a:buClr>
                <a:srgbClr val="28509C"/>
              </a:buClr>
              <a:buFont typeface="Arial"/>
              <a:buChar char="•"/>
            </a:pPr>
            <a:r>
              <a:rPr lang="en-US" sz="1500" b="1" dirty="0">
                <a:solidFill>
                  <a:srgbClr val="002E56"/>
                </a:solidFill>
              </a:rPr>
              <a:t xml:space="preserve">Urine GAG test: </a:t>
            </a:r>
            <a:r>
              <a:rPr lang="en-US" sz="1500" dirty="0">
                <a:solidFill>
                  <a:srgbClr val="2B2B2B"/>
                </a:solidFill>
              </a:rPr>
              <a:t>can raise suspicion but cannot confirm MPS</a:t>
            </a:r>
          </a:p>
        </p:txBody>
      </p:sp>
      <p:sp>
        <p:nvSpPr>
          <p:cNvPr id="57" name="Card"/>
          <p:cNvSpPr/>
          <p:nvPr/>
        </p:nvSpPr>
        <p:spPr>
          <a:xfrm>
            <a:off x="43688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58" name="Card header"/>
          <p:cNvSpPr/>
          <p:nvPr/>
        </p:nvSpPr>
        <p:spPr>
          <a:xfrm>
            <a:off x="4368800" y="1549400"/>
            <a:ext cx="345440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2  Confirmed</a:t>
            </a:r>
          </a:p>
        </p:txBody>
      </p:sp>
      <p:sp>
        <p:nvSpPr>
          <p:cNvPr id="59" name="Card body"/>
          <p:cNvSpPr txBox="1"/>
          <p:nvPr/>
        </p:nvSpPr>
        <p:spPr>
          <a:xfrm>
            <a:off x="43688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28509C"/>
              </a:buClr>
              <a:buFont typeface="Arial"/>
              <a:buChar char="•"/>
            </a:pPr>
            <a:r>
              <a:rPr lang="en-US" sz="1500" b="1" dirty="0">
                <a:solidFill>
                  <a:srgbClr val="002E56"/>
                </a:solidFill>
              </a:rPr>
              <a:t xml:space="preserve">Enzyme test </a:t>
            </a:r>
            <a:r>
              <a:rPr lang="en-US" sz="1500" dirty="0">
                <a:solidFill>
                  <a:srgbClr val="2B2B2B"/>
                </a:solidFill>
              </a:rPr>
              <a:t>in blood cells: the gold standard</a:t>
            </a:r>
          </a:p>
          <a:p>
            <a:pPr marL="177800" indent="-177800">
              <a:spcBef>
                <a:spcPts val="0"/>
              </a:spcBef>
              <a:spcAft>
                <a:spcPts val="1000"/>
              </a:spcAft>
              <a:buClr>
                <a:srgbClr val="28509C"/>
              </a:buClr>
              <a:buFont typeface="Arial"/>
              <a:buChar char="•"/>
            </a:pPr>
            <a:r>
              <a:rPr lang="en-US" sz="1500" b="1" dirty="0">
                <a:solidFill>
                  <a:srgbClr val="002E56"/>
                </a:solidFill>
              </a:rPr>
              <a:t xml:space="preserve">Dried blood spot: </a:t>
            </a:r>
            <a:r>
              <a:rPr lang="en-US" sz="1500" dirty="0">
                <a:solidFill>
                  <a:srgbClr val="2B2B2B"/>
                </a:solidFill>
              </a:rPr>
              <a:t>easy to send, but needs confirmation</a:t>
            </a:r>
          </a:p>
          <a:p>
            <a:pPr marL="177800" indent="-177800">
              <a:spcBef>
                <a:spcPts val="0"/>
              </a:spcBef>
              <a:spcAft>
                <a:spcPts val="1000"/>
              </a:spcAft>
              <a:buClr>
                <a:srgbClr val="28509C"/>
              </a:buClr>
              <a:buFont typeface="Arial"/>
              <a:buChar char="•"/>
            </a:pPr>
            <a:r>
              <a:rPr lang="en-US" sz="1500" b="1" dirty="0">
                <a:solidFill>
                  <a:srgbClr val="002E56"/>
                </a:solidFill>
              </a:rPr>
              <a:t xml:space="preserve">Genetic test: </a:t>
            </a:r>
            <a:r>
              <a:rPr lang="en-US" sz="1500" dirty="0">
                <a:solidFill>
                  <a:srgbClr val="2B2B2B"/>
                </a:solidFill>
              </a:rPr>
              <a:t>confirms the variant and the MPS type</a:t>
            </a:r>
          </a:p>
        </p:txBody>
      </p:sp>
      <p:sp>
        <p:nvSpPr>
          <p:cNvPr id="60" name="Card"/>
          <p:cNvSpPr/>
          <p:nvPr/>
        </p:nvSpPr>
        <p:spPr>
          <a:xfrm>
            <a:off x="80772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61" name="Card header"/>
          <p:cNvSpPr/>
          <p:nvPr/>
        </p:nvSpPr>
        <p:spPr>
          <a:xfrm>
            <a:off x="8077200" y="1549400"/>
            <a:ext cx="3454400" cy="482600"/>
          </a:xfrm>
          <a:prstGeom prst="roundRect">
            <a:avLst>
              <a:gd name="adj" fmla="val 15789"/>
            </a:avLst>
          </a:prstGeom>
          <a:solidFill>
            <a:srgbClr val="A9218E"/>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3  Family follow-up</a:t>
            </a:r>
          </a:p>
        </p:txBody>
      </p:sp>
      <p:sp>
        <p:nvSpPr>
          <p:cNvPr id="62" name="Card body"/>
          <p:cNvSpPr txBox="1"/>
          <p:nvPr/>
        </p:nvSpPr>
        <p:spPr>
          <a:xfrm>
            <a:off x="80772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A9218E"/>
              </a:buClr>
              <a:buFont typeface="Arial"/>
              <a:buChar char="•"/>
            </a:pPr>
            <a:r>
              <a:rPr lang="en-US" sz="1500" b="1" dirty="0">
                <a:solidFill>
                  <a:srgbClr val="002E56"/>
                </a:solidFill>
              </a:rPr>
              <a:t xml:space="preserve">Siblings </a:t>
            </a:r>
            <a:r>
              <a:rPr lang="en-US" sz="1500" dirty="0">
                <a:solidFill>
                  <a:srgbClr val="2B2B2B"/>
                </a:solidFill>
              </a:rPr>
              <a:t>should be offered testing; early treatment matters</a:t>
            </a:r>
          </a:p>
          <a:p>
            <a:pPr marL="177800" indent="-177800">
              <a:spcBef>
                <a:spcPts val="0"/>
              </a:spcBef>
              <a:spcAft>
                <a:spcPts val="1000"/>
              </a:spcAft>
              <a:buClr>
                <a:srgbClr val="A9218E"/>
              </a:buClr>
              <a:buFont typeface="Arial"/>
              <a:buChar char="•"/>
            </a:pPr>
            <a:r>
              <a:rPr lang="en-US" sz="1500" b="1" dirty="0">
                <a:solidFill>
                  <a:srgbClr val="002E56"/>
                </a:solidFill>
              </a:rPr>
              <a:t xml:space="preserve">Genetic counselling: </a:t>
            </a:r>
            <a:r>
              <a:rPr lang="en-US" sz="1500" dirty="0">
                <a:solidFill>
                  <a:srgbClr val="2B2B2B"/>
                </a:solidFill>
              </a:rPr>
              <a:t>carrier, premarital and prenatal options</a:t>
            </a:r>
          </a:p>
          <a:p>
            <a:pPr marL="177800" indent="-177800">
              <a:spcBef>
                <a:spcPts val="0"/>
              </a:spcBef>
              <a:spcAft>
                <a:spcPts val="1000"/>
              </a:spcAft>
              <a:buClr>
                <a:srgbClr val="A9218E"/>
              </a:buClr>
              <a:buFont typeface="Arial"/>
              <a:buChar char="•"/>
            </a:pPr>
            <a:r>
              <a:rPr lang="en-US" sz="1500" b="1" dirty="0">
                <a:solidFill>
                  <a:srgbClr val="002E56"/>
                </a:solidFill>
              </a:rPr>
              <a:t xml:space="preserve">Newborn screening </a:t>
            </a:r>
            <a:r>
              <a:rPr lang="en-US" sz="1500" dirty="0">
                <a:solidFill>
                  <a:srgbClr val="2B2B2B"/>
                </a:solidFill>
              </a:rPr>
              <a:t>is not routine in most countries</a:t>
            </a:r>
          </a:p>
        </p:txBody>
      </p:sp>
      <p:sp>
        <p:nvSpPr>
          <p:cNvPr id="63" name="Banner"/>
          <p:cNvSpPr/>
          <p:nvPr/>
        </p:nvSpPr>
        <p:spPr>
          <a:xfrm>
            <a:off x="660400" y="4927600"/>
            <a:ext cx="10871200" cy="635000"/>
          </a:xfrm>
          <a:prstGeom prst="roundRect">
            <a:avLst>
              <a:gd name="adj" fmla="val 18000"/>
            </a:avLst>
          </a:prstGeom>
          <a:solidFill>
            <a:srgbClr val="002E56"/>
          </a:solidFill>
          <a:ln>
            <a:noFill/>
          </a:ln>
        </p:spPr>
        <p:txBody>
          <a:bodyPr wrap="square" lIns="0" tIns="0" rIns="0" bIns="0" rtlCol="0" anchor="t">
            <a:noAutofit/>
          </a:bodyPr>
          <a:lstStyle/>
          <a:p>
            <a:endParaRPr lang="en-US" dirty="0"/>
          </a:p>
        </p:txBody>
      </p:sp>
      <p:sp>
        <p:nvSpPr>
          <p:cNvPr id="64" name="Banner text"/>
          <p:cNvSpPr txBox="1"/>
          <p:nvPr/>
        </p:nvSpPr>
        <p:spPr>
          <a:xfrm>
            <a:off x="660400" y="4927600"/>
            <a:ext cx="10871200" cy="6350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 xml:space="preserve">Your role: </a:t>
            </a:r>
            <a:r>
              <a:rPr lang="en-US" sz="1500" dirty="0">
                <a:solidFill>
                  <a:srgbClr val="DCE4F2"/>
                </a:solidFill>
              </a:rPr>
              <a:t>explain the steps in plain words and refer to the treating physician and genetic counsellor. You never order or interpret tests.</a:t>
            </a:r>
          </a:p>
        </p:txBody>
      </p:sp>
      <p:sp>
        <p:nvSpPr>
          <p:cNvPr id="65"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GAG, glycosaminoglycan; MPS, mucopolysaccharidosis. Laboratory detail is in the appendix</a:t>
            </a:r>
          </a:p>
        </p:txBody>
      </p:sp>
      <p:sp>
        <p:nvSpPr>
          <p:cNvPr id="66"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Wood T et al. Mol Genet Metab 2012;106:73–82; Akyol MU et al. Orphanet J Rare Dis 2019;14:137; Akyol MU et al. Orphanet J Rare Dis 2019;14:118.</a:t>
            </a:r>
          </a:p>
        </p:txBody>
      </p:sp>
    </p:spTree>
    <p:extLst>
      <p:ext uri="{BB962C8B-B14F-4D97-AF65-F5344CB8AC3E}">
        <p14:creationId xmlns:p14="http://schemas.microsoft.com/office/powerpoint/2010/main" val="1250357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Ongoing follow-up</a:t>
            </a:r>
          </a:p>
        </p:txBody>
      </p:sp>
      <p:sp>
        <p:nvSpPr>
          <p:cNvPr id="68" name="Title"/>
          <p:cNvSpPr>
            <a:spLocks noGrp="1"/>
          </p:cNvSpPr>
          <p:nvPr>
            <p:ph type="title"/>
          </p:nvPr>
        </p:nvSpPr>
        <p:spPr/>
        <p:txBody>
          <a:bodyPr wrap="square" lIns="0" tIns="0" rIns="0" bIns="0" rtlCol="0" anchor="t">
            <a:noAutofit/>
          </a:bodyPr>
          <a:lstStyle/>
          <a:p>
            <a:pPr>
              <a:spcBef>
                <a:spcPts val="0"/>
              </a:spcBef>
              <a:spcAft>
                <a:spcPts val="0"/>
              </a:spcAft>
              <a:buNone/>
            </a:pPr>
            <a:r>
              <a:rPr lang="en-US"/>
              <a:t>Supporting adherence: why infusions get missed</a:t>
            </a:r>
            <a:endParaRPr lang="en-US" dirty="0"/>
          </a:p>
        </p:txBody>
      </p:sp>
      <p:sp>
        <p:nvSpPr>
          <p:cNvPr id="69" name="Stat card"/>
          <p:cNvSpPr/>
          <p:nvPr/>
        </p:nvSpPr>
        <p:spPr>
          <a:xfrm>
            <a:off x="660400" y="1549400"/>
            <a:ext cx="3454400" cy="1016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70" name="Stat number"/>
          <p:cNvSpPr txBox="1"/>
          <p:nvPr/>
        </p:nvSpPr>
        <p:spPr>
          <a:xfrm>
            <a:off x="660400" y="1625600"/>
            <a:ext cx="3454400" cy="457200"/>
          </a:xfrm>
          <a:prstGeom prst="rect">
            <a:avLst/>
          </a:prstGeom>
          <a:noFill/>
          <a:ln>
            <a:noFill/>
          </a:ln>
        </p:spPr>
        <p:txBody>
          <a:bodyPr wrap="square" lIns="177800" tIns="0" rIns="177800" bIns="0" rtlCol="0" anchor="t">
            <a:noAutofit/>
          </a:bodyPr>
          <a:lstStyle/>
          <a:p>
            <a:pPr>
              <a:spcBef>
                <a:spcPts val="0"/>
              </a:spcBef>
              <a:spcAft>
                <a:spcPts val="0"/>
              </a:spcAft>
              <a:buNone/>
            </a:pPr>
            <a:r>
              <a:rPr lang="en-US" sz="2800" b="1" dirty="0">
                <a:solidFill>
                  <a:srgbClr val="A9218E"/>
                </a:solidFill>
              </a:rPr>
              <a:t>44–48%</a:t>
            </a:r>
          </a:p>
        </p:txBody>
      </p:sp>
      <p:sp>
        <p:nvSpPr>
          <p:cNvPr id="71" name="Stat caption"/>
          <p:cNvSpPr txBox="1"/>
          <p:nvPr/>
        </p:nvSpPr>
        <p:spPr>
          <a:xfrm>
            <a:off x="660400" y="2082800"/>
            <a:ext cx="3454400" cy="457200"/>
          </a:xfrm>
          <a:prstGeom prst="rect">
            <a:avLst/>
          </a:prstGeom>
          <a:noFill/>
          <a:ln>
            <a:noFill/>
          </a:ln>
        </p:spPr>
        <p:txBody>
          <a:bodyPr wrap="square" lIns="177800" tIns="0" rIns="177800" bIns="0" rtlCol="0" anchor="t">
            <a:noAutofit/>
          </a:bodyPr>
          <a:lstStyle/>
          <a:p>
            <a:pPr>
              <a:spcBef>
                <a:spcPts val="0"/>
              </a:spcBef>
              <a:spcAft>
                <a:spcPts val="0"/>
              </a:spcAft>
              <a:buNone/>
            </a:pPr>
            <a:r>
              <a:rPr lang="en-US" sz="1100" dirty="0">
                <a:solidFill>
                  <a:srgbClr val="2B2B2B"/>
                </a:solidFill>
              </a:rPr>
              <a:t>of MPS VI and IVA patients had ERT interruptions (n=98); drug unavailability was the main cause¹</a:t>
            </a:r>
          </a:p>
        </p:txBody>
      </p:sp>
      <p:sp>
        <p:nvSpPr>
          <p:cNvPr id="72" name="Stat card"/>
          <p:cNvSpPr/>
          <p:nvPr/>
        </p:nvSpPr>
        <p:spPr>
          <a:xfrm>
            <a:off x="660400" y="2641600"/>
            <a:ext cx="3454400" cy="1016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73" name="Stat number"/>
          <p:cNvSpPr txBox="1"/>
          <p:nvPr/>
        </p:nvSpPr>
        <p:spPr>
          <a:xfrm>
            <a:off x="660400" y="2717800"/>
            <a:ext cx="3454400" cy="457200"/>
          </a:xfrm>
          <a:prstGeom prst="rect">
            <a:avLst/>
          </a:prstGeom>
          <a:noFill/>
          <a:ln>
            <a:noFill/>
          </a:ln>
        </p:spPr>
        <p:txBody>
          <a:bodyPr wrap="square" lIns="177800" tIns="0" rIns="177800" bIns="0" rtlCol="0" anchor="t">
            <a:noAutofit/>
          </a:bodyPr>
          <a:lstStyle/>
          <a:p>
            <a:pPr>
              <a:spcBef>
                <a:spcPts val="0"/>
              </a:spcBef>
              <a:spcAft>
                <a:spcPts val="0"/>
              </a:spcAft>
              <a:buNone/>
            </a:pPr>
            <a:r>
              <a:rPr lang="en-US" sz="2800" b="1" dirty="0">
                <a:solidFill>
                  <a:srgbClr val="28509C"/>
                </a:solidFill>
              </a:rPr>
              <a:t>63%</a:t>
            </a:r>
          </a:p>
        </p:txBody>
      </p:sp>
      <p:sp>
        <p:nvSpPr>
          <p:cNvPr id="74" name="Stat caption"/>
          <p:cNvSpPr txBox="1"/>
          <p:nvPr/>
        </p:nvSpPr>
        <p:spPr>
          <a:xfrm>
            <a:off x="660400" y="3175000"/>
            <a:ext cx="3454400" cy="457200"/>
          </a:xfrm>
          <a:prstGeom prst="rect">
            <a:avLst/>
          </a:prstGeom>
          <a:noFill/>
          <a:ln>
            <a:noFill/>
          </a:ln>
        </p:spPr>
        <p:txBody>
          <a:bodyPr wrap="square" lIns="177800" tIns="0" rIns="177800" bIns="0" rtlCol="0" anchor="t">
            <a:noAutofit/>
          </a:bodyPr>
          <a:lstStyle/>
          <a:p>
            <a:pPr>
              <a:spcBef>
                <a:spcPts val="0"/>
              </a:spcBef>
              <a:spcAft>
                <a:spcPts val="0"/>
              </a:spcAft>
              <a:buNone/>
            </a:pPr>
            <a:r>
              <a:rPr lang="en-US" sz="1100" dirty="0">
                <a:solidFill>
                  <a:srgbClr val="2B2B2B"/>
                </a:solidFill>
              </a:rPr>
              <a:t>of patients on ERT missed at least 1 dose in 6 months, mostly from supply problems or illness²</a:t>
            </a:r>
          </a:p>
        </p:txBody>
      </p:sp>
      <p:sp>
        <p:nvSpPr>
          <p:cNvPr id="75" name="Stat card"/>
          <p:cNvSpPr/>
          <p:nvPr/>
        </p:nvSpPr>
        <p:spPr>
          <a:xfrm>
            <a:off x="660400" y="3733800"/>
            <a:ext cx="3454400" cy="1016000"/>
          </a:xfrm>
          <a:prstGeom prst="roundRect">
            <a:avLst>
              <a:gd name="adj" fmla="val 6000"/>
            </a:avLst>
          </a:prstGeom>
          <a:solidFill>
            <a:srgbClr val="E8EEF7"/>
          </a:solidFill>
          <a:ln>
            <a:noFill/>
          </a:ln>
        </p:spPr>
        <p:txBody>
          <a:bodyPr wrap="square" lIns="0" tIns="0" rIns="0" bIns="0" rtlCol="0" anchor="t">
            <a:noAutofit/>
          </a:bodyPr>
          <a:lstStyle/>
          <a:p>
            <a:endParaRPr lang="en-US" dirty="0"/>
          </a:p>
        </p:txBody>
      </p:sp>
      <p:sp>
        <p:nvSpPr>
          <p:cNvPr id="76" name="Stat number"/>
          <p:cNvSpPr txBox="1"/>
          <p:nvPr/>
        </p:nvSpPr>
        <p:spPr>
          <a:xfrm>
            <a:off x="660400" y="3810000"/>
            <a:ext cx="3454400" cy="457200"/>
          </a:xfrm>
          <a:prstGeom prst="rect">
            <a:avLst/>
          </a:prstGeom>
          <a:noFill/>
          <a:ln>
            <a:noFill/>
          </a:ln>
        </p:spPr>
        <p:txBody>
          <a:bodyPr wrap="square" lIns="177800" tIns="0" rIns="177800" bIns="0" rtlCol="0" anchor="t">
            <a:noAutofit/>
          </a:bodyPr>
          <a:lstStyle/>
          <a:p>
            <a:pPr>
              <a:spcBef>
                <a:spcPts val="0"/>
              </a:spcBef>
              <a:spcAft>
                <a:spcPts val="0"/>
              </a:spcAft>
              <a:buNone/>
            </a:pPr>
            <a:r>
              <a:rPr lang="en-US" sz="2800" b="1" dirty="0">
                <a:solidFill>
                  <a:srgbClr val="28509C"/>
                </a:solidFill>
              </a:rPr>
              <a:t>64%</a:t>
            </a:r>
          </a:p>
        </p:txBody>
      </p:sp>
      <p:sp>
        <p:nvSpPr>
          <p:cNvPr id="77" name="Stat caption"/>
          <p:cNvSpPr txBox="1"/>
          <p:nvPr/>
        </p:nvSpPr>
        <p:spPr>
          <a:xfrm>
            <a:off x="660400" y="4267200"/>
            <a:ext cx="3454400" cy="457200"/>
          </a:xfrm>
          <a:prstGeom prst="rect">
            <a:avLst/>
          </a:prstGeom>
          <a:noFill/>
          <a:ln>
            <a:noFill/>
          </a:ln>
        </p:spPr>
        <p:txBody>
          <a:bodyPr wrap="square" lIns="177800" tIns="0" rIns="177800" bIns="0" rtlCol="0" anchor="t">
            <a:noAutofit/>
          </a:bodyPr>
          <a:lstStyle/>
          <a:p>
            <a:pPr>
              <a:spcBef>
                <a:spcPts val="0"/>
              </a:spcBef>
              <a:spcAft>
                <a:spcPts val="0"/>
              </a:spcAft>
              <a:buNone/>
            </a:pPr>
            <a:r>
              <a:rPr lang="en-US" sz="1100" dirty="0">
                <a:solidFill>
                  <a:srgbClr val="2B2B2B"/>
                </a:solidFill>
              </a:rPr>
              <a:t>of those in school or work missed a full day every week for infusions²</a:t>
            </a:r>
          </a:p>
        </p:txBody>
      </p:sp>
      <p:sp>
        <p:nvSpPr>
          <p:cNvPr id="78" name="Card"/>
          <p:cNvSpPr/>
          <p:nvPr/>
        </p:nvSpPr>
        <p:spPr>
          <a:xfrm>
            <a:off x="4368800" y="1549400"/>
            <a:ext cx="71628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79" name="Card header"/>
          <p:cNvSpPr/>
          <p:nvPr/>
        </p:nvSpPr>
        <p:spPr>
          <a:xfrm>
            <a:off x="4368800" y="1549400"/>
            <a:ext cx="716280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What you can do at every contact</a:t>
            </a:r>
          </a:p>
        </p:txBody>
      </p:sp>
      <p:sp>
        <p:nvSpPr>
          <p:cNvPr id="80" name="Card body"/>
          <p:cNvSpPr txBox="1"/>
          <p:nvPr/>
        </p:nvSpPr>
        <p:spPr>
          <a:xfrm>
            <a:off x="4368800" y="2133600"/>
            <a:ext cx="7162800" cy="26162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28509C"/>
              </a:buClr>
              <a:buFont typeface="Arial"/>
              <a:buChar char="•"/>
            </a:pPr>
            <a:r>
              <a:rPr lang="en-US" sz="1500" b="1" dirty="0">
                <a:solidFill>
                  <a:srgbClr val="002E56"/>
                </a:solidFill>
              </a:rPr>
              <a:t xml:space="preserve">Track </a:t>
            </a:r>
            <a:r>
              <a:rPr lang="en-US" sz="1500" dirty="0">
                <a:solidFill>
                  <a:srgbClr val="2B2B2B"/>
                </a:solidFill>
              </a:rPr>
              <a:t>infusions given versus scheduled, and ask why any were missed</a:t>
            </a:r>
          </a:p>
          <a:p>
            <a:pPr marL="177800" indent="-177800">
              <a:spcBef>
                <a:spcPts val="0"/>
              </a:spcBef>
              <a:spcAft>
                <a:spcPts val="1000"/>
              </a:spcAft>
              <a:buClr>
                <a:srgbClr val="28509C"/>
              </a:buClr>
              <a:buFont typeface="Arial"/>
              <a:buChar char="•"/>
            </a:pPr>
            <a:r>
              <a:rPr lang="en-US" sz="1500" b="1" dirty="0">
                <a:solidFill>
                  <a:srgbClr val="002E56"/>
                </a:solidFill>
              </a:rPr>
              <a:t xml:space="preserve">Flag early </a:t>
            </a:r>
            <a:r>
              <a:rPr lang="en-US" sz="1500" dirty="0">
                <a:solidFill>
                  <a:srgbClr val="2B2B2B"/>
                </a:solidFill>
              </a:rPr>
              <a:t>supply, transport, cost or paperwork problems to the program team</a:t>
            </a:r>
          </a:p>
          <a:p>
            <a:pPr marL="177800" indent="-177800">
              <a:spcBef>
                <a:spcPts val="0"/>
              </a:spcBef>
              <a:spcAft>
                <a:spcPts val="1000"/>
              </a:spcAft>
              <a:buClr>
                <a:srgbClr val="28509C"/>
              </a:buClr>
              <a:buFont typeface="Arial"/>
              <a:buChar char="•"/>
            </a:pPr>
            <a:r>
              <a:rPr lang="en-US" sz="1500" b="1" dirty="0">
                <a:solidFill>
                  <a:srgbClr val="002E56"/>
                </a:solidFill>
              </a:rPr>
              <a:t xml:space="preserve">Plan </a:t>
            </a:r>
            <a:r>
              <a:rPr lang="en-US" sz="1500" dirty="0">
                <a:solidFill>
                  <a:srgbClr val="2B2B2B"/>
                </a:solidFill>
              </a:rPr>
              <a:t>infusion times around school and work with the family and centre</a:t>
            </a:r>
          </a:p>
          <a:p>
            <a:pPr marL="177800" indent="-177800">
              <a:spcBef>
                <a:spcPts val="0"/>
              </a:spcBef>
              <a:spcAft>
                <a:spcPts val="1000"/>
              </a:spcAft>
              <a:buClr>
                <a:srgbClr val="28509C"/>
              </a:buClr>
              <a:buFont typeface="Arial"/>
              <a:buChar char="•"/>
            </a:pPr>
            <a:r>
              <a:rPr lang="en-US" sz="1500" b="1" dirty="0">
                <a:solidFill>
                  <a:srgbClr val="002E56"/>
                </a:solidFill>
              </a:rPr>
              <a:t xml:space="preserve">Ill? Call first: </a:t>
            </a:r>
            <a:r>
              <a:rPr lang="en-US" sz="1500" dirty="0">
                <a:solidFill>
                  <a:srgbClr val="2B2B2B"/>
                </a:solidFill>
              </a:rPr>
              <a:t>the treating team decides whether to postpone, so don’t just skip</a:t>
            </a:r>
          </a:p>
          <a:p>
            <a:pPr marL="177800" indent="-177800">
              <a:spcBef>
                <a:spcPts val="0"/>
              </a:spcBef>
              <a:spcAft>
                <a:spcPts val="1000"/>
              </a:spcAft>
              <a:buClr>
                <a:srgbClr val="28509C"/>
              </a:buClr>
              <a:buFont typeface="Arial"/>
              <a:buChar char="•"/>
            </a:pPr>
            <a:r>
              <a:rPr lang="en-US" sz="1500" b="1" dirty="0">
                <a:solidFill>
                  <a:srgbClr val="002E56"/>
                </a:solidFill>
              </a:rPr>
              <a:t xml:space="preserve">Reinforce: </a:t>
            </a:r>
            <a:r>
              <a:rPr lang="en-US" sz="1500" dirty="0">
                <a:solidFill>
                  <a:srgbClr val="2B2B2B"/>
                </a:solidFill>
              </a:rPr>
              <a:t>every weekly infusion counts; missed doses let GAGs build up again</a:t>
            </a:r>
          </a:p>
          <a:p>
            <a:pPr marL="177800" indent="-177800">
              <a:spcBef>
                <a:spcPts val="0"/>
              </a:spcBef>
              <a:spcAft>
                <a:spcPts val="1000"/>
              </a:spcAft>
              <a:buClr>
                <a:srgbClr val="28509C"/>
              </a:buClr>
              <a:buFont typeface="Arial"/>
              <a:buChar char="•"/>
            </a:pPr>
            <a:r>
              <a:rPr lang="en-US" sz="1500" b="1" dirty="0">
                <a:solidFill>
                  <a:srgbClr val="002E56"/>
                </a:solidFill>
              </a:rPr>
              <a:t xml:space="preserve">Praise </a:t>
            </a:r>
            <a:r>
              <a:rPr lang="en-US" sz="1500" dirty="0">
                <a:solidFill>
                  <a:srgbClr val="2B2B2B"/>
                </a:solidFill>
              </a:rPr>
              <a:t>consistency and never blame</a:t>
            </a:r>
          </a:p>
        </p:txBody>
      </p:sp>
      <p:sp>
        <p:nvSpPr>
          <p:cNvPr id="81" name="Banner"/>
          <p:cNvSpPr/>
          <p:nvPr/>
        </p:nvSpPr>
        <p:spPr>
          <a:xfrm>
            <a:off x="660400" y="4927600"/>
            <a:ext cx="10871200" cy="635000"/>
          </a:xfrm>
          <a:prstGeom prst="roundRect">
            <a:avLst>
              <a:gd name="adj" fmla="val 18000"/>
            </a:avLst>
          </a:prstGeom>
          <a:solidFill>
            <a:srgbClr val="002E56"/>
          </a:solidFill>
          <a:ln>
            <a:noFill/>
          </a:ln>
        </p:spPr>
        <p:txBody>
          <a:bodyPr wrap="square" lIns="0" tIns="0" rIns="0" bIns="0" rtlCol="0" anchor="t">
            <a:noAutofit/>
          </a:bodyPr>
          <a:lstStyle/>
          <a:p>
            <a:endParaRPr lang="en-US" dirty="0"/>
          </a:p>
        </p:txBody>
      </p:sp>
      <p:sp>
        <p:nvSpPr>
          <p:cNvPr id="82" name="Banner text"/>
          <p:cNvSpPr txBox="1"/>
          <p:nvPr/>
        </p:nvSpPr>
        <p:spPr>
          <a:xfrm>
            <a:off x="660400" y="4927600"/>
            <a:ext cx="10871200" cy="6350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 xml:space="preserve">Most missed doses are about access, not motivation. </a:t>
            </a:r>
            <a:r>
              <a:rPr lang="en-US" sz="1500" dirty="0">
                <a:solidFill>
                  <a:srgbClr val="DCE4F2"/>
                </a:solidFill>
              </a:rPr>
              <a:t>Ask about barriers before you give advice.</a:t>
            </a:r>
          </a:p>
        </p:txBody>
      </p:sp>
      <p:sp>
        <p:nvSpPr>
          <p:cNvPr id="83"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ERT, enzyme replacement therapy; GAG, glycosaminoglycan; MPS, mucopolysaccharidosis</a:t>
            </a:r>
          </a:p>
        </p:txBody>
      </p:sp>
      <p:sp>
        <p:nvSpPr>
          <p:cNvPr id="84"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1. Solano Villarreal M et al. Mol Genet Metab Rep 2021;28:100769 (Latin America). 2. Yildiz Y, Sivri HS. Turk Arch Pediatr 2021;56:602–9 (Turkey, n=54).</a:t>
            </a:r>
          </a:p>
        </p:txBody>
      </p:sp>
    </p:spTree>
    <p:extLst>
      <p:ext uri="{BB962C8B-B14F-4D97-AF65-F5344CB8AC3E}">
        <p14:creationId xmlns:p14="http://schemas.microsoft.com/office/powerpoint/2010/main" val="1250357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Living with MPS</a:t>
            </a:r>
          </a:p>
        </p:txBody>
      </p:sp>
      <p:sp>
        <p:nvSpPr>
          <p:cNvPr id="86" name="Title"/>
          <p:cNvSpPr>
            <a:spLocks noGrp="1"/>
          </p:cNvSpPr>
          <p:nvPr>
            <p:ph type="title"/>
          </p:nvPr>
        </p:nvSpPr>
        <p:spPr/>
        <p:txBody>
          <a:bodyPr wrap="square" lIns="0" tIns="0" rIns="0" bIns="0" rtlCol="0" anchor="t">
            <a:noAutofit/>
          </a:bodyPr>
          <a:lstStyle/>
          <a:p>
            <a:pPr>
              <a:spcBef>
                <a:spcPts val="0"/>
              </a:spcBef>
              <a:spcAft>
                <a:spcPts val="0"/>
              </a:spcAft>
              <a:buNone/>
            </a:pPr>
            <a:r>
              <a:rPr lang="en-US"/>
              <a:t>Surgery, anaesthesia and emergencies</a:t>
            </a:r>
            <a:endParaRPr lang="en-US" dirty="0"/>
          </a:p>
        </p:txBody>
      </p:sp>
      <p:graphicFrame>
        <p:nvGraphicFramePr>
          <p:cNvPr id="87" name="Safety table"/>
          <p:cNvGraphicFramePr>
            <a:graphicFrameLocks noGrp="1"/>
          </p:cNvGraphicFramePr>
          <p:nvPr/>
        </p:nvGraphicFramePr>
        <p:xfrm>
          <a:off x="660400" y="1422400"/>
          <a:ext cx="10871200" cy="3181000"/>
        </p:xfrm>
        <a:graphic>
          <a:graphicData uri="http://schemas.openxmlformats.org/drawingml/2006/table">
            <a:tbl>
              <a:tblPr firstRow="1"/>
              <a:tblGrid>
                <a:gridCol w="2794000"/>
                <a:gridCol w="4470400"/>
                <a:gridCol w="3606800"/>
              </a:tblGrid>
              <a:tr h="381000">
                <a:tc>
                  <a:txBody>
                    <a:bodyPr/>
                    <a:lstStyle/>
                    <a:p>
                      <a:r>
                        <a:rPr lang="en-US" sz="1300" b="1" dirty="0">
                          <a:solidFill>
                            <a:srgbClr val="002E56"/>
                          </a:solidFill>
                        </a:rPr>
                        <a:t>Situation</a:t>
                      </a:r>
                    </a:p>
                  </a:txBody>
                  <a:tcPr marL="101600" marR="101600" marT="50800" marB="50800" anchor="ctr">
                    <a:lnL w="0">
                      <a:noFill/>
                    </a:lnL>
                    <a:lnR w="0">
                      <a:noFill/>
                    </a:lnR>
                    <a:lnT w="0">
                      <a:noFill/>
                    </a:lnT>
                    <a:lnB w="15875">
                      <a:solidFill>
                        <a:srgbClr val="002E56"/>
                      </a:solidFill>
                    </a:lnB>
                    <a:noFill/>
                  </a:tcPr>
                </a:tc>
                <a:tc>
                  <a:txBody>
                    <a:bodyPr/>
                    <a:lstStyle/>
                    <a:p>
                      <a:r>
                        <a:rPr lang="en-US" sz="1300" b="1" dirty="0">
                          <a:solidFill>
                            <a:srgbClr val="002E56"/>
                          </a:solidFill>
                        </a:rPr>
                        <a:t>What families should do</a:t>
                      </a:r>
                    </a:p>
                  </a:txBody>
                  <a:tcPr marL="101600" marR="101600" marT="50800" marB="50800" anchor="ctr">
                    <a:lnL w="0">
                      <a:noFill/>
                    </a:lnL>
                    <a:lnR w="0">
                      <a:noFill/>
                    </a:lnR>
                    <a:lnT w="0">
                      <a:noFill/>
                    </a:lnT>
                    <a:lnB w="15875">
                      <a:solidFill>
                        <a:srgbClr val="002E56"/>
                      </a:solidFill>
                    </a:lnB>
                    <a:noFill/>
                  </a:tcPr>
                </a:tc>
                <a:tc>
                  <a:txBody>
                    <a:bodyPr/>
                    <a:lstStyle/>
                    <a:p>
                      <a:r>
                        <a:rPr lang="en-US" sz="1300" b="1" dirty="0">
                          <a:solidFill>
                            <a:srgbClr val="002E56"/>
                          </a:solidFill>
                        </a:rPr>
                        <a:t>Why</a:t>
                      </a:r>
                    </a:p>
                  </a:txBody>
                  <a:tcPr marL="101600" marR="101600" marT="50800" marB="50800" anchor="ctr">
                    <a:lnL w="0">
                      <a:noFill/>
                    </a:lnL>
                    <a:lnR w="0">
                      <a:noFill/>
                    </a:lnR>
                    <a:lnT w="0">
                      <a:noFill/>
                    </a:lnT>
                    <a:lnB w="15875">
                      <a:solidFill>
                        <a:srgbClr val="002E56"/>
                      </a:solidFill>
                    </a:lnB>
                    <a:noFill/>
                  </a:tcPr>
                </a:tc>
              </a:tr>
              <a:tr h="560000">
                <a:tc>
                  <a:txBody>
                    <a:bodyPr/>
                    <a:lstStyle/>
                    <a:p>
                      <a:r>
                        <a:rPr lang="en-US" sz="1300" b="1" dirty="0">
                          <a:solidFill>
                            <a:srgbClr val="002E56"/>
                          </a:solidFill>
                        </a:rPr>
                        <a:t>Planned surgery, dental work or sedated scans</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Tell the MPS team early; have it done at a centre experienced in MPS</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Narrow, stiff airways make anaesthesia high-risk</a:t>
                      </a:r>
                    </a:p>
                  </a:txBody>
                  <a:tcPr marL="101600" marR="101600" marT="50800" marB="50800" anchor="ctr">
                    <a:lnL w="0">
                      <a:noFill/>
                    </a:lnL>
                    <a:lnR w="0">
                      <a:noFill/>
                    </a:lnR>
                    <a:lnT w="9525">
                      <a:solidFill>
                        <a:srgbClr val="E0E0E0"/>
                      </a:solidFill>
                    </a:lnT>
                    <a:lnB w="9525">
                      <a:solidFill>
                        <a:srgbClr val="E0E0E0"/>
                      </a:solidFill>
                    </a:lnB>
                    <a:noFill/>
                  </a:tcPr>
                </a:tc>
              </a:tr>
              <a:tr h="560000">
                <a:tc>
                  <a:txBody>
                    <a:bodyPr/>
                    <a:lstStyle/>
                    <a:p>
                      <a:r>
                        <a:rPr lang="en-US" sz="1300" b="1" dirty="0">
                          <a:solidFill>
                            <a:srgbClr val="002E56"/>
                          </a:solidFill>
                        </a:rPr>
                        <a:t>Neck and spine, especially in MPS IVA</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Keep the neck neutral during procedures, lifting and transfers</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An unstable neck can injure the spinal cord</a:t>
                      </a:r>
                    </a:p>
                  </a:txBody>
                  <a:tcPr marL="101600" marR="101600" marT="50800" marB="50800" anchor="ctr">
                    <a:lnL w="0">
                      <a:noFill/>
                    </a:lnL>
                    <a:lnR w="0">
                      <a:noFill/>
                    </a:lnR>
                    <a:lnT w="9525">
                      <a:solidFill>
                        <a:srgbClr val="E0E0E0"/>
                      </a:solidFill>
                    </a:lnT>
                    <a:lnB w="9525">
                      <a:solidFill>
                        <a:srgbClr val="E0E0E0"/>
                      </a:solidFill>
                    </a:lnB>
                    <a:noFill/>
                  </a:tcPr>
                </a:tc>
              </a:tr>
              <a:tr h="560000">
                <a:tc>
                  <a:txBody>
                    <a:bodyPr/>
                    <a:lstStyle/>
                    <a:p>
                      <a:r>
                        <a:rPr lang="en-US" sz="1300" b="1" dirty="0">
                          <a:solidFill>
                            <a:srgbClr val="002E56"/>
                          </a:solidFill>
                        </a:rPr>
                        <a:t>Emergency department visit</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Show the MPS alert card and give the treating centre’s number</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Staff may not know MPS airway and neck risks</a:t>
                      </a:r>
                    </a:p>
                  </a:txBody>
                  <a:tcPr marL="101600" marR="101600" marT="50800" marB="50800" anchor="ctr">
                    <a:lnL w="0">
                      <a:noFill/>
                    </a:lnL>
                    <a:lnR w="0">
                      <a:noFill/>
                    </a:lnR>
                    <a:lnT w="9525">
                      <a:solidFill>
                        <a:srgbClr val="E0E0E0"/>
                      </a:solidFill>
                    </a:lnT>
                    <a:lnB w="9525">
                      <a:solidFill>
                        <a:srgbClr val="E0E0E0"/>
                      </a:solidFill>
                    </a:lnB>
                    <a:noFill/>
                  </a:tcPr>
                </a:tc>
              </a:tr>
              <a:tr h="560000">
                <a:tc>
                  <a:txBody>
                    <a:bodyPr/>
                    <a:lstStyle/>
                    <a:p>
                      <a:r>
                        <a:rPr lang="en-US" sz="1300" b="1" dirty="0">
                          <a:solidFill>
                            <a:srgbClr val="002E56"/>
                          </a:solidFill>
                        </a:rPr>
                        <a:t>Breathing support at home</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Bring CPAP or BiPAP to every admission</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Keeps the airway open after sedation</a:t>
                      </a:r>
                    </a:p>
                  </a:txBody>
                  <a:tcPr marL="101600" marR="101600" marT="50800" marB="50800" anchor="ctr">
                    <a:lnL w="0">
                      <a:noFill/>
                    </a:lnL>
                    <a:lnR w="0">
                      <a:noFill/>
                    </a:lnR>
                    <a:lnT w="9525">
                      <a:solidFill>
                        <a:srgbClr val="E0E0E0"/>
                      </a:solidFill>
                    </a:lnT>
                    <a:lnB w="9525">
                      <a:solidFill>
                        <a:srgbClr val="E0E0E0"/>
                      </a:solidFill>
                    </a:lnB>
                    <a:noFill/>
                  </a:tcPr>
                </a:tc>
              </a:tr>
              <a:tr h="560000">
                <a:tc>
                  <a:txBody>
                    <a:bodyPr/>
                    <a:lstStyle/>
                    <a:p>
                      <a:r>
                        <a:rPr lang="en-US" sz="1300" b="1" dirty="0">
                          <a:solidFill>
                            <a:srgbClr val="002E56"/>
                          </a:solidFill>
                        </a:rPr>
                        <a:t>After surgery</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Report delayed infusions, new weakness or breathing changes</a:t>
                      </a:r>
                    </a:p>
                  </a:txBody>
                  <a:tcPr marL="101600" marR="101600" marT="50800" marB="50800" anchor="ctr">
                    <a:lnL w="0">
                      <a:noFill/>
                    </a:lnL>
                    <a:lnR w="0">
                      <a:noFill/>
                    </a:lnR>
                    <a:lnT w="9525">
                      <a:solidFill>
                        <a:srgbClr val="E0E0E0"/>
                      </a:solidFill>
                    </a:lnT>
                    <a:lnB w="9525">
                      <a:solidFill>
                        <a:srgbClr val="E0E0E0"/>
                      </a:solidFill>
                    </a:lnB>
                    <a:noFill/>
                  </a:tcPr>
                </a:tc>
                <a:tc>
                  <a:txBody>
                    <a:bodyPr/>
                    <a:lstStyle/>
                    <a:p>
                      <a:r>
                        <a:rPr lang="en-US" sz="1300" dirty="0">
                          <a:solidFill>
                            <a:srgbClr val="2B2B2B"/>
                          </a:solidFill>
                        </a:rPr>
                        <a:t>Surgery often interrupts ERT; problems need early review</a:t>
                      </a:r>
                    </a:p>
                  </a:txBody>
                  <a:tcPr marL="101600" marR="101600" marT="50800" marB="50800" anchor="ctr">
                    <a:lnL w="0">
                      <a:noFill/>
                    </a:lnL>
                    <a:lnR w="0">
                      <a:noFill/>
                    </a:lnR>
                    <a:lnT w="9525">
                      <a:solidFill>
                        <a:srgbClr val="E0E0E0"/>
                      </a:solidFill>
                    </a:lnT>
                    <a:lnB w="9525">
                      <a:solidFill>
                        <a:srgbClr val="E0E0E0"/>
                      </a:solidFill>
                    </a:lnB>
                    <a:noFill/>
                  </a:tcPr>
                </a:tc>
              </a:tr>
            </a:tbl>
          </a:graphicData>
        </a:graphic>
      </p:graphicFrame>
      <p:sp>
        <p:nvSpPr>
          <p:cNvPr id="88" name="Alert"/>
          <p:cNvSpPr/>
          <p:nvPr/>
        </p:nvSpPr>
        <p:spPr>
          <a:xfrm>
            <a:off x="660400" y="5105400"/>
            <a:ext cx="10871200" cy="508000"/>
          </a:xfrm>
          <a:prstGeom prst="roundRect">
            <a:avLst>
              <a:gd name="adj" fmla="val 18000"/>
            </a:avLst>
          </a:prstGeom>
          <a:solidFill>
            <a:srgbClr val="FBEAEA"/>
          </a:solidFill>
          <a:ln>
            <a:noFill/>
          </a:ln>
        </p:spPr>
        <p:txBody>
          <a:bodyPr wrap="square" lIns="0" tIns="0" rIns="0" bIns="0" rtlCol="0" anchor="t">
            <a:noAutofit/>
          </a:bodyPr>
          <a:lstStyle/>
          <a:p>
            <a:endParaRPr lang="en-US" dirty="0"/>
          </a:p>
        </p:txBody>
      </p:sp>
      <p:sp>
        <p:nvSpPr>
          <p:cNvPr id="89" name="Alert text"/>
          <p:cNvSpPr txBox="1"/>
          <p:nvPr/>
        </p:nvSpPr>
        <p:spPr>
          <a:xfrm>
            <a:off x="863600" y="5105400"/>
            <a:ext cx="10617200" cy="508000"/>
          </a:xfrm>
          <a:prstGeom prst="rect">
            <a:avLst/>
          </a:prstGeom>
          <a:noFill/>
          <a:ln>
            <a:noFill/>
          </a:ln>
        </p:spPr>
        <p:txBody>
          <a:bodyPr wrap="square" lIns="0" tIns="0" rIns="0" bIns="0" rtlCol="0" anchor="ctr">
            <a:noAutofit/>
          </a:bodyPr>
          <a:lstStyle/>
          <a:p>
            <a:pPr>
              <a:spcBef>
                <a:spcPts val="0"/>
              </a:spcBef>
              <a:spcAft>
                <a:spcPts val="0"/>
              </a:spcAft>
              <a:buNone/>
            </a:pPr>
            <a:r>
              <a:rPr lang="en-US" sz="1400" b="1" dirty="0">
                <a:solidFill>
                  <a:srgbClr val="A33A3A"/>
                </a:solidFill>
              </a:rPr>
              <a:t xml:space="preserve">Alert card: </a:t>
            </a:r>
            <a:r>
              <a:rPr lang="en-US" sz="1400" dirty="0">
                <a:solidFill>
                  <a:srgbClr val="2B2B2B"/>
                </a:solidFill>
              </a:rPr>
              <a:t>help every family carry one with the diagnosis, ERT, airway and neck risks, and the treating physician’s number.</a:t>
            </a:r>
          </a:p>
        </p:txBody>
      </p:sp>
      <p:sp>
        <p:nvSpPr>
          <p:cNvPr id="90"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BiPAP, bilevel positive airway pressure; CPAP, continuous positive airway pressure; ERT, enzyme replacement therapy; MPS, mucopolysaccharidosis</a:t>
            </a:r>
          </a:p>
        </p:txBody>
      </p:sp>
      <p:sp>
        <p:nvSpPr>
          <p:cNvPr id="91"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Walker R et al. J Inherit Metab Dis 2013;36:211–9; Akyol MU et al. Orphanet J Rare Dis 2019;14:137; Akyol MU et al. Orphanet J Rare Dis 2019;14:118.</a:t>
            </a:r>
          </a:p>
        </p:txBody>
      </p:sp>
    </p:spTree>
    <p:extLst>
      <p:ext uri="{BB962C8B-B14F-4D97-AF65-F5344CB8AC3E}">
        <p14:creationId xmlns:p14="http://schemas.microsoft.com/office/powerpoint/2010/main" val="1250357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Living with MPS</a:t>
            </a:r>
          </a:p>
        </p:txBody>
      </p:sp>
      <p:sp>
        <p:nvSpPr>
          <p:cNvPr id="93" name="Title"/>
          <p:cNvSpPr>
            <a:spLocks noGrp="1"/>
          </p:cNvSpPr>
          <p:nvPr>
            <p:ph type="title"/>
          </p:nvPr>
        </p:nvSpPr>
        <p:spPr/>
        <p:txBody>
          <a:bodyPr wrap="square" lIns="0" tIns="0" rIns="0" bIns="0" rtlCol="0" anchor="t">
            <a:noAutofit/>
          </a:bodyPr>
          <a:lstStyle/>
          <a:p>
            <a:pPr>
              <a:spcBef>
                <a:spcPts val="0"/>
              </a:spcBef>
              <a:spcAft>
                <a:spcPts val="0"/>
              </a:spcAft>
              <a:buNone/>
            </a:pPr>
            <a:r>
              <a:rPr lang="en-US"/>
              <a:t>Living with MPS: beyond the infusion</a:t>
            </a:r>
            <a:endParaRPr lang="en-US" dirty="0"/>
          </a:p>
        </p:txBody>
      </p:sp>
      <p:sp>
        <p:nvSpPr>
          <p:cNvPr id="94" name="Card"/>
          <p:cNvSpPr/>
          <p:nvPr/>
        </p:nvSpPr>
        <p:spPr>
          <a:xfrm>
            <a:off x="6604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95" name="Card header"/>
          <p:cNvSpPr/>
          <p:nvPr/>
        </p:nvSpPr>
        <p:spPr>
          <a:xfrm>
            <a:off x="660400" y="1549400"/>
            <a:ext cx="345440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Emotional wellbeing</a:t>
            </a:r>
          </a:p>
        </p:txBody>
      </p:sp>
      <p:sp>
        <p:nvSpPr>
          <p:cNvPr id="96" name="Card body"/>
          <p:cNvSpPr txBox="1"/>
          <p:nvPr/>
        </p:nvSpPr>
        <p:spPr>
          <a:xfrm>
            <a:off x="6604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28509C"/>
              </a:buClr>
              <a:buFont typeface="Arial"/>
              <a:buChar char="•"/>
            </a:pPr>
            <a:r>
              <a:rPr lang="en-US" sz="1500" dirty="0">
                <a:solidFill>
                  <a:srgbClr val="2B2B2B"/>
                </a:solidFill>
              </a:rPr>
              <a:t>Diagnosis brings grief, worry and sometimes denial: listen first</a:t>
            </a:r>
          </a:p>
          <a:p>
            <a:pPr marL="177800" indent="-177800">
              <a:spcBef>
                <a:spcPts val="0"/>
              </a:spcBef>
              <a:spcAft>
                <a:spcPts val="1000"/>
              </a:spcAft>
              <a:buClr>
                <a:srgbClr val="28509C"/>
              </a:buClr>
              <a:buFont typeface="Arial"/>
              <a:buChar char="•"/>
            </a:pPr>
            <a:r>
              <a:rPr lang="en-US" sz="1500" dirty="0">
                <a:solidFill>
                  <a:srgbClr val="2B2B2B"/>
                </a:solidFill>
              </a:rPr>
              <a:t>Watch for caregiver exhaustion and low mood</a:t>
            </a:r>
          </a:p>
          <a:p>
            <a:pPr marL="177800" indent="-177800">
              <a:spcBef>
                <a:spcPts val="0"/>
              </a:spcBef>
              <a:spcAft>
                <a:spcPts val="1000"/>
              </a:spcAft>
              <a:buClr>
                <a:srgbClr val="28509C"/>
              </a:buClr>
              <a:buFont typeface="Arial"/>
              <a:buChar char="•"/>
            </a:pPr>
            <a:r>
              <a:rPr lang="en-US" sz="1500" dirty="0">
                <a:solidFill>
                  <a:srgbClr val="2B2B2B"/>
                </a:solidFill>
              </a:rPr>
              <a:t>Offer psychology or social work through the treating team</a:t>
            </a:r>
          </a:p>
        </p:txBody>
      </p:sp>
      <p:sp>
        <p:nvSpPr>
          <p:cNvPr id="97" name="Card"/>
          <p:cNvSpPr/>
          <p:nvPr/>
        </p:nvSpPr>
        <p:spPr>
          <a:xfrm>
            <a:off x="43688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98" name="Card header"/>
          <p:cNvSpPr/>
          <p:nvPr/>
        </p:nvSpPr>
        <p:spPr>
          <a:xfrm>
            <a:off x="4368800" y="1549400"/>
            <a:ext cx="345440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School and work</a:t>
            </a:r>
          </a:p>
        </p:txBody>
      </p:sp>
      <p:sp>
        <p:nvSpPr>
          <p:cNvPr id="99" name="Card body"/>
          <p:cNvSpPr txBox="1"/>
          <p:nvPr/>
        </p:nvSpPr>
        <p:spPr>
          <a:xfrm>
            <a:off x="43688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28509C"/>
              </a:buClr>
              <a:buFont typeface="Arial"/>
              <a:buChar char="•"/>
            </a:pPr>
            <a:r>
              <a:rPr lang="en-US" sz="1500" dirty="0">
                <a:solidFill>
                  <a:srgbClr val="2B2B2B"/>
                </a:solidFill>
              </a:rPr>
              <a:t>Weekly infusions can cost a day each week: plan schedules early</a:t>
            </a:r>
          </a:p>
          <a:p>
            <a:pPr marL="177800" indent="-177800">
              <a:spcBef>
                <a:spcPts val="0"/>
              </a:spcBef>
              <a:spcAft>
                <a:spcPts val="1000"/>
              </a:spcAft>
              <a:buClr>
                <a:srgbClr val="28509C"/>
              </a:buClr>
              <a:buFont typeface="Arial"/>
              <a:buChar char="•"/>
            </a:pPr>
            <a:r>
              <a:rPr lang="en-US" sz="1500" dirty="0">
                <a:solidFill>
                  <a:srgbClr val="2B2B2B"/>
                </a:solidFill>
              </a:rPr>
              <a:t>Suggest school letters for access, rest and absences</a:t>
            </a:r>
          </a:p>
          <a:p>
            <a:pPr marL="177800" indent="-177800">
              <a:spcBef>
                <a:spcPts val="0"/>
              </a:spcBef>
              <a:spcAft>
                <a:spcPts val="1000"/>
              </a:spcAft>
              <a:buClr>
                <a:srgbClr val="28509C"/>
              </a:buClr>
              <a:buFont typeface="Arial"/>
              <a:buChar char="•"/>
            </a:pPr>
            <a:r>
              <a:rPr lang="en-US" sz="1500" dirty="0">
                <a:solidFill>
                  <a:srgbClr val="2B2B2B"/>
                </a:solidFill>
              </a:rPr>
              <a:t>Encourage independence, hobbies and friendships</a:t>
            </a:r>
          </a:p>
        </p:txBody>
      </p:sp>
      <p:sp>
        <p:nvSpPr>
          <p:cNvPr id="100" name="Card"/>
          <p:cNvSpPr/>
          <p:nvPr/>
        </p:nvSpPr>
        <p:spPr>
          <a:xfrm>
            <a:off x="8077200" y="1549400"/>
            <a:ext cx="345440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01" name="Card header"/>
          <p:cNvSpPr/>
          <p:nvPr/>
        </p:nvSpPr>
        <p:spPr>
          <a:xfrm>
            <a:off x="8077200" y="1549400"/>
            <a:ext cx="3454400" cy="482600"/>
          </a:xfrm>
          <a:prstGeom prst="roundRect">
            <a:avLst>
              <a:gd name="adj" fmla="val 15789"/>
            </a:avLst>
          </a:prstGeom>
          <a:solidFill>
            <a:srgbClr val="A9218E"/>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Practical support</a:t>
            </a:r>
          </a:p>
        </p:txBody>
      </p:sp>
      <p:sp>
        <p:nvSpPr>
          <p:cNvPr id="102" name="Card body"/>
          <p:cNvSpPr txBox="1"/>
          <p:nvPr/>
        </p:nvSpPr>
        <p:spPr>
          <a:xfrm>
            <a:off x="8077200" y="2133600"/>
            <a:ext cx="3454400" cy="2616200"/>
          </a:xfrm>
          <a:prstGeom prst="rect">
            <a:avLst/>
          </a:prstGeom>
          <a:noFill/>
          <a:ln>
            <a:noFill/>
          </a:ln>
        </p:spPr>
        <p:txBody>
          <a:bodyPr wrap="square" lIns="177800" tIns="76200" rIns="177800" bIns="76200" rtlCol="0" anchor="t">
            <a:noAutofit/>
          </a:bodyPr>
          <a:lstStyle/>
          <a:p>
            <a:pPr marL="177800" indent="-177800">
              <a:spcBef>
                <a:spcPts val="0"/>
              </a:spcBef>
              <a:spcAft>
                <a:spcPts val="1000"/>
              </a:spcAft>
              <a:buClr>
                <a:srgbClr val="A9218E"/>
              </a:buClr>
              <a:buFont typeface="Arial"/>
              <a:buChar char="•"/>
            </a:pPr>
            <a:r>
              <a:rPr lang="en-US" sz="1500" dirty="0">
                <a:solidFill>
                  <a:srgbClr val="2B2B2B"/>
                </a:solidFill>
              </a:rPr>
              <a:t>Home and school adaptations: ramps, seating, rails</a:t>
            </a:r>
          </a:p>
          <a:p>
            <a:pPr marL="177800" indent="-177800">
              <a:spcBef>
                <a:spcPts val="0"/>
              </a:spcBef>
              <a:spcAft>
                <a:spcPts val="1000"/>
              </a:spcAft>
              <a:buClr>
                <a:srgbClr val="A9218E"/>
              </a:buClr>
              <a:buFont typeface="Arial"/>
              <a:buChar char="•"/>
            </a:pPr>
            <a:r>
              <a:rPr lang="en-US" sz="1500" dirty="0">
                <a:solidFill>
                  <a:srgbClr val="2B2B2B"/>
                </a:solidFill>
              </a:rPr>
              <a:t>Mobility, hearing and vision aids as advised</a:t>
            </a:r>
          </a:p>
          <a:p>
            <a:pPr marL="177800" indent="-177800">
              <a:spcBef>
                <a:spcPts val="0"/>
              </a:spcBef>
              <a:spcAft>
                <a:spcPts val="1000"/>
              </a:spcAft>
              <a:buClr>
                <a:srgbClr val="A9218E"/>
              </a:buClr>
              <a:buFont typeface="Arial"/>
              <a:buChar char="•"/>
            </a:pPr>
            <a:r>
              <a:rPr lang="en-US" sz="1500" dirty="0">
                <a:solidFill>
                  <a:srgbClr val="2B2B2B"/>
                </a:solidFill>
              </a:rPr>
              <a:t>Link families with MPS patient associations</a:t>
            </a:r>
          </a:p>
        </p:txBody>
      </p:sp>
      <p:sp>
        <p:nvSpPr>
          <p:cNvPr id="103" name="Banner"/>
          <p:cNvSpPr/>
          <p:nvPr/>
        </p:nvSpPr>
        <p:spPr>
          <a:xfrm>
            <a:off x="660400" y="4927600"/>
            <a:ext cx="10871200" cy="635000"/>
          </a:xfrm>
          <a:prstGeom prst="roundRect">
            <a:avLst>
              <a:gd name="adj" fmla="val 18000"/>
            </a:avLst>
          </a:prstGeom>
          <a:solidFill>
            <a:srgbClr val="002E56"/>
          </a:solidFill>
          <a:ln>
            <a:noFill/>
          </a:ln>
        </p:spPr>
        <p:txBody>
          <a:bodyPr wrap="square" lIns="0" tIns="0" rIns="0" bIns="0" rtlCol="0" anchor="t">
            <a:noAutofit/>
          </a:bodyPr>
          <a:lstStyle/>
          <a:p>
            <a:endParaRPr lang="en-US" dirty="0"/>
          </a:p>
        </p:txBody>
      </p:sp>
      <p:sp>
        <p:nvSpPr>
          <p:cNvPr id="104" name="Banner text"/>
          <p:cNvSpPr txBox="1"/>
          <p:nvPr/>
        </p:nvSpPr>
        <p:spPr>
          <a:xfrm>
            <a:off x="660400" y="4927600"/>
            <a:ext cx="10871200" cy="6350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 xml:space="preserve">Cognition is usually normal in MPS IVA and VI: </a:t>
            </a:r>
            <a:r>
              <a:rPr lang="en-US" sz="1500" dirty="0">
                <a:solidFill>
                  <a:srgbClr val="DCE4F2"/>
                </a:solidFill>
              </a:rPr>
              <a:t>school, work and independent adult life are realistic goals.</a:t>
            </a:r>
          </a:p>
        </p:txBody>
      </p:sp>
      <p:sp>
        <p:nvSpPr>
          <p:cNvPr id="105"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MPS, mucopolysaccharidosis</a:t>
            </a:r>
          </a:p>
        </p:txBody>
      </p:sp>
      <p:sp>
        <p:nvSpPr>
          <p:cNvPr id="106"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Yildiz Y, Sivri HS. Turk Arch Pediatr 2021;56:602–9; Akyol MU et al. Orphanet J Rare Dis 2019;14:137; Akyol MU et al. Orphanet J Rare Dis 2019;14:118.</a:t>
            </a:r>
          </a:p>
        </p:txBody>
      </p:sp>
    </p:spTree>
    <p:extLst>
      <p:ext uri="{BB962C8B-B14F-4D97-AF65-F5344CB8AC3E}">
        <p14:creationId xmlns:p14="http://schemas.microsoft.com/office/powerpoint/2010/main" val="12503574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Section label"/>
          <p:cNvSpPr txBox="1"/>
          <p:nvPr/>
        </p:nvSpPr>
        <p:spPr>
          <a:xfrm>
            <a:off x="660400" y="190500"/>
            <a:ext cx="7620000" cy="203200"/>
          </a:xfrm>
          <a:prstGeom prst="rect">
            <a:avLst/>
          </a:prstGeom>
          <a:noFill/>
          <a:ln>
            <a:noFill/>
          </a:ln>
        </p:spPr>
        <p:txBody>
          <a:bodyPr wrap="square" lIns="0" tIns="0" rIns="0" bIns="0" rtlCol="0" anchor="t">
            <a:noAutofit/>
          </a:bodyPr>
          <a:lstStyle/>
          <a:p>
            <a:pPr>
              <a:spcBef>
                <a:spcPts val="0"/>
              </a:spcBef>
              <a:spcAft>
                <a:spcPts val="0"/>
              </a:spcAft>
              <a:buNone/>
            </a:pPr>
            <a:r>
              <a:rPr lang="en-US" sz="1050" b="1" spc="100" dirty="0">
                <a:solidFill>
                  <a:srgbClr val="28509C"/>
                </a:solidFill>
              </a:rPr>
              <a:t>Living with MPS</a:t>
            </a:r>
          </a:p>
        </p:txBody>
      </p:sp>
      <p:sp>
        <p:nvSpPr>
          <p:cNvPr id="108" name="Title"/>
          <p:cNvSpPr>
            <a:spLocks noGrp="1"/>
          </p:cNvSpPr>
          <p:nvPr>
            <p:ph type="title"/>
          </p:nvPr>
        </p:nvSpPr>
        <p:spPr/>
        <p:txBody>
          <a:bodyPr wrap="square" lIns="0" tIns="0" rIns="0" bIns="0" rtlCol="0" anchor="t">
            <a:noAutofit/>
          </a:bodyPr>
          <a:lstStyle/>
          <a:p>
            <a:pPr>
              <a:spcBef>
                <a:spcPts val="0"/>
              </a:spcBef>
              <a:spcAft>
                <a:spcPts val="0"/>
              </a:spcAft>
              <a:buNone/>
            </a:pPr>
            <a:r>
              <a:rPr lang="en-US"/>
              <a:t>Moving from paediatric to adult care</a:t>
            </a:r>
            <a:endParaRPr lang="en-US" dirty="0"/>
          </a:p>
        </p:txBody>
      </p:sp>
      <p:sp>
        <p:nvSpPr>
          <p:cNvPr id="109" name="Card"/>
          <p:cNvSpPr/>
          <p:nvPr/>
        </p:nvSpPr>
        <p:spPr>
          <a:xfrm>
            <a:off x="66040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10" name="Card header"/>
          <p:cNvSpPr/>
          <p:nvPr/>
        </p:nvSpPr>
        <p:spPr>
          <a:xfrm>
            <a:off x="66040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1  ~12 years</a:t>
            </a:r>
          </a:p>
        </p:txBody>
      </p:sp>
      <p:sp>
        <p:nvSpPr>
          <p:cNvPr id="111" name="Card body"/>
          <p:cNvSpPr txBox="1"/>
          <p:nvPr/>
        </p:nvSpPr>
        <p:spPr>
          <a:xfrm>
            <a:off x="66040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Start talking about adult care</a:t>
            </a:r>
          </a:p>
          <a:p>
            <a:pPr marL="177800" indent="-177800">
              <a:spcBef>
                <a:spcPts val="0"/>
              </a:spcBef>
              <a:spcAft>
                <a:spcPts val="900"/>
              </a:spcAft>
              <a:buClr>
                <a:srgbClr val="28509C"/>
              </a:buClr>
              <a:buFont typeface="Arial"/>
              <a:buChar char="•"/>
            </a:pPr>
            <a:r>
              <a:rPr lang="en-US" sz="1400" dirty="0">
                <a:solidFill>
                  <a:srgbClr val="2B2B2B"/>
                </a:solidFill>
              </a:rPr>
              <a:t>Name it as a normal step</a:t>
            </a:r>
          </a:p>
        </p:txBody>
      </p:sp>
      <p:sp>
        <p:nvSpPr>
          <p:cNvPr id="112" name="Card"/>
          <p:cNvSpPr/>
          <p:nvPr/>
        </p:nvSpPr>
        <p:spPr>
          <a:xfrm>
            <a:off x="286512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13" name="Card header"/>
          <p:cNvSpPr/>
          <p:nvPr/>
        </p:nvSpPr>
        <p:spPr>
          <a:xfrm>
            <a:off x="286512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2  12–14</a:t>
            </a:r>
          </a:p>
        </p:txBody>
      </p:sp>
      <p:sp>
        <p:nvSpPr>
          <p:cNvPr id="114" name="Card body"/>
          <p:cNvSpPr txBox="1"/>
          <p:nvPr/>
        </p:nvSpPr>
        <p:spPr>
          <a:xfrm>
            <a:off x="286512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Teen learns their diagnosis, ERT and warning signs</a:t>
            </a:r>
          </a:p>
        </p:txBody>
      </p:sp>
      <p:sp>
        <p:nvSpPr>
          <p:cNvPr id="115" name="Card"/>
          <p:cNvSpPr/>
          <p:nvPr/>
        </p:nvSpPr>
        <p:spPr>
          <a:xfrm>
            <a:off x="506984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16" name="Card header"/>
          <p:cNvSpPr/>
          <p:nvPr/>
        </p:nvSpPr>
        <p:spPr>
          <a:xfrm>
            <a:off x="506984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3  14–16</a:t>
            </a:r>
          </a:p>
        </p:txBody>
      </p:sp>
      <p:sp>
        <p:nvSpPr>
          <p:cNvPr id="117" name="Card body"/>
          <p:cNvSpPr txBox="1"/>
          <p:nvPr/>
        </p:nvSpPr>
        <p:spPr>
          <a:xfrm>
            <a:off x="506984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Sees the doctor alone for part of the visit</a:t>
            </a:r>
          </a:p>
          <a:p>
            <a:pPr marL="177800" indent="-177800">
              <a:spcBef>
                <a:spcPts val="0"/>
              </a:spcBef>
              <a:spcAft>
                <a:spcPts val="900"/>
              </a:spcAft>
              <a:buClr>
                <a:srgbClr val="28509C"/>
              </a:buClr>
              <a:buFont typeface="Arial"/>
              <a:buChar char="•"/>
            </a:pPr>
            <a:r>
              <a:rPr lang="en-US" sz="1400" dirty="0">
                <a:solidFill>
                  <a:srgbClr val="2B2B2B"/>
                </a:solidFill>
              </a:rPr>
              <a:t>Books own appointments</a:t>
            </a:r>
          </a:p>
        </p:txBody>
      </p:sp>
      <p:sp>
        <p:nvSpPr>
          <p:cNvPr id="118" name="Card"/>
          <p:cNvSpPr/>
          <p:nvPr/>
        </p:nvSpPr>
        <p:spPr>
          <a:xfrm>
            <a:off x="727456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19" name="Card header"/>
          <p:cNvSpPr/>
          <p:nvPr/>
        </p:nvSpPr>
        <p:spPr>
          <a:xfrm>
            <a:off x="727456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4  16–18</a:t>
            </a:r>
          </a:p>
        </p:txBody>
      </p:sp>
      <p:sp>
        <p:nvSpPr>
          <p:cNvPr id="120" name="Card body"/>
          <p:cNvSpPr txBox="1"/>
          <p:nvPr/>
        </p:nvSpPr>
        <p:spPr>
          <a:xfrm>
            <a:off x="727456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Adult team named</a:t>
            </a:r>
          </a:p>
          <a:p>
            <a:pPr marL="177800" indent="-177800">
              <a:spcBef>
                <a:spcPts val="0"/>
              </a:spcBef>
              <a:spcAft>
                <a:spcPts val="900"/>
              </a:spcAft>
              <a:buClr>
                <a:srgbClr val="28509C"/>
              </a:buClr>
              <a:buFont typeface="Arial"/>
              <a:buChar char="•"/>
            </a:pPr>
            <a:r>
              <a:rPr lang="en-US" sz="1400" dirty="0">
                <a:solidFill>
                  <a:srgbClr val="2B2B2B"/>
                </a:solidFill>
              </a:rPr>
              <a:t>Joint clinic if possible</a:t>
            </a:r>
          </a:p>
          <a:p>
            <a:pPr marL="177800" indent="-177800">
              <a:spcBef>
                <a:spcPts val="0"/>
              </a:spcBef>
              <a:spcAft>
                <a:spcPts val="900"/>
              </a:spcAft>
              <a:buClr>
                <a:srgbClr val="28509C"/>
              </a:buClr>
              <a:buFont typeface="Arial"/>
              <a:buChar char="•"/>
            </a:pPr>
            <a:r>
              <a:rPr lang="en-US" sz="1400" dirty="0">
                <a:solidFill>
                  <a:srgbClr val="2B2B2B"/>
                </a:solidFill>
              </a:rPr>
              <a:t>Medical summary ready</a:t>
            </a:r>
          </a:p>
        </p:txBody>
      </p:sp>
      <p:sp>
        <p:nvSpPr>
          <p:cNvPr id="121" name="Card"/>
          <p:cNvSpPr/>
          <p:nvPr/>
        </p:nvSpPr>
        <p:spPr>
          <a:xfrm>
            <a:off x="9479280" y="1549400"/>
            <a:ext cx="2052320" cy="3200400"/>
          </a:xfrm>
          <a:prstGeom prst="roundRect">
            <a:avLst>
              <a:gd name="adj" fmla="val 3571"/>
            </a:avLst>
          </a:prstGeom>
          <a:solidFill>
            <a:srgbClr val="E8EEF7"/>
          </a:solidFill>
          <a:ln>
            <a:noFill/>
          </a:ln>
        </p:spPr>
        <p:txBody>
          <a:bodyPr wrap="square" lIns="0" tIns="0" rIns="0" bIns="0" rtlCol="0" anchor="t">
            <a:noAutofit/>
          </a:bodyPr>
          <a:lstStyle/>
          <a:p>
            <a:endParaRPr lang="en-US" dirty="0"/>
          </a:p>
        </p:txBody>
      </p:sp>
      <p:sp>
        <p:nvSpPr>
          <p:cNvPr id="122" name="Card header"/>
          <p:cNvSpPr/>
          <p:nvPr/>
        </p:nvSpPr>
        <p:spPr>
          <a:xfrm>
            <a:off x="9479280" y="1549400"/>
            <a:ext cx="2052320" cy="482600"/>
          </a:xfrm>
          <a:prstGeom prst="roundRect">
            <a:avLst>
              <a:gd name="adj" fmla="val 15789"/>
            </a:avLst>
          </a:prstGeom>
          <a:solidFill>
            <a:srgbClr val="28509C"/>
          </a:solidFill>
          <a:ln>
            <a:noFill/>
          </a:ln>
        </p:spPr>
        <p:txBody>
          <a:bodyPr wrap="square" lIns="177800" tIns="0" rIns="127000" bIns="0" rtlCol="0" anchor="ctr">
            <a:noAutofit/>
          </a:bodyPr>
          <a:lstStyle/>
          <a:p>
            <a:pPr>
              <a:spcBef>
                <a:spcPts val="0"/>
              </a:spcBef>
              <a:spcAft>
                <a:spcPts val="0"/>
              </a:spcAft>
              <a:buNone/>
            </a:pPr>
            <a:r>
              <a:rPr lang="en-US" sz="1200" b="1" spc="80" dirty="0">
                <a:solidFill>
                  <a:srgbClr val="FFFFFF"/>
                </a:solidFill>
              </a:rPr>
              <a:t>5  18+</a:t>
            </a:r>
          </a:p>
        </p:txBody>
      </p:sp>
      <p:sp>
        <p:nvSpPr>
          <p:cNvPr id="123" name="Card body"/>
          <p:cNvSpPr txBox="1"/>
          <p:nvPr/>
        </p:nvSpPr>
        <p:spPr>
          <a:xfrm>
            <a:off x="9479280" y="2133600"/>
            <a:ext cx="2052320" cy="2616200"/>
          </a:xfrm>
          <a:prstGeom prst="rect">
            <a:avLst/>
          </a:prstGeom>
          <a:noFill/>
          <a:ln>
            <a:noFill/>
          </a:ln>
        </p:spPr>
        <p:txBody>
          <a:bodyPr wrap="square" lIns="177800" tIns="76200" rIns="177800" bIns="76200" rtlCol="0" anchor="t">
            <a:noAutofit/>
          </a:bodyPr>
          <a:lstStyle/>
          <a:p>
            <a:pPr marL="177800" indent="-177800">
              <a:spcBef>
                <a:spcPts val="0"/>
              </a:spcBef>
              <a:spcAft>
                <a:spcPts val="900"/>
              </a:spcAft>
              <a:buClr>
                <a:srgbClr val="28509C"/>
              </a:buClr>
              <a:buFont typeface="Arial"/>
              <a:buChar char="•"/>
            </a:pPr>
            <a:r>
              <a:rPr lang="en-US" sz="1400" dirty="0">
                <a:solidFill>
                  <a:srgbClr val="2B2B2B"/>
                </a:solidFill>
              </a:rPr>
              <a:t>First adult visits attended</a:t>
            </a:r>
          </a:p>
          <a:p>
            <a:pPr marL="177800" indent="-177800">
              <a:spcBef>
                <a:spcPts val="0"/>
              </a:spcBef>
              <a:spcAft>
                <a:spcPts val="900"/>
              </a:spcAft>
              <a:buClr>
                <a:srgbClr val="28509C"/>
              </a:buClr>
              <a:buFont typeface="Arial"/>
              <a:buChar char="•"/>
            </a:pPr>
            <a:r>
              <a:rPr lang="en-US" sz="1400" dirty="0">
                <a:solidFill>
                  <a:srgbClr val="2B2B2B"/>
                </a:solidFill>
              </a:rPr>
              <a:t>ERT continues with no gaps</a:t>
            </a:r>
          </a:p>
        </p:txBody>
      </p:sp>
      <p:sp>
        <p:nvSpPr>
          <p:cNvPr id="124" name="Banner"/>
          <p:cNvSpPr/>
          <p:nvPr/>
        </p:nvSpPr>
        <p:spPr>
          <a:xfrm>
            <a:off x="660400" y="4927600"/>
            <a:ext cx="10871200" cy="635000"/>
          </a:xfrm>
          <a:prstGeom prst="roundRect">
            <a:avLst>
              <a:gd name="adj" fmla="val 18000"/>
            </a:avLst>
          </a:prstGeom>
          <a:solidFill>
            <a:srgbClr val="002E56"/>
          </a:solidFill>
          <a:ln>
            <a:noFill/>
          </a:ln>
        </p:spPr>
        <p:txBody>
          <a:bodyPr wrap="square" lIns="0" tIns="0" rIns="0" bIns="0" rtlCol="0" anchor="t">
            <a:noAutofit/>
          </a:bodyPr>
          <a:lstStyle/>
          <a:p>
            <a:endParaRPr lang="en-US" dirty="0"/>
          </a:p>
        </p:txBody>
      </p:sp>
      <p:sp>
        <p:nvSpPr>
          <p:cNvPr id="125" name="Banner text"/>
          <p:cNvSpPr txBox="1"/>
          <p:nvPr/>
        </p:nvSpPr>
        <p:spPr>
          <a:xfrm>
            <a:off x="660400" y="4927600"/>
            <a:ext cx="10871200" cy="635000"/>
          </a:xfrm>
          <a:prstGeom prst="rect">
            <a:avLst/>
          </a:prstGeom>
          <a:noFill/>
          <a:ln>
            <a:noFill/>
          </a:ln>
        </p:spPr>
        <p:txBody>
          <a:bodyPr wrap="square" lIns="228600" tIns="0" rIns="228600" bIns="0" rtlCol="0" anchor="ctr">
            <a:noAutofit/>
          </a:bodyPr>
          <a:lstStyle/>
          <a:p>
            <a:pPr>
              <a:spcBef>
                <a:spcPts val="0"/>
              </a:spcBef>
              <a:spcAft>
                <a:spcPts val="0"/>
              </a:spcAft>
              <a:buNone/>
            </a:pPr>
            <a:r>
              <a:rPr lang="en-US" sz="1500" b="1" dirty="0">
                <a:solidFill>
                  <a:srgbClr val="FFFFFF"/>
                </a:solidFill>
              </a:rPr>
              <a:t xml:space="preserve">Gaps happen around the transfer. </a:t>
            </a:r>
            <a:r>
              <a:rPr lang="en-US" sz="1500" dirty="0">
                <a:solidFill>
                  <a:srgbClr val="DCE4F2"/>
                </a:solidFill>
              </a:rPr>
              <a:t>In the first adult year, check ERT continuity and visit attendance closely.</a:t>
            </a:r>
          </a:p>
        </p:txBody>
      </p:sp>
      <p:sp>
        <p:nvSpPr>
          <p:cNvPr id="126" name="Abbreviations"/>
          <p:cNvSpPr txBox="1"/>
          <p:nvPr/>
        </p:nvSpPr>
        <p:spPr>
          <a:xfrm>
            <a:off x="660400" y="5588000"/>
            <a:ext cx="10871200" cy="355600"/>
          </a:xfrm>
          <a:prstGeom prst="rect">
            <a:avLst/>
          </a:prstGeom>
          <a:noFill/>
          <a:ln>
            <a:noFill/>
          </a:ln>
        </p:spPr>
        <p:txBody>
          <a:bodyPr wrap="square" lIns="0" tIns="0" rIns="0" bIns="0" rtlCol="0" anchor="b">
            <a:noAutofit/>
          </a:bodyPr>
          <a:lstStyle/>
          <a:p>
            <a:pPr>
              <a:spcBef>
                <a:spcPts val="0"/>
              </a:spcBef>
              <a:spcAft>
                <a:spcPts val="0"/>
              </a:spcAft>
              <a:buNone/>
            </a:pPr>
            <a:r>
              <a:rPr lang="en-US" sz="1100" i="1" dirty="0">
                <a:solidFill>
                  <a:srgbClr val="404040"/>
                </a:solidFill>
              </a:rPr>
              <a:t>ERT, enzyme replacement therapy. Ages are a guide; the treating teams set the timing</a:t>
            </a:r>
          </a:p>
        </p:txBody>
      </p:sp>
      <p:sp>
        <p:nvSpPr>
          <p:cNvPr id="127" name="References"/>
          <p:cNvSpPr txBox="1"/>
          <p:nvPr/>
        </p:nvSpPr>
        <p:spPr>
          <a:xfrm>
            <a:off x="660400" y="5981700"/>
            <a:ext cx="10871200" cy="508000"/>
          </a:xfrm>
          <a:prstGeom prst="rect">
            <a:avLst/>
          </a:prstGeom>
          <a:noFill/>
          <a:ln>
            <a:noFill/>
          </a:ln>
        </p:spPr>
        <p:txBody>
          <a:bodyPr wrap="square" lIns="0" tIns="0" rIns="0" bIns="0" rtlCol="0" anchor="t">
            <a:noAutofit/>
          </a:bodyPr>
          <a:lstStyle/>
          <a:p>
            <a:pPr>
              <a:spcBef>
                <a:spcPts val="0"/>
              </a:spcBef>
              <a:spcAft>
                <a:spcPts val="0"/>
              </a:spcAft>
              <a:buNone/>
            </a:pPr>
            <a:r>
              <a:rPr lang="en-US" sz="900" dirty="0">
                <a:solidFill>
                  <a:srgbClr val="646464"/>
                </a:solidFill>
              </a:rPr>
              <a:t>Lampe C et al. Transition of patients with mucopolysaccharidosis from paediatric to adult care. Mol Genet Metab Rep 2019;21:100508.</a:t>
            </a:r>
          </a:p>
        </p:txBody>
      </p:sp>
    </p:spTree>
    <p:extLst>
      <p:ext uri="{BB962C8B-B14F-4D97-AF65-F5344CB8AC3E}">
        <p14:creationId xmlns:p14="http://schemas.microsoft.com/office/powerpoint/2010/main" val="1250357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Section number"/>
          <p:cNvSpPr txBox="1"/>
          <p:nvPr/>
        </p:nvSpPr>
        <p:spPr>
          <a:xfrm>
            <a:off x="914400" y="1625600"/>
            <a:ext cx="5334000" cy="1219200"/>
          </a:xfrm>
          <a:prstGeom prst="rect">
            <a:avLst/>
          </a:prstGeom>
          <a:noFill/>
          <a:ln>
            <a:noFill/>
          </a:ln>
        </p:spPr>
        <p:txBody>
          <a:bodyPr wrap="square" lIns="0" tIns="0" rIns="0" bIns="0" anchor="b">
            <a:noAutofit/>
          </a:bodyPr>
          <a:lstStyle/>
          <a:p>
            <a:pPr>
              <a:lnSpc>
                <a:spcPct val="100000"/>
              </a:lnSpc>
              <a:spcBef>
                <a:spcPts val="0"/>
              </a:spcBef>
              <a:buNone/>
            </a:pPr>
            <a:r>
              <a:rPr lang="en-GB" sz="8000" b="1" dirty="0">
                <a:solidFill>
                  <a:srgbClr val="9DB3D9"/>
                </a:solidFill>
              </a:rPr>
              <a:t>01</a:t>
            </a:r>
          </a:p>
        </p:txBody>
      </p:sp>
      <p:sp>
        <p:nvSpPr>
          <p:cNvPr id="403" name="Title"/>
          <p:cNvSpPr>
            <a:spLocks noGrp="1"/>
          </p:cNvSpPr>
          <p:nvPr>
            <p:ph type="title"/>
          </p:nvPr>
        </p:nvSpPr>
        <p:spPr>
          <a:xfrm>
            <a:off x="914400" y="3327400"/>
            <a:ext cx="5588000" cy="812800"/>
          </a:xfrm>
        </p:spPr>
        <p:txBody>
          <a:bodyPr wrap="square" lIns="0" tIns="0" rIns="0" bIns="0" anchor="t">
            <a:normAutofit/>
          </a:bodyPr>
          <a:lstStyle/>
          <a:p>
            <a:pPr algn="l"/>
            <a:r>
              <a:rPr lang="en-GB" sz="4400" b="1" dirty="0">
                <a:solidFill>
                  <a:srgbClr val="FFFFFF"/>
                </a:solidFill>
              </a:rPr>
              <a:t>Your role</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lnSpc>
                <a:spcPct val="100000"/>
              </a:lnSpc>
              <a:spcBef>
                <a:spcPts val="0"/>
              </a:spcBef>
              <a:buNone/>
            </a:pPr>
            <a:r>
              <a:rPr lang="en-GB" sz="1800" dirty="0">
                <a:solidFill>
                  <a:srgbClr val="C9D5EA"/>
                </a:solidFill>
              </a:rPr>
              <a:t>What the program asks of you, its limits, and how to run every family contact</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lnSpc>
                <a:spcPct val="100000"/>
              </a:lnSpc>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Your role and boundaries</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Each family contact, step by step</a:t>
            </a:r>
          </a:p>
        </p:txBody>
      </p:sp>
    </p:spTree>
    <p:extLst>
      <p:ext uri="{BB962C8B-B14F-4D97-AF65-F5344CB8AC3E}">
        <p14:creationId xmlns:p14="http://schemas.microsoft.com/office/powerpoint/2010/main" val="34125130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Section number"/>
          <p:cNvSpPr txBox="1"/>
          <p:nvPr/>
        </p:nvSpPr>
        <p:spPr>
          <a:xfrm>
            <a:off x="914400" y="1625600"/>
            <a:ext cx="5334000" cy="1219200"/>
          </a:xfrm>
          <a:prstGeom prst="rect">
            <a:avLst/>
          </a:prstGeom>
          <a:noFill/>
          <a:ln>
            <a:noFill/>
          </a:ln>
        </p:spPr>
        <p:txBody>
          <a:bodyPr wrap="square" lIns="0" tIns="0" rIns="0" bIns="0" anchor="b">
            <a:noAutofit/>
          </a:bodyPr>
          <a:lstStyle/>
          <a:p>
            <a:pPr>
              <a:lnSpc>
                <a:spcPct val="100000"/>
              </a:lnSpc>
              <a:spcBef>
                <a:spcPts val="0"/>
              </a:spcBef>
              <a:buNone/>
            </a:pPr>
            <a:r>
              <a:rPr lang="en-GB" sz="8000" b="1" dirty="0">
                <a:solidFill>
                  <a:srgbClr val="9DB3D9"/>
                </a:solidFill>
              </a:rPr>
              <a:t>05</a:t>
            </a:r>
          </a:p>
        </p:txBody>
      </p:sp>
      <p:sp>
        <p:nvSpPr>
          <p:cNvPr id="403" name="Title"/>
          <p:cNvSpPr>
            <a:spLocks noGrp="1"/>
          </p:cNvSpPr>
          <p:nvPr>
            <p:ph type="title"/>
          </p:nvPr>
        </p:nvSpPr>
        <p:spPr>
          <a:xfrm>
            <a:off x="914400" y="3327400"/>
            <a:ext cx="5588000" cy="812800"/>
          </a:xfrm>
        </p:spPr>
        <p:txBody>
          <a:bodyPr wrap="square" lIns="0" tIns="0" rIns="0" bIns="0" anchor="t">
            <a:normAutofit/>
          </a:bodyPr>
          <a:lstStyle/>
          <a:p>
            <a:pPr algn="l"/>
            <a:r>
              <a:rPr lang="en-GB" sz="4400" b="1" dirty="0">
                <a:solidFill>
                  <a:srgbClr val="FFFFFF"/>
                </a:solidFill>
              </a:rPr>
              <a:t>Infusion day</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lnSpc>
                <a:spcPct val="100000"/>
              </a:lnSpc>
              <a:spcBef>
                <a:spcPts val="0"/>
              </a:spcBef>
              <a:buNone/>
            </a:pPr>
            <a:r>
              <a:rPr lang="en-GB" sz="1800" dirty="0">
                <a:solidFill>
                  <a:srgbClr val="C9D5EA"/>
                </a:solidFill>
              </a:rPr>
              <a:t>What happens at each weekly infusion and how reactions are handled</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lnSpc>
                <a:spcPct val="100000"/>
              </a:lnSpc>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Infusion day</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Side effects of each ERT</a:t>
            </a:r>
          </a:p>
        </p:txBody>
      </p:sp>
      <p:cxnSp>
        <p:nvCxnSpPr>
          <p:cNvPr id="410" name="Divider"/>
          <p:cNvCxnSpPr/>
          <p:nvPr/>
        </p:nvCxnSpPr>
        <p:spPr>
          <a:xfrm>
            <a:off x="7620000" y="3302000"/>
            <a:ext cx="4064000" cy="0"/>
          </a:xfrm>
          <a:prstGeom prst="line">
            <a:avLst/>
          </a:prstGeom>
          <a:ln w="9525">
            <a:solidFill>
              <a:srgbClr val="3E5C80"/>
            </a:solidFill>
          </a:ln>
        </p:spPr>
      </p:cxnSp>
      <p:sp>
        <p:nvSpPr>
          <p:cNvPr id="411" name="Item 3"/>
          <p:cNvSpPr txBox="1"/>
          <p:nvPr/>
        </p:nvSpPr>
        <p:spPr>
          <a:xfrm>
            <a:off x="7620000" y="3302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Managing infusion reactions</a:t>
            </a:r>
          </a:p>
        </p:txBody>
      </p:sp>
    </p:spTree>
    <p:extLst>
      <p:ext uri="{BB962C8B-B14F-4D97-AF65-F5344CB8AC3E}">
        <p14:creationId xmlns:p14="http://schemas.microsoft.com/office/powerpoint/2010/main" val="3412513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02E56"/>
        </a:solidFill>
        <a:effectLst/>
      </p:bgPr>
    </p:bg>
    <p:spTree>
      <p:nvGrpSpPr>
        <p:cNvPr id="401" name=""/>
        <p:cNvGrpSpPr/>
        <p:nvPr/>
      </p:nvGrpSpPr>
      <p:grpSpPr>
        <a:xfrm>
          <a:off x="0" y="0"/>
          <a:ext cx="0" cy="0"/>
          <a:chOff x="0" y="0"/>
          <a:chExt cx="0" cy="0"/>
        </a:xfrm>
      </p:grpSpPr>
      <p:sp>
        <p:nvSpPr>
          <p:cNvPr id="402" name="Section number"/>
          <p:cNvSpPr txBox="1"/>
          <p:nvPr/>
        </p:nvSpPr>
        <p:spPr>
          <a:xfrm>
            <a:off x="914400" y="1625600"/>
            <a:ext cx="5334000" cy="1219200"/>
          </a:xfrm>
          <a:prstGeom prst="rect">
            <a:avLst/>
          </a:prstGeom>
          <a:noFill/>
          <a:ln>
            <a:noFill/>
          </a:ln>
        </p:spPr>
        <p:txBody>
          <a:bodyPr wrap="square" lIns="0" tIns="0" rIns="0" bIns="0" anchor="b">
            <a:noAutofit/>
          </a:bodyPr>
          <a:lstStyle/>
          <a:p>
            <a:pPr>
              <a:lnSpc>
                <a:spcPct val="100000"/>
              </a:lnSpc>
              <a:spcBef>
                <a:spcPts val="0"/>
              </a:spcBef>
              <a:buNone/>
            </a:pPr>
            <a:r>
              <a:rPr lang="en-GB" sz="8000" b="1" dirty="0">
                <a:solidFill>
                  <a:srgbClr val="9DB3D9"/>
                </a:solidFill>
              </a:rPr>
              <a:t>07</a:t>
            </a:r>
          </a:p>
        </p:txBody>
      </p:sp>
      <p:sp>
        <p:nvSpPr>
          <p:cNvPr id="403" name="Title"/>
          <p:cNvSpPr>
            <a:spLocks noGrp="1"/>
          </p:cNvSpPr>
          <p:nvPr>
            <p:ph type="title"/>
          </p:nvPr>
        </p:nvSpPr>
        <p:spPr>
          <a:xfrm>
            <a:off x="914400" y="3327400"/>
            <a:ext cx="5588000" cy="812800"/>
          </a:xfrm>
        </p:spPr>
        <p:txBody>
          <a:bodyPr wrap="square" lIns="0" tIns="0" rIns="0" bIns="0" anchor="t">
            <a:normAutofit/>
          </a:bodyPr>
          <a:lstStyle/>
          <a:p>
            <a:pPr algn="l"/>
            <a:r>
              <a:rPr lang="en-GB" sz="4400" b="1" dirty="0">
                <a:solidFill>
                  <a:srgbClr val="FFFFFF"/>
                </a:solidFill>
              </a:rPr>
              <a:t>Living with MPS</a:t>
            </a:r>
          </a:p>
        </p:txBody>
      </p:sp>
      <p:sp>
        <p:nvSpPr>
          <p:cNvPr id="404" name="Description"/>
          <p:cNvSpPr txBox="1"/>
          <p:nvPr/>
        </p:nvSpPr>
        <p:spPr>
          <a:xfrm>
            <a:off x="914400" y="4241800"/>
            <a:ext cx="5334000" cy="762000"/>
          </a:xfrm>
          <a:prstGeom prst="rect">
            <a:avLst/>
          </a:prstGeom>
          <a:noFill/>
          <a:ln>
            <a:noFill/>
          </a:ln>
        </p:spPr>
        <p:txBody>
          <a:bodyPr wrap="square" lIns="0" tIns="0" rIns="0" bIns="0" anchor="t">
            <a:noAutofit/>
          </a:bodyPr>
          <a:lstStyle/>
          <a:p>
            <a:pPr>
              <a:lnSpc>
                <a:spcPct val="100000"/>
              </a:lnSpc>
              <a:spcBef>
                <a:spcPts val="0"/>
              </a:spcBef>
              <a:buNone/>
            </a:pPr>
            <a:r>
              <a:rPr lang="en-GB" sz="1800" dirty="0">
                <a:solidFill>
                  <a:srgbClr val="C9D5EA"/>
                </a:solidFill>
              </a:rPr>
              <a:t>Safety, daily life and the move to adult care</a:t>
            </a:r>
          </a:p>
        </p:txBody>
      </p:sp>
      <p:sp>
        <p:nvSpPr>
          <p:cNvPr id="405" name="Panel"/>
          <p:cNvSpPr/>
          <p:nvPr/>
        </p:nvSpPr>
        <p:spPr>
          <a:xfrm>
            <a:off x="7112000" y="0"/>
            <a:ext cx="5080000" cy="6781800"/>
          </a:xfrm>
          <a:prstGeom prst="rect">
            <a:avLst/>
          </a:prstGeom>
          <a:solidFill>
            <a:srgbClr val="0B2545"/>
          </a:solidFill>
          <a:ln>
            <a:noFill/>
          </a:ln>
        </p:spPr>
        <p:txBody>
          <a:bodyPr wrap="square" lIns="0" tIns="0" rIns="0" bIns="0" anchor="t">
            <a:noAutofit/>
          </a:bodyPr>
          <a:lstStyle/>
          <a:p>
            <a:endParaRPr lang="en-GB" dirty="0"/>
          </a:p>
        </p:txBody>
      </p:sp>
      <p:sp>
        <p:nvSpPr>
          <p:cNvPr id="406" name="Panel head"/>
          <p:cNvSpPr txBox="1"/>
          <p:nvPr/>
        </p:nvSpPr>
        <p:spPr>
          <a:xfrm>
            <a:off x="7620000" y="1625600"/>
            <a:ext cx="4064000" cy="254000"/>
          </a:xfrm>
          <a:prstGeom prst="rect">
            <a:avLst/>
          </a:prstGeom>
          <a:noFill/>
          <a:ln>
            <a:noFill/>
          </a:ln>
        </p:spPr>
        <p:txBody>
          <a:bodyPr wrap="square" lIns="0" tIns="0" rIns="0" bIns="0" anchor="t">
            <a:noAutofit/>
          </a:bodyPr>
          <a:lstStyle/>
          <a:p>
            <a:pPr>
              <a:lnSpc>
                <a:spcPct val="100000"/>
              </a:lnSpc>
              <a:spcBef>
                <a:spcPts val="0"/>
              </a:spcBef>
              <a:buNone/>
            </a:pPr>
            <a:r>
              <a:rPr lang="en-GB" sz="1200" b="1" spc="200" dirty="0">
                <a:solidFill>
                  <a:srgbClr val="9DB3D9"/>
                </a:solidFill>
              </a:rPr>
              <a:t>In this section</a:t>
            </a:r>
          </a:p>
        </p:txBody>
      </p:sp>
      <p:sp>
        <p:nvSpPr>
          <p:cNvPr id="407" name="Item 1"/>
          <p:cNvSpPr txBox="1"/>
          <p:nvPr/>
        </p:nvSpPr>
        <p:spPr>
          <a:xfrm>
            <a:off x="7620000" y="2032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Surgery, anaesthesia and emergencies</a:t>
            </a:r>
          </a:p>
        </p:txBody>
      </p:sp>
      <p:cxnSp>
        <p:nvCxnSpPr>
          <p:cNvPr id="408" name="Divider"/>
          <p:cNvCxnSpPr/>
          <p:nvPr/>
        </p:nvCxnSpPr>
        <p:spPr>
          <a:xfrm>
            <a:off x="7620000" y="2667000"/>
            <a:ext cx="4064000" cy="0"/>
          </a:xfrm>
          <a:prstGeom prst="line">
            <a:avLst/>
          </a:prstGeom>
          <a:ln w="9525">
            <a:solidFill>
              <a:srgbClr val="3E5C80"/>
            </a:solidFill>
          </a:ln>
        </p:spPr>
      </p:cxnSp>
      <p:sp>
        <p:nvSpPr>
          <p:cNvPr id="409" name="Item 2"/>
          <p:cNvSpPr txBox="1"/>
          <p:nvPr/>
        </p:nvSpPr>
        <p:spPr>
          <a:xfrm>
            <a:off x="7620000" y="2667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Living with MPS</a:t>
            </a:r>
          </a:p>
        </p:txBody>
      </p:sp>
      <p:cxnSp>
        <p:nvCxnSpPr>
          <p:cNvPr id="410" name="Divider"/>
          <p:cNvCxnSpPr/>
          <p:nvPr/>
        </p:nvCxnSpPr>
        <p:spPr>
          <a:xfrm>
            <a:off x="7620000" y="3302000"/>
            <a:ext cx="4064000" cy="0"/>
          </a:xfrm>
          <a:prstGeom prst="line">
            <a:avLst/>
          </a:prstGeom>
          <a:ln w="9525">
            <a:solidFill>
              <a:srgbClr val="3E5C80"/>
            </a:solidFill>
          </a:ln>
        </p:spPr>
      </p:cxnSp>
      <p:sp>
        <p:nvSpPr>
          <p:cNvPr id="411" name="Item 3"/>
          <p:cNvSpPr txBox="1"/>
          <p:nvPr/>
        </p:nvSpPr>
        <p:spPr>
          <a:xfrm>
            <a:off x="7620000" y="3302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Moving to adult care</a:t>
            </a:r>
          </a:p>
        </p:txBody>
      </p:sp>
      <p:cxnSp>
        <p:nvCxnSpPr>
          <p:cNvPr id="412" name="Divider"/>
          <p:cNvCxnSpPr/>
          <p:nvPr/>
        </p:nvCxnSpPr>
        <p:spPr>
          <a:xfrm>
            <a:off x="7620000" y="3937000"/>
            <a:ext cx="4064000" cy="0"/>
          </a:xfrm>
          <a:prstGeom prst="line">
            <a:avLst/>
          </a:prstGeom>
          <a:ln w="9525">
            <a:solidFill>
              <a:srgbClr val="3E5C80"/>
            </a:solidFill>
          </a:ln>
        </p:spPr>
      </p:cxnSp>
      <p:sp>
        <p:nvSpPr>
          <p:cNvPr id="413" name="Item 4"/>
          <p:cNvSpPr txBox="1"/>
          <p:nvPr/>
        </p:nvSpPr>
        <p:spPr>
          <a:xfrm>
            <a:off x="7620000" y="3937000"/>
            <a:ext cx="4064000" cy="622300"/>
          </a:xfrm>
          <a:prstGeom prst="rect">
            <a:avLst/>
          </a:prstGeom>
          <a:noFill/>
          <a:ln>
            <a:noFill/>
          </a:ln>
        </p:spPr>
        <p:txBody>
          <a:bodyPr wrap="square" lIns="0" tIns="0" rIns="0" bIns="0" anchor="ctr">
            <a:noAutofit/>
          </a:bodyPr>
          <a:lstStyle/>
          <a:p>
            <a:pPr>
              <a:lnSpc>
                <a:spcPct val="100000"/>
              </a:lnSpc>
              <a:spcBef>
                <a:spcPts val="0"/>
              </a:spcBef>
              <a:buNone/>
            </a:pPr>
            <a:r>
              <a:rPr lang="en-GB" sz="1600" dirty="0">
                <a:solidFill>
                  <a:srgbClr val="FFFFFF"/>
                </a:solidFill>
              </a:rPr>
              <a:t>Key messages for families</a:t>
            </a:r>
          </a:p>
        </p:txBody>
      </p:sp>
    </p:spTree>
    <p:extLst>
      <p:ext uri="{BB962C8B-B14F-4D97-AF65-F5344CB8AC3E}">
        <p14:creationId xmlns:p14="http://schemas.microsoft.com/office/powerpoint/2010/main" val="3412513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a:spLocks noGrp="1"/>
          </p:cNvSpPr>
          <p:nvPr>
            <p:ph type="title"/>
          </p:nvPr>
        </p:nvSpPr>
        <p:spPr/>
        <p:txBody>
          <a:bodyPr wrap="square" lIns="0" tIns="0" rIns="0" bIns="0" rtlCol="0" anchor="t">
            <a:noAutofit/>
          </a:bodyPr>
          <a:lstStyle/>
          <a:p>
            <a:pPr>
              <a:spcBef>
                <a:spcPts val="0"/>
              </a:spcBef>
              <a:spcAft>
                <a:spcPts val="0"/>
              </a:spcAft>
              <a:buNone/>
            </a:pPr>
            <a:r>
              <a:rPr lang="en-US" dirty="0"/>
              <a:t>References (continued)</a:t>
            </a:r>
          </a:p>
        </p:txBody>
      </p:sp>
      <p:sp>
        <p:nvSpPr>
          <p:cNvPr id="11" name="Shape 11"/>
          <p:cNvSpPr txBox="1"/>
          <p:nvPr/>
        </p:nvSpPr>
        <p:spPr>
          <a:xfrm>
            <a:off x="660400" y="1422400"/>
            <a:ext cx="5283200" cy="4191000"/>
          </a:xfrm>
          <a:prstGeom prst="rect">
            <a:avLst/>
          </a:prstGeom>
          <a:noFill/>
          <a:ln>
            <a:noFill/>
          </a:ln>
        </p:spPr>
        <p:txBody>
          <a:bodyPr wrap="square" lIns="0" tIns="0" rIns="0" bIns="0" rtlCol="0" anchor="t">
            <a:noAutofit/>
          </a:bodyPr>
          <a:lstStyle/>
          <a:p>
            <a:pPr marL="279400" indent="-279400">
              <a:spcAft>
                <a:spcPts val="500"/>
              </a:spcAft>
              <a:buClr>
                <a:srgbClr val="28509C"/>
              </a:buClr>
              <a:buFont typeface="+mj-lt"/>
              <a:buAutoNum type="arabicPeriod" startAt="24"/>
            </a:pPr>
            <a:r>
              <a:rPr lang="en-US" sz="1200" dirty="0">
                <a:solidFill>
                  <a:srgbClr val="2B2B2B"/>
                </a:solidFill>
              </a:rPr>
              <a:t>ABPI. Guidance notes for patient safety and pharmacovigilance in patient support programmes.</a:t>
            </a:r>
          </a:p>
          <a:p>
            <a:pPr marL="279400" indent="-279400">
              <a:spcAft>
                <a:spcPts val="500"/>
              </a:spcAft>
              <a:buClr>
                <a:srgbClr val="28509C"/>
              </a:buClr>
              <a:buFont typeface="+mj-lt"/>
              <a:buAutoNum type="arabicPeriod" startAt="25"/>
            </a:pPr>
            <a:r>
              <a:rPr lang="en-US" sz="1200" dirty="0">
                <a:solidFill>
                  <a:srgbClr val="2B2B2B"/>
                </a:solidFill>
              </a:rPr>
              <a:t>EMA. Guideline on good pharmacovigilance practices (GVP), Module VI.</a:t>
            </a:r>
          </a:p>
          <a:p>
            <a:pPr marL="279400" indent="-279400">
              <a:spcAft>
                <a:spcPts val="500"/>
              </a:spcAft>
              <a:buClr>
                <a:srgbClr val="28509C"/>
              </a:buClr>
              <a:buFont typeface="+mj-lt"/>
              <a:buAutoNum type="arabicPeriod" startAt="26"/>
            </a:pPr>
            <a:r>
              <a:rPr lang="en-US" sz="1200" dirty="0">
                <a:solidFill>
                  <a:srgbClr val="2B2B2B"/>
                </a:solidFill>
              </a:rPr>
              <a:t>Lampe C et al. Transition of patients with mucopolysaccharidosis from paediatric to adult care. Mol Genet Metab Rep 2019;21:100508.</a:t>
            </a:r>
          </a:p>
          <a:p>
            <a:pPr marL="279400" indent="-279400">
              <a:spcAft>
                <a:spcPts val="500"/>
              </a:spcAft>
              <a:buClr>
                <a:srgbClr val="28509C"/>
              </a:buClr>
              <a:buFont typeface="+mj-lt"/>
              <a:buAutoNum type="arabicPeriod" startAt="27"/>
            </a:pPr>
            <a:r>
              <a:rPr lang="en-US" sz="1200" dirty="0">
                <a:solidFill>
                  <a:srgbClr val="2B2B2B"/>
                </a:solidFill>
              </a:rPr>
              <a:t>Solano Villarreal M et al. Mol Genet Metab Rep 2021;28:100769.</a:t>
            </a:r>
          </a:p>
          <a:p>
            <a:pPr marL="279400" indent="-279400">
              <a:spcAft>
                <a:spcPts val="500"/>
              </a:spcAft>
              <a:buClr>
                <a:srgbClr val="28509C"/>
              </a:buClr>
              <a:buFont typeface="+mj-lt"/>
              <a:buAutoNum type="arabicPeriod" startAt="28"/>
            </a:pPr>
            <a:r>
              <a:rPr lang="en-US" sz="1200" dirty="0">
                <a:solidFill>
                  <a:srgbClr val="2B2B2B"/>
                </a:solidFill>
              </a:rPr>
              <a:t>Walker R et al. Anaesthesia and airway management in mucopolysaccharidosis. J Inherit Metab Dis 2013;36:211–9.</a:t>
            </a:r>
          </a:p>
          <a:p>
            <a:pPr marL="279400" indent="-279400">
              <a:spcAft>
                <a:spcPts val="500"/>
              </a:spcAft>
              <a:buClr>
                <a:srgbClr val="28509C"/>
              </a:buClr>
              <a:buFont typeface="+mj-lt"/>
              <a:buAutoNum type="arabicPeriod" startAt="29"/>
            </a:pPr>
            <a:r>
              <a:rPr lang="en-US" sz="1200" dirty="0">
                <a:solidFill>
                  <a:srgbClr val="2B2B2B"/>
                </a:solidFill>
              </a:rPr>
              <a:t>Wood T et al. Mol Genet Metab 2012;106:73–82.</a:t>
            </a:r>
          </a:p>
          <a:p>
            <a:pPr marL="279400" indent="-279400">
              <a:spcAft>
                <a:spcPts val="500"/>
              </a:spcAft>
              <a:buClr>
                <a:srgbClr val="28509C"/>
              </a:buClr>
              <a:buFont typeface="+mj-lt"/>
              <a:buAutoNum type="arabicPeriod" startAt="30"/>
            </a:pPr>
            <a:r>
              <a:rPr lang="en-US" sz="1200" dirty="0">
                <a:solidFill>
                  <a:srgbClr val="2B2B2B"/>
                </a:solidFill>
              </a:rPr>
              <a:t>Yildiz Y, Sivri HS. Difficulties associated with enzyme replacement therapy for mucopolysaccharidoses. Turk Arch Pediatr 2021;56:602–9.</a:t>
            </a:r>
          </a:p>
        </p:txBody>
      </p:sp>
    </p:spTree>
    <p:extLst>
      <p:ext uri="{BB962C8B-B14F-4D97-AF65-F5344CB8AC3E}">
        <p14:creationId xmlns:p14="http://schemas.microsoft.com/office/powerpoint/2010/main" val="1577692069"/>
      </p:ext>
    </p:extLst>
  </p:cSld>
  <p:clrMapOvr>
    <a:masterClrMapping/>
  </p:clrMapOvr>
</p:sld>
</file>

<file path=ppt/theme/theme1.xml><?xml version="1.0" encoding="utf-8"?>
<a:theme xmlns:a="http://schemas.openxmlformats.org/drawingml/2006/main" name="Office Theme [1792673520056]">
  <a:themeElements>
    <a:clrScheme name="BioMarin">
      <a:dk1>
        <a:srgbClr val="2B2B2B"/>
      </a:dk1>
      <a:lt1>
        <a:srgbClr val="FFFFFF"/>
      </a:lt1>
      <a:dk2>
        <a:srgbClr val="002E56"/>
      </a:dk2>
      <a:lt2>
        <a:srgbClr val="E8EEF7"/>
      </a:lt2>
      <a:accent1>
        <a:srgbClr val="28509C"/>
      </a:accent1>
      <a:accent2>
        <a:srgbClr val="D25D5D"/>
      </a:accent2>
      <a:accent3>
        <a:srgbClr val="A9218E"/>
      </a:accent3>
      <a:accent4>
        <a:srgbClr val="353D98"/>
      </a:accent4>
      <a:accent5>
        <a:srgbClr val="ED037C"/>
      </a:accent5>
      <a:accent6>
        <a:srgbClr val="0A55A3"/>
      </a:accent6>
      <a:hlink>
        <a:srgbClr val="0A55A3"/>
      </a:hlink>
      <a:folHlink>
        <a:srgbClr val="353D98"/>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B404B7E-A78E-1049-B9F1-A5D6017D8288}">
  <we:reference id="WA200010725" version="1.0.0.1" store="Omex" storeType="OMEX"/>
  <we:alternateReferences>
    <we:reference id="WA200010725" version="1.0.0.1" store="WA200010725" storeType="OMEX"/>
  </we:alternateReferences>
  <we:properties>
    <we:property name="claude.fileId" value="&quot;a3bea823-5f66-45e0-8001-0c9179fadc5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3231</TotalTime>
  <Words>14080</Words>
  <Application>Microsoft Macintosh PowerPoint</Application>
  <PresentationFormat>Widescreen</PresentationFormat>
  <Paragraphs>2024</Paragraphs>
  <Slides>91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91</vt:i4>
      </vt:variant>
    </vt:vector>
  </HeadingPairs>
  <TitlesOfParts>
    <vt:vector size="97" baseType="lpstr">
      <vt:lpstr>Aptos</vt:lpstr>
      <vt:lpstr>Aptos Display</vt:lpstr>
      <vt:lpstr>Arial</vt:lpstr>
      <vt:lpstr>IBM Plex Sans</vt:lpstr>
      <vt:lpstr>Source Serif 4</vt:lpstr>
      <vt:lpstr>Office Theme [1792673520056]</vt:lpstr>
      <vt:lpstr>Mucopolysaccharidoses (MPS): disease, complications and management</vt:lpstr>
      <vt:lpstr>Agenda</vt:lpstr>
      <vt:lpstr>Disease</vt:lpstr>
      <vt:lpstr>Lysosomal storage disorders (LSDs)</vt:lpstr>
      <vt:lpstr>MPS and glycosaminoglycans (GAGs)</vt:lpstr>
      <vt:lpstr>What is MPS?</vt:lpstr>
      <vt:lpstr>Inheritance of MPS</vt:lpstr>
      <vt:lpstr>MPS types and enzyme deficiencies</vt:lpstr>
      <vt:lpstr>MPS IVA (Morquio A): key facts</vt:lpstr>
      <vt:lpstr>MPS IVA progression: two patients from infancy to adulthood</vt:lpstr>
      <vt:lpstr>MPS IVA: morbidity and mortality</vt:lpstr>
      <vt:lpstr>MPS VI (Maroteaux-Lamy): key facts</vt:lpstr>
      <vt:lpstr>MPS VI: classical and non-classical disease</vt:lpstr>
      <vt:lpstr>MPS VI: rapidly and slowly progressing examples</vt:lpstr>
      <vt:lpstr>MPS VI: morbidity and mortality</vt:lpstr>
      <vt:lpstr>Complications</vt:lpstr>
      <vt:lpstr>Organ systems affected in MPS</vt:lpstr>
      <vt:lpstr>Warning signs that need escalation</vt:lpstr>
      <vt:lpstr>Summary: signs of MPS by specialty</vt:lpstr>
      <vt:lpstr>Time to diagnosis</vt:lpstr>
      <vt:lpstr>Barriers to diagnosing MPS</vt:lpstr>
      <vt:lpstr>Screening and direct tests for MPS</vt:lpstr>
      <vt:lpstr>Urinary GAG analysis</vt:lpstr>
      <vt:lpstr>Dried blood spot (DBS) testing</vt:lpstr>
      <vt:lpstr>Molecular testing</vt:lpstr>
      <vt:lpstr>Enzyme activity testing in leukocytes or fibroblasts</vt:lpstr>
      <vt:lpstr>Prenatal diagnosis</vt:lpstr>
      <vt:lpstr>Management</vt:lpstr>
      <vt:lpstr>Management of MPS</vt:lpstr>
      <vt:lpstr>The multidisciplinary team</vt:lpstr>
      <vt:lpstr>Enzyme replacement therapy (ERT)</vt:lpstr>
      <vt:lpstr>SmPC: presentation and dosing</vt:lpstr>
      <vt:lpstr>SmPC: storage, dilution and preparation</vt:lpstr>
      <vt:lpstr>SmPC: infusion rates</vt:lpstr>
      <vt:lpstr>SmPC: warnings and special populations</vt:lpstr>
      <vt:lpstr>Morquio A clinical programme</vt:lpstr>
      <vt:lpstr>ERT efficacy versus placebo at 24 weeks</vt:lpstr>
      <vt:lpstr>MOR-004: study design and results</vt:lpstr>
      <vt:lpstr>MOR-004: 6-minute walk test at week 24</vt:lpstr>
      <vt:lpstr>MOR-004: safety and tolerability</vt:lpstr>
      <vt:lpstr>MOR-005: study design</vt:lpstr>
      <vt:lpstr>MOR-005: populations, efficacy variables and time frame</vt:lpstr>
      <vt:lpstr>MOR-005: 6-minute walk test to week 120</vt:lpstr>
      <vt:lpstr>MOR-005: 3-minute stair climb test to week 120</vt:lpstr>
      <vt:lpstr>MOR-005: urinary KS to week 120</vt:lpstr>
      <vt:lpstr>MOR-005: lung function to week 120</vt:lpstr>
      <vt:lpstr>Elosulfase alfa: safety and tolerability</vt:lpstr>
      <vt:lpstr>MorCAP comparator population</vt:lpstr>
      <vt:lpstr>MorCAP (MOR-001): 6-minute walk test in untreated patients</vt:lpstr>
      <vt:lpstr>6MWT: treated patients versus MorCAP</vt:lpstr>
      <vt:lpstr>3MSCT: treated patients versus MorCAP</vt:lpstr>
      <vt:lpstr>Lung function: treated patients versus MorCAP</vt:lpstr>
      <vt:lpstr>Lung function: percentage change versus MorCAP</vt:lpstr>
      <vt:lpstr>Lung function by age: treated patients versus MorCAP</vt:lpstr>
      <vt:lpstr>Take-home messages</vt:lpstr>
      <vt:lpstr>Galsulfase clinical studies</vt:lpstr>
      <vt:lpstr>PowerPoint Presentation</vt:lpstr>
      <vt:lpstr>MPS VI Survey Study: urinary GAG levels and disease severity</vt:lpstr>
      <vt:lpstr>Survey Study: survival at 10 and 15 years</vt:lpstr>
      <vt:lpstr>Survey Study: 15-year follow-up</vt:lpstr>
      <vt:lpstr>Resurvey Study: 10-year follow-up</vt:lpstr>
      <vt:lpstr>Resurvey Study: results after about 10 years of galsulfase</vt:lpstr>
      <vt:lpstr>Galsulfase: endurance after 10 years</vt:lpstr>
      <vt:lpstr>Galsulfase: lung function after 10 years</vt:lpstr>
      <vt:lpstr>Galsulfase: walking by baseline uGAG level</vt:lpstr>
      <vt:lpstr>Galsulfase: safety data from phase 3 clinical trials</vt:lpstr>
      <vt:lpstr>Galsulfase: phase 3 safety data in numbers</vt:lpstr>
      <vt:lpstr>Infusion day</vt:lpstr>
      <vt:lpstr>Dose, dilution and infusion rate by ERT</vt:lpstr>
      <vt:lpstr>Managing infusion reactions</vt:lpstr>
      <vt:lpstr>Follow-up</vt:lpstr>
      <vt:lpstr>Baseline assessment before ERT</vt:lpstr>
      <vt:lpstr>Follow-up assessments on ERT</vt:lpstr>
      <vt:lpstr>Educator checklist</vt:lpstr>
      <vt:lpstr>Key messages for families</vt:lpstr>
      <vt:lpstr>Pharmacovigilance</vt:lpstr>
      <vt:lpstr>Why pharmacovigilance matters</vt:lpstr>
      <vt:lpstr>Adverse events and special situation events</vt:lpstr>
      <vt:lpstr>Your role: report within 1 business day</vt:lpstr>
      <vt:lpstr>Report or not? Three scenarios</vt:lpstr>
      <vt:lpstr>Product complaints</vt:lpstr>
      <vt:lpstr>Reporting a product complaint</vt:lpstr>
      <vt:lpstr>References</vt:lpstr>
      <vt:lpstr>Appendix</vt:lpstr>
      <vt:lpstr>Glossary</vt:lpstr>
      <vt:lpstr>Orthopaedics: skeletal involvement in MPS</vt:lpstr>
      <vt:lpstr>Orthopaedics: general and specialist skeletal features</vt:lpstr>
      <vt:lpstr>Radiology: skull, spine and chest</vt:lpstr>
      <vt:lpstr>Radiology: hands, long bones and pelvis</vt:lpstr>
      <vt:lpstr>Orthopaedics: eight signs that point to MPS1,2</vt:lpstr>
      <vt:lpstr>Rheumatology: joints and short stature in MPS IVA and MPS 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Fayed</dc:creator>
  <cp:lastModifiedBy>Mohamed Fayed</cp:lastModifiedBy>
  <cp:revision>17</cp:revision>
  <dcterms:created xsi:type="dcterms:W3CDTF">2026-10-21T13:14:06Z</dcterms:created>
  <dcterms:modified xsi:type="dcterms:W3CDTF">2026-10-24T13:23:01Z</dcterms:modified>
</cp:coreProperties>
</file>